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4" r:id="rId3"/>
    <p:sldId id="258" r:id="rId4"/>
    <p:sldId id="276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axman@THESERVICE.local" initials="s" lastIdx="0" clrIdx="0">
    <p:extLst>
      <p:ext uri="{19B8F6BF-5375-455C-9EA6-DF929625EA0E}">
        <p15:presenceInfo xmlns:p15="http://schemas.microsoft.com/office/powerpoint/2012/main" userId="S-1-5-21-3915913713-4016366997-3603384427-1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C28"/>
    <a:srgbClr val="CFB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72"/>
    <p:restoredTop sz="94652"/>
  </p:normalViewPr>
  <p:slideViewPr>
    <p:cSldViewPr snapToGrid="0" snapToObjects="1">
      <p:cViewPr varScale="1">
        <p:scale>
          <a:sx n="110" d="100"/>
          <a:sy n="110" d="100"/>
        </p:scale>
        <p:origin x="7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1">
              <a:defRPr sz="1330" b="1" i="0" u="none" strike="noStrike" kern="1200" cap="all" baseline="0">
                <a:solidFill>
                  <a:srgbClr val="5B9BD5"/>
                </a:solidFill>
                <a:latin typeface="OE August Pro Medium" panose="00000600000000000000" pitchFamily="2" charset="-79"/>
                <a:ea typeface="+mn-ea"/>
                <a:cs typeface="OE August Pro Medium" panose="00000600000000000000" pitchFamily="2" charset="-79"/>
              </a:defRPr>
            </a:pPr>
            <a:r>
              <a:rPr lang="he-IL" dirty="0"/>
              <a:t>   </a:t>
            </a:r>
            <a:endParaRPr lang="he-IL" sz="1330" b="1" i="0" u="none" strike="noStrike" kern="1200" baseline="0" dirty="0">
              <a:solidFill>
                <a:srgbClr val="5B9BD5"/>
              </a:solidFill>
              <a:latin typeface="OE August Pro Medium" panose="00000600000000000000" pitchFamily="2" charset="-79"/>
              <a:ea typeface="+mn-ea"/>
              <a:cs typeface="OE August Pro Medium" panose="00000600000000000000" pitchFamily="2" charset="-79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1">
            <a:defRPr sz="1330" b="1" i="0" u="none" strike="noStrike" kern="1200" cap="all" baseline="0">
              <a:solidFill>
                <a:srgbClr val="5B9BD5"/>
              </a:solidFill>
              <a:latin typeface="OE August Pro Medium" panose="00000600000000000000" pitchFamily="2" charset="-79"/>
              <a:ea typeface="+mn-ea"/>
              <a:cs typeface="OE August Pro Medium" panose="00000600000000000000" pitchFamily="2" charset="-79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C8F2-4420-A6C7-4CE949F3D1A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C8F2-4420-A6C7-4CE949F3D1A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C8F2-4420-A6C7-4CE949F3D1A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C8F2-4420-A6C7-4CE949F3D1A0}"/>
              </c:ext>
            </c:extLst>
          </c:dPt>
          <c:dLbls>
            <c:dLbl>
              <c:idx val="0"/>
              <c:layout>
                <c:manualLayout>
                  <c:x val="-2.0279423454684708E-2"/>
                  <c:y val="-4.0553634412039276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defRPr>
                    </a:pPr>
                    <a:fld id="{56912690-E743-43B5-8663-B6BE7E3B0241}" type="CATEGORYNAME">
                      <a:rPr lang="he-IL" sz="1330" b="1" i="0" u="none" strike="noStrike" kern="1200" baseline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rPr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[שם קטגוריה]</a:t>
                    </a:fld>
                    <a:r>
                      <a:rPr lang="he-IL" sz="1330" b="1" i="0" u="none" strike="noStrike" kern="1200" baseline="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rPr>
                      <a:t> </a:t>
                    </a:r>
                    <a:r>
                      <a:rPr lang="he-IL" sz="1330" b="1" i="0" u="none" strike="noStrike" kern="1200" baseline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rPr>
                      <a:t>
</a:t>
                    </a:r>
                    <a:fld id="{84D66415-398F-42CD-89A9-01D9B847B55B}" type="PERCENTAGE">
                      <a:rPr lang="he-IL"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rPr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[אחוז]</a:t>
                    </a:fld>
                    <a:endParaRPr lang="he-IL" sz="1330" b="1" i="0" u="none" strike="noStrike" kern="1200" baseline="0" dirty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endParaRP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8F2-4420-A6C7-4CE949F3D1A0}"/>
                </c:ext>
              </c:extLst>
            </c:dLbl>
            <c:dLbl>
              <c:idx val="1"/>
              <c:layout>
                <c:manualLayout>
                  <c:x val="1.6445444818798408E-2"/>
                  <c:y val="-2.7390673413270662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defRPr>
                    </a:pPr>
                    <a:fld id="{475E5A77-868C-4895-B193-4AED7A816E0E}" type="CATEGORYNAME">
                      <a:rPr lang="he-IL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cs typeface="OE August Pro Medium" panose="00000600000000000000" pitchFamily="2" charset="-79"/>
                      </a:rPr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[שם קטגוריה]</a:t>
                    </a:fld>
                    <a:r>
                      <a:rPr lang="he-IL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cs typeface="OE August Pro Medium" panose="00000600000000000000" pitchFamily="2" charset="-79"/>
                      </a:rPr>
                      <a:t> *</a:t>
                    </a:r>
                    <a:r>
                      <a:rPr lang="he-IL" baseline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cs typeface="OE August Pro Medium" panose="00000600000000000000" pitchFamily="2" charset="-79"/>
                      </a:rPr>
                      <a:t>
</a:t>
                    </a:r>
                    <a:fld id="{EE5EA4D9-33B2-4D63-82EB-0236255BB338}" type="PERCENTAGE">
                      <a:rPr lang="he-IL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cs typeface="OE August Pro Medium" panose="00000600000000000000" pitchFamily="2" charset="-79"/>
                      </a:rPr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[אחוז]</a:t>
                    </a:fld>
                    <a:endParaRPr lang="he-IL" baseline="0" dirty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cs typeface="OE August Pro Medium" panose="00000600000000000000" pitchFamily="2" charset="-79"/>
                    </a:endParaRP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6417363031378971"/>
                      <c:h val="0.1307902952789512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8F2-4420-A6C7-4CE949F3D1A0}"/>
                </c:ext>
              </c:extLst>
            </c:dLbl>
            <c:dLbl>
              <c:idx val="2"/>
              <c:layout>
                <c:manualLayout>
                  <c:x val="-9.3221467572246641E-2"/>
                  <c:y val="-2.8832287803442803E-3"/>
                </c:manualLayout>
              </c:layout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5-C8F2-4420-A6C7-4CE949F3D1A0}"/>
                </c:ext>
              </c:extLst>
            </c:dLbl>
            <c:dLbl>
              <c:idx val="3"/>
              <c:layout>
                <c:manualLayout>
                  <c:x val="-6.9182302290863543E-2"/>
                  <c:y val="-7.615356394320357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defRPr>
                    </a:pPr>
                    <a:r>
                      <a:rPr lang="he-IL" dirty="0" smtClean="0"/>
                      <a:t>נכסים אלטרנטיביים</a:t>
                    </a:r>
                    <a:r>
                      <a:rPr lang="he-IL" baseline="0" dirty="0"/>
                      <a:t>
</a:t>
                    </a:r>
                    <a:fld id="{F5981CEC-3AE7-4B2D-9A86-B8E3A9255E49}" type="PERCENTAGE">
                      <a:rPr lang="he-IL" baseline="0"/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[אחוז]</a:t>
                    </a:fld>
                    <a:endParaRPr lang="he-IL" baseline="0" dirty="0"/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C8F2-4420-A6C7-4CE949F3D1A0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5B9BD5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OE August Pro Medium" panose="00000600000000000000" pitchFamily="2" charset="-79"/>
                    <a:ea typeface="+mn-ea"/>
                    <a:cs typeface="OE August Pro Medium" panose="00000600000000000000" pitchFamily="2" charset="-79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0.05</c:v>
                </c:pt>
                <c:pt idx="1">
                  <c:v>0.11</c:v>
                </c:pt>
                <c:pt idx="2">
                  <c:v>0.84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F2-4420-A6C7-4CE949F3D1A0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19CA-43F5-A00F-E3149CA1EE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19CA-43F5-A00F-E3149CA1EE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19CA-43F5-A00F-E3149CA1EE9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19CA-43F5-A00F-E3149CA1EE9A}"/>
              </c:ext>
            </c:extLst>
          </c:dPt>
          <c:dLbls>
            <c:dLbl>
              <c:idx val="0"/>
              <c:layout>
                <c:manualLayout>
                  <c:x val="-3.4324157341937257E-2"/>
                  <c:y val="-0.22200861608650957"/>
                </c:manualLayout>
              </c:layout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57806"/>
                        <a:gd name="adj2" fmla="val 97157"/>
                      </a:avLst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1-19CA-43F5-A00F-E3149CA1EE9A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19CA-43F5-A00F-E3149CA1EE9A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19CA-43F5-A00F-E3149CA1EE9A}"/>
                </c:ext>
              </c:extLst>
            </c:dLbl>
            <c:dLbl>
              <c:idx val="3"/>
              <c:layout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defRPr>
                    </a:pPr>
                    <a:r>
                      <a:rPr lang="he-IL" baseline="0" dirty="0" smtClean="0"/>
                      <a:t>נכסים אלטרנטיביים</a:t>
                    </a:r>
                    <a:r>
                      <a:rPr lang="he-IL" baseline="0" dirty="0"/>
                      <a:t>
</a:t>
                    </a:r>
                    <a:fld id="{1B750B70-31E2-477B-A841-78E82A49FD3A}" type="PERCENTAGE">
                      <a:rPr lang="he-IL" baseline="0"/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[אחוז]</a:t>
                    </a:fld>
                    <a:endParaRPr lang="he-IL" baseline="0" dirty="0"/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9CA-43F5-A00F-E3149CA1EE9A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5B9BD5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OE August Pro Medium" panose="00000600000000000000" pitchFamily="2" charset="-79"/>
                    <a:ea typeface="+mn-ea"/>
                    <a:cs typeface="OE August Pro Medium" panose="00000600000000000000" pitchFamily="2" charset="-79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גיליון1!$A$2:$A$5</c:f>
              <c:strCache>
                <c:ptCount val="4"/>
                <c:pt idx="0">
                  <c:v>שוק ההון</c:v>
                </c:pt>
                <c:pt idx="1">
                  <c:v>נדל"ן ללא מגורים</c:v>
                </c:pt>
                <c:pt idx="2">
                  <c:v>מזומן</c:v>
                </c:pt>
                <c:pt idx="3">
                  <c:v>עסקאות משלימות</c:v>
                </c:pt>
              </c:strCache>
            </c:strRef>
          </c:cat>
          <c:val>
            <c:numRef>
              <c:f>גיליון1!$B$2:$B$5</c:f>
              <c:numCache>
                <c:formatCode>0%</c:formatCode>
                <c:ptCount val="4"/>
                <c:pt idx="0">
                  <c:v>0.5</c:v>
                </c:pt>
                <c:pt idx="1">
                  <c:v>0.24</c:v>
                </c:pt>
                <c:pt idx="2">
                  <c:v>0.06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F-4AE7-BDB0-8D31F7A9DE6C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5416622494936603E-2"/>
          <c:y val="0.15901320821202716"/>
          <c:w val="0.83298619992448331"/>
          <c:h val="0.75819925024052015"/>
        </c:manualLayout>
      </c:layout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19CA-43F5-A00F-E3149CA1EE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19CA-43F5-A00F-E3149CA1EE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19CA-43F5-A00F-E3149CA1EE9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19CA-43F5-A00F-E3149CA1EE9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0-5AC2-4CBA-899E-440664308A43}"/>
              </c:ext>
            </c:extLst>
          </c:dPt>
          <c:dLbls>
            <c:dLbl>
              <c:idx val="0"/>
              <c:layout>
                <c:manualLayout>
                  <c:x val="-6.8699182774122985E-2"/>
                  <c:y val="-0.10130468191709607"/>
                </c:manualLayout>
              </c:layout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57806"/>
                        <a:gd name="adj2" fmla="val 97157"/>
                      </a:avLst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1-19CA-43F5-A00F-E3149CA1EE9A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19CA-43F5-A00F-E3149CA1EE9A}"/>
                </c:ext>
              </c:extLst>
            </c:dLbl>
            <c:dLbl>
              <c:idx val="2"/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59157"/>
                        <a:gd name="adj2" fmla="val -128567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19CA-43F5-A00F-E3149CA1EE9A}"/>
                </c:ext>
              </c:extLst>
            </c:dLbl>
            <c:dLbl>
              <c:idx val="3"/>
              <c:layout>
                <c:manualLayout>
                  <c:x val="-1.1458334743069402E-2"/>
                  <c:y val="-6.6045543270769697E-2"/>
                </c:manualLayout>
              </c:layout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81328"/>
                        <a:gd name="adj2" fmla="val -22493"/>
                      </a:avLst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7-19CA-43F5-A00F-E3149CA1EE9A}"/>
                </c:ext>
              </c:extLst>
            </c:dLbl>
            <c:dLbl>
              <c:idx val="4"/>
              <c:layout>
                <c:manualLayout>
                  <c:x val="0"/>
                  <c:y val="-3.6438920425252243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defRPr>
                    </a:pPr>
                    <a:r>
                      <a:rPr lang="he-IL" dirty="0" smtClean="0"/>
                      <a:t>נכסים אלטרנטיביים</a:t>
                    </a:r>
                    <a:r>
                      <a:rPr lang="he-IL" baseline="0" dirty="0"/>
                      <a:t>
</a:t>
                    </a:r>
                    <a:fld id="{47CF7863-AD63-47A4-9C94-5B2BBF81BC3A}" type="PERCENTAGE">
                      <a:rPr lang="he-IL" baseline="0" dirty="0"/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[אחוז]</a:t>
                    </a:fld>
                    <a:endParaRPr lang="he-IL" baseline="0" dirty="0"/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56385"/>
                        <a:gd name="adj2" fmla="val 73160"/>
                      </a:avLst>
                    </a:prstGeom>
                    <a:noFill/>
                    <a:ln>
                      <a:noFill/>
                    </a:ln>
                  </c15:spPr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AC2-4CBA-899E-440664308A43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5B9BD5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OE August Pro Medium" panose="00000600000000000000" pitchFamily="2" charset="-79"/>
                    <a:ea typeface="+mn-ea"/>
                    <a:cs typeface="OE August Pro Medium" panose="00000600000000000000" pitchFamily="2" charset="-79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גיליון1!$A$2:$A$6</c:f>
              <c:strCache>
                <c:ptCount val="5"/>
                <c:pt idx="0">
                  <c:v>שוק ההון</c:v>
                </c:pt>
                <c:pt idx="1">
                  <c:v>נדל"ן ללא מגורים</c:v>
                </c:pt>
                <c:pt idx="2">
                  <c:v>עסקאות נדל"ן T.S</c:v>
                </c:pt>
                <c:pt idx="3">
                  <c:v>מזומן</c:v>
                </c:pt>
                <c:pt idx="4">
                  <c:v>עסקאות משלימות</c:v>
                </c:pt>
              </c:strCache>
            </c:strRef>
          </c:cat>
          <c:val>
            <c:numRef>
              <c:f>גיליון1!$B$2:$B$6</c:f>
              <c:numCache>
                <c:formatCode>0%</c:formatCode>
                <c:ptCount val="5"/>
                <c:pt idx="0">
                  <c:v>0.35</c:v>
                </c:pt>
                <c:pt idx="1">
                  <c:v>0.11</c:v>
                </c:pt>
                <c:pt idx="2">
                  <c:v>0.22</c:v>
                </c:pt>
                <c:pt idx="3">
                  <c:v>0.12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F-4AE7-BDB0-8D31F7A9DE6C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5416622494936603E-2"/>
          <c:y val="0.15901320821202716"/>
          <c:w val="0.83298619992448331"/>
          <c:h val="0.75819925024052015"/>
        </c:manualLayout>
      </c:layout>
      <c:pie3D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  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19CA-43F5-A00F-E3149CA1EE9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19CA-43F5-A00F-E3149CA1EE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19CA-43F5-A00F-E3149CA1EE9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19CA-43F5-A00F-E3149CA1EE9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0-5AC2-4CBA-899E-440664308A4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0-590B-4D6F-9E81-F0420954CEDF}"/>
              </c:ext>
            </c:extLst>
          </c:dPt>
          <c:dLbls>
            <c:dLbl>
              <c:idx val="0"/>
              <c:layout>
                <c:manualLayout>
                  <c:x val="-6.8699182774122985E-2"/>
                  <c:y val="-0.10130468191709607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defRPr>
                    </a:pPr>
                    <a:fld id="{133C5769-CFAA-4B85-9F9C-75FE8DF0E354}" type="CATEGORYNAME">
                      <a:rPr lang="he-IL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[שם קטגוריה]</a:t>
                    </a:fld>
                    <a:r>
                      <a:rPr lang="he-IL" baseline="0" dirty="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
</a:t>
                    </a:r>
                    <a:fld id="{A0C5FB4A-BF8B-4C75-B6CE-DE1EBDB0F40E}" type="PERCENTAGE">
                      <a:rPr lang="he-IL" baseline="0" smtClean="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[אחוז]</a:t>
                    </a:fld>
                    <a:r>
                      <a:rPr lang="he-IL" baseline="0" dirty="0" smtClean="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-25%</a:t>
                    </a:r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57806"/>
                        <a:gd name="adj2" fmla="val 97157"/>
                      </a:avLst>
                    </a:prstGeom>
                    <a:noFill/>
                    <a:ln>
                      <a:noFill/>
                    </a:ln>
                  </c15:spPr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9CA-43F5-A00F-E3149CA1EE9A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19CA-43F5-A00F-E3149CA1EE9A}"/>
                </c:ext>
              </c:extLst>
            </c:dLbl>
            <c:dLbl>
              <c:idx val="2"/>
              <c:layout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defRPr>
                    </a:pPr>
                    <a:fld id="{571DD989-F324-4A9E-A510-7B5BA692FFA6}" type="CATEGORYNAME">
                      <a:rPr lang="he-IL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[שם קטגוריה]</a:t>
                    </a:fld>
                    <a:r>
                      <a:rPr lang="en-US" baseline="0" dirty="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
</a:t>
                    </a:r>
                    <a:r>
                      <a:rPr lang="en-US" baseline="0" dirty="0" smtClean="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26%-23%</a:t>
                    </a:r>
                  </a:p>
                </c:rich>
              </c:tx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59157"/>
                        <a:gd name="adj2" fmla="val -128567"/>
                      </a:avLst>
                    </a:prstGeom>
                    <a:noFill/>
                    <a:ln>
                      <a:noFill/>
                    </a:ln>
                  </c15:spPr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9CA-43F5-A00F-E3149CA1EE9A}"/>
                </c:ext>
              </c:extLst>
            </c:dLbl>
            <c:dLbl>
              <c:idx val="3"/>
              <c:layout>
                <c:manualLayout>
                  <c:x val="0"/>
                  <c:y val="0.12298135643522633"/>
                </c:manualLayout>
              </c:layout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49644"/>
                        <a:gd name="adj2" fmla="val -186123"/>
                      </a:avLst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7-19CA-43F5-A00F-E3149CA1EE9A}"/>
                </c:ext>
              </c:extLst>
            </c:dLbl>
            <c:dLbl>
              <c:idx val="4"/>
              <c:layout>
                <c:manualLayout>
                  <c:x val="0"/>
                  <c:y val="-3.6438920425252243E-2"/>
                </c:manualLayout>
              </c:layout>
              <c:spPr>
                <a:solidFill>
                  <a:prstClr val="white"/>
                </a:solidFill>
                <a:ln w="9525" cap="flat" cmpd="sng" algn="ctr">
                  <a:solidFill>
                    <a:srgbClr val="5B9BD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56385"/>
                        <a:gd name="adj2" fmla="val 73160"/>
                      </a:avLst>
                    </a:prstGeom>
                    <a:noFill/>
                    <a:ln>
                      <a:noFill/>
                    </a:ln>
                  </c15:spPr>
                  <c15:layout/>
                </c:ext>
                <c:ext xmlns:c16="http://schemas.microsoft.com/office/drawing/2014/chart" uri="{C3380CC4-5D6E-409C-BE32-E72D297353CC}">
                  <c16:uniqueId val="{00000000-5AC2-4CBA-899E-440664308A43}"/>
                </c:ext>
              </c:extLst>
            </c:dLbl>
            <c:dLbl>
              <c:idx val="5"/>
              <c:layout>
                <c:manualLayout>
                  <c:x val="-3.0555559314851731E-2"/>
                  <c:y val="-2.2774325265782651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baseline="0">
                        <a:solidFill>
                          <a:schemeClr val="accent1">
                            <a:lumMod val="75000"/>
                          </a:schemeClr>
                        </a:solidFill>
                        <a:latin typeface="OE August Pro Medium" panose="00000600000000000000" pitchFamily="2" charset="-79"/>
                        <a:ea typeface="+mn-ea"/>
                        <a:cs typeface="OE August Pro Medium" panose="00000600000000000000" pitchFamily="2" charset="-79"/>
                      </a:defRPr>
                    </a:pPr>
                    <a:r>
                      <a:rPr lang="he-IL" dirty="0" smtClean="0"/>
                      <a:t>נכסים אלטרנטיביים</a:t>
                    </a:r>
                    <a:r>
                      <a:rPr lang="he-IL" baseline="0" dirty="0"/>
                      <a:t>
</a:t>
                    </a:r>
                    <a:r>
                      <a:rPr lang="he-IL" baseline="0" dirty="0" smtClean="0"/>
                      <a:t>25%-</a:t>
                    </a:r>
                    <a:fld id="{E8A55BCE-62BD-493E-8839-327F83DEDBE3}" type="PERCENTAGE">
                      <a:rPr lang="he-IL" baseline="0" smtClean="0"/>
                      <a:pPr>
                        <a:defRPr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E August Pro Medium" panose="00000600000000000000" pitchFamily="2" charset="-79"/>
                          <a:cs typeface="OE August Pro Medium" panose="00000600000000000000" pitchFamily="2" charset="-79"/>
                        </a:defRPr>
                      </a:pPr>
                      <a:t>[אחוז]</a:t>
                    </a:fld>
                    <a:endParaRPr lang="he-IL" baseline="0" dirty="0" smtClean="0"/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baseline="0">
                      <a:solidFill>
                        <a:schemeClr val="accent1">
                          <a:lumMod val="75000"/>
                        </a:schemeClr>
                      </a:solidFill>
                      <a:latin typeface="OE August Pro Medium" panose="00000600000000000000" pitchFamily="2" charset="-79"/>
                      <a:ea typeface="+mn-ea"/>
                      <a:cs typeface="OE August Pro Medium" panose="00000600000000000000" pitchFamily="2" charset="-79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90B-4D6F-9E81-F0420954CEDF}"/>
                </c:ext>
              </c:extLst>
            </c:dLbl>
            <c:spPr>
              <a:solidFill>
                <a:prstClr val="white"/>
              </a:solidFill>
              <a:ln>
                <a:solidFill>
                  <a:srgbClr val="5B9BD5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OE August Pro Medium" panose="00000600000000000000" pitchFamily="2" charset="-79"/>
                    <a:ea typeface="+mn-ea"/>
                    <a:cs typeface="OE August Pro Medium" panose="00000600000000000000" pitchFamily="2" charset="-79"/>
                  </a:defRPr>
                </a:pPr>
                <a:endParaRPr lang="he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גיליון1!$A$2:$A$7</c:f>
              <c:strCache>
                <c:ptCount val="6"/>
                <c:pt idx="0">
                  <c:v>שוק ההון</c:v>
                </c:pt>
                <c:pt idx="1">
                  <c:v>נדל"ן ללא מגורים</c:v>
                </c:pt>
                <c:pt idx="2">
                  <c:v>עסקאות נדל"ן T.S</c:v>
                </c:pt>
                <c:pt idx="3">
                  <c:v>דירה לרכישה</c:v>
                </c:pt>
                <c:pt idx="4">
                  <c:v>מזומן</c:v>
                </c:pt>
                <c:pt idx="5">
                  <c:v>עסקאות משלימות</c:v>
                </c:pt>
              </c:strCache>
            </c:strRef>
          </c:cat>
          <c:val>
            <c:numRef>
              <c:f>גיליון1!$B$2:$B$7</c:f>
              <c:numCache>
                <c:formatCode>0%</c:formatCode>
                <c:ptCount val="6"/>
                <c:pt idx="0">
                  <c:v>0.3</c:v>
                </c:pt>
                <c:pt idx="1">
                  <c:v>0.11</c:v>
                </c:pt>
                <c:pt idx="2">
                  <c:v>0.23</c:v>
                </c:pt>
                <c:pt idx="3">
                  <c:v>0.1</c:v>
                </c:pt>
                <c:pt idx="4">
                  <c:v>0.03</c:v>
                </c:pt>
                <c:pt idx="5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F-4AE7-BDB0-8D31F7A9DE6C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6C72845-873F-4006-A81A-B57443598AFD}" type="datetimeFigureOut">
              <a:rPr lang="he-IL" smtClean="0"/>
              <a:t>ה'/תמוז/תשפ"ד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5D10258-B029-4225-8C41-7F909A2D65D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302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2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1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7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0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6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4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0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97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9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080BF-EC05-B849-A1D1-EEB23EEADFE0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36DC3-C409-DD47-A0DF-22CA7CC28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918722"/>
            <a:ext cx="3581400" cy="358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5638" y="4259536"/>
            <a:ext cx="6620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2400" b="1" dirty="0">
                <a:solidFill>
                  <a:srgbClr val="CFB780"/>
                </a:solidFill>
                <a:latin typeface="OE August Pro Black" panose="00000A00000000000000" pitchFamily="2" charset="-79"/>
                <a:ea typeface="OE August Pro" charset="0"/>
                <a:cs typeface="OE August Pro Black" panose="00000A00000000000000" pitchFamily="2" charset="-79"/>
              </a:rPr>
              <a:t>משפחת מרש | הקצאת נכסים ותכנית עבודה</a:t>
            </a:r>
            <a:r>
              <a:rPr lang="he-IL" sz="2400" dirty="0" smtClean="0">
                <a:solidFill>
                  <a:srgbClr val="CFB780"/>
                </a:solidFill>
                <a:latin typeface="OE August Pro Medium" panose="00000600000000000000" pitchFamily="2" charset="-79"/>
                <a:ea typeface="OE August Pro" charset="0"/>
                <a:cs typeface="OE August Pro Medium" panose="00000600000000000000" pitchFamily="2" charset="-79"/>
              </a:rPr>
              <a:t> </a:t>
            </a:r>
          </a:p>
          <a:p>
            <a:pPr marL="0" algn="ctr" defTabSz="914400" rtl="1" eaLnBrk="1" latinLnBrk="0" hangingPunct="1"/>
            <a:r>
              <a:rPr lang="he-IL" sz="2400" dirty="0" smtClean="0">
                <a:solidFill>
                  <a:srgbClr val="CFB780"/>
                </a:solidFill>
                <a:latin typeface="OE August Pro Medium" panose="00000600000000000000" pitchFamily="2" charset="-79"/>
                <a:ea typeface="OE August Pro" charset="0"/>
                <a:cs typeface="OE August Pro Medium" panose="00000600000000000000" pitchFamily="2" charset="-79"/>
              </a:rPr>
              <a:t>יולי 2024</a:t>
            </a:r>
            <a:r>
              <a:rPr lang="he-IL" sz="2400" dirty="0" smtClean="0">
                <a:solidFill>
                  <a:srgbClr val="CFB780"/>
                </a:solidFill>
                <a:latin typeface="OE August Pro" charset="0"/>
                <a:ea typeface="OE August Pro" charset="0"/>
                <a:cs typeface="OE August Pro" charset="0"/>
              </a:rPr>
              <a:t> </a:t>
            </a:r>
            <a:endParaRPr lang="en-US" sz="2400" dirty="0">
              <a:solidFill>
                <a:srgbClr val="CFB780"/>
              </a:solidFill>
              <a:latin typeface="OE August Pro" charset="0"/>
              <a:ea typeface="OE August Pro" charset="0"/>
              <a:cs typeface="OE August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85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graphicFrame>
        <p:nvGraphicFramePr>
          <p:cNvPr id="7" name="תרשים 6"/>
          <p:cNvGraphicFramePr/>
          <p:nvPr>
            <p:extLst>
              <p:ext uri="{D42A27DB-BD31-4B8C-83A1-F6EECF244321}">
                <p14:modId xmlns:p14="http://schemas.microsoft.com/office/powerpoint/2010/main" val="3199044354"/>
              </p:ext>
            </p:extLst>
          </p:nvPr>
        </p:nvGraphicFramePr>
        <p:xfrm>
          <a:off x="2723111" y="1325489"/>
          <a:ext cx="6888756" cy="4404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אליפסה 2"/>
          <p:cNvSpPr/>
          <p:nvPr/>
        </p:nvSpPr>
        <p:spPr>
          <a:xfrm>
            <a:off x="3054928" y="4735125"/>
            <a:ext cx="1420091" cy="10390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8" name="מחבר חץ ישר 7"/>
          <p:cNvCxnSpPr>
            <a:stCxn id="3" idx="7"/>
          </p:cNvCxnSpPr>
          <p:nvPr/>
        </p:nvCxnSpPr>
        <p:spPr>
          <a:xfrm flipV="1">
            <a:off x="4267051" y="2466110"/>
            <a:ext cx="3152058" cy="24211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39270" y="6079670"/>
            <a:ext cx="6959678" cy="10766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0" indent="-285750" algn="r" rtl="1">
              <a:lnSpc>
                <a:spcPct val="150000"/>
              </a:lnSpc>
              <a:buBlip>
                <a:blip r:embed="rId5"/>
              </a:buBlip>
            </a:pPr>
            <a:r>
              <a:rPr lang="he-IL" sz="1200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 נדל"ן ללא מגורים – שווי הדירות להשקעה בלבד, ללא בית המגורים.</a:t>
            </a:r>
            <a:r>
              <a:rPr lang="en-US" sz="1200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/>
            </a:r>
            <a:br>
              <a:rPr lang="en-US" sz="1200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</a:br>
            <a:endParaRPr lang="he-IL" sz="2000" dirty="0">
              <a:solidFill>
                <a:prstClr val="black"/>
              </a:solidFill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  <a:p>
            <a:pPr algn="r" rtl="1">
              <a:lnSpc>
                <a:spcPct val="150000"/>
              </a:lnSpc>
            </a:pPr>
            <a:endParaRPr lang="he-IL" sz="1200" dirty="0" smtClean="0"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</p:txBody>
      </p:sp>
      <p:cxnSp>
        <p:nvCxnSpPr>
          <p:cNvPr id="11" name="מחבר חץ ישר 10"/>
          <p:cNvCxnSpPr>
            <a:stCxn id="3" idx="7"/>
          </p:cNvCxnSpPr>
          <p:nvPr/>
        </p:nvCxnSpPr>
        <p:spPr>
          <a:xfrm flipV="1">
            <a:off x="4267051" y="2320637"/>
            <a:ext cx="2216876" cy="25666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60388" y="323850"/>
            <a:ext cx="667438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אלוקציית</a:t>
            </a:r>
            <a:r>
              <a:rPr lang="he-IL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 נכסים התחלתית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</p:txBody>
      </p:sp>
      <p:cxnSp>
        <p:nvCxnSpPr>
          <p:cNvPr id="15" name="מחבר חץ ישר 14"/>
          <p:cNvCxnSpPr>
            <a:stCxn id="3" idx="7"/>
          </p:cNvCxnSpPr>
          <p:nvPr/>
        </p:nvCxnSpPr>
        <p:spPr>
          <a:xfrm flipV="1">
            <a:off x="4267051" y="2276694"/>
            <a:ext cx="1345803" cy="26106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50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3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תרשים 5"/>
          <p:cNvGraphicFramePr/>
          <p:nvPr>
            <p:extLst>
              <p:ext uri="{D42A27DB-BD31-4B8C-83A1-F6EECF244321}">
                <p14:modId xmlns:p14="http://schemas.microsoft.com/office/powerpoint/2010/main" val="2456849914"/>
              </p:ext>
            </p:extLst>
          </p:nvPr>
        </p:nvGraphicFramePr>
        <p:xfrm>
          <a:off x="2611582" y="921326"/>
          <a:ext cx="6650181" cy="5576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7766" y="323850"/>
            <a:ext cx="1070700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אלוקציית</a:t>
            </a:r>
            <a:r>
              <a:rPr lang="he-IL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 נכסים שתוכננה בראשית התהליך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0124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תרשים 5"/>
          <p:cNvGraphicFramePr/>
          <p:nvPr>
            <p:extLst>
              <p:ext uri="{D42A27DB-BD31-4B8C-83A1-F6EECF244321}">
                <p14:modId xmlns:p14="http://schemas.microsoft.com/office/powerpoint/2010/main" val="3451611487"/>
              </p:ext>
            </p:extLst>
          </p:nvPr>
        </p:nvGraphicFramePr>
        <p:xfrm>
          <a:off x="2611582" y="921326"/>
          <a:ext cx="6650181" cy="5576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7766" y="323850"/>
            <a:ext cx="1070700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אלוקציית</a:t>
            </a:r>
            <a:r>
              <a:rPr lang="he-IL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 נכסים קיימת – יולי 2024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</p:txBody>
      </p:sp>
      <p:cxnSp>
        <p:nvCxnSpPr>
          <p:cNvPr id="9" name="מחבר חץ ישר 8"/>
          <p:cNvCxnSpPr/>
          <p:nvPr/>
        </p:nvCxnSpPr>
        <p:spPr>
          <a:xfrm flipV="1">
            <a:off x="3164438" y="1672517"/>
            <a:ext cx="0" cy="67887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/>
          <p:cNvCxnSpPr/>
          <p:nvPr/>
        </p:nvCxnSpPr>
        <p:spPr>
          <a:xfrm flipV="1">
            <a:off x="3233711" y="5219281"/>
            <a:ext cx="0" cy="67887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חץ ישר 11"/>
          <p:cNvCxnSpPr/>
          <p:nvPr/>
        </p:nvCxnSpPr>
        <p:spPr>
          <a:xfrm flipV="1">
            <a:off x="7500910" y="1769499"/>
            <a:ext cx="0" cy="67887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חץ למטה 12"/>
          <p:cNvSpPr/>
          <p:nvPr/>
        </p:nvSpPr>
        <p:spPr>
          <a:xfrm>
            <a:off x="2435733" y="3279644"/>
            <a:ext cx="45719" cy="583155"/>
          </a:xfrm>
          <a:prstGeom prst="downArrow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TextBox 4"/>
          <p:cNvSpPr txBox="1"/>
          <p:nvPr/>
        </p:nvSpPr>
        <p:spPr>
          <a:xfrm>
            <a:off x="518646" y="1218680"/>
            <a:ext cx="3509833" cy="39703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u="sng" dirty="0" smtClean="0"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אלטרנטיבי – פירוט: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KDC Media </a:t>
            </a: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Fund</a:t>
            </a:r>
          </a:p>
          <a:p>
            <a:pPr marL="28575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err="1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Coller</a:t>
            </a: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 Capital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ISF III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err="1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Ha’Magen</a:t>
            </a: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 Debt Fund</a:t>
            </a:r>
            <a:endParaRPr lang="he-IL" dirty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Impact Debt Fund</a:t>
            </a:r>
            <a:endParaRPr lang="he-IL" dirty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Pollen Street Credit Fund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Liquidity Capital II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Viola Credit ALF III</a:t>
            </a:r>
            <a:endParaRPr lang="he-IL" dirty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algn="r" rtl="1"/>
            <a:endParaRPr lang="he-IL" u="sng" dirty="0"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84150" y="1218680"/>
            <a:ext cx="3674529" cy="5355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u="sng" dirty="0" smtClean="0"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עסקאות נדל"ן </a:t>
            </a:r>
            <a:r>
              <a:rPr lang="en-US" u="sng" dirty="0" smtClean="0">
                <a:latin typeface="OE August Pro Medium" panose="00000600000000000000" pitchFamily="2" charset="-79"/>
                <a:cs typeface="OE August Pro Medium" panose="00000600000000000000" pitchFamily="2" charset="-79"/>
              </a:rPr>
              <a:t>T.S</a:t>
            </a:r>
            <a:r>
              <a:rPr lang="he-IL" u="sng" dirty="0" smtClean="0">
                <a:latin typeface="OE August Pro Medium" panose="00000600000000000000" pitchFamily="2" charset="-79"/>
                <a:cs typeface="OE August Pro Medium" panose="00000600000000000000" pitchFamily="2" charset="-79"/>
              </a:rPr>
              <a:t> – פירוט: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Electra USA II</a:t>
            </a:r>
          </a:p>
          <a:p>
            <a:pPr marL="285750" indent="-285750">
              <a:lnSpc>
                <a:spcPct val="150000"/>
              </a:lnSpc>
              <a:buBlip>
                <a:blip r:embed="rId5"/>
              </a:buBlip>
            </a:pP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Faro-Point </a:t>
            </a: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FRG-X</a:t>
            </a:r>
          </a:p>
          <a:p>
            <a:pPr marL="285750" indent="-285750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Caliber Hospitality REIT Fund</a:t>
            </a:r>
            <a:endParaRPr lang="en-US" dirty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marL="285750" lvl="0" indent="-285750">
              <a:lnSpc>
                <a:spcPct val="150000"/>
              </a:lnSpc>
              <a:buBlip>
                <a:blip r:embed="rId5"/>
              </a:buBlip>
            </a:pP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Serviced </a:t>
            </a: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Apartments, Vienna</a:t>
            </a:r>
          </a:p>
          <a:p>
            <a:pPr marL="285750" lvl="0" indent="-285750">
              <a:lnSpc>
                <a:spcPct val="150000"/>
              </a:lnSpc>
              <a:buBlip>
                <a:blip r:embed="rId5"/>
              </a:buBlip>
            </a:pPr>
            <a:r>
              <a:rPr lang="en-US" dirty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Assisted Living, </a:t>
            </a:r>
            <a:r>
              <a:rPr lang="en-US" dirty="0" err="1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Buligo</a:t>
            </a:r>
            <a:endParaRPr lang="en-US" dirty="0" smtClean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marL="285750" lvl="0" indent="-285750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Assisted Living, </a:t>
            </a:r>
            <a:r>
              <a:rPr lang="en-US" dirty="0" err="1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Buligo</a:t>
            </a: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 II</a:t>
            </a:r>
            <a:endParaRPr lang="he-IL" dirty="0" smtClean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Electra BTR I</a:t>
            </a:r>
            <a:endParaRPr lang="en-US" dirty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Urban Renewal – Hartford, CT</a:t>
            </a:r>
            <a:endParaRPr lang="en-US" dirty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Reality Germany I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Philadelphia Multi-Family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err="1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Gatewater</a:t>
            </a: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 Landing, Maryland</a:t>
            </a:r>
          </a:p>
          <a:p>
            <a:pPr marL="285750" lvl="0" indent="-285750" algn="l">
              <a:lnSpc>
                <a:spcPct val="150000"/>
              </a:lnSpc>
              <a:buBlip>
                <a:blip r:embed="rId5"/>
              </a:buBlip>
            </a:pP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NETZ, New Haven</a:t>
            </a:r>
            <a:endParaRPr lang="he-IL" dirty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85316" y="1218680"/>
            <a:ext cx="3570079" cy="189282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r" rtl="1"/>
            <a:r>
              <a:rPr lang="he-IL" u="sng" dirty="0" smtClean="0"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שוק ההון – פירוט:</a:t>
            </a:r>
          </a:p>
          <a:p>
            <a:pPr marL="285750" lvl="0" indent="-285750" algn="r" rtl="1">
              <a:lnSpc>
                <a:spcPct val="150000"/>
              </a:lnSpc>
              <a:buBlip>
                <a:blip r:embed="rId5"/>
              </a:buBlip>
            </a:pPr>
            <a:r>
              <a:rPr lang="he-IL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תיק השקעות מנוהל – </a:t>
            </a:r>
            <a:r>
              <a:rPr lang="en-US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 IBI</a:t>
            </a:r>
          </a:p>
          <a:p>
            <a:pPr marL="285750" lvl="0" indent="-285750" algn="r" rtl="1">
              <a:lnSpc>
                <a:spcPct val="150000"/>
              </a:lnSpc>
              <a:buBlip>
                <a:blip r:embed="rId5"/>
              </a:buBlip>
            </a:pPr>
            <a:r>
              <a:rPr lang="he-IL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תיק השקעות מנוהל – ילין ל.</a:t>
            </a:r>
          </a:p>
          <a:p>
            <a:pPr marL="285750" lvl="0" indent="-285750" algn="r" rtl="1">
              <a:lnSpc>
                <a:spcPct val="150000"/>
              </a:lnSpc>
              <a:buBlip>
                <a:blip r:embed="rId5"/>
              </a:buBlip>
            </a:pPr>
            <a:r>
              <a:rPr lang="he-IL" dirty="0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תיק השקעות מנוהל - </a:t>
            </a:r>
            <a:r>
              <a:rPr lang="en-US" dirty="0" err="1" smtClean="0">
                <a:solidFill>
                  <a:prstClr val="black"/>
                </a:solidFill>
                <a:latin typeface="OE August Pro Light" panose="00000400000000000000" pitchFamily="2" charset="-79"/>
                <a:cs typeface="OE August Pro Light" panose="00000400000000000000" pitchFamily="2" charset="-79"/>
              </a:rPr>
              <a:t>Vontobel</a:t>
            </a:r>
            <a:endParaRPr lang="he-IL" dirty="0">
              <a:solidFill>
                <a:prstClr val="black"/>
              </a:solidFill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algn="r" rtl="1"/>
            <a:endParaRPr lang="he-IL" u="sng" dirty="0"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3991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13" grpId="0" animBg="1"/>
      <p:bldP spid="5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תרשים 5"/>
          <p:cNvGraphicFramePr/>
          <p:nvPr>
            <p:extLst>
              <p:ext uri="{D42A27DB-BD31-4B8C-83A1-F6EECF244321}">
                <p14:modId xmlns:p14="http://schemas.microsoft.com/office/powerpoint/2010/main" val="493492181"/>
              </p:ext>
            </p:extLst>
          </p:nvPr>
        </p:nvGraphicFramePr>
        <p:xfrm>
          <a:off x="2611582" y="921326"/>
          <a:ext cx="6650181" cy="5576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40210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323850"/>
            <a:ext cx="11534775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תכנית עבודה – </a:t>
            </a:r>
            <a:r>
              <a:rPr lang="he-IL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אקלוציית</a:t>
            </a:r>
            <a:r>
              <a:rPr lang="he-IL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 נכסים להמשך 2024-5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</p:txBody>
      </p:sp>
      <p:cxnSp>
        <p:nvCxnSpPr>
          <p:cNvPr id="9" name="מחבר חץ ישר 8"/>
          <p:cNvCxnSpPr/>
          <p:nvPr/>
        </p:nvCxnSpPr>
        <p:spPr>
          <a:xfrm flipV="1">
            <a:off x="2810945" y="1805071"/>
            <a:ext cx="0" cy="67887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/>
          <p:cNvCxnSpPr/>
          <p:nvPr/>
        </p:nvCxnSpPr>
        <p:spPr>
          <a:xfrm flipV="1">
            <a:off x="4123398" y="5342848"/>
            <a:ext cx="0" cy="67887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חץ למטה 12"/>
          <p:cNvSpPr/>
          <p:nvPr/>
        </p:nvSpPr>
        <p:spPr>
          <a:xfrm>
            <a:off x="8523496" y="1805071"/>
            <a:ext cx="45719" cy="583155"/>
          </a:xfrm>
          <a:prstGeom prst="downArrow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4" name="מחבר חץ ישר 13"/>
          <p:cNvCxnSpPr/>
          <p:nvPr/>
        </p:nvCxnSpPr>
        <p:spPr>
          <a:xfrm flipV="1">
            <a:off x="2356382" y="4663975"/>
            <a:ext cx="0" cy="678873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חץ למטה 14"/>
          <p:cNvSpPr/>
          <p:nvPr/>
        </p:nvSpPr>
        <p:spPr>
          <a:xfrm>
            <a:off x="2511627" y="2781022"/>
            <a:ext cx="45719" cy="583155"/>
          </a:xfrm>
          <a:prstGeom prst="downArrow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extBox 3"/>
          <p:cNvSpPr txBox="1"/>
          <p:nvPr/>
        </p:nvSpPr>
        <p:spPr>
          <a:xfrm>
            <a:off x="3049842" y="5606222"/>
            <a:ext cx="8616591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lvl="0" indent="-285750" algn="r" rtl="1">
              <a:lnSpc>
                <a:spcPct val="150000"/>
              </a:lnSpc>
              <a:buBlip>
                <a:blip r:embed="rId5"/>
              </a:buBlip>
            </a:pPr>
            <a:r>
              <a:rPr lang="he-IL" sz="2000" dirty="0" smtClean="0">
                <a:solidFill>
                  <a:prstClr val="black"/>
                </a:solidFill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נקודה למחשבה 1 – הכספים בג'רזי</a:t>
            </a:r>
          </a:p>
          <a:p>
            <a:pPr marL="285750" lvl="0" indent="-285750" algn="r" rtl="1">
              <a:lnSpc>
                <a:spcPct val="150000"/>
              </a:lnSpc>
              <a:buBlip>
                <a:blip r:embed="rId5"/>
              </a:buBlip>
            </a:pPr>
            <a:r>
              <a:rPr lang="he-IL" sz="2000" dirty="0" smtClean="0">
                <a:solidFill>
                  <a:prstClr val="black"/>
                </a:solidFill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נקודה למחשבה 2 – מימון לדירה החדשה</a:t>
            </a:r>
            <a:endParaRPr lang="he-IL" sz="2000" dirty="0">
              <a:solidFill>
                <a:prstClr val="black"/>
              </a:solidFill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2077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13" grpId="0" animBg="1"/>
      <p:bldP spid="15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59064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86AD1F-B199-45DE-986F-B96DCBC617DE}"/>
              </a:ext>
            </a:extLst>
          </p:cNvPr>
          <p:cNvSpPr txBox="1"/>
          <p:nvPr/>
        </p:nvSpPr>
        <p:spPr>
          <a:xfrm>
            <a:off x="1741702" y="1177867"/>
            <a:ext cx="9793073" cy="25853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u="sng" dirty="0" smtClean="0">
                <a:latin typeface="OE August Pro Black" panose="00000A00000000000000" pitchFamily="2" charset="-79"/>
                <a:cs typeface="OE August Pro Black" panose="00000A00000000000000" pitchFamily="2" charset="-79"/>
              </a:rPr>
              <a:t>הגדלת השקעה בנכסים אלטרנטיביים: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הגדלת רכיב הנכסים האלטרנטיביים (קרנות חוב ופרייבט אקוויטי) </a:t>
            </a: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בתיק הנכסים </a:t>
            </a: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הכולל, </a:t>
            </a: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ע"ח מזומן ו/או שוק ההון.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צמצום רכיב שוק ההון נובע מההבנה כי החשיפה להשקעות אלטרנטיביות מקטינות, לטעמנו, את הסיכון הגלום בשוק ההון ואת סטיית התקן בתיק כולו, תוך שהן מגדילות את פוטנציאל התשואה</a:t>
            </a: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.</a:t>
            </a:r>
            <a:endParaRPr lang="he-IL" dirty="0"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23850"/>
            <a:ext cx="11534775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תכנית עבודה להמשך שנת 2024 והלאה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41702" y="3904735"/>
            <a:ext cx="9793073" cy="30315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u="sng" dirty="0">
                <a:latin typeface="OE August Pro Black" panose="00000A00000000000000" pitchFamily="2" charset="-79"/>
                <a:cs typeface="OE August Pro Black" panose="00000A00000000000000" pitchFamily="2" charset="-79"/>
              </a:rPr>
              <a:t>הגדלת השקעה בעסקאות וקרנות נדל"ן: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הגדלת הפיזור הסקטוריאלי – חוות שרתים, מרכזים לוגיסטיים, מקבצי מולטי </a:t>
            </a:r>
            <a:r>
              <a:rPr lang="he-IL" dirty="0" err="1">
                <a:latin typeface="OE August Pro Light" panose="00000400000000000000" pitchFamily="2" charset="-79"/>
                <a:cs typeface="OE August Pro Light" panose="00000400000000000000" pitchFamily="2" charset="-79"/>
              </a:rPr>
              <a:t>פמילי</a:t>
            </a: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 ועוד.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הגדלת הפיזור הגאוגרפי – חשיפה לארה"ב, אירופה, אנגליה וישראל.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הורדות הריבית הצפויות, לקראת סוף השנה ובמהלך 2025, צפויות לתת רוח גבית לסקטור הנדל"ן (וכן לשוק ההון – רלוונטי מאוד לקרן </a:t>
            </a:r>
            <a:r>
              <a:rPr lang="en-US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Caliber</a:t>
            </a: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).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endParaRPr lang="he-IL" sz="1600" dirty="0"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algn="r"/>
            <a:endParaRPr lang="he-IL" sz="1400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7433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94" y="3359064"/>
            <a:ext cx="2470380" cy="3532908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0" y="4886325"/>
            <a:ext cx="1971675" cy="1971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D04A5F-5583-49D2-92DA-3EA29B0F7987}"/>
              </a:ext>
            </a:extLst>
          </p:cNvPr>
          <p:cNvSpPr txBox="1"/>
          <p:nvPr/>
        </p:nvSpPr>
        <p:spPr>
          <a:xfrm>
            <a:off x="900545" y="937289"/>
            <a:ext cx="10706787" cy="30008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ההשקעות </a:t>
            </a: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המשלימות </a:t>
            </a: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תכלולנה, בעיקרן, קרנות </a:t>
            </a: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חוב, קרנות </a:t>
            </a: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פרייבט </a:t>
            </a: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אקוויטי ועסקאות נדל"ן.</a:t>
            </a:r>
            <a:endParaRPr lang="he-IL" dirty="0"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קרנות החוב, כתפישה, מהוות עבורנו כחליף לאגרות חוב.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b="1" u="sng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בהתאם לאמור בסעיף הקודם, צמצום רכיב שוק ההון בתיק הכולל ייעשה ראשית דרך מכירה של אגרות חוב בתיקים המנוהלים.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יש לזכור - בחלק מהעסקאות, הסיווג בין נדל"ן ו/או אלטרנטיבי עשוי להיות חופף ובלתי-מובהק.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לתפישתנו, יש לשמור כסף להזדמנויות שתגענה (למשל, הגדלת רכיב המניות בתיקים המנוהלים, ע"ח רכיב אגרות החוב, בזמנים רלוונטיים).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57" y="229403"/>
            <a:ext cx="11534775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הצעות והערות בנוגע </a:t>
            </a:r>
            <a:r>
              <a:rPr lang="he-IL" sz="4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לאלוקציה</a:t>
            </a:r>
            <a:r>
              <a:rPr lang="he-IL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E August Pro Medium" panose="00000600000000000000" pitchFamily="2" charset="-79"/>
                <a:cs typeface="OE August Pro Medium" panose="00000600000000000000" pitchFamily="2" charset="-79"/>
              </a:rPr>
              <a:t> המעודכנת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E August Pro Medium" panose="00000600000000000000" pitchFamily="2" charset="-79"/>
              <a:cs typeface="OE August Pro Medium" panose="00000600000000000000" pitchFamily="2" charset="-79"/>
            </a:endParaRPr>
          </a:p>
        </p:txBody>
      </p:sp>
      <p:sp>
        <p:nvSpPr>
          <p:cNvPr id="3" name="מלבן 2"/>
          <p:cNvSpPr/>
          <p:nvPr/>
        </p:nvSpPr>
        <p:spPr>
          <a:xfrm>
            <a:off x="1659768" y="4037741"/>
            <a:ext cx="994756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u="sng" dirty="0" smtClean="0">
                <a:latin typeface="OE August Pro Black" panose="00000A00000000000000" pitchFamily="2" charset="-79"/>
                <a:cs typeface="OE August Pro Black" panose="00000A00000000000000" pitchFamily="2" charset="-79"/>
              </a:rPr>
              <a:t>בהתאם לאמור לעיל ולתכנית העבודה (נכון לשלב זה):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רכיב הנכסים האלטרנטיביים צפוי לגדול בכ-800,000 $ עד 1,500,000 $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רכיב עסקאות הנדל"ן צפוי לגדול בכ-500,000 $ עד 1,000,000 $</a:t>
            </a:r>
          </a:p>
          <a:p>
            <a:pPr marL="285750" indent="-285750" algn="r" rtl="1">
              <a:lnSpc>
                <a:spcPct val="150000"/>
              </a:lnSpc>
              <a:buBlip>
                <a:blip r:embed="rId4"/>
              </a:buBlip>
            </a:pPr>
            <a:r>
              <a:rPr lang="he-IL" dirty="0" smtClean="0">
                <a:latin typeface="OE August Pro Light" panose="00000400000000000000" pitchFamily="2" charset="-79"/>
                <a:cs typeface="OE August Pro Light" panose="00000400000000000000" pitchFamily="2" charset="-79"/>
              </a:rPr>
              <a:t>רכיב שוק ההון צפוי להצטמצם בכ-1,300,000 $ עד 2,600,000 $</a:t>
            </a:r>
          </a:p>
          <a:p>
            <a:pPr algn="r" rtl="1">
              <a:lnSpc>
                <a:spcPct val="150000"/>
              </a:lnSpc>
            </a:pPr>
            <a:endParaRPr lang="he-IL" sz="1600" dirty="0">
              <a:latin typeface="OE August Pro Light" panose="00000400000000000000" pitchFamily="2" charset="-79"/>
              <a:cs typeface="OE August Pro Light" panose="000004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8982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918722"/>
            <a:ext cx="3581400" cy="358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2487" y="4271378"/>
            <a:ext cx="52870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sz="4400" b="1" dirty="0" smtClean="0">
                <a:solidFill>
                  <a:srgbClr val="CFB780"/>
                </a:solidFill>
                <a:latin typeface="OE August Pro Black" panose="00000A00000000000000" pitchFamily="2" charset="-79"/>
                <a:ea typeface="OE August Pro" charset="0"/>
                <a:cs typeface="OE August Pro Black" panose="00000A00000000000000" pitchFamily="2" charset="-79"/>
              </a:rPr>
              <a:t>תודה על ההקשבה!</a:t>
            </a:r>
            <a:endParaRPr lang="en-US" sz="4400" dirty="0">
              <a:solidFill>
                <a:srgbClr val="CFB780"/>
              </a:solidFill>
              <a:latin typeface="OE August Pro" charset="0"/>
              <a:ea typeface="OE August Pro" charset="0"/>
              <a:cs typeface="OE August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2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23552</TotalTime>
  <Words>492</Words>
  <Application>Microsoft Office PowerPoint</Application>
  <PresentationFormat>מסך רחב</PresentationFormat>
  <Paragraphs>78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OE August Pro</vt:lpstr>
      <vt:lpstr>OE August Pro Black</vt:lpstr>
      <vt:lpstr>OE August Pro Light</vt:lpstr>
      <vt:lpstr>OE August Pro Medium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User</cp:lastModifiedBy>
  <cp:revision>101</cp:revision>
  <dcterms:created xsi:type="dcterms:W3CDTF">2020-07-20T12:29:52Z</dcterms:created>
  <dcterms:modified xsi:type="dcterms:W3CDTF">2024-07-11T09:40:52Z</dcterms:modified>
</cp:coreProperties>
</file>