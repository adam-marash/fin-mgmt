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7" r:id="rId3"/>
    <p:sldId id="258" r:id="rId4"/>
    <p:sldId id="26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waxman@THESERVICE.local" initials="s" lastIdx="0" clrIdx="0">
    <p:extLst>
      <p:ext uri="{19B8F6BF-5375-455C-9EA6-DF929625EA0E}">
        <p15:presenceInfo xmlns:p15="http://schemas.microsoft.com/office/powerpoint/2012/main" userId="S-1-5-21-3915913713-4016366997-3603384427-128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B780"/>
    <a:srgbClr val="090C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72"/>
    <p:restoredTop sz="94652"/>
  </p:normalViewPr>
  <p:slideViewPr>
    <p:cSldViewPr snapToGrid="0" snapToObjects="1">
      <p:cViewPr varScale="1">
        <p:scale>
          <a:sx n="108" d="100"/>
          <a:sy n="108" d="100"/>
        </p:scale>
        <p:origin x="1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   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C8F2-4420-A6C7-4CE949F3D1A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C8F2-4420-A6C7-4CE949F3D1A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C8F2-4420-A6C7-4CE949F3D1A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C8F2-4420-A6C7-4CE949F3D1A0}"/>
              </c:ext>
            </c:extLst>
          </c:dPt>
          <c:dLbls>
            <c:dLbl>
              <c:idx val="0"/>
              <c:layout>
                <c:manualLayout>
                  <c:x val="3.0462800234329231E-2"/>
                  <c:y val="-4.9014889265852762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8F2-4420-A6C7-4CE949F3D1A0}"/>
                </c:ext>
              </c:extLst>
            </c:dLbl>
            <c:dLbl>
              <c:idx val="1"/>
              <c:layout>
                <c:manualLayout>
                  <c:x val="2.343292325717642E-2"/>
                  <c:y val="-3.4598745364131364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8F2-4420-A6C7-4CE949F3D1A0}"/>
                </c:ext>
              </c:extLst>
            </c:dLbl>
            <c:dLbl>
              <c:idx val="2"/>
              <c:layout>
                <c:manualLayout>
                  <c:x val="-8.3519735779951934E-2"/>
                  <c:y val="-4.1452656929375074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864411939720189"/>
                      <c:h val="0.1292206382878252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C8F2-4420-A6C7-4CE949F3D1A0}"/>
                </c:ext>
              </c:extLst>
            </c:dLbl>
            <c:dLbl>
              <c:idx val="3"/>
              <c:layout>
                <c:manualLayout>
                  <c:x val="-2.8119507908611684E-2"/>
                  <c:y val="-3.4598745364131364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8F2-4420-A6C7-4CE949F3D1A0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גיליון1!$A$2:$A$5</c:f>
              <c:strCache>
                <c:ptCount val="4"/>
                <c:pt idx="0">
                  <c:v>שוק ההון</c:v>
                </c:pt>
                <c:pt idx="1">
                  <c:v>נדל"ן ללא מגורים</c:v>
                </c:pt>
                <c:pt idx="2">
                  <c:v>מזומן</c:v>
                </c:pt>
                <c:pt idx="3">
                  <c:v>עסקאות משלימות</c:v>
                </c:pt>
              </c:strCache>
            </c:strRef>
          </c:cat>
          <c:val>
            <c:numRef>
              <c:f>גיליון1!$B$2:$B$5</c:f>
              <c:numCache>
                <c:formatCode>0%</c:formatCode>
                <c:ptCount val="4"/>
                <c:pt idx="0">
                  <c:v>0.05</c:v>
                </c:pt>
                <c:pt idx="1">
                  <c:v>0.11</c:v>
                </c:pt>
                <c:pt idx="2">
                  <c:v>0.84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8F2-4420-A6C7-4CE949F3D1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   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9CA-43F5-A00F-E3149CA1EE9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19CA-43F5-A00F-E3149CA1EE9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19CA-43F5-A00F-E3149CA1EE9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19CA-43F5-A00F-E3149CA1EE9A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גיליון1!$A$2:$A$5</c:f>
              <c:strCache>
                <c:ptCount val="4"/>
                <c:pt idx="0">
                  <c:v>שוק ההון</c:v>
                </c:pt>
                <c:pt idx="1">
                  <c:v>נדל"ן ללא מגורים</c:v>
                </c:pt>
                <c:pt idx="2">
                  <c:v>מזומן</c:v>
                </c:pt>
                <c:pt idx="3">
                  <c:v>עסקאות משלימות</c:v>
                </c:pt>
              </c:strCache>
            </c:strRef>
          </c:cat>
          <c:val>
            <c:numRef>
              <c:f>גיליון1!$B$2:$B$5</c:f>
              <c:numCache>
                <c:formatCode>0%</c:formatCode>
                <c:ptCount val="4"/>
                <c:pt idx="0">
                  <c:v>0.45</c:v>
                </c:pt>
                <c:pt idx="1">
                  <c:v>0.31</c:v>
                </c:pt>
                <c:pt idx="2">
                  <c:v>0.13</c:v>
                </c:pt>
                <c:pt idx="3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5F-4AE7-BDB0-8D31F7A9DE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   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08B-429E-AD22-76DDAACC90D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108B-429E-AD22-76DDAACC90D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108B-429E-AD22-76DDAACC90D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108B-429E-AD22-76DDAACC90D7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גיליון1!$A$2:$A$5</c:f>
              <c:strCache>
                <c:ptCount val="4"/>
                <c:pt idx="0">
                  <c:v>שוק ההון</c:v>
                </c:pt>
                <c:pt idx="1">
                  <c:v>נדל"ן ללא מגורים</c:v>
                </c:pt>
                <c:pt idx="2">
                  <c:v>מזומן</c:v>
                </c:pt>
                <c:pt idx="3">
                  <c:v>עסקאות משלימות</c:v>
                </c:pt>
              </c:strCache>
            </c:strRef>
          </c:cat>
          <c:val>
            <c:numRef>
              <c:f>גיליון1!$B$2:$B$5</c:f>
              <c:numCache>
                <c:formatCode>0%</c:formatCode>
                <c:ptCount val="4"/>
                <c:pt idx="0">
                  <c:v>0.33</c:v>
                </c:pt>
                <c:pt idx="1">
                  <c:v>0.38</c:v>
                </c:pt>
                <c:pt idx="2">
                  <c:v>0.1</c:v>
                </c:pt>
                <c:pt idx="3">
                  <c:v>0.19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08B-429E-AD22-76DDAACC90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מכירות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D0D6-4456-8219-3300C20226C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05C1-4588-BF2E-0AE1596116F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D0D6-4456-8219-3300C20226C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D0D6-4456-8219-3300C20226C7}"/>
              </c:ext>
            </c:extLst>
          </c:dPt>
          <c:cat>
            <c:strRef>
              <c:f>גיליון1!$A$2:$A$5</c:f>
              <c:strCache>
                <c:ptCount val="4"/>
                <c:pt idx="0">
                  <c:v>שוק ההון</c:v>
                </c:pt>
                <c:pt idx="1">
                  <c:v>נדל"ן ללא מגורים</c:v>
                </c:pt>
                <c:pt idx="2">
                  <c:v>מזומן</c:v>
                </c:pt>
                <c:pt idx="3">
                  <c:v>עסקאות משלימות</c:v>
                </c:pt>
              </c:strCache>
            </c:strRef>
          </c:cat>
          <c:val>
            <c:numRef>
              <c:f>גיליון1!$B$2:$B$5</c:f>
              <c:numCache>
                <c:formatCode>0.00%</c:formatCode>
                <c:ptCount val="4"/>
                <c:pt idx="0">
                  <c:v>0.35</c:v>
                </c:pt>
                <c:pt idx="1">
                  <c:v>0.35</c:v>
                </c:pt>
                <c:pt idx="2">
                  <c:v>7.4999999999999997E-2</c:v>
                </c:pt>
                <c:pt idx="3">
                  <c:v>0.22500000000000001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C1-4588-BF2E-0AE1596116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0.54674</cdr:x>
      <cdr:y>0.22166</cdr:y>
    </cdr:from>
    <cdr:to>
      <cdr:x>0.86225</cdr:x>
      <cdr:y>0.35966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4260256" y="1091055"/>
          <a:ext cx="2458478" cy="67926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1"/>
        <a:lstStyle xmlns:a="http://schemas.openxmlformats.org/drawingml/2006/main"/>
        <a:p xmlns:a="http://schemas.openxmlformats.org/drawingml/2006/main">
          <a:pPr rtl="1"/>
          <a:r>
            <a:rPr lang="he-IL" sz="1600" dirty="0"/>
            <a:t>שוק ההון, בין 30% - 35%</a:t>
          </a:r>
        </a:p>
      </cdr:txBody>
    </cdr:sp>
  </cdr:relSizeAnchor>
  <cdr:relSizeAnchor xmlns:cdr="http://schemas.openxmlformats.org/drawingml/2006/chartDrawing">
    <cdr:from>
      <cdr:x>0.20311</cdr:x>
      <cdr:y>0.07829</cdr:y>
    </cdr:from>
    <cdr:to>
      <cdr:x>0.44458</cdr:x>
      <cdr:y>0.17475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582616" y="385366"/>
          <a:ext cx="1881554" cy="47478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1"/>
        <a:lstStyle xmlns:a="http://schemas.openxmlformats.org/drawingml/2006/main"/>
        <a:p xmlns:a="http://schemas.openxmlformats.org/drawingml/2006/main">
          <a:endParaRPr lang="he-IL" sz="1100" dirty="0"/>
        </a:p>
      </cdr:txBody>
    </cdr:sp>
  </cdr:relSizeAnchor>
  <cdr:relSizeAnchor xmlns:cdr="http://schemas.openxmlformats.org/drawingml/2006/chartDrawing">
    <cdr:from>
      <cdr:x>0.09586</cdr:x>
      <cdr:y>0.19414</cdr:y>
    </cdr:from>
    <cdr:to>
      <cdr:x>0.49004</cdr:x>
      <cdr:y>0.2513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746956" y="955590"/>
          <a:ext cx="3071481" cy="28135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1"/>
        <a:lstStyle xmlns:a="http://schemas.openxmlformats.org/drawingml/2006/main"/>
        <a:p xmlns:a="http://schemas.openxmlformats.org/drawingml/2006/main">
          <a:pPr rtl="1"/>
          <a:r>
            <a:rPr lang="he-IL" sz="1600" dirty="0"/>
            <a:t>עסקאות משלימות, בין 22% - 25%</a:t>
          </a:r>
        </a:p>
      </cdr:txBody>
    </cdr:sp>
  </cdr:relSizeAnchor>
  <cdr:relSizeAnchor xmlns:cdr="http://schemas.openxmlformats.org/drawingml/2006/chartDrawing">
    <cdr:from>
      <cdr:x>0</cdr:x>
      <cdr:y>0.31944</cdr:y>
    </cdr:from>
    <cdr:to>
      <cdr:x>0.41072</cdr:x>
      <cdr:y>0.35516</cdr:y>
    </cdr:to>
    <cdr:sp macro="" textlink="">
      <cdr:nvSpPr>
        <cdr:cNvPr id="5" name="TextBox 4"/>
        <cdr:cNvSpPr txBox="1"/>
      </cdr:nvSpPr>
      <cdr:spPr>
        <a:xfrm xmlns:a="http://schemas.openxmlformats.org/drawingml/2006/main">
          <a:off x="-1186960" y="1572328"/>
          <a:ext cx="3200400" cy="17584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1"/>
        <a:lstStyle xmlns:a="http://schemas.openxmlformats.org/drawingml/2006/main"/>
        <a:p xmlns:a="http://schemas.openxmlformats.org/drawingml/2006/main">
          <a:endParaRPr lang="he-IL" sz="1100" dirty="0"/>
        </a:p>
      </cdr:txBody>
    </cdr:sp>
  </cdr:relSizeAnchor>
  <cdr:relSizeAnchor xmlns:cdr="http://schemas.openxmlformats.org/drawingml/2006/chartDrawing">
    <cdr:from>
      <cdr:x>0.00903</cdr:x>
      <cdr:y>0.32538</cdr:y>
    </cdr:from>
    <cdr:to>
      <cdr:x>0.27419</cdr:x>
      <cdr:y>0.44805</cdr:y>
    </cdr:to>
    <cdr:sp macro="" textlink="">
      <cdr:nvSpPr>
        <cdr:cNvPr id="6" name="TextBox 5"/>
        <cdr:cNvSpPr txBox="1"/>
      </cdr:nvSpPr>
      <cdr:spPr>
        <a:xfrm xmlns:a="http://schemas.openxmlformats.org/drawingml/2006/main">
          <a:off x="70362" y="1601585"/>
          <a:ext cx="2066148" cy="60379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1"/>
        <a:lstStyle xmlns:a="http://schemas.openxmlformats.org/drawingml/2006/main"/>
        <a:p xmlns:a="http://schemas.openxmlformats.org/drawingml/2006/main">
          <a:pPr rtl="1"/>
          <a:r>
            <a:rPr lang="he-IL" sz="1600" dirty="0"/>
            <a:t>מזומן, בין 2% - 3% </a:t>
          </a:r>
        </a:p>
      </cdr:txBody>
    </cdr:sp>
  </cdr:relSizeAnchor>
  <cdr:relSizeAnchor xmlns:cdr="http://schemas.openxmlformats.org/drawingml/2006/chartDrawing">
    <cdr:from>
      <cdr:x>0.2434</cdr:x>
      <cdr:y>0.48753</cdr:y>
    </cdr:from>
    <cdr:to>
      <cdr:x>0.65864</cdr:x>
      <cdr:y>0.56371</cdr:y>
    </cdr:to>
    <cdr:sp macro="" textlink="">
      <cdr:nvSpPr>
        <cdr:cNvPr id="7" name="TextBox 6"/>
        <cdr:cNvSpPr txBox="1"/>
      </cdr:nvSpPr>
      <cdr:spPr>
        <a:xfrm xmlns:a="http://schemas.openxmlformats.org/drawingml/2006/main">
          <a:off x="1896588" y="2399741"/>
          <a:ext cx="3235582" cy="37497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1"/>
        <a:lstStyle xmlns:a="http://schemas.openxmlformats.org/drawingml/2006/main"/>
        <a:p xmlns:a="http://schemas.openxmlformats.org/drawingml/2006/main">
          <a:pPr rtl="1"/>
          <a:r>
            <a:rPr lang="he-IL" sz="1600" dirty="0"/>
            <a:t>נדל"ן ללא מגורים, בין 45% - 50%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D6C72845-873F-4006-A81A-B57443598AFD}" type="datetimeFigureOut">
              <a:rPr lang="he-IL" smtClean="0"/>
              <a:t>כ"ז/אלול/תשפ"ג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35D10258-B029-4225-8C41-7F909A2D65D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83023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46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829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15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75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0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6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88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846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108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497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49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080BF-EC05-B849-A1D1-EEB23EEADFE0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46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300" y="1438268"/>
            <a:ext cx="3581400" cy="3581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31222" y="5836226"/>
            <a:ext cx="4929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r>
              <a:rPr lang="he-IL" sz="2400" b="1" dirty="0">
                <a:solidFill>
                  <a:srgbClr val="CFB780"/>
                </a:solidFill>
                <a:latin typeface="OE August Pro" charset="0"/>
                <a:ea typeface="OE August Pro" charset="0"/>
                <a:cs typeface="OE August Pro" charset="0"/>
              </a:rPr>
              <a:t>משפחת מרש </a:t>
            </a:r>
            <a:r>
              <a:rPr lang="he-IL" sz="2400" dirty="0">
                <a:solidFill>
                  <a:srgbClr val="CFB780"/>
                </a:solidFill>
                <a:latin typeface="OE August Pro" charset="0"/>
                <a:ea typeface="OE August Pro" charset="0"/>
                <a:cs typeface="OE August Pro" charset="0"/>
              </a:rPr>
              <a:t>|הקצאת נכסים 09/2023 </a:t>
            </a:r>
            <a:endParaRPr lang="en-US" sz="2400" dirty="0">
              <a:solidFill>
                <a:srgbClr val="CFB780"/>
              </a:solidFill>
              <a:latin typeface="OE August Pro" charset="0"/>
              <a:ea typeface="OE August Pro" charset="0"/>
              <a:cs typeface="OE August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852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94" y="3340210"/>
            <a:ext cx="2470380" cy="3532908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60" y="4886325"/>
            <a:ext cx="1971675" cy="197167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047687" y="515636"/>
            <a:ext cx="557784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400" b="1" u="sng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אלוקצית</a:t>
            </a:r>
            <a:r>
              <a:rPr lang="he-IL" sz="2400" b="1" u="sng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נכסים התחלתית </a:t>
            </a:r>
            <a:endParaRPr lang="he-IL" dirty="0"/>
          </a:p>
        </p:txBody>
      </p:sp>
      <p:graphicFrame>
        <p:nvGraphicFramePr>
          <p:cNvPr id="7" name="תרשים 6"/>
          <p:cNvGraphicFramePr/>
          <p:nvPr>
            <p:extLst>
              <p:ext uri="{D42A27DB-BD31-4B8C-83A1-F6EECF244321}">
                <p14:modId xmlns:p14="http://schemas.microsoft.com/office/powerpoint/2010/main" val="3577066842"/>
              </p:ext>
            </p:extLst>
          </p:nvPr>
        </p:nvGraphicFramePr>
        <p:xfrm>
          <a:off x="3118485" y="1412471"/>
          <a:ext cx="5419725" cy="4404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511319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72199" y="748538"/>
            <a:ext cx="5657851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 b="1" u="sng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אלוקציית</a:t>
            </a:r>
            <a:r>
              <a:rPr lang="he-IL" sz="2400" b="1" u="sng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נכסים שתוכננה (2019-2020)  </a:t>
            </a:r>
          </a:p>
        </p:txBody>
      </p:sp>
      <p:graphicFrame>
        <p:nvGraphicFramePr>
          <p:cNvPr id="6" name="תרשים 5"/>
          <p:cNvGraphicFramePr/>
          <p:nvPr>
            <p:extLst>
              <p:ext uri="{D42A27DB-BD31-4B8C-83A1-F6EECF244321}">
                <p14:modId xmlns:p14="http://schemas.microsoft.com/office/powerpoint/2010/main" val="3178985322"/>
              </p:ext>
            </p:extLst>
          </p:nvPr>
        </p:nvGraphicFramePr>
        <p:xfrm>
          <a:off x="6410325" y="1243541"/>
          <a:ext cx="5419725" cy="4404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94" y="3340210"/>
            <a:ext cx="2470380" cy="3532908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60" y="4886325"/>
            <a:ext cx="1971675" cy="1971675"/>
          </a:xfrm>
          <a:prstGeom prst="rect">
            <a:avLst/>
          </a:prstGeom>
        </p:spPr>
      </p:pic>
      <p:graphicFrame>
        <p:nvGraphicFramePr>
          <p:cNvPr id="9" name="תרשים 8"/>
          <p:cNvGraphicFramePr/>
          <p:nvPr>
            <p:extLst>
              <p:ext uri="{D42A27DB-BD31-4B8C-83A1-F6EECF244321}">
                <p14:modId xmlns:p14="http://schemas.microsoft.com/office/powerpoint/2010/main" val="1060528640"/>
              </p:ext>
            </p:extLst>
          </p:nvPr>
        </p:nvGraphicFramePr>
        <p:xfrm>
          <a:off x="800100" y="1310217"/>
          <a:ext cx="5309979" cy="4271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09549" y="715201"/>
            <a:ext cx="620077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 b="1" u="sng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אלוקציית</a:t>
            </a:r>
            <a:r>
              <a:rPr lang="he-IL" sz="2400" b="1" u="sng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נכסים קיימת (2023)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0824" y="3319987"/>
            <a:ext cx="236829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1200" u="sng" dirty="0"/>
              <a:t>נוספו לאחרונה 2 עסקאות:</a:t>
            </a:r>
          </a:p>
          <a:p>
            <a:pPr marL="228600" indent="-228600" algn="ctr" rtl="1">
              <a:buAutoNum type="arabicPeriod"/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Caliber        </a:t>
            </a:r>
            <a:endParaRPr lang="he-IL" sz="12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228600" indent="-228600" algn="ctr" rtl="1">
              <a:buAutoNum type="arabicPeriod"/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Electra BTR</a:t>
            </a:r>
            <a:endParaRPr lang="he-IL" sz="1200" dirty="0"/>
          </a:p>
        </p:txBody>
      </p:sp>
    </p:spTree>
    <p:extLst>
      <p:ext uri="{BB962C8B-B14F-4D97-AF65-F5344CB8AC3E}">
        <p14:creationId xmlns:p14="http://schemas.microsoft.com/office/powerpoint/2010/main" val="1501247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36207" y="370712"/>
            <a:ext cx="8953501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 u="sng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תכנית עבודה – </a:t>
            </a:r>
            <a:r>
              <a:rPr lang="he-IL" sz="2800" b="1" u="sng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אלוקציית</a:t>
            </a:r>
            <a:r>
              <a:rPr lang="he-IL" sz="2800" b="1" u="sng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נכסים מתוכננת להמשך </a:t>
            </a:r>
          </a:p>
          <a:p>
            <a:pPr algn="ctr"/>
            <a:r>
              <a:rPr lang="he-IL" sz="2800" b="1" u="sng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(לרבות 10 מיליון ₪  - דירה שמתוכננת להירכש</a:t>
            </a: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94" y="3340210"/>
            <a:ext cx="2470380" cy="3532908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60" y="4886325"/>
            <a:ext cx="1971675" cy="1971675"/>
          </a:xfrm>
          <a:prstGeom prst="rect">
            <a:avLst/>
          </a:prstGeom>
        </p:spPr>
      </p:pic>
      <p:graphicFrame>
        <p:nvGraphicFramePr>
          <p:cNvPr id="13" name="תרשים 12"/>
          <p:cNvGraphicFramePr/>
          <p:nvPr>
            <p:extLst>
              <p:ext uri="{D42A27DB-BD31-4B8C-83A1-F6EECF244321}">
                <p14:modId xmlns:p14="http://schemas.microsoft.com/office/powerpoint/2010/main" val="330627973"/>
              </p:ext>
            </p:extLst>
          </p:nvPr>
        </p:nvGraphicFramePr>
        <p:xfrm>
          <a:off x="2709916" y="1214834"/>
          <a:ext cx="7588182" cy="4529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E86AD1F-B199-45DE-986F-B96DCBC617DE}"/>
              </a:ext>
            </a:extLst>
          </p:cNvPr>
          <p:cNvSpPr txBox="1"/>
          <p:nvPr/>
        </p:nvSpPr>
        <p:spPr>
          <a:xfrm>
            <a:off x="3926157" y="5716802"/>
            <a:ext cx="68735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1400" dirty="0"/>
              <a:t>- התייחסנו להחזר עסקת דאטה סנטר אשר אמור להגיע בספטמבר</a:t>
            </a:r>
          </a:p>
          <a:p>
            <a:pPr algn="r"/>
            <a:r>
              <a:rPr lang="he-IL" sz="1400" dirty="0"/>
              <a:t>- בפגישתנו הבאה אבקש להתייחס ולחשוב יחדיו על אלוקציה עתידית</a:t>
            </a:r>
          </a:p>
        </p:txBody>
      </p:sp>
    </p:spTree>
    <p:extLst>
      <p:ext uri="{BB962C8B-B14F-4D97-AF65-F5344CB8AC3E}">
        <p14:creationId xmlns:p14="http://schemas.microsoft.com/office/powerpoint/2010/main" val="3959130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2043</TotalTime>
  <Words>116</Words>
  <Application>Microsoft Office PowerPoint</Application>
  <PresentationFormat>מסך רחב</PresentationFormat>
  <Paragraphs>22</Paragraphs>
  <Slides>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OE August Pro</vt:lpstr>
      <vt:lpstr>Office Theme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eitan</cp:lastModifiedBy>
  <cp:revision>47</cp:revision>
  <dcterms:created xsi:type="dcterms:W3CDTF">2020-07-20T12:29:52Z</dcterms:created>
  <dcterms:modified xsi:type="dcterms:W3CDTF">2023-09-13T12:17:46Z</dcterms:modified>
</cp:coreProperties>
</file>