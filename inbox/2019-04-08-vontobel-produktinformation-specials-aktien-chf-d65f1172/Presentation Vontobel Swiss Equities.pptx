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charts/chart5.xml" ContentType="application/vnd.openxmlformats-officedocument.drawingml.chart+xml"/>
  <Override PartName="/ppt/theme/themeOverride2.xml" ContentType="application/vnd.openxmlformats-officedocument.themeOverr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6" r:id="rId2"/>
    <p:sldId id="295" r:id="rId3"/>
    <p:sldId id="261" r:id="rId4"/>
    <p:sldId id="311" r:id="rId5"/>
    <p:sldId id="335" r:id="rId6"/>
    <p:sldId id="313" r:id="rId7"/>
    <p:sldId id="314" r:id="rId8"/>
    <p:sldId id="305" r:id="rId9"/>
    <p:sldId id="306" r:id="rId10"/>
    <p:sldId id="269" r:id="rId11"/>
    <p:sldId id="267" r:id="rId12"/>
    <p:sldId id="315" r:id="rId13"/>
    <p:sldId id="336" r:id="rId14"/>
    <p:sldId id="272" r:id="rId15"/>
    <p:sldId id="273" r:id="rId16"/>
    <p:sldId id="317" r:id="rId17"/>
    <p:sldId id="318" r:id="rId18"/>
    <p:sldId id="307" r:id="rId19"/>
    <p:sldId id="308" r:id="rId20"/>
    <p:sldId id="309" r:id="rId21"/>
    <p:sldId id="319" r:id="rId22"/>
    <p:sldId id="355" r:id="rId23"/>
    <p:sldId id="337" r:id="rId24"/>
    <p:sldId id="322" r:id="rId25"/>
    <p:sldId id="359" r:id="rId26"/>
    <p:sldId id="360" r:id="rId27"/>
    <p:sldId id="325" r:id="rId28"/>
    <p:sldId id="287" r:id="rId29"/>
    <p:sldId id="331" r:id="rId30"/>
    <p:sldId id="326" r:id="rId31"/>
    <p:sldId id="345" r:id="rId32"/>
    <p:sldId id="358" r:id="rId33"/>
    <p:sldId id="338" r:id="rId34"/>
    <p:sldId id="329" r:id="rId35"/>
    <p:sldId id="327" r:id="rId36"/>
    <p:sldId id="354" r:id="rId37"/>
  </p:sldIdLst>
  <p:sldSz cx="10691813" cy="7559675"/>
  <p:notesSz cx="6805613" cy="9944100"/>
  <p:custDataLst>
    <p:tags r:id="rId40"/>
  </p:custDataLst>
  <p:defaultTextStyle>
    <a:defPPr>
      <a:defRPr lang="en-US"/>
    </a:defPPr>
    <a:lvl1pPr marL="0" algn="l" defTabSz="995450" rtl="0" eaLnBrk="1" latinLnBrk="0" hangingPunct="1">
      <a:defRPr sz="2000" kern="1200">
        <a:solidFill>
          <a:schemeClr val="tx1"/>
        </a:solidFill>
        <a:latin typeface="+mn-lt"/>
        <a:ea typeface="+mn-ea"/>
        <a:cs typeface="+mn-cs"/>
      </a:defRPr>
    </a:lvl1pPr>
    <a:lvl2pPr marL="497724" algn="l" defTabSz="995450" rtl="0" eaLnBrk="1" latinLnBrk="0" hangingPunct="1">
      <a:defRPr sz="2000" kern="1200">
        <a:solidFill>
          <a:schemeClr val="tx1"/>
        </a:solidFill>
        <a:latin typeface="+mn-lt"/>
        <a:ea typeface="+mn-ea"/>
        <a:cs typeface="+mn-cs"/>
      </a:defRPr>
    </a:lvl2pPr>
    <a:lvl3pPr marL="995450" algn="l" defTabSz="995450" rtl="0" eaLnBrk="1" latinLnBrk="0" hangingPunct="1">
      <a:defRPr sz="2000" kern="1200">
        <a:solidFill>
          <a:schemeClr val="tx1"/>
        </a:solidFill>
        <a:latin typeface="+mn-lt"/>
        <a:ea typeface="+mn-ea"/>
        <a:cs typeface="+mn-cs"/>
      </a:defRPr>
    </a:lvl3pPr>
    <a:lvl4pPr marL="1493174" algn="l" defTabSz="995450" rtl="0" eaLnBrk="1" latinLnBrk="0" hangingPunct="1">
      <a:defRPr sz="2000" kern="1200">
        <a:solidFill>
          <a:schemeClr val="tx1"/>
        </a:solidFill>
        <a:latin typeface="+mn-lt"/>
        <a:ea typeface="+mn-ea"/>
        <a:cs typeface="+mn-cs"/>
      </a:defRPr>
    </a:lvl4pPr>
    <a:lvl5pPr marL="1990899" algn="l" defTabSz="995450" rtl="0" eaLnBrk="1" latinLnBrk="0" hangingPunct="1">
      <a:defRPr sz="2000" kern="1200">
        <a:solidFill>
          <a:schemeClr val="tx1"/>
        </a:solidFill>
        <a:latin typeface="+mn-lt"/>
        <a:ea typeface="+mn-ea"/>
        <a:cs typeface="+mn-cs"/>
      </a:defRPr>
    </a:lvl5pPr>
    <a:lvl6pPr marL="2488622" algn="l" defTabSz="995450" rtl="0" eaLnBrk="1" latinLnBrk="0" hangingPunct="1">
      <a:defRPr sz="2000" kern="1200">
        <a:solidFill>
          <a:schemeClr val="tx1"/>
        </a:solidFill>
        <a:latin typeface="+mn-lt"/>
        <a:ea typeface="+mn-ea"/>
        <a:cs typeface="+mn-cs"/>
      </a:defRPr>
    </a:lvl6pPr>
    <a:lvl7pPr marL="2986349" algn="l" defTabSz="995450" rtl="0" eaLnBrk="1" latinLnBrk="0" hangingPunct="1">
      <a:defRPr sz="2000" kern="1200">
        <a:solidFill>
          <a:schemeClr val="tx1"/>
        </a:solidFill>
        <a:latin typeface="+mn-lt"/>
        <a:ea typeface="+mn-ea"/>
        <a:cs typeface="+mn-cs"/>
      </a:defRPr>
    </a:lvl7pPr>
    <a:lvl8pPr marL="3484073" algn="l" defTabSz="995450" rtl="0" eaLnBrk="1" latinLnBrk="0" hangingPunct="1">
      <a:defRPr sz="2000" kern="1200">
        <a:solidFill>
          <a:schemeClr val="tx1"/>
        </a:solidFill>
        <a:latin typeface="+mn-lt"/>
        <a:ea typeface="+mn-ea"/>
        <a:cs typeface="+mn-cs"/>
      </a:defRPr>
    </a:lvl8pPr>
    <a:lvl9pPr marL="3981798" algn="l" defTabSz="995450"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43" userDrawn="1">
          <p15:clr>
            <a:srgbClr val="A4A3A4"/>
          </p15:clr>
        </p15:guide>
        <p15:guide id="2" orient="horz" pos="4241" userDrawn="1">
          <p15:clr>
            <a:srgbClr val="A4A3A4"/>
          </p15:clr>
        </p15:guide>
        <p15:guide id="3" orient="horz" pos="1156" userDrawn="1">
          <p15:clr>
            <a:srgbClr val="A4A3A4"/>
          </p15:clr>
        </p15:guide>
        <p15:guide id="4" orient="horz" pos="2764">
          <p15:clr>
            <a:srgbClr val="A4A3A4"/>
          </p15:clr>
        </p15:guide>
        <p15:guide id="5" orient="horz" pos="1247" userDrawn="1">
          <p15:clr>
            <a:srgbClr val="A4A3A4"/>
          </p15:clr>
        </p15:guide>
        <p15:guide id="6" pos="283">
          <p15:clr>
            <a:srgbClr val="A4A3A4"/>
          </p15:clr>
        </p15:guide>
        <p15:guide id="7" pos="6452">
          <p15:clr>
            <a:srgbClr val="A4A3A4"/>
          </p15:clr>
        </p15:guide>
        <p15:guide id="8" orient="horz" pos="445">
          <p15:clr>
            <a:srgbClr val="A4A3A4"/>
          </p15:clr>
        </p15:guide>
        <p15:guide id="9" orient="horz" pos="4206">
          <p15:clr>
            <a:srgbClr val="A4A3A4"/>
          </p15:clr>
        </p15:guide>
        <p15:guide id="10" orient="horz" pos="934">
          <p15:clr>
            <a:srgbClr val="A4A3A4"/>
          </p15:clr>
        </p15:guide>
        <p15:guide id="11" orient="horz" pos="2948" userDrawn="1">
          <p15:clr>
            <a:srgbClr val="A4A3A4"/>
          </p15:clr>
        </p15:guide>
        <p15:guide id="12" orient="horz" pos="1204">
          <p15:clr>
            <a:srgbClr val="A4A3A4"/>
          </p15:clr>
        </p15:guide>
      </p15:sldGuideLst>
    </p:ext>
    <p:ext uri="{2D200454-40CA-4A62-9FC3-DE9A4176ACB9}">
      <p15:notesGuideLst xmlns:p15="http://schemas.microsoft.com/office/powerpoint/2012/main">
        <p15:guide id="1" orient="horz" pos="3043" userDrawn="1">
          <p15:clr>
            <a:srgbClr val="A4A3A4"/>
          </p15:clr>
        </p15:guide>
        <p15:guide id="2" pos="2055" userDrawn="1">
          <p15:clr>
            <a:srgbClr val="A4A3A4"/>
          </p15:clr>
        </p15:guide>
        <p15:guide id="3" orient="horz" pos="3132" userDrawn="1">
          <p15:clr>
            <a:srgbClr val="A4A3A4"/>
          </p15:clr>
        </p15:guide>
        <p15:guide id="4"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3A36"/>
    <a:srgbClr val="77C5D5"/>
    <a:srgbClr val="FFFFFF"/>
    <a:srgbClr val="000000"/>
    <a:srgbClr val="548A96"/>
    <a:srgbClr val="E1DCCA"/>
    <a:srgbClr val="A93C56"/>
    <a:srgbClr val="CCAA00"/>
    <a:srgbClr val="0073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810" autoAdjust="0"/>
    <p:restoredTop sz="95075" autoAdjust="0"/>
  </p:normalViewPr>
  <p:slideViewPr>
    <p:cSldViewPr snapToGrid="0">
      <p:cViewPr varScale="1">
        <p:scale>
          <a:sx n="77" d="100"/>
          <a:sy n="77" d="100"/>
        </p:scale>
        <p:origin x="576" y="102"/>
      </p:cViewPr>
      <p:guideLst>
        <p:guide orient="horz" pos="1043"/>
        <p:guide orient="horz" pos="4241"/>
        <p:guide orient="horz" pos="1156"/>
        <p:guide orient="horz" pos="2764"/>
        <p:guide orient="horz" pos="1247"/>
        <p:guide pos="283"/>
        <p:guide pos="6452"/>
        <p:guide orient="horz" pos="445"/>
        <p:guide orient="horz" pos="4206"/>
        <p:guide orient="horz" pos="934"/>
        <p:guide orient="horz" pos="2948"/>
        <p:guide orient="horz" pos="1204"/>
      </p:guideLst>
    </p:cSldViewPr>
  </p:slideViewPr>
  <p:notesTextViewPr>
    <p:cViewPr>
      <p:scale>
        <a:sx n="1" d="1"/>
        <a:sy n="1" d="1"/>
      </p:scale>
      <p:origin x="0" y="0"/>
    </p:cViewPr>
  </p:notesTextViewPr>
  <p:sorterViewPr>
    <p:cViewPr>
      <p:scale>
        <a:sx n="98" d="100"/>
        <a:sy n="98" d="100"/>
      </p:scale>
      <p:origin x="0" y="1386"/>
    </p:cViewPr>
  </p:sorterViewPr>
  <p:notesViewPr>
    <p:cSldViewPr snapToGrid="0" showGuides="1">
      <p:cViewPr varScale="1">
        <p:scale>
          <a:sx n="84" d="100"/>
          <a:sy n="84" d="100"/>
        </p:scale>
        <p:origin x="3846" y="102"/>
      </p:cViewPr>
      <p:guideLst>
        <p:guide orient="horz" pos="3043"/>
        <p:guide pos="2055"/>
        <p:guide orient="horz" pos="3132"/>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oleObject" Target="file:///\\zrh-s103a\groupsb3\90_PB_CO\30_Sales-Segment-Mgmt\01_Local\07_Vorlagen\07_Fokus%20Mandat%20Schweiz\Extended%20Versions\Grafiken\20170331_Grafiken%20Vontobel%20Fokus%20Mandat%20Aktien%20Schweiz_en_&#252;brige%20Laschen.xlsx" TargetMode="External"/></Relationships>
</file>

<file path=ppt/charts/_rels/chart5.xml.rels><?xml version="1.0" encoding="UTF-8" standalone="yes"?>
<Relationships xmlns="http://schemas.openxmlformats.org/package/2006/relationships"><Relationship Id="rId2" Type="http://schemas.openxmlformats.org/officeDocument/2006/relationships/oleObject" Target="file:///\\zrh-s103a\groupsb3\80_PB_SI\20_PBSI_2\10_PBSI_21\01_Team\07_Vorlagen\07_Fokus%20Mandat%20Schweiz\Extended%20Versions\Grafiken\20170904_Grafiken%20Vontobel%20Fokus%20Mandat%20Aktien%20Schweiz_de.xlsx" TargetMode="External"/><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4859949631743632"/>
          <c:y val="9.7053157972063347E-2"/>
          <c:w val="0.46135992055592956"/>
          <c:h val="0.74830452061329289"/>
        </c:manualLayout>
      </c:layout>
      <c:doughnutChart>
        <c:varyColors val="1"/>
        <c:ser>
          <c:idx val="0"/>
          <c:order val="0"/>
          <c:tx>
            <c:strRef>
              <c:f>Sheet1!$B$1</c:f>
              <c:strCache>
                <c:ptCount val="1"/>
                <c:pt idx="0">
                  <c:v>Column1</c:v>
                </c:pt>
              </c:strCache>
            </c:strRef>
          </c:tx>
          <c:spPr>
            <a:solidFill>
              <a:schemeClr val="accent1"/>
            </a:solidFill>
          </c:spPr>
          <c:dPt>
            <c:idx val="0"/>
            <c:bubble3D val="0"/>
            <c:spPr>
              <a:solidFill>
                <a:srgbClr val="373A36"/>
              </a:solidFill>
              <a:ln>
                <a:noFill/>
                <a:round/>
              </a:ln>
              <a:effectLst/>
              <a:extLst>
                <a:ext uri="{91240B29-F687-4F45-9708-019B960494DF}">
                  <a14:hiddenLine xmlns:a14="http://schemas.microsoft.com/office/drawing/2010/main">
                    <a:noFill/>
                    <a:round/>
                  </a14:hiddenLine>
                </a:ext>
              </a:extLst>
            </c:spPr>
            <c:extLst>
              <c:ext xmlns:c16="http://schemas.microsoft.com/office/drawing/2014/chart" uri="{C3380CC4-5D6E-409C-BE32-E72D297353CC}">
                <c16:uniqueId val="{00000001-B7C5-4C99-9700-6DF0882F2F9B}"/>
              </c:ext>
            </c:extLst>
          </c:dPt>
          <c:dPt>
            <c:idx val="1"/>
            <c:bubble3D val="0"/>
            <c:spPr>
              <a:solidFill>
                <a:srgbClr val="77C5D5"/>
              </a:solidFill>
              <a:ln>
                <a:noFill/>
                <a:round/>
              </a:ln>
              <a:effectLst/>
              <a:extLst>
                <a:ext uri="{91240B29-F687-4F45-9708-019B960494DF}">
                  <a14:hiddenLine xmlns:a14="http://schemas.microsoft.com/office/drawing/2010/main">
                    <a:noFill/>
                    <a:round/>
                  </a14:hiddenLine>
                </a:ext>
              </a:extLst>
            </c:spPr>
            <c:extLst>
              <c:ext xmlns:c16="http://schemas.microsoft.com/office/drawing/2014/chart" uri="{C3380CC4-5D6E-409C-BE32-E72D297353CC}">
                <c16:uniqueId val="{00000003-B7C5-4C99-9700-6DF0882F2F9B}"/>
              </c:ext>
            </c:extLst>
          </c:dPt>
          <c:cat>
            <c:strRef>
              <c:f>Sheet1!$A$2:$A$3</c:f>
              <c:strCache>
                <c:ptCount val="2"/>
                <c:pt idx="0">
                  <c:v>Europe</c:v>
                </c:pt>
                <c:pt idx="1">
                  <c:v>Abroad</c:v>
                </c:pt>
              </c:strCache>
            </c:strRef>
          </c:cat>
          <c:val>
            <c:numRef>
              <c:f>Sheet1!$B$2:$B$3</c:f>
              <c:numCache>
                <c:formatCode>0%</c:formatCode>
                <c:ptCount val="2"/>
                <c:pt idx="0">
                  <c:v>0.28000000000000003</c:v>
                </c:pt>
                <c:pt idx="1">
                  <c:v>0.72</c:v>
                </c:pt>
              </c:numCache>
            </c:numRef>
          </c:val>
          <c:extLst>
            <c:ext xmlns:c16="http://schemas.microsoft.com/office/drawing/2014/chart" uri="{C3380CC4-5D6E-409C-BE32-E72D297353CC}">
              <c16:uniqueId val="{00000004-B7C5-4C99-9700-6DF0882F2F9B}"/>
            </c:ext>
          </c:extLst>
        </c:ser>
        <c:dLbls>
          <c:showLegendKey val="0"/>
          <c:showVal val="0"/>
          <c:showCatName val="0"/>
          <c:showSerName val="0"/>
          <c:showPercent val="0"/>
          <c:showBubbleSize val="0"/>
          <c:showLeaderLines val="1"/>
        </c:dLbls>
        <c:firstSliceAng val="0"/>
        <c:holeSize val="50"/>
      </c:doughnutChart>
      <c:spPr>
        <a:noFill/>
        <a:extLst>
          <a:ext uri="{909E8E84-426E-40DD-AFC4-6F175D3DCCD1}">
            <a14:hiddenFill xmlns:a14="http://schemas.microsoft.com/office/drawing/2010/main">
              <a:noFill/>
            </a14:hiddenFill>
          </a:ext>
        </a:extLst>
      </c:spPr>
    </c:plotArea>
    <c:plotVisOnly val="1"/>
    <c:dispBlanksAs val="gap"/>
    <c:showDLblsOverMax val="0"/>
  </c:chart>
  <c:spPr>
    <a:noFill/>
    <a:extLst>
      <a:ext uri="{909E8E84-426E-40DD-AFC4-6F175D3DCCD1}">
        <a14:hiddenFill xmlns:a14="http://schemas.microsoft.com/office/drawing/2010/main">
          <a:noFill/>
        </a14:hiddenFill>
      </a:ext>
    </a:extLst>
  </c:spPr>
  <c:txPr>
    <a:bodyPr/>
    <a:lstStyle/>
    <a:p>
      <a:pPr>
        <a:defRPr sz="1800">
          <a:solidFill>
            <a:srgbClr val="000000"/>
          </a:solidFill>
        </a:defRPr>
      </a:pPr>
      <a:endParaRPr lang="de-DE"/>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9475735114860648"/>
          <c:y val="5.6740743562257057E-2"/>
          <c:w val="0.46135992055592956"/>
          <c:h val="0.74830452061329289"/>
        </c:manualLayout>
      </c:layout>
      <c:doughnutChart>
        <c:varyColors val="1"/>
        <c:ser>
          <c:idx val="0"/>
          <c:order val="0"/>
          <c:tx>
            <c:strRef>
              <c:f>Sheet1!$B$1</c:f>
              <c:strCache>
                <c:ptCount val="1"/>
                <c:pt idx="0">
                  <c:v>Column1</c:v>
                </c:pt>
              </c:strCache>
            </c:strRef>
          </c:tx>
          <c:spPr>
            <a:solidFill>
              <a:schemeClr val="accent1"/>
            </a:solidFill>
          </c:spPr>
          <c:dPt>
            <c:idx val="0"/>
            <c:bubble3D val="0"/>
            <c:spPr>
              <a:solidFill>
                <a:srgbClr val="373A36"/>
              </a:solidFill>
              <a:ln>
                <a:noFill/>
                <a:round/>
              </a:ln>
              <a:effectLst/>
              <a:extLst>
                <a:ext uri="{91240B29-F687-4F45-9708-019B960494DF}">
                  <a14:hiddenLine xmlns:a14="http://schemas.microsoft.com/office/drawing/2010/main">
                    <a:noFill/>
                    <a:round/>
                  </a14:hiddenLine>
                </a:ext>
              </a:extLst>
            </c:spPr>
            <c:extLst>
              <c:ext xmlns:c16="http://schemas.microsoft.com/office/drawing/2014/chart" uri="{C3380CC4-5D6E-409C-BE32-E72D297353CC}">
                <c16:uniqueId val="{00000001-DBEC-4944-9006-A2687FF9413B}"/>
              </c:ext>
            </c:extLst>
          </c:dPt>
          <c:dPt>
            <c:idx val="1"/>
            <c:bubble3D val="0"/>
            <c:spPr>
              <a:solidFill>
                <a:srgbClr val="77C5D5"/>
              </a:solidFill>
              <a:ln>
                <a:noFill/>
                <a:round/>
              </a:ln>
              <a:effectLst/>
              <a:extLst>
                <a:ext uri="{91240B29-F687-4F45-9708-019B960494DF}">
                  <a14:hiddenLine xmlns:a14="http://schemas.microsoft.com/office/drawing/2010/main">
                    <a:noFill/>
                    <a:round/>
                  </a14:hiddenLine>
                </a:ext>
              </a:extLst>
            </c:spPr>
            <c:extLst>
              <c:ext xmlns:c16="http://schemas.microsoft.com/office/drawing/2014/chart" uri="{C3380CC4-5D6E-409C-BE32-E72D297353CC}">
                <c16:uniqueId val="{00000003-DBEC-4944-9006-A2687FF9413B}"/>
              </c:ext>
            </c:extLst>
          </c:dPt>
          <c:cat>
            <c:strRef>
              <c:f>Sheet1!$A$2:$A$3</c:f>
              <c:strCache>
                <c:ptCount val="2"/>
                <c:pt idx="0">
                  <c:v>North America</c:v>
                </c:pt>
                <c:pt idx="1">
                  <c:v>Abroad</c:v>
                </c:pt>
              </c:strCache>
            </c:strRef>
          </c:cat>
          <c:val>
            <c:numRef>
              <c:f>Sheet1!$B$2:$B$3</c:f>
              <c:numCache>
                <c:formatCode>0%</c:formatCode>
                <c:ptCount val="2"/>
                <c:pt idx="0">
                  <c:v>0.71</c:v>
                </c:pt>
                <c:pt idx="1">
                  <c:v>0.28999999999999998</c:v>
                </c:pt>
              </c:numCache>
            </c:numRef>
          </c:val>
          <c:extLst>
            <c:ext xmlns:c16="http://schemas.microsoft.com/office/drawing/2014/chart" uri="{C3380CC4-5D6E-409C-BE32-E72D297353CC}">
              <c16:uniqueId val="{00000004-DBEC-4944-9006-A2687FF9413B}"/>
            </c:ext>
          </c:extLst>
        </c:ser>
        <c:dLbls>
          <c:showLegendKey val="0"/>
          <c:showVal val="0"/>
          <c:showCatName val="0"/>
          <c:showSerName val="0"/>
          <c:showPercent val="0"/>
          <c:showBubbleSize val="0"/>
          <c:showLeaderLines val="1"/>
        </c:dLbls>
        <c:firstSliceAng val="0"/>
        <c:holeSize val="50"/>
      </c:doughnutChart>
      <c:spPr>
        <a:noFill/>
        <a:extLst>
          <a:ext uri="{909E8E84-426E-40DD-AFC4-6F175D3DCCD1}">
            <a14:hiddenFill xmlns:a14="http://schemas.microsoft.com/office/drawing/2010/main">
              <a:noFill/>
            </a14:hiddenFill>
          </a:ext>
        </a:extLst>
      </c:spPr>
    </c:plotArea>
    <c:plotVisOnly val="1"/>
    <c:dispBlanksAs val="gap"/>
    <c:showDLblsOverMax val="0"/>
  </c:chart>
  <c:spPr>
    <a:noFill/>
    <a:extLst>
      <a:ext uri="{909E8E84-426E-40DD-AFC4-6F175D3DCCD1}">
        <a14:hiddenFill xmlns:a14="http://schemas.microsoft.com/office/drawing/2010/main">
          <a:noFill/>
        </a14:hiddenFill>
      </a:ext>
    </a:extLst>
  </c:spPr>
  <c:txPr>
    <a:bodyPr/>
    <a:lstStyle/>
    <a:p>
      <a:pPr>
        <a:defRPr sz="1800">
          <a:solidFill>
            <a:srgbClr val="000000"/>
          </a:solidFill>
        </a:defRPr>
      </a:pPr>
      <a:endParaRPr lang="de-DE"/>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4859949631743632"/>
          <c:y val="9.7053157972063347E-2"/>
          <c:w val="0.46135992055592956"/>
          <c:h val="0.74830452061329289"/>
        </c:manualLayout>
      </c:layout>
      <c:doughnutChart>
        <c:varyColors val="1"/>
        <c:ser>
          <c:idx val="0"/>
          <c:order val="0"/>
          <c:tx>
            <c:strRef>
              <c:f>Sheet1!$B$1</c:f>
              <c:strCache>
                <c:ptCount val="1"/>
                <c:pt idx="0">
                  <c:v>Column1</c:v>
                </c:pt>
              </c:strCache>
            </c:strRef>
          </c:tx>
          <c:spPr>
            <a:solidFill>
              <a:schemeClr val="accent1"/>
            </a:solidFill>
          </c:spPr>
          <c:dPt>
            <c:idx val="0"/>
            <c:bubble3D val="0"/>
            <c:spPr>
              <a:solidFill>
                <a:srgbClr val="373A36"/>
              </a:solidFill>
              <a:ln>
                <a:noFill/>
                <a:round/>
              </a:ln>
              <a:effectLst/>
              <a:extLst>
                <a:ext uri="{91240B29-F687-4F45-9708-019B960494DF}">
                  <a14:hiddenLine xmlns:a14="http://schemas.microsoft.com/office/drawing/2010/main">
                    <a:noFill/>
                    <a:round/>
                  </a14:hiddenLine>
                </a:ext>
              </a:extLst>
            </c:spPr>
            <c:extLst>
              <c:ext xmlns:c16="http://schemas.microsoft.com/office/drawing/2014/chart" uri="{C3380CC4-5D6E-409C-BE32-E72D297353CC}">
                <c16:uniqueId val="{00000001-1EAE-4485-8D80-BAEF00100665}"/>
              </c:ext>
            </c:extLst>
          </c:dPt>
          <c:dPt>
            <c:idx val="1"/>
            <c:bubble3D val="0"/>
            <c:spPr>
              <a:solidFill>
                <a:srgbClr val="77C5D5"/>
              </a:solidFill>
              <a:ln>
                <a:noFill/>
                <a:round/>
              </a:ln>
              <a:effectLst/>
              <a:extLst>
                <a:ext uri="{91240B29-F687-4F45-9708-019B960494DF}">
                  <a14:hiddenLine xmlns:a14="http://schemas.microsoft.com/office/drawing/2010/main">
                    <a:noFill/>
                    <a:round/>
                  </a14:hiddenLine>
                </a:ext>
              </a:extLst>
            </c:spPr>
            <c:extLst>
              <c:ext xmlns:c16="http://schemas.microsoft.com/office/drawing/2014/chart" uri="{C3380CC4-5D6E-409C-BE32-E72D297353CC}">
                <c16:uniqueId val="{00000003-1EAE-4485-8D80-BAEF00100665}"/>
              </c:ext>
            </c:extLst>
          </c:dPt>
          <c:cat>
            <c:strRef>
              <c:f>Sheet1!$A$2:$A$3</c:f>
              <c:strCache>
                <c:ptCount val="2"/>
                <c:pt idx="0">
                  <c:v>Japan</c:v>
                </c:pt>
                <c:pt idx="1">
                  <c:v>Abroad</c:v>
                </c:pt>
              </c:strCache>
            </c:strRef>
          </c:cat>
          <c:val>
            <c:numRef>
              <c:f>Sheet1!$B$2:$B$3</c:f>
              <c:numCache>
                <c:formatCode>0%</c:formatCode>
                <c:ptCount val="2"/>
                <c:pt idx="0">
                  <c:v>0.72</c:v>
                </c:pt>
                <c:pt idx="1">
                  <c:v>0.28000000000000003</c:v>
                </c:pt>
              </c:numCache>
            </c:numRef>
          </c:val>
          <c:extLst>
            <c:ext xmlns:c16="http://schemas.microsoft.com/office/drawing/2014/chart" uri="{C3380CC4-5D6E-409C-BE32-E72D297353CC}">
              <c16:uniqueId val="{00000004-1EAE-4485-8D80-BAEF00100665}"/>
            </c:ext>
          </c:extLst>
        </c:ser>
        <c:dLbls>
          <c:showLegendKey val="0"/>
          <c:showVal val="0"/>
          <c:showCatName val="0"/>
          <c:showSerName val="0"/>
          <c:showPercent val="0"/>
          <c:showBubbleSize val="0"/>
          <c:showLeaderLines val="1"/>
        </c:dLbls>
        <c:firstSliceAng val="0"/>
        <c:holeSize val="50"/>
      </c:doughnutChart>
      <c:spPr>
        <a:noFill/>
        <a:extLst>
          <a:ext uri="{909E8E84-426E-40DD-AFC4-6F175D3DCCD1}">
            <a14:hiddenFill xmlns:a14="http://schemas.microsoft.com/office/drawing/2010/main">
              <a:noFill/>
            </a14:hiddenFill>
          </a:ext>
        </a:extLst>
      </c:spPr>
    </c:plotArea>
    <c:plotVisOnly val="1"/>
    <c:dispBlanksAs val="gap"/>
    <c:showDLblsOverMax val="0"/>
  </c:chart>
  <c:spPr>
    <a:noFill/>
    <a:extLst>
      <a:ext uri="{909E8E84-426E-40DD-AFC4-6F175D3DCCD1}">
        <a14:hiddenFill xmlns:a14="http://schemas.microsoft.com/office/drawing/2010/main">
          <a:noFill/>
        </a14:hiddenFill>
      </a:ext>
    </a:extLst>
  </c:spPr>
  <c:txPr>
    <a:bodyPr/>
    <a:lstStyle/>
    <a:p>
      <a:pPr>
        <a:defRPr sz="1800">
          <a:solidFill>
            <a:srgbClr val="000000"/>
          </a:solidFill>
        </a:defRPr>
      </a:pPr>
      <a:endParaRPr lang="de-DE"/>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0471996386630533"/>
          <c:y val="0.11541666666666667"/>
          <c:w val="0.77048328816621514"/>
          <c:h val="0.78974537037037051"/>
        </c:manualLayout>
      </c:layout>
      <c:doughnutChart>
        <c:varyColors val="1"/>
        <c:ser>
          <c:idx val="0"/>
          <c:order val="0"/>
          <c:tx>
            <c:strRef>
              <c:f>Diversity!$C$2</c:f>
              <c:strCache>
                <c:ptCount val="1"/>
                <c:pt idx="0">
                  <c:v>Sales</c:v>
                </c:pt>
              </c:strCache>
            </c:strRef>
          </c:tx>
          <c:spPr>
            <a:solidFill>
              <a:srgbClr val="2D4B84"/>
            </a:solidFill>
          </c:spPr>
          <c:dPt>
            <c:idx val="0"/>
            <c:bubble3D val="0"/>
            <c:spPr>
              <a:solidFill>
                <a:srgbClr val="373A36"/>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rgbClr val="FFFFFF"/>
                    </a:solidFill>
                    <a:prstDash val="solid"/>
                    <a:round/>
                    <a:headEnd type="none" w="med" len="med"/>
                    <a:tailEnd type="none" w="med" len="med"/>
                  </a14:hiddenLine>
                </a:ext>
              </a:extLst>
            </c:spPr>
            <c:extLst>
              <c:ext xmlns:c16="http://schemas.microsoft.com/office/drawing/2014/chart" uri="{C3380CC4-5D6E-409C-BE32-E72D297353CC}">
                <c16:uniqueId val="{00000001-A623-41B7-8676-C9078137DC13}"/>
              </c:ext>
            </c:extLst>
          </c:dPt>
          <c:dPt>
            <c:idx val="1"/>
            <c:bubble3D val="0"/>
            <c:spPr>
              <a:solidFill>
                <a:srgbClr val="77C5D5"/>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rgbClr val="FFFFFF"/>
                    </a:solidFill>
                    <a:prstDash val="solid"/>
                    <a:round/>
                    <a:headEnd type="none" w="med" len="med"/>
                    <a:tailEnd type="none" w="med" len="med"/>
                  </a14:hiddenLine>
                </a:ext>
              </a:extLst>
            </c:spPr>
            <c:extLst>
              <c:ext xmlns:c16="http://schemas.microsoft.com/office/drawing/2014/chart" uri="{C3380CC4-5D6E-409C-BE32-E72D297353CC}">
                <c16:uniqueId val="{00000003-A623-41B7-8676-C9078137DC13}"/>
              </c:ext>
            </c:extLst>
          </c:dPt>
          <c:dPt>
            <c:idx val="2"/>
            <c:bubble3D val="0"/>
            <c:spPr>
              <a:solidFill>
                <a:srgbClr val="548A96"/>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rgbClr val="FFFFFF"/>
                    </a:solidFill>
                    <a:prstDash val="solid"/>
                    <a:round/>
                    <a:headEnd type="none" w="med" len="med"/>
                    <a:tailEnd type="none" w="med" len="med"/>
                  </a14:hiddenLine>
                </a:ext>
              </a:extLst>
            </c:spPr>
            <c:extLst>
              <c:ext xmlns:c16="http://schemas.microsoft.com/office/drawing/2014/chart" uri="{C3380CC4-5D6E-409C-BE32-E72D297353CC}">
                <c16:uniqueId val="{00000005-A623-41B7-8676-C9078137DC13}"/>
              </c:ext>
            </c:extLst>
          </c:dPt>
          <c:dPt>
            <c:idx val="3"/>
            <c:bubble3D val="0"/>
            <c:spPr>
              <a:solidFill>
                <a:srgbClr val="FFD400"/>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rgbClr val="FFFFFF"/>
                    </a:solidFill>
                    <a:prstDash val="solid"/>
                    <a:round/>
                    <a:headEnd type="none" w="med" len="med"/>
                    <a:tailEnd type="none" w="med" len="med"/>
                  </a14:hiddenLine>
                </a:ext>
              </a:extLst>
            </c:spPr>
            <c:extLst>
              <c:ext xmlns:c16="http://schemas.microsoft.com/office/drawing/2014/chart" uri="{C3380CC4-5D6E-409C-BE32-E72D297353CC}">
                <c16:uniqueId val="{00000007-A623-41B7-8676-C9078137DC13}"/>
              </c:ext>
            </c:extLst>
          </c:dPt>
          <c:dPt>
            <c:idx val="4"/>
            <c:bubble3D val="0"/>
            <c:spPr>
              <a:solidFill>
                <a:srgbClr val="CCAA00"/>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rgbClr val="FFFFFF"/>
                    </a:solidFill>
                    <a:prstDash val="solid"/>
                    <a:round/>
                    <a:headEnd type="none" w="med" len="med"/>
                    <a:tailEnd type="none" w="med" len="med"/>
                  </a14:hiddenLine>
                </a:ext>
              </a:extLst>
            </c:spPr>
            <c:extLst>
              <c:ext xmlns:c16="http://schemas.microsoft.com/office/drawing/2014/chart" uri="{C3380CC4-5D6E-409C-BE32-E72D297353CC}">
                <c16:uniqueId val="{00000009-A623-41B7-8676-C9078137DC13}"/>
              </c:ext>
            </c:extLst>
          </c:dPt>
          <c:dPt>
            <c:idx val="5"/>
            <c:bubble3D val="0"/>
            <c:spPr>
              <a:solidFill>
                <a:srgbClr val="F1567B"/>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rgbClr val="FFFFFF"/>
                    </a:solidFill>
                    <a:prstDash val="solid"/>
                    <a:round/>
                    <a:headEnd type="none" w="med" len="med"/>
                    <a:tailEnd type="none" w="med" len="med"/>
                  </a14:hiddenLine>
                </a:ext>
              </a:extLst>
            </c:spPr>
            <c:extLst>
              <c:ext xmlns:c16="http://schemas.microsoft.com/office/drawing/2014/chart" uri="{C3380CC4-5D6E-409C-BE32-E72D297353CC}">
                <c16:uniqueId val="{0000000B-A623-41B7-8676-C9078137DC13}"/>
              </c:ext>
            </c:extLst>
          </c:dPt>
          <c:dPt>
            <c:idx val="6"/>
            <c:bubble3D val="0"/>
            <c:spPr>
              <a:solidFill>
                <a:srgbClr val="A93C56"/>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rgbClr val="FFFFFF"/>
                    </a:solidFill>
                    <a:prstDash val="solid"/>
                    <a:round/>
                    <a:headEnd type="none" w="med" len="med"/>
                    <a:tailEnd type="none" w="med" len="med"/>
                  </a14:hiddenLine>
                </a:ext>
              </a:extLst>
            </c:spPr>
            <c:extLst>
              <c:ext xmlns:c16="http://schemas.microsoft.com/office/drawing/2014/chart" uri="{C3380CC4-5D6E-409C-BE32-E72D297353CC}">
                <c16:uniqueId val="{0000000D-A623-41B7-8676-C9078137DC13}"/>
              </c:ext>
            </c:extLst>
          </c:dPt>
          <c:dLbls>
            <c:dLbl>
              <c:idx val="0"/>
              <c:layout>
                <c:manualLayout>
                  <c:x val="8.8580836112324354E-2"/>
                  <c:y val="-0.15929037672510257"/>
                </c:manualLayout>
              </c:layout>
              <c:tx>
                <c:rich>
                  <a:bodyPr/>
                  <a:lstStyle/>
                  <a:p>
                    <a:pPr>
                      <a:defRPr sz="1200" b="0" dirty="0" err="1" smtClean="0">
                        <a:solidFill>
                          <a:srgbClr val="000000"/>
                        </a:solidFill>
                      </a:defRPr>
                    </a:pPr>
                    <a:r>
                      <a:rPr lang="en-US" sz="1200" dirty="0" smtClean="0"/>
                      <a:t>Switzerland</a:t>
                    </a:r>
                    <a:r>
                      <a:rPr lang="en-US" sz="1200" dirty="0"/>
                      <a:t>
8%</a:t>
                    </a:r>
                    <a:endParaRPr lang="en-US" dirty="0"/>
                  </a:p>
                </c:rich>
              </c:tx>
              <c:sp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A623-41B7-8676-C9078137DC13}"/>
                </c:ext>
              </c:extLst>
            </c:dLbl>
            <c:dLbl>
              <c:idx val="1"/>
              <c:layout>
                <c:manualLayout>
                  <c:x val="0.41812665656196929"/>
                  <c:y val="7.4191942502302571E-2"/>
                </c:manualLayout>
              </c:layout>
              <c:tx>
                <c:rich>
                  <a:bodyPr/>
                  <a:lstStyle/>
                  <a:p>
                    <a:pPr>
                      <a:defRPr sz="1200" b="1" dirty="0" smtClean="0">
                        <a:solidFill>
                          <a:srgbClr val="000000"/>
                        </a:solidFill>
                      </a:defRPr>
                    </a:pPr>
                    <a:r>
                      <a:rPr lang="en-US" sz="1200"/>
                      <a:t>Global
92%*</a:t>
                    </a:r>
                    <a:endParaRPr lang="en-US"/>
                  </a:p>
                </c:rich>
              </c:tx>
              <c:sp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A623-41B7-8676-C9078137DC13}"/>
                </c:ext>
              </c:extLst>
            </c:dLbl>
            <c:dLbl>
              <c:idx val="2"/>
              <c:layout>
                <c:manualLayout>
                  <c:x val="0.16348238482384825"/>
                  <c:y val="-0.11465277777777778"/>
                </c:manualLayout>
              </c:layout>
              <c:spPr/>
              <c:txPr>
                <a:bodyPr/>
                <a:lstStyle/>
                <a:p>
                  <a:pPr>
                    <a:defRPr sz="1200" b="0">
                      <a:solidFill>
                        <a:srgbClr val="000000"/>
                      </a:solidFill>
                    </a:defRPr>
                  </a:pPr>
                  <a:endParaRPr lang="de-DE"/>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A623-41B7-8676-C9078137DC13}"/>
                </c:ext>
              </c:extLst>
            </c:dLbl>
            <c:dLbl>
              <c:idx val="3"/>
              <c:layout>
                <c:manualLayout>
                  <c:x val="0.14402687443541101"/>
                  <c:y val="-6.761574074074074E-2"/>
                </c:manualLayout>
              </c:layout>
              <c:spPr/>
              <c:txPr>
                <a:bodyPr/>
                <a:lstStyle/>
                <a:p>
                  <a:pPr>
                    <a:defRPr sz="1200" b="0">
                      <a:solidFill>
                        <a:srgbClr val="000000"/>
                      </a:solidFill>
                    </a:defRPr>
                  </a:pPr>
                  <a:endParaRPr lang="de-DE"/>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A623-41B7-8676-C9078137DC13}"/>
                </c:ext>
              </c:extLst>
            </c:dLbl>
            <c:dLbl>
              <c:idx val="4"/>
              <c:layout>
                <c:manualLayout>
                  <c:x val="0.11185636856368564"/>
                  <c:y val="0.13817129629629629"/>
                </c:manualLayout>
              </c:layout>
              <c:spPr/>
              <c:txPr>
                <a:bodyPr/>
                <a:lstStyle/>
                <a:p>
                  <a:pPr>
                    <a:defRPr sz="1200" b="0">
                      <a:solidFill>
                        <a:srgbClr val="000000"/>
                      </a:solidFill>
                    </a:defRPr>
                  </a:pPr>
                  <a:endParaRPr lang="de-DE"/>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9-A623-41B7-8676-C9078137DC13}"/>
                </c:ext>
              </c:extLst>
            </c:dLbl>
            <c:dLbl>
              <c:idx val="5"/>
              <c:layout>
                <c:manualLayout>
                  <c:x val="-0.14627371273712739"/>
                  <c:y val="0.14993055555555557"/>
                </c:manualLayout>
              </c:layout>
              <c:spPr/>
              <c:txPr>
                <a:bodyPr/>
                <a:lstStyle/>
                <a:p>
                  <a:pPr>
                    <a:defRPr sz="1200" b="0">
                      <a:solidFill>
                        <a:srgbClr val="000000"/>
                      </a:solidFill>
                    </a:defRPr>
                  </a:pPr>
                  <a:endParaRPr lang="de-DE"/>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A623-41B7-8676-C9078137DC13}"/>
                </c:ext>
              </c:extLst>
            </c:dLbl>
            <c:dLbl>
              <c:idx val="6"/>
              <c:layout>
                <c:manualLayout>
                  <c:x val="-0.17782294489611564"/>
                  <c:y val="-7.9375000000000001E-2"/>
                </c:manualLayout>
              </c:layout>
              <c:spPr/>
              <c:txPr>
                <a:bodyPr/>
                <a:lstStyle/>
                <a:p>
                  <a:pPr>
                    <a:defRPr sz="1200" b="0">
                      <a:solidFill>
                        <a:srgbClr val="000000"/>
                      </a:solidFill>
                    </a:defRPr>
                  </a:pPr>
                  <a:endParaRPr lang="de-DE"/>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D-A623-41B7-8676-C9078137DC13}"/>
                </c:ext>
              </c:extLst>
            </c:dLbl>
            <c:spPr>
              <a:noFill/>
              <a:ln>
                <a:noFill/>
              </a:ln>
              <a:effectLst/>
            </c:spPr>
            <c:txPr>
              <a:bodyPr/>
              <a:lstStyle/>
              <a:p>
                <a:pPr>
                  <a:defRPr sz="1200" b="0"/>
                </a:pPr>
                <a:endParaRPr lang="de-DE"/>
              </a:p>
            </c:txPr>
            <c:showLegendKey val="0"/>
            <c:showVal val="1"/>
            <c:showCatName val="1"/>
            <c:showSerName val="0"/>
            <c:showPercent val="0"/>
            <c:showBubbleSize val="0"/>
            <c:separator>
</c:separator>
            <c:showLeaderLines val="1"/>
            <c:extLst>
              <c:ext xmlns:c15="http://schemas.microsoft.com/office/drawing/2012/chart" uri="{CE6537A1-D6FC-4f65-9D91-7224C49458BB}"/>
            </c:extLst>
          </c:dLbls>
          <c:cat>
            <c:strRef>
              <c:f>Diversity!$B$3:$B$9</c:f>
              <c:strCache>
                <c:ptCount val="2"/>
                <c:pt idx="0">
                  <c:v>Switzerland</c:v>
                </c:pt>
                <c:pt idx="1">
                  <c:v>Abroad</c:v>
                </c:pt>
              </c:strCache>
            </c:strRef>
          </c:cat>
          <c:val>
            <c:numRef>
              <c:f>Diversity!$C$3:$C$9</c:f>
              <c:numCache>
                <c:formatCode>0%</c:formatCode>
                <c:ptCount val="7"/>
                <c:pt idx="0">
                  <c:v>0.08</c:v>
                </c:pt>
                <c:pt idx="1">
                  <c:v>0.92</c:v>
                </c:pt>
              </c:numCache>
            </c:numRef>
          </c:val>
          <c:extLst>
            <c:ext xmlns:c16="http://schemas.microsoft.com/office/drawing/2014/chart" uri="{C3380CC4-5D6E-409C-BE32-E72D297353CC}">
              <c16:uniqueId val="{0000000E-A623-41B7-8676-C9078137DC13}"/>
            </c:ext>
          </c:extLst>
        </c:ser>
        <c:dLbls>
          <c:showLegendKey val="0"/>
          <c:showVal val="1"/>
          <c:showCatName val="1"/>
          <c:showSerName val="0"/>
          <c:showPercent val="0"/>
          <c:showBubbleSize val="0"/>
          <c:showLeaderLines val="1"/>
        </c:dLbls>
        <c:firstSliceAng val="0"/>
        <c:holeSize val="50"/>
      </c:doughnutChart>
      <c:spPr>
        <a:noFill/>
        <a:extLst>
          <a:ext uri="{909E8E84-426E-40DD-AFC4-6F175D3DCCD1}">
            <a14:hiddenFill xmlns:a14="http://schemas.microsoft.com/office/drawing/2010/main">
              <a:noFill/>
            </a14:hiddenFill>
          </a:ext>
        </a:extLst>
      </c:spPr>
    </c:plotArea>
    <c:plotVisOnly val="1"/>
    <c:dispBlanksAs val="gap"/>
    <c:showDLblsOverMax val="0"/>
  </c:chart>
  <c:spPr>
    <a:noFill/>
    <a:ln>
      <a:noFill/>
    </a:ln>
    <a:extLst>
      <a:ext uri="{909E8E84-426E-40DD-AFC4-6F175D3DCCD1}">
        <a14:hiddenFill xmlns:a14="http://schemas.microsoft.com/office/drawing/2010/main">
          <a:solidFill>
            <a:sysClr val="window" lastClr="FFFFFF"/>
          </a:solidFill>
        </a14:hiddenFill>
      </a:ext>
    </a:extLst>
  </c:spPr>
  <c:txPr>
    <a:bodyPr/>
    <a:lstStyle/>
    <a:p>
      <a:pPr>
        <a:defRPr>
          <a:solidFill>
            <a:srgbClr val="000000"/>
          </a:solidFill>
        </a:defRPr>
      </a:pPr>
      <a:endParaRPr lang="de-DE"/>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8384201533204028"/>
          <c:y val="0.15581018518518519"/>
          <c:w val="0.71645354207074907"/>
          <c:h val="0.69607245370370374"/>
        </c:manualLayout>
      </c:layout>
      <c:lineChart>
        <c:grouping val="standard"/>
        <c:varyColors val="0"/>
        <c:ser>
          <c:idx val="0"/>
          <c:order val="0"/>
          <c:tx>
            <c:v>Nestlé</c:v>
          </c:tx>
          <c:spPr>
            <a:ln w="25400">
              <a:solidFill>
                <a:srgbClr val="373A36"/>
              </a:solidFill>
              <a:prstDash val="solid"/>
            </a:ln>
            <a:effectLst/>
            <a:extLst/>
          </c:spPr>
          <c:marker>
            <c:symbol val="none"/>
          </c:marker>
          <c:cat>
            <c:numRef>
              <c:f>'Bsp. Nestlé'!$A$6:$A$68</c:f>
              <c:numCache>
                <c:formatCode>m/d/yyyy</c:formatCode>
                <c:ptCount val="63"/>
                <c:pt idx="0" formatCode="dd\.mm\.yyyy">
                  <c:v>42003</c:v>
                </c:pt>
                <c:pt idx="1">
                  <c:v>42009</c:v>
                </c:pt>
                <c:pt idx="2">
                  <c:v>42010</c:v>
                </c:pt>
                <c:pt idx="3">
                  <c:v>42011</c:v>
                </c:pt>
                <c:pt idx="4">
                  <c:v>42012</c:v>
                </c:pt>
                <c:pt idx="5">
                  <c:v>42013</c:v>
                </c:pt>
                <c:pt idx="6">
                  <c:v>42016</c:v>
                </c:pt>
                <c:pt idx="7">
                  <c:v>42017</c:v>
                </c:pt>
                <c:pt idx="8">
                  <c:v>42018</c:v>
                </c:pt>
                <c:pt idx="9">
                  <c:v>42019</c:v>
                </c:pt>
                <c:pt idx="10">
                  <c:v>42020</c:v>
                </c:pt>
                <c:pt idx="11">
                  <c:v>42023</c:v>
                </c:pt>
                <c:pt idx="12">
                  <c:v>42024</c:v>
                </c:pt>
                <c:pt idx="13">
                  <c:v>42025</c:v>
                </c:pt>
                <c:pt idx="14">
                  <c:v>42026</c:v>
                </c:pt>
                <c:pt idx="15">
                  <c:v>42027</c:v>
                </c:pt>
                <c:pt idx="16">
                  <c:v>42030</c:v>
                </c:pt>
                <c:pt idx="17">
                  <c:v>42031</c:v>
                </c:pt>
                <c:pt idx="18">
                  <c:v>42032</c:v>
                </c:pt>
                <c:pt idx="19">
                  <c:v>42033</c:v>
                </c:pt>
                <c:pt idx="20">
                  <c:v>42034</c:v>
                </c:pt>
                <c:pt idx="21">
                  <c:v>42037</c:v>
                </c:pt>
                <c:pt idx="22">
                  <c:v>42038</c:v>
                </c:pt>
                <c:pt idx="23">
                  <c:v>42039</c:v>
                </c:pt>
                <c:pt idx="24">
                  <c:v>42040</c:v>
                </c:pt>
                <c:pt idx="25">
                  <c:v>42041</c:v>
                </c:pt>
                <c:pt idx="26">
                  <c:v>42044</c:v>
                </c:pt>
                <c:pt idx="27">
                  <c:v>42045</c:v>
                </c:pt>
                <c:pt idx="28">
                  <c:v>42046</c:v>
                </c:pt>
                <c:pt idx="29">
                  <c:v>42047</c:v>
                </c:pt>
                <c:pt idx="30">
                  <c:v>42048</c:v>
                </c:pt>
                <c:pt idx="31">
                  <c:v>42051</c:v>
                </c:pt>
                <c:pt idx="32">
                  <c:v>42052</c:v>
                </c:pt>
                <c:pt idx="33">
                  <c:v>42053</c:v>
                </c:pt>
                <c:pt idx="34">
                  <c:v>42054</c:v>
                </c:pt>
                <c:pt idx="35">
                  <c:v>42055</c:v>
                </c:pt>
                <c:pt idx="36">
                  <c:v>42058</c:v>
                </c:pt>
                <c:pt idx="37">
                  <c:v>42059</c:v>
                </c:pt>
                <c:pt idx="38">
                  <c:v>42060</c:v>
                </c:pt>
                <c:pt idx="39">
                  <c:v>42061</c:v>
                </c:pt>
                <c:pt idx="40">
                  <c:v>42062</c:v>
                </c:pt>
                <c:pt idx="41">
                  <c:v>42065</c:v>
                </c:pt>
                <c:pt idx="42">
                  <c:v>42066</c:v>
                </c:pt>
                <c:pt idx="43">
                  <c:v>42067</c:v>
                </c:pt>
                <c:pt idx="44">
                  <c:v>42068</c:v>
                </c:pt>
                <c:pt idx="45">
                  <c:v>42069</c:v>
                </c:pt>
                <c:pt idx="46">
                  <c:v>42072</c:v>
                </c:pt>
                <c:pt idx="47">
                  <c:v>42073</c:v>
                </c:pt>
                <c:pt idx="48">
                  <c:v>42074</c:v>
                </c:pt>
                <c:pt idx="49">
                  <c:v>42075</c:v>
                </c:pt>
                <c:pt idx="50">
                  <c:v>42076</c:v>
                </c:pt>
                <c:pt idx="51">
                  <c:v>42079</c:v>
                </c:pt>
                <c:pt idx="52">
                  <c:v>42080</c:v>
                </c:pt>
                <c:pt idx="53">
                  <c:v>42081</c:v>
                </c:pt>
                <c:pt idx="54">
                  <c:v>42082</c:v>
                </c:pt>
                <c:pt idx="55">
                  <c:v>42083</c:v>
                </c:pt>
                <c:pt idx="56">
                  <c:v>42086</c:v>
                </c:pt>
                <c:pt idx="57">
                  <c:v>42087</c:v>
                </c:pt>
                <c:pt idx="58">
                  <c:v>42088</c:v>
                </c:pt>
                <c:pt idx="59">
                  <c:v>42089</c:v>
                </c:pt>
                <c:pt idx="60">
                  <c:v>42090</c:v>
                </c:pt>
                <c:pt idx="61">
                  <c:v>42093</c:v>
                </c:pt>
                <c:pt idx="62">
                  <c:v>42094</c:v>
                </c:pt>
              </c:numCache>
            </c:numRef>
          </c:cat>
          <c:val>
            <c:numRef>
              <c:f>'Bsp. Nestlé'!$B$6:$B$68</c:f>
              <c:numCache>
                <c:formatCode>#,##0.00</c:formatCode>
                <c:ptCount val="63"/>
                <c:pt idx="0">
                  <c:v>72.95</c:v>
                </c:pt>
                <c:pt idx="1">
                  <c:v>71.8</c:v>
                </c:pt>
                <c:pt idx="2">
                  <c:v>71.3</c:v>
                </c:pt>
                <c:pt idx="3">
                  <c:v>71.55</c:v>
                </c:pt>
                <c:pt idx="4">
                  <c:v>72.849999999999994</c:v>
                </c:pt>
                <c:pt idx="5">
                  <c:v>72.650000000000006</c:v>
                </c:pt>
                <c:pt idx="6">
                  <c:v>73.25</c:v>
                </c:pt>
                <c:pt idx="7">
                  <c:v>74.400000000000006</c:v>
                </c:pt>
                <c:pt idx="8">
                  <c:v>74.150000000000006</c:v>
                </c:pt>
                <c:pt idx="9">
                  <c:v>69.55</c:v>
                </c:pt>
                <c:pt idx="10">
                  <c:v>64.8</c:v>
                </c:pt>
                <c:pt idx="11">
                  <c:v>67.099999999999994</c:v>
                </c:pt>
                <c:pt idx="12">
                  <c:v>66.900000000000006</c:v>
                </c:pt>
                <c:pt idx="13">
                  <c:v>66</c:v>
                </c:pt>
                <c:pt idx="14">
                  <c:v>66.3</c:v>
                </c:pt>
                <c:pt idx="15">
                  <c:v>68.400000000000006</c:v>
                </c:pt>
                <c:pt idx="16">
                  <c:v>69.2</c:v>
                </c:pt>
                <c:pt idx="17">
                  <c:v>70.45</c:v>
                </c:pt>
                <c:pt idx="18">
                  <c:v>69.5</c:v>
                </c:pt>
                <c:pt idx="19">
                  <c:v>70.8</c:v>
                </c:pt>
                <c:pt idx="20">
                  <c:v>70.45</c:v>
                </c:pt>
                <c:pt idx="21">
                  <c:v>71.099999999999994</c:v>
                </c:pt>
                <c:pt idx="22">
                  <c:v>70.95</c:v>
                </c:pt>
                <c:pt idx="23">
                  <c:v>71.7</c:v>
                </c:pt>
                <c:pt idx="24">
                  <c:v>71.25</c:v>
                </c:pt>
                <c:pt idx="25">
                  <c:v>71.05</c:v>
                </c:pt>
                <c:pt idx="26">
                  <c:v>71.150000000000006</c:v>
                </c:pt>
                <c:pt idx="27">
                  <c:v>71.45</c:v>
                </c:pt>
                <c:pt idx="28">
                  <c:v>70.900000000000006</c:v>
                </c:pt>
                <c:pt idx="29">
                  <c:v>70.599999999999994</c:v>
                </c:pt>
                <c:pt idx="30">
                  <c:v>70.3</c:v>
                </c:pt>
                <c:pt idx="31">
                  <c:v>70.55</c:v>
                </c:pt>
                <c:pt idx="32">
                  <c:v>71.2</c:v>
                </c:pt>
                <c:pt idx="33">
                  <c:v>71.099999999999994</c:v>
                </c:pt>
                <c:pt idx="34">
                  <c:v>72</c:v>
                </c:pt>
                <c:pt idx="35">
                  <c:v>71.900000000000006</c:v>
                </c:pt>
                <c:pt idx="36">
                  <c:v>73.099999999999994</c:v>
                </c:pt>
                <c:pt idx="37">
                  <c:v>73.400000000000006</c:v>
                </c:pt>
                <c:pt idx="38">
                  <c:v>73.5</c:v>
                </c:pt>
                <c:pt idx="39">
                  <c:v>74.599999999999994</c:v>
                </c:pt>
                <c:pt idx="40">
                  <c:v>74.400000000000006</c:v>
                </c:pt>
                <c:pt idx="41">
                  <c:v>74.8</c:v>
                </c:pt>
                <c:pt idx="42">
                  <c:v>74.599999999999994</c:v>
                </c:pt>
                <c:pt idx="43">
                  <c:v>75.400000000000006</c:v>
                </c:pt>
                <c:pt idx="44">
                  <c:v>75.849999999999994</c:v>
                </c:pt>
                <c:pt idx="45">
                  <c:v>76.150000000000006</c:v>
                </c:pt>
                <c:pt idx="46">
                  <c:v>75.900000000000006</c:v>
                </c:pt>
                <c:pt idx="47">
                  <c:v>75.3</c:v>
                </c:pt>
                <c:pt idx="48">
                  <c:v>75.3</c:v>
                </c:pt>
                <c:pt idx="49">
                  <c:v>75.099999999999994</c:v>
                </c:pt>
                <c:pt idx="50">
                  <c:v>75.400000000000006</c:v>
                </c:pt>
                <c:pt idx="51">
                  <c:v>75.900000000000006</c:v>
                </c:pt>
                <c:pt idx="52">
                  <c:v>75.7</c:v>
                </c:pt>
                <c:pt idx="53">
                  <c:v>76.2</c:v>
                </c:pt>
                <c:pt idx="54">
                  <c:v>76.55</c:v>
                </c:pt>
                <c:pt idx="55">
                  <c:v>76.5</c:v>
                </c:pt>
                <c:pt idx="56">
                  <c:v>75.95</c:v>
                </c:pt>
                <c:pt idx="57">
                  <c:v>75.150000000000006</c:v>
                </c:pt>
                <c:pt idx="58">
                  <c:v>74</c:v>
                </c:pt>
                <c:pt idx="59">
                  <c:v>73.2</c:v>
                </c:pt>
                <c:pt idx="60">
                  <c:v>73.099999999999994</c:v>
                </c:pt>
                <c:pt idx="61">
                  <c:v>74.25</c:v>
                </c:pt>
                <c:pt idx="62">
                  <c:v>73.400000000000006</c:v>
                </c:pt>
              </c:numCache>
            </c:numRef>
          </c:val>
          <c:smooth val="0"/>
          <c:extLst>
            <c:ext xmlns:c16="http://schemas.microsoft.com/office/drawing/2014/chart" uri="{C3380CC4-5D6E-409C-BE32-E72D297353CC}">
              <c16:uniqueId val="{00000000-A7CD-4364-96EC-EBD917194442}"/>
            </c:ext>
          </c:extLst>
        </c:ser>
        <c:dLbls>
          <c:showLegendKey val="0"/>
          <c:showVal val="0"/>
          <c:showCatName val="0"/>
          <c:showSerName val="0"/>
          <c:showPercent val="0"/>
          <c:showBubbleSize val="0"/>
        </c:dLbls>
        <c:smooth val="0"/>
        <c:axId val="237219200"/>
        <c:axId val="237241472"/>
      </c:lineChart>
      <c:dateAx>
        <c:axId val="237219200"/>
        <c:scaling>
          <c:orientation val="minMax"/>
          <c:max val="42094"/>
          <c:min val="42003"/>
        </c:scaling>
        <c:delete val="0"/>
        <c:axPos val="b"/>
        <c:numFmt formatCode="dd\.mm\.yyyy" sourceLinked="1"/>
        <c:majorTickMark val="none"/>
        <c:minorTickMark val="none"/>
        <c:tickLblPos val="nextTo"/>
        <c:spPr>
          <a:ln>
            <a:solidFill>
              <a:srgbClr val="000000"/>
            </a:solidFill>
          </a:ln>
        </c:spPr>
        <c:txPr>
          <a:bodyPr rot="0" vert="horz"/>
          <a:lstStyle/>
          <a:p>
            <a:pPr>
              <a:defRPr/>
            </a:pPr>
            <a:endParaRPr lang="de-DE"/>
          </a:p>
        </c:txPr>
        <c:crossAx val="237241472"/>
        <c:crosses val="autoZero"/>
        <c:auto val="1"/>
        <c:lblOffset val="100"/>
        <c:baseTimeUnit val="days"/>
        <c:majorUnit val="1"/>
        <c:majorTimeUnit val="months"/>
      </c:dateAx>
      <c:valAx>
        <c:axId val="237241472"/>
        <c:scaling>
          <c:orientation val="minMax"/>
          <c:max val="78"/>
          <c:min val="58"/>
        </c:scaling>
        <c:delete val="0"/>
        <c:axPos val="l"/>
        <c:majorGridlines>
          <c:spPr>
            <a:ln>
              <a:noFill/>
            </a:ln>
          </c:spPr>
        </c:majorGridlines>
        <c:title>
          <c:tx>
            <c:rich>
              <a:bodyPr/>
              <a:lstStyle/>
              <a:p>
                <a:pPr>
                  <a:defRPr/>
                </a:pPr>
                <a:r>
                  <a:rPr lang="de-CH" dirty="0" smtClean="0"/>
                  <a:t>Share </a:t>
                </a:r>
                <a:r>
                  <a:rPr lang="de-CH" dirty="0" err="1" smtClean="0"/>
                  <a:t>price</a:t>
                </a:r>
                <a:endParaRPr lang="de-CH" dirty="0" smtClean="0"/>
              </a:p>
            </c:rich>
          </c:tx>
          <c:layout>
            <c:manualLayout>
              <c:xMode val="edge"/>
              <c:yMode val="edge"/>
              <c:x val="4.9852221298605337E-2"/>
              <c:y val="0.42685254629629632"/>
            </c:manualLayout>
          </c:layout>
          <c:overlay val="0"/>
        </c:title>
        <c:numFmt formatCode="#,##0" sourceLinked="0"/>
        <c:majorTickMark val="none"/>
        <c:minorTickMark val="none"/>
        <c:tickLblPos val="nextTo"/>
        <c:spPr>
          <a:ln>
            <a:solidFill>
              <a:srgbClr val="000000"/>
            </a:solidFill>
          </a:ln>
        </c:spPr>
        <c:crossAx val="237219200"/>
        <c:crosses val="autoZero"/>
        <c:crossBetween val="between"/>
        <c:majorUnit val="2"/>
      </c:valAx>
      <c:spPr>
        <a:noFill/>
        <a:extLst>
          <a:ext uri="{909E8E84-426E-40DD-AFC4-6F175D3DCCD1}">
            <a14:hiddenFill xmlns:a14="http://schemas.microsoft.com/office/drawing/2010/main">
              <a:noFill/>
            </a14:hiddenFill>
          </a:ext>
        </a:extLst>
      </c:spPr>
    </c:plotArea>
    <c:legend>
      <c:legendPos val="b"/>
      <c:overlay val="0"/>
    </c:legend>
    <c:plotVisOnly val="1"/>
    <c:dispBlanksAs val="gap"/>
    <c:showDLblsOverMax val="0"/>
  </c:chart>
  <c:spPr>
    <a:noFill/>
    <a:ln>
      <a:noFill/>
    </a:ln>
    <a:extLst>
      <a:ext uri="{909E8E84-426E-40DD-AFC4-6F175D3DCCD1}">
        <a14:hiddenFill xmlns:a14="http://schemas.microsoft.com/office/drawing/2010/main">
          <a:noFill/>
        </a14:hiddenFill>
      </a:ext>
    </a:extLst>
  </c:spPr>
  <c:txPr>
    <a:bodyPr/>
    <a:lstStyle/>
    <a:p>
      <a:pPr>
        <a:defRPr sz="1200">
          <a:solidFill>
            <a:srgbClr val="000000"/>
          </a:solidFill>
          <a:latin typeface="+mn-lt"/>
        </a:defRPr>
      </a:pPr>
      <a:endParaRPr lang="de-DE"/>
    </a:p>
  </c:txPr>
  <c:externalData r:id="rId2">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image" Target="../media/image2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1.emf"/><Relationship Id="rId1" Type="http://schemas.openxmlformats.org/officeDocument/2006/relationships/image" Target="../media/image3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image" Target="../media/image6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image" Target="../media/image7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image" Target="../media/image73.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9099" cy="497205"/>
          </a:xfrm>
          <a:prstGeom prst="rect">
            <a:avLst/>
          </a:prstGeom>
        </p:spPr>
        <p:txBody>
          <a:bodyPr vert="horz" lIns="94622" tIns="47311" rIns="94622" bIns="47311" rtlCol="0"/>
          <a:lstStyle>
            <a:lvl1pPr algn="l">
              <a:defRPr sz="1200"/>
            </a:lvl1pPr>
          </a:lstStyle>
          <a:p>
            <a:endParaRPr lang="de-CH" dirty="0"/>
          </a:p>
        </p:txBody>
      </p:sp>
      <p:sp>
        <p:nvSpPr>
          <p:cNvPr id="3" name="Date Placeholder 2"/>
          <p:cNvSpPr>
            <a:spLocks noGrp="1"/>
          </p:cNvSpPr>
          <p:nvPr>
            <p:ph type="dt" sz="quarter" idx="1"/>
          </p:nvPr>
        </p:nvSpPr>
        <p:spPr>
          <a:xfrm>
            <a:off x="3854940" y="1"/>
            <a:ext cx="2949099" cy="497205"/>
          </a:xfrm>
          <a:prstGeom prst="rect">
            <a:avLst/>
          </a:prstGeom>
        </p:spPr>
        <p:txBody>
          <a:bodyPr vert="horz" lIns="94622" tIns="47311" rIns="94622" bIns="47311" rtlCol="0"/>
          <a:lstStyle>
            <a:lvl1pPr algn="r">
              <a:defRPr sz="1200"/>
            </a:lvl1pPr>
          </a:lstStyle>
          <a:p>
            <a:fld id="{E448A209-2A68-45C1-88CA-EAB04C63E82C}" type="datetimeFigureOut">
              <a:rPr lang="de-CH" smtClean="0"/>
              <a:t>08.04.2019</a:t>
            </a:fld>
            <a:endParaRPr lang="de-CH" dirty="0"/>
          </a:p>
        </p:txBody>
      </p:sp>
      <p:sp>
        <p:nvSpPr>
          <p:cNvPr id="4" name="Footer Placeholder 3"/>
          <p:cNvSpPr>
            <a:spLocks noGrp="1"/>
          </p:cNvSpPr>
          <p:nvPr>
            <p:ph type="ftr" sz="quarter" idx="2"/>
          </p:nvPr>
        </p:nvSpPr>
        <p:spPr>
          <a:xfrm>
            <a:off x="1" y="9445170"/>
            <a:ext cx="2949099" cy="497205"/>
          </a:xfrm>
          <a:prstGeom prst="rect">
            <a:avLst/>
          </a:prstGeom>
        </p:spPr>
        <p:txBody>
          <a:bodyPr vert="horz" lIns="94622" tIns="47311" rIns="94622" bIns="47311" rtlCol="0" anchor="b"/>
          <a:lstStyle>
            <a:lvl1pPr algn="l">
              <a:defRPr sz="1200"/>
            </a:lvl1pPr>
          </a:lstStyle>
          <a:p>
            <a:endParaRPr lang="de-CH" dirty="0"/>
          </a:p>
        </p:txBody>
      </p:sp>
      <p:sp>
        <p:nvSpPr>
          <p:cNvPr id="5" name="Slide Number Placeholder 4"/>
          <p:cNvSpPr>
            <a:spLocks noGrp="1"/>
          </p:cNvSpPr>
          <p:nvPr>
            <p:ph type="sldNum" sz="quarter" idx="3"/>
          </p:nvPr>
        </p:nvSpPr>
        <p:spPr>
          <a:xfrm>
            <a:off x="3854940" y="9445170"/>
            <a:ext cx="2949099" cy="497205"/>
          </a:xfrm>
          <a:prstGeom prst="rect">
            <a:avLst/>
          </a:prstGeom>
        </p:spPr>
        <p:txBody>
          <a:bodyPr vert="horz" lIns="94622" tIns="47311" rIns="94622" bIns="47311" rtlCol="0" anchor="b"/>
          <a:lstStyle>
            <a:lvl1pPr algn="r">
              <a:defRPr sz="1200"/>
            </a:lvl1pPr>
          </a:lstStyle>
          <a:p>
            <a:fld id="{0DA193F4-C5F2-4017-A3CC-3E7047924C00}" type="slidenum">
              <a:rPr lang="de-CH" smtClean="0"/>
              <a:t>‹#›</a:t>
            </a:fld>
            <a:endParaRPr lang="de-CH" dirty="0"/>
          </a:p>
        </p:txBody>
      </p:sp>
    </p:spTree>
    <p:extLst>
      <p:ext uri="{BB962C8B-B14F-4D97-AF65-F5344CB8AC3E}">
        <p14:creationId xmlns:p14="http://schemas.microsoft.com/office/powerpoint/2010/main" val="12992816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9099" cy="497205"/>
          </a:xfrm>
          <a:prstGeom prst="rect">
            <a:avLst/>
          </a:prstGeom>
        </p:spPr>
        <p:txBody>
          <a:bodyPr vert="horz" lIns="94622" tIns="47311" rIns="94622" bIns="47311" rtlCol="0"/>
          <a:lstStyle>
            <a:lvl1pPr algn="l">
              <a:defRPr sz="1200">
                <a:latin typeface="+mn-lt"/>
              </a:defRPr>
            </a:lvl1pPr>
          </a:lstStyle>
          <a:p>
            <a:endParaRPr lang="en-GB" dirty="0"/>
          </a:p>
        </p:txBody>
      </p:sp>
      <p:sp>
        <p:nvSpPr>
          <p:cNvPr id="3" name="Date Placeholder 2"/>
          <p:cNvSpPr>
            <a:spLocks noGrp="1"/>
          </p:cNvSpPr>
          <p:nvPr>
            <p:ph type="dt" idx="1"/>
          </p:nvPr>
        </p:nvSpPr>
        <p:spPr>
          <a:xfrm>
            <a:off x="3854940" y="1"/>
            <a:ext cx="2949099" cy="497205"/>
          </a:xfrm>
          <a:prstGeom prst="rect">
            <a:avLst/>
          </a:prstGeom>
        </p:spPr>
        <p:txBody>
          <a:bodyPr vert="horz" lIns="94622" tIns="47311" rIns="94622" bIns="47311" rtlCol="0"/>
          <a:lstStyle>
            <a:lvl1pPr algn="r">
              <a:defRPr sz="1200">
                <a:latin typeface="+mn-lt"/>
              </a:defRPr>
            </a:lvl1pPr>
          </a:lstStyle>
          <a:p>
            <a:fld id="{6057F542-FF2A-4176-A2D8-095AFB27D478}" type="datetimeFigureOut">
              <a:rPr lang="en-GB" smtClean="0"/>
              <a:pPr/>
              <a:t>08/04/2019</a:t>
            </a:fld>
            <a:endParaRPr lang="en-GB" dirty="0"/>
          </a:p>
        </p:txBody>
      </p:sp>
      <p:sp>
        <p:nvSpPr>
          <p:cNvPr id="4" name="Slide Image Placeholder 3"/>
          <p:cNvSpPr>
            <a:spLocks noGrp="1" noRot="1" noChangeAspect="1"/>
          </p:cNvSpPr>
          <p:nvPr>
            <p:ph type="sldImg" idx="2"/>
          </p:nvPr>
        </p:nvSpPr>
        <p:spPr>
          <a:xfrm>
            <a:off x="768350" y="746125"/>
            <a:ext cx="5268913" cy="3727450"/>
          </a:xfrm>
          <a:prstGeom prst="rect">
            <a:avLst/>
          </a:prstGeom>
          <a:noFill/>
          <a:ln w="12700">
            <a:solidFill>
              <a:prstClr val="black"/>
            </a:solidFill>
          </a:ln>
        </p:spPr>
        <p:txBody>
          <a:bodyPr vert="horz" lIns="94622" tIns="47311" rIns="94622" bIns="47311" rtlCol="0" anchor="ctr"/>
          <a:lstStyle/>
          <a:p>
            <a:endParaRPr lang="en-GB" dirty="0"/>
          </a:p>
        </p:txBody>
      </p:sp>
      <p:sp>
        <p:nvSpPr>
          <p:cNvPr id="5" name="Notes Placeholder 4"/>
          <p:cNvSpPr>
            <a:spLocks noGrp="1"/>
          </p:cNvSpPr>
          <p:nvPr>
            <p:ph type="body" sz="quarter" idx="3"/>
          </p:nvPr>
        </p:nvSpPr>
        <p:spPr>
          <a:xfrm>
            <a:off x="680562" y="4723449"/>
            <a:ext cx="5444490" cy="4474845"/>
          </a:xfrm>
          <a:prstGeom prst="rect">
            <a:avLst/>
          </a:prstGeom>
        </p:spPr>
        <p:txBody>
          <a:bodyPr vert="horz" lIns="94622" tIns="47311" rIns="94622" bIns="47311"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445170"/>
            <a:ext cx="2949099" cy="497205"/>
          </a:xfrm>
          <a:prstGeom prst="rect">
            <a:avLst/>
          </a:prstGeom>
        </p:spPr>
        <p:txBody>
          <a:bodyPr vert="horz" lIns="94622" tIns="47311" rIns="94622" bIns="47311" rtlCol="0" anchor="b"/>
          <a:lstStyle>
            <a:lvl1pPr algn="l">
              <a:defRPr sz="1200">
                <a:latin typeface="+mn-lt"/>
              </a:defRPr>
            </a:lvl1pPr>
          </a:lstStyle>
          <a:p>
            <a:endParaRPr lang="en-GB" dirty="0"/>
          </a:p>
        </p:txBody>
      </p:sp>
      <p:sp>
        <p:nvSpPr>
          <p:cNvPr id="7" name="Slide Number Placeholder 6"/>
          <p:cNvSpPr>
            <a:spLocks noGrp="1"/>
          </p:cNvSpPr>
          <p:nvPr>
            <p:ph type="sldNum" sz="quarter" idx="5"/>
          </p:nvPr>
        </p:nvSpPr>
        <p:spPr>
          <a:xfrm>
            <a:off x="3854940" y="9445170"/>
            <a:ext cx="2949099" cy="497205"/>
          </a:xfrm>
          <a:prstGeom prst="rect">
            <a:avLst/>
          </a:prstGeom>
        </p:spPr>
        <p:txBody>
          <a:bodyPr vert="horz" lIns="94622" tIns="47311" rIns="94622" bIns="47311" rtlCol="0" anchor="b"/>
          <a:lstStyle>
            <a:lvl1pPr algn="r">
              <a:defRPr sz="1200">
                <a:latin typeface="+mn-lt"/>
              </a:defRPr>
            </a:lvl1pPr>
          </a:lstStyle>
          <a:p>
            <a:fld id="{763CFD8E-0352-496F-8239-00DEBA2663D6}" type="slidenum">
              <a:rPr lang="en-GB" smtClean="0"/>
              <a:pPr/>
              <a:t>‹#›</a:t>
            </a:fld>
            <a:endParaRPr lang="en-GB" dirty="0"/>
          </a:p>
        </p:txBody>
      </p:sp>
    </p:spTree>
    <p:extLst>
      <p:ext uri="{BB962C8B-B14F-4D97-AF65-F5344CB8AC3E}">
        <p14:creationId xmlns:p14="http://schemas.microsoft.com/office/powerpoint/2010/main" val="782994056"/>
      </p:ext>
    </p:extLst>
  </p:cSld>
  <p:clrMap bg1="lt1" tx1="dk1" bg2="lt2" tx2="dk2" accent1="accent1" accent2="accent2" accent3="accent3" accent4="accent4" accent5="accent5" accent6="accent6" hlink="hlink" folHlink="folHlink"/>
  <p:notesStyle>
    <a:lvl1pPr marL="0" algn="l" defTabSz="995450" rtl="0" eaLnBrk="1" latinLnBrk="0" hangingPunct="1">
      <a:defRPr sz="1300" kern="1200">
        <a:solidFill>
          <a:schemeClr val="tx1"/>
        </a:solidFill>
        <a:latin typeface="+mn-lt"/>
        <a:ea typeface="+mn-ea"/>
        <a:cs typeface="+mn-cs"/>
      </a:defRPr>
    </a:lvl1pPr>
    <a:lvl2pPr marL="497724" algn="l" defTabSz="995450" rtl="0" eaLnBrk="1" latinLnBrk="0" hangingPunct="1">
      <a:defRPr sz="1300" kern="1200">
        <a:solidFill>
          <a:schemeClr val="tx1"/>
        </a:solidFill>
        <a:latin typeface="Arial" panose="020B0604020202020204" pitchFamily="34" charset="0"/>
        <a:ea typeface="+mn-ea"/>
        <a:cs typeface="+mn-cs"/>
      </a:defRPr>
    </a:lvl2pPr>
    <a:lvl3pPr marL="995450" algn="l" defTabSz="995450" rtl="0" eaLnBrk="1" latinLnBrk="0" hangingPunct="1">
      <a:defRPr sz="1300" kern="1200">
        <a:solidFill>
          <a:schemeClr val="tx1"/>
        </a:solidFill>
        <a:latin typeface="Arial" panose="020B0604020202020204" pitchFamily="34" charset="0"/>
        <a:ea typeface="+mn-ea"/>
        <a:cs typeface="+mn-cs"/>
      </a:defRPr>
    </a:lvl3pPr>
    <a:lvl4pPr marL="1493174" algn="l" defTabSz="995450" rtl="0" eaLnBrk="1" latinLnBrk="0" hangingPunct="1">
      <a:defRPr sz="1300" kern="1200">
        <a:solidFill>
          <a:schemeClr val="tx1"/>
        </a:solidFill>
        <a:latin typeface="Arial" panose="020B0604020202020204" pitchFamily="34" charset="0"/>
        <a:ea typeface="+mn-ea"/>
        <a:cs typeface="+mn-cs"/>
      </a:defRPr>
    </a:lvl4pPr>
    <a:lvl5pPr marL="1990899" algn="l" defTabSz="995450" rtl="0" eaLnBrk="1" latinLnBrk="0" hangingPunct="1">
      <a:defRPr sz="1300" kern="1200">
        <a:solidFill>
          <a:schemeClr val="tx1"/>
        </a:solidFill>
        <a:latin typeface="Arial" panose="020B0604020202020204" pitchFamily="34" charset="0"/>
        <a:ea typeface="+mn-ea"/>
        <a:cs typeface="+mn-cs"/>
      </a:defRPr>
    </a:lvl5pPr>
    <a:lvl6pPr marL="2488622" algn="l" defTabSz="995450" rtl="0" eaLnBrk="1" latinLnBrk="0" hangingPunct="1">
      <a:defRPr sz="1300" kern="1200">
        <a:solidFill>
          <a:schemeClr val="tx1"/>
        </a:solidFill>
        <a:latin typeface="+mn-lt"/>
        <a:ea typeface="+mn-ea"/>
        <a:cs typeface="+mn-cs"/>
      </a:defRPr>
    </a:lvl6pPr>
    <a:lvl7pPr marL="2986349" algn="l" defTabSz="995450" rtl="0" eaLnBrk="1" latinLnBrk="0" hangingPunct="1">
      <a:defRPr sz="1300" kern="1200">
        <a:solidFill>
          <a:schemeClr val="tx1"/>
        </a:solidFill>
        <a:latin typeface="+mn-lt"/>
        <a:ea typeface="+mn-ea"/>
        <a:cs typeface="+mn-cs"/>
      </a:defRPr>
    </a:lvl7pPr>
    <a:lvl8pPr marL="3484073" algn="l" defTabSz="995450" rtl="0" eaLnBrk="1" latinLnBrk="0" hangingPunct="1">
      <a:defRPr sz="1300" kern="1200">
        <a:solidFill>
          <a:schemeClr val="tx1"/>
        </a:solidFill>
        <a:latin typeface="+mn-lt"/>
        <a:ea typeface="+mn-ea"/>
        <a:cs typeface="+mn-cs"/>
      </a:defRPr>
    </a:lvl8pPr>
    <a:lvl9pPr marL="3981798" algn="l" defTabSz="995450" rtl="0" eaLnBrk="1" latinLnBrk="0" hangingPunct="1">
      <a:defRPr sz="1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2.wmf"/><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wmf"/><Relationship Id="rId5" Type="http://schemas.openxmlformats.org/officeDocument/2006/relationships/slideMaster" Target="../slideMasters/slideMaster1.xml"/><Relationship Id="rId4" Type="http://schemas.openxmlformats.org/officeDocument/2006/relationships/tags" Target="../tags/tag16.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vmlDrawing" Target="../drawings/vmlDrawing2.v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3.v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2.wmf"/><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bg>
      <p:bgPr>
        <a:solidFill>
          <a:srgbClr val="373A36"/>
        </a:solidFill>
        <a:effectLst/>
      </p:bgPr>
    </p:bg>
    <p:spTree>
      <p:nvGrpSpPr>
        <p:cNvPr id="1" name=""/>
        <p:cNvGrpSpPr/>
        <p:nvPr/>
      </p:nvGrpSpPr>
      <p:grpSpPr>
        <a:xfrm>
          <a:off x="0" y="0"/>
          <a:ext cx="0" cy="0"/>
          <a:chOff x="0" y="0"/>
          <a:chExt cx="0" cy="0"/>
        </a:xfrm>
      </p:grpSpPr>
      <p:sp>
        <p:nvSpPr>
          <p:cNvPr id="164" name="WhiteBackFrame"/>
          <p:cNvSpPr/>
          <p:nvPr userDrawn="1"/>
        </p:nvSpPr>
        <p:spPr bwMode="gray">
          <a:xfrm>
            <a:off x="2" y="0"/>
            <a:ext cx="10691814" cy="7559675"/>
          </a:xfrm>
          <a:custGeom>
            <a:avLst/>
            <a:gdLst>
              <a:gd name="connsiteX0" fmla="*/ 0 w 10691814"/>
              <a:gd name="connsiteY0" fmla="*/ 0 h 7559675"/>
              <a:gd name="connsiteX1" fmla="*/ 10691814 w 10691814"/>
              <a:gd name="connsiteY1" fmla="*/ 0 h 7559675"/>
              <a:gd name="connsiteX2" fmla="*/ 10691814 w 10691814"/>
              <a:gd name="connsiteY2" fmla="*/ 1619596 h 7559675"/>
              <a:gd name="connsiteX3" fmla="*/ 449265 w 10691814"/>
              <a:gd name="connsiteY3" fmla="*/ 1619596 h 7559675"/>
              <a:gd name="connsiteX4" fmla="*/ 449265 w 10691814"/>
              <a:gd name="connsiteY4" fmla="*/ 6202133 h 7559675"/>
              <a:gd name="connsiteX5" fmla="*/ 10691814 w 10691814"/>
              <a:gd name="connsiteY5" fmla="*/ 6202133 h 7559675"/>
              <a:gd name="connsiteX6" fmla="*/ 10691814 w 10691814"/>
              <a:gd name="connsiteY6" fmla="*/ 7559675 h 7559675"/>
              <a:gd name="connsiteX7" fmla="*/ 0 w 10691814"/>
              <a:gd name="connsiteY7" fmla="*/ 7559675 h 7559675"/>
              <a:gd name="connsiteX8" fmla="*/ 0 w 10691814"/>
              <a:gd name="connsiteY8" fmla="*/ 0 h 755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91814" h="7559675">
                <a:moveTo>
                  <a:pt x="0" y="0"/>
                </a:moveTo>
                <a:lnTo>
                  <a:pt x="10691814" y="0"/>
                </a:lnTo>
                <a:lnTo>
                  <a:pt x="10691814" y="1619596"/>
                </a:lnTo>
                <a:lnTo>
                  <a:pt x="449265" y="1619596"/>
                </a:lnTo>
                <a:lnTo>
                  <a:pt x="449265" y="6202133"/>
                </a:lnTo>
                <a:lnTo>
                  <a:pt x="10691814" y="6202133"/>
                </a:lnTo>
                <a:lnTo>
                  <a:pt x="10691814" y="7559675"/>
                </a:lnTo>
                <a:lnTo>
                  <a:pt x="0" y="7559675"/>
                </a:lnTo>
                <a:lnTo>
                  <a:pt x="0" y="0"/>
                </a:lnTo>
                <a:close/>
              </a:path>
            </a:pathLst>
          </a:custGeom>
          <a:solidFill>
            <a:srgbClr val="FFFFFF"/>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 name="ES_Shape2"/>
          <p:cNvSpPr>
            <a:spLocks/>
          </p:cNvSpPr>
          <p:nvPr userDrawn="1"/>
        </p:nvSpPr>
        <p:spPr bwMode="gray">
          <a:xfrm>
            <a:off x="0" y="6193157"/>
            <a:ext cx="2301240" cy="1366519"/>
          </a:xfrm>
          <a:prstGeom prst="rect">
            <a:avLst/>
          </a:prstGeom>
          <a:solidFill>
            <a:schemeClr val="accent2"/>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grpSp>
        <p:nvGrpSpPr>
          <p:cNvPr id="5" name="ES_Grid"/>
          <p:cNvGrpSpPr/>
          <p:nvPr userDrawn="1"/>
        </p:nvGrpSpPr>
        <p:grpSpPr>
          <a:xfrm>
            <a:off x="0" y="4819651"/>
            <a:ext cx="10242550" cy="2299337"/>
            <a:chOff x="0" y="4819649"/>
            <a:chExt cx="10242550" cy="2299337"/>
          </a:xfrm>
        </p:grpSpPr>
        <p:sp>
          <p:nvSpPr>
            <p:cNvPr id="12" name="ES_Line1"/>
            <p:cNvSpPr/>
            <p:nvPr userDrawn="1"/>
          </p:nvSpPr>
          <p:spPr bwMode="gray">
            <a:xfrm>
              <a:off x="0" y="4819649"/>
              <a:ext cx="78876" cy="78876"/>
            </a:xfrm>
            <a:custGeom>
              <a:avLst/>
              <a:gdLst>
                <a:gd name="connsiteX0" fmla="*/ 63603 w 78876"/>
                <a:gd name="connsiteY0" fmla="*/ 0 h 78876"/>
                <a:gd name="connsiteX1" fmla="*/ 78876 w 78876"/>
                <a:gd name="connsiteY1" fmla="*/ 0 h 78876"/>
                <a:gd name="connsiteX2" fmla="*/ 0 w 78876"/>
                <a:gd name="connsiteY2" fmla="*/ 78876 h 78876"/>
                <a:gd name="connsiteX3" fmla="*/ 0 w 78876"/>
                <a:gd name="connsiteY3" fmla="*/ 63603 h 78876"/>
                <a:gd name="connsiteX4" fmla="*/ 63603 w 78876"/>
                <a:gd name="connsiteY4" fmla="*/ 0 h 78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76" h="78876">
                  <a:moveTo>
                    <a:pt x="63603" y="0"/>
                  </a:moveTo>
                  <a:lnTo>
                    <a:pt x="78876" y="0"/>
                  </a:lnTo>
                  <a:lnTo>
                    <a:pt x="0" y="78876"/>
                  </a:lnTo>
                  <a:lnTo>
                    <a:pt x="0" y="63603"/>
                  </a:lnTo>
                  <a:lnTo>
                    <a:pt x="6360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 name="ES_Line2"/>
            <p:cNvSpPr/>
            <p:nvPr userDrawn="1"/>
          </p:nvSpPr>
          <p:spPr bwMode="gray">
            <a:xfrm>
              <a:off x="0" y="4819649"/>
              <a:ext cx="169732" cy="169732"/>
            </a:xfrm>
            <a:custGeom>
              <a:avLst/>
              <a:gdLst>
                <a:gd name="connsiteX0" fmla="*/ 154459 w 169732"/>
                <a:gd name="connsiteY0" fmla="*/ 0 h 169732"/>
                <a:gd name="connsiteX1" fmla="*/ 169732 w 169732"/>
                <a:gd name="connsiteY1" fmla="*/ 0 h 169732"/>
                <a:gd name="connsiteX2" fmla="*/ 0 w 169732"/>
                <a:gd name="connsiteY2" fmla="*/ 169732 h 169732"/>
                <a:gd name="connsiteX3" fmla="*/ 0 w 169732"/>
                <a:gd name="connsiteY3" fmla="*/ 154459 h 169732"/>
                <a:gd name="connsiteX4" fmla="*/ 154459 w 169732"/>
                <a:gd name="connsiteY4" fmla="*/ 0 h 169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732" h="169732">
                  <a:moveTo>
                    <a:pt x="154459" y="0"/>
                  </a:moveTo>
                  <a:lnTo>
                    <a:pt x="169732" y="0"/>
                  </a:lnTo>
                  <a:lnTo>
                    <a:pt x="0" y="169732"/>
                  </a:lnTo>
                  <a:lnTo>
                    <a:pt x="0" y="154459"/>
                  </a:lnTo>
                  <a:lnTo>
                    <a:pt x="15445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 name="ES_Line3"/>
            <p:cNvSpPr/>
            <p:nvPr userDrawn="1"/>
          </p:nvSpPr>
          <p:spPr bwMode="gray">
            <a:xfrm>
              <a:off x="0" y="4819649"/>
              <a:ext cx="260588" cy="260588"/>
            </a:xfrm>
            <a:custGeom>
              <a:avLst/>
              <a:gdLst>
                <a:gd name="connsiteX0" fmla="*/ 245315 w 260588"/>
                <a:gd name="connsiteY0" fmla="*/ 0 h 260588"/>
                <a:gd name="connsiteX1" fmla="*/ 260588 w 260588"/>
                <a:gd name="connsiteY1" fmla="*/ 0 h 260588"/>
                <a:gd name="connsiteX2" fmla="*/ 0 w 260588"/>
                <a:gd name="connsiteY2" fmla="*/ 260588 h 260588"/>
                <a:gd name="connsiteX3" fmla="*/ 0 w 260588"/>
                <a:gd name="connsiteY3" fmla="*/ 245315 h 260588"/>
                <a:gd name="connsiteX4" fmla="*/ 245315 w 260588"/>
                <a:gd name="connsiteY4" fmla="*/ 0 h 26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588" h="260588">
                  <a:moveTo>
                    <a:pt x="245315" y="0"/>
                  </a:moveTo>
                  <a:lnTo>
                    <a:pt x="260588" y="0"/>
                  </a:lnTo>
                  <a:lnTo>
                    <a:pt x="0" y="260588"/>
                  </a:lnTo>
                  <a:lnTo>
                    <a:pt x="0" y="245315"/>
                  </a:lnTo>
                  <a:lnTo>
                    <a:pt x="24531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 name="ES_Line4"/>
            <p:cNvSpPr/>
            <p:nvPr userDrawn="1"/>
          </p:nvSpPr>
          <p:spPr bwMode="gray">
            <a:xfrm>
              <a:off x="0" y="4819649"/>
              <a:ext cx="351444" cy="351444"/>
            </a:xfrm>
            <a:custGeom>
              <a:avLst/>
              <a:gdLst>
                <a:gd name="connsiteX0" fmla="*/ 336171 w 351444"/>
                <a:gd name="connsiteY0" fmla="*/ 0 h 351444"/>
                <a:gd name="connsiteX1" fmla="*/ 351444 w 351444"/>
                <a:gd name="connsiteY1" fmla="*/ 0 h 351444"/>
                <a:gd name="connsiteX2" fmla="*/ 0 w 351444"/>
                <a:gd name="connsiteY2" fmla="*/ 351444 h 351444"/>
                <a:gd name="connsiteX3" fmla="*/ 0 w 351444"/>
                <a:gd name="connsiteY3" fmla="*/ 336171 h 351444"/>
                <a:gd name="connsiteX4" fmla="*/ 336171 w 351444"/>
                <a:gd name="connsiteY4" fmla="*/ 0 h 351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444" h="351444">
                  <a:moveTo>
                    <a:pt x="336171" y="0"/>
                  </a:moveTo>
                  <a:lnTo>
                    <a:pt x="351444" y="0"/>
                  </a:lnTo>
                  <a:lnTo>
                    <a:pt x="0" y="351444"/>
                  </a:lnTo>
                  <a:lnTo>
                    <a:pt x="0" y="336171"/>
                  </a:lnTo>
                  <a:lnTo>
                    <a:pt x="336171"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2" name="ES_Line5"/>
            <p:cNvSpPr/>
            <p:nvPr userDrawn="1"/>
          </p:nvSpPr>
          <p:spPr bwMode="gray">
            <a:xfrm>
              <a:off x="0" y="4819649"/>
              <a:ext cx="442300" cy="442300"/>
            </a:xfrm>
            <a:custGeom>
              <a:avLst/>
              <a:gdLst>
                <a:gd name="connsiteX0" fmla="*/ 427027 w 442300"/>
                <a:gd name="connsiteY0" fmla="*/ 0 h 442300"/>
                <a:gd name="connsiteX1" fmla="*/ 442300 w 442300"/>
                <a:gd name="connsiteY1" fmla="*/ 0 h 442300"/>
                <a:gd name="connsiteX2" fmla="*/ 0 w 442300"/>
                <a:gd name="connsiteY2" fmla="*/ 442300 h 442300"/>
                <a:gd name="connsiteX3" fmla="*/ 0 w 442300"/>
                <a:gd name="connsiteY3" fmla="*/ 427027 h 442300"/>
                <a:gd name="connsiteX4" fmla="*/ 427027 w 442300"/>
                <a:gd name="connsiteY4" fmla="*/ 0 h 44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300" h="442300">
                  <a:moveTo>
                    <a:pt x="427027" y="0"/>
                  </a:moveTo>
                  <a:lnTo>
                    <a:pt x="442300" y="0"/>
                  </a:lnTo>
                  <a:lnTo>
                    <a:pt x="0" y="442300"/>
                  </a:lnTo>
                  <a:lnTo>
                    <a:pt x="0" y="427027"/>
                  </a:lnTo>
                  <a:lnTo>
                    <a:pt x="42702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3" name="ES_Line6"/>
            <p:cNvSpPr/>
            <p:nvPr userDrawn="1"/>
          </p:nvSpPr>
          <p:spPr bwMode="gray">
            <a:xfrm>
              <a:off x="0" y="4819649"/>
              <a:ext cx="533156" cy="533156"/>
            </a:xfrm>
            <a:custGeom>
              <a:avLst/>
              <a:gdLst>
                <a:gd name="connsiteX0" fmla="*/ 517883 w 533156"/>
                <a:gd name="connsiteY0" fmla="*/ 0 h 533156"/>
                <a:gd name="connsiteX1" fmla="*/ 533156 w 533156"/>
                <a:gd name="connsiteY1" fmla="*/ 0 h 533156"/>
                <a:gd name="connsiteX2" fmla="*/ 0 w 533156"/>
                <a:gd name="connsiteY2" fmla="*/ 533156 h 533156"/>
                <a:gd name="connsiteX3" fmla="*/ 0 w 533156"/>
                <a:gd name="connsiteY3" fmla="*/ 517883 h 533156"/>
                <a:gd name="connsiteX4" fmla="*/ 517883 w 533156"/>
                <a:gd name="connsiteY4" fmla="*/ 0 h 533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156" h="533156">
                  <a:moveTo>
                    <a:pt x="517883" y="0"/>
                  </a:moveTo>
                  <a:lnTo>
                    <a:pt x="533156" y="0"/>
                  </a:lnTo>
                  <a:lnTo>
                    <a:pt x="0" y="533156"/>
                  </a:lnTo>
                  <a:lnTo>
                    <a:pt x="0" y="517883"/>
                  </a:lnTo>
                  <a:lnTo>
                    <a:pt x="51788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4" name="ES_Line7"/>
            <p:cNvSpPr/>
            <p:nvPr userDrawn="1"/>
          </p:nvSpPr>
          <p:spPr bwMode="gray">
            <a:xfrm>
              <a:off x="0" y="4819649"/>
              <a:ext cx="624012" cy="624012"/>
            </a:xfrm>
            <a:custGeom>
              <a:avLst/>
              <a:gdLst>
                <a:gd name="connsiteX0" fmla="*/ 608739 w 624012"/>
                <a:gd name="connsiteY0" fmla="*/ 0 h 624012"/>
                <a:gd name="connsiteX1" fmla="*/ 624012 w 624012"/>
                <a:gd name="connsiteY1" fmla="*/ 0 h 624012"/>
                <a:gd name="connsiteX2" fmla="*/ 0 w 624012"/>
                <a:gd name="connsiteY2" fmla="*/ 624012 h 624012"/>
                <a:gd name="connsiteX3" fmla="*/ 0 w 624012"/>
                <a:gd name="connsiteY3" fmla="*/ 608739 h 624012"/>
                <a:gd name="connsiteX4" fmla="*/ 608739 w 624012"/>
                <a:gd name="connsiteY4" fmla="*/ 0 h 624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012" h="624012">
                  <a:moveTo>
                    <a:pt x="608739" y="0"/>
                  </a:moveTo>
                  <a:lnTo>
                    <a:pt x="624012" y="0"/>
                  </a:lnTo>
                  <a:lnTo>
                    <a:pt x="0" y="624012"/>
                  </a:lnTo>
                  <a:lnTo>
                    <a:pt x="0" y="608739"/>
                  </a:lnTo>
                  <a:lnTo>
                    <a:pt x="60873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5" name="ES_Line8"/>
            <p:cNvSpPr/>
            <p:nvPr userDrawn="1"/>
          </p:nvSpPr>
          <p:spPr bwMode="gray">
            <a:xfrm>
              <a:off x="0" y="4819649"/>
              <a:ext cx="714868" cy="714868"/>
            </a:xfrm>
            <a:custGeom>
              <a:avLst/>
              <a:gdLst>
                <a:gd name="connsiteX0" fmla="*/ 699595 w 714868"/>
                <a:gd name="connsiteY0" fmla="*/ 0 h 714868"/>
                <a:gd name="connsiteX1" fmla="*/ 714868 w 714868"/>
                <a:gd name="connsiteY1" fmla="*/ 0 h 714868"/>
                <a:gd name="connsiteX2" fmla="*/ 0 w 714868"/>
                <a:gd name="connsiteY2" fmla="*/ 714868 h 714868"/>
                <a:gd name="connsiteX3" fmla="*/ 0 w 714868"/>
                <a:gd name="connsiteY3" fmla="*/ 699595 h 714868"/>
                <a:gd name="connsiteX4" fmla="*/ 699595 w 714868"/>
                <a:gd name="connsiteY4" fmla="*/ 0 h 71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868" h="714868">
                  <a:moveTo>
                    <a:pt x="699595" y="0"/>
                  </a:moveTo>
                  <a:lnTo>
                    <a:pt x="714868" y="0"/>
                  </a:lnTo>
                  <a:lnTo>
                    <a:pt x="0" y="714868"/>
                  </a:lnTo>
                  <a:lnTo>
                    <a:pt x="0" y="699595"/>
                  </a:lnTo>
                  <a:lnTo>
                    <a:pt x="69959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6" name="ES_Line9"/>
            <p:cNvSpPr/>
            <p:nvPr userDrawn="1"/>
          </p:nvSpPr>
          <p:spPr bwMode="gray">
            <a:xfrm>
              <a:off x="0" y="4819649"/>
              <a:ext cx="805724" cy="805724"/>
            </a:xfrm>
            <a:custGeom>
              <a:avLst/>
              <a:gdLst>
                <a:gd name="connsiteX0" fmla="*/ 790451 w 805724"/>
                <a:gd name="connsiteY0" fmla="*/ 0 h 805724"/>
                <a:gd name="connsiteX1" fmla="*/ 805724 w 805724"/>
                <a:gd name="connsiteY1" fmla="*/ 0 h 805724"/>
                <a:gd name="connsiteX2" fmla="*/ 0 w 805724"/>
                <a:gd name="connsiteY2" fmla="*/ 805724 h 805724"/>
                <a:gd name="connsiteX3" fmla="*/ 0 w 805724"/>
                <a:gd name="connsiteY3" fmla="*/ 790451 h 805724"/>
                <a:gd name="connsiteX4" fmla="*/ 790451 w 805724"/>
                <a:gd name="connsiteY4" fmla="*/ 0 h 805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724" h="805724">
                  <a:moveTo>
                    <a:pt x="790451" y="0"/>
                  </a:moveTo>
                  <a:lnTo>
                    <a:pt x="805724" y="0"/>
                  </a:lnTo>
                  <a:lnTo>
                    <a:pt x="0" y="805724"/>
                  </a:lnTo>
                  <a:lnTo>
                    <a:pt x="0" y="790451"/>
                  </a:lnTo>
                  <a:lnTo>
                    <a:pt x="790451"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7" name="ES_Line10"/>
            <p:cNvSpPr/>
            <p:nvPr userDrawn="1"/>
          </p:nvSpPr>
          <p:spPr bwMode="gray">
            <a:xfrm>
              <a:off x="0" y="4819649"/>
              <a:ext cx="896580" cy="896580"/>
            </a:xfrm>
            <a:custGeom>
              <a:avLst/>
              <a:gdLst>
                <a:gd name="connsiteX0" fmla="*/ 881307 w 896580"/>
                <a:gd name="connsiteY0" fmla="*/ 0 h 896580"/>
                <a:gd name="connsiteX1" fmla="*/ 896580 w 896580"/>
                <a:gd name="connsiteY1" fmla="*/ 0 h 896580"/>
                <a:gd name="connsiteX2" fmla="*/ 0 w 896580"/>
                <a:gd name="connsiteY2" fmla="*/ 896580 h 896580"/>
                <a:gd name="connsiteX3" fmla="*/ 0 w 896580"/>
                <a:gd name="connsiteY3" fmla="*/ 881307 h 896580"/>
                <a:gd name="connsiteX4" fmla="*/ 881307 w 896580"/>
                <a:gd name="connsiteY4" fmla="*/ 0 h 89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580" h="896580">
                  <a:moveTo>
                    <a:pt x="881307" y="0"/>
                  </a:moveTo>
                  <a:lnTo>
                    <a:pt x="896580" y="0"/>
                  </a:lnTo>
                  <a:lnTo>
                    <a:pt x="0" y="896580"/>
                  </a:lnTo>
                  <a:lnTo>
                    <a:pt x="0" y="881307"/>
                  </a:lnTo>
                  <a:lnTo>
                    <a:pt x="88130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8" name="ES_Line11"/>
            <p:cNvSpPr/>
            <p:nvPr userDrawn="1"/>
          </p:nvSpPr>
          <p:spPr bwMode="gray">
            <a:xfrm>
              <a:off x="0" y="4819649"/>
              <a:ext cx="987436" cy="987436"/>
            </a:xfrm>
            <a:custGeom>
              <a:avLst/>
              <a:gdLst>
                <a:gd name="connsiteX0" fmla="*/ 972163 w 987436"/>
                <a:gd name="connsiteY0" fmla="*/ 0 h 987436"/>
                <a:gd name="connsiteX1" fmla="*/ 987436 w 987436"/>
                <a:gd name="connsiteY1" fmla="*/ 0 h 987436"/>
                <a:gd name="connsiteX2" fmla="*/ 0 w 987436"/>
                <a:gd name="connsiteY2" fmla="*/ 987436 h 987436"/>
                <a:gd name="connsiteX3" fmla="*/ 0 w 987436"/>
                <a:gd name="connsiteY3" fmla="*/ 972163 h 987436"/>
                <a:gd name="connsiteX4" fmla="*/ 972163 w 987436"/>
                <a:gd name="connsiteY4" fmla="*/ 0 h 987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436" h="987436">
                  <a:moveTo>
                    <a:pt x="972163" y="0"/>
                  </a:moveTo>
                  <a:lnTo>
                    <a:pt x="987436" y="0"/>
                  </a:lnTo>
                  <a:lnTo>
                    <a:pt x="0" y="987436"/>
                  </a:lnTo>
                  <a:lnTo>
                    <a:pt x="0" y="972163"/>
                  </a:lnTo>
                  <a:lnTo>
                    <a:pt x="97216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9" name="ES_Line12"/>
            <p:cNvSpPr/>
            <p:nvPr userDrawn="1"/>
          </p:nvSpPr>
          <p:spPr bwMode="gray">
            <a:xfrm>
              <a:off x="0" y="4819649"/>
              <a:ext cx="1078292" cy="1078292"/>
            </a:xfrm>
            <a:custGeom>
              <a:avLst/>
              <a:gdLst>
                <a:gd name="connsiteX0" fmla="*/ 1063019 w 1078292"/>
                <a:gd name="connsiteY0" fmla="*/ 0 h 1078292"/>
                <a:gd name="connsiteX1" fmla="*/ 1078292 w 1078292"/>
                <a:gd name="connsiteY1" fmla="*/ 0 h 1078292"/>
                <a:gd name="connsiteX2" fmla="*/ 0 w 1078292"/>
                <a:gd name="connsiteY2" fmla="*/ 1078292 h 1078292"/>
                <a:gd name="connsiteX3" fmla="*/ 0 w 1078292"/>
                <a:gd name="connsiteY3" fmla="*/ 1063019 h 1078292"/>
                <a:gd name="connsiteX4" fmla="*/ 1063019 w 1078292"/>
                <a:gd name="connsiteY4" fmla="*/ 0 h 1078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292" h="1078292">
                  <a:moveTo>
                    <a:pt x="1063019" y="0"/>
                  </a:moveTo>
                  <a:lnTo>
                    <a:pt x="1078292" y="0"/>
                  </a:lnTo>
                  <a:lnTo>
                    <a:pt x="0" y="1078292"/>
                  </a:lnTo>
                  <a:lnTo>
                    <a:pt x="0" y="1063019"/>
                  </a:lnTo>
                  <a:lnTo>
                    <a:pt x="106301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0" name="ES_Line13"/>
            <p:cNvSpPr/>
            <p:nvPr userDrawn="1"/>
          </p:nvSpPr>
          <p:spPr bwMode="gray">
            <a:xfrm>
              <a:off x="0" y="4819649"/>
              <a:ext cx="1169148" cy="1169148"/>
            </a:xfrm>
            <a:custGeom>
              <a:avLst/>
              <a:gdLst>
                <a:gd name="connsiteX0" fmla="*/ 1153875 w 1169148"/>
                <a:gd name="connsiteY0" fmla="*/ 0 h 1169148"/>
                <a:gd name="connsiteX1" fmla="*/ 1169148 w 1169148"/>
                <a:gd name="connsiteY1" fmla="*/ 0 h 1169148"/>
                <a:gd name="connsiteX2" fmla="*/ 0 w 1169148"/>
                <a:gd name="connsiteY2" fmla="*/ 1169148 h 1169148"/>
                <a:gd name="connsiteX3" fmla="*/ 0 w 1169148"/>
                <a:gd name="connsiteY3" fmla="*/ 1153875 h 1169148"/>
                <a:gd name="connsiteX4" fmla="*/ 1153875 w 1169148"/>
                <a:gd name="connsiteY4" fmla="*/ 0 h 116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9148" h="1169148">
                  <a:moveTo>
                    <a:pt x="1153875" y="0"/>
                  </a:moveTo>
                  <a:lnTo>
                    <a:pt x="1169148" y="0"/>
                  </a:lnTo>
                  <a:lnTo>
                    <a:pt x="0" y="1169148"/>
                  </a:lnTo>
                  <a:lnTo>
                    <a:pt x="0" y="1153875"/>
                  </a:lnTo>
                  <a:lnTo>
                    <a:pt x="115387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1" name="ES_Line14"/>
            <p:cNvSpPr/>
            <p:nvPr userDrawn="1"/>
          </p:nvSpPr>
          <p:spPr bwMode="gray">
            <a:xfrm>
              <a:off x="0" y="4819649"/>
              <a:ext cx="1260004" cy="1260004"/>
            </a:xfrm>
            <a:custGeom>
              <a:avLst/>
              <a:gdLst>
                <a:gd name="connsiteX0" fmla="*/ 1244731 w 1260004"/>
                <a:gd name="connsiteY0" fmla="*/ 0 h 1260004"/>
                <a:gd name="connsiteX1" fmla="*/ 1260004 w 1260004"/>
                <a:gd name="connsiteY1" fmla="*/ 0 h 1260004"/>
                <a:gd name="connsiteX2" fmla="*/ 0 w 1260004"/>
                <a:gd name="connsiteY2" fmla="*/ 1260004 h 1260004"/>
                <a:gd name="connsiteX3" fmla="*/ 0 w 1260004"/>
                <a:gd name="connsiteY3" fmla="*/ 1244731 h 1260004"/>
                <a:gd name="connsiteX4" fmla="*/ 1244731 w 1260004"/>
                <a:gd name="connsiteY4" fmla="*/ 0 h 126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0004" h="1260004">
                  <a:moveTo>
                    <a:pt x="1244731" y="0"/>
                  </a:moveTo>
                  <a:lnTo>
                    <a:pt x="1260004" y="0"/>
                  </a:lnTo>
                  <a:lnTo>
                    <a:pt x="0" y="1260004"/>
                  </a:lnTo>
                  <a:lnTo>
                    <a:pt x="0" y="1244731"/>
                  </a:lnTo>
                  <a:lnTo>
                    <a:pt x="1244731"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2" name="ES_Line15"/>
            <p:cNvSpPr/>
            <p:nvPr userDrawn="1"/>
          </p:nvSpPr>
          <p:spPr bwMode="gray">
            <a:xfrm>
              <a:off x="0" y="4819649"/>
              <a:ext cx="1350860" cy="1350860"/>
            </a:xfrm>
            <a:custGeom>
              <a:avLst/>
              <a:gdLst>
                <a:gd name="connsiteX0" fmla="*/ 1335587 w 1350860"/>
                <a:gd name="connsiteY0" fmla="*/ 0 h 1350860"/>
                <a:gd name="connsiteX1" fmla="*/ 1350860 w 1350860"/>
                <a:gd name="connsiteY1" fmla="*/ 0 h 1350860"/>
                <a:gd name="connsiteX2" fmla="*/ 0 w 1350860"/>
                <a:gd name="connsiteY2" fmla="*/ 1350860 h 1350860"/>
                <a:gd name="connsiteX3" fmla="*/ 0 w 1350860"/>
                <a:gd name="connsiteY3" fmla="*/ 1335587 h 1350860"/>
                <a:gd name="connsiteX4" fmla="*/ 1335587 w 1350860"/>
                <a:gd name="connsiteY4" fmla="*/ 0 h 1350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860" h="1350860">
                  <a:moveTo>
                    <a:pt x="1335587" y="0"/>
                  </a:moveTo>
                  <a:lnTo>
                    <a:pt x="1350860" y="0"/>
                  </a:lnTo>
                  <a:lnTo>
                    <a:pt x="0" y="1350860"/>
                  </a:lnTo>
                  <a:lnTo>
                    <a:pt x="0" y="1335587"/>
                  </a:lnTo>
                  <a:lnTo>
                    <a:pt x="133558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3" name="ES_Line16"/>
            <p:cNvSpPr/>
            <p:nvPr userDrawn="1"/>
          </p:nvSpPr>
          <p:spPr bwMode="gray">
            <a:xfrm>
              <a:off x="0" y="4819649"/>
              <a:ext cx="1441716" cy="1441716"/>
            </a:xfrm>
            <a:custGeom>
              <a:avLst/>
              <a:gdLst>
                <a:gd name="connsiteX0" fmla="*/ 1426443 w 1441716"/>
                <a:gd name="connsiteY0" fmla="*/ 0 h 1441716"/>
                <a:gd name="connsiteX1" fmla="*/ 1441716 w 1441716"/>
                <a:gd name="connsiteY1" fmla="*/ 0 h 1441716"/>
                <a:gd name="connsiteX2" fmla="*/ 0 w 1441716"/>
                <a:gd name="connsiteY2" fmla="*/ 1441716 h 1441716"/>
                <a:gd name="connsiteX3" fmla="*/ 0 w 1441716"/>
                <a:gd name="connsiteY3" fmla="*/ 1426443 h 1441716"/>
                <a:gd name="connsiteX4" fmla="*/ 1426443 w 1441716"/>
                <a:gd name="connsiteY4" fmla="*/ 0 h 1441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1716" h="1441716">
                  <a:moveTo>
                    <a:pt x="1426443" y="0"/>
                  </a:moveTo>
                  <a:lnTo>
                    <a:pt x="1441716" y="0"/>
                  </a:lnTo>
                  <a:lnTo>
                    <a:pt x="0" y="1441716"/>
                  </a:lnTo>
                  <a:lnTo>
                    <a:pt x="0" y="1426443"/>
                  </a:lnTo>
                  <a:lnTo>
                    <a:pt x="142644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4" name="ES_Line17"/>
            <p:cNvSpPr/>
            <p:nvPr userDrawn="1"/>
          </p:nvSpPr>
          <p:spPr bwMode="gray">
            <a:xfrm>
              <a:off x="0" y="4819649"/>
              <a:ext cx="1532572" cy="1532572"/>
            </a:xfrm>
            <a:custGeom>
              <a:avLst/>
              <a:gdLst>
                <a:gd name="connsiteX0" fmla="*/ 1517299 w 1532572"/>
                <a:gd name="connsiteY0" fmla="*/ 0 h 1532572"/>
                <a:gd name="connsiteX1" fmla="*/ 1532572 w 1532572"/>
                <a:gd name="connsiteY1" fmla="*/ 0 h 1532572"/>
                <a:gd name="connsiteX2" fmla="*/ 0 w 1532572"/>
                <a:gd name="connsiteY2" fmla="*/ 1532572 h 1532572"/>
                <a:gd name="connsiteX3" fmla="*/ 0 w 1532572"/>
                <a:gd name="connsiteY3" fmla="*/ 1517299 h 1532572"/>
                <a:gd name="connsiteX4" fmla="*/ 1517299 w 1532572"/>
                <a:gd name="connsiteY4" fmla="*/ 0 h 1532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72" h="1532572">
                  <a:moveTo>
                    <a:pt x="1517299" y="0"/>
                  </a:moveTo>
                  <a:lnTo>
                    <a:pt x="1532572" y="0"/>
                  </a:lnTo>
                  <a:lnTo>
                    <a:pt x="0" y="1532572"/>
                  </a:lnTo>
                  <a:lnTo>
                    <a:pt x="0" y="1517299"/>
                  </a:lnTo>
                  <a:lnTo>
                    <a:pt x="151729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5" name="ES_Line18"/>
            <p:cNvSpPr/>
            <p:nvPr userDrawn="1"/>
          </p:nvSpPr>
          <p:spPr bwMode="gray">
            <a:xfrm>
              <a:off x="0" y="4819649"/>
              <a:ext cx="1623428" cy="1623428"/>
            </a:xfrm>
            <a:custGeom>
              <a:avLst/>
              <a:gdLst>
                <a:gd name="connsiteX0" fmla="*/ 1608155 w 1623428"/>
                <a:gd name="connsiteY0" fmla="*/ 0 h 1623428"/>
                <a:gd name="connsiteX1" fmla="*/ 1623428 w 1623428"/>
                <a:gd name="connsiteY1" fmla="*/ 0 h 1623428"/>
                <a:gd name="connsiteX2" fmla="*/ 0 w 1623428"/>
                <a:gd name="connsiteY2" fmla="*/ 1623428 h 1623428"/>
                <a:gd name="connsiteX3" fmla="*/ 0 w 1623428"/>
                <a:gd name="connsiteY3" fmla="*/ 1608155 h 1623428"/>
                <a:gd name="connsiteX4" fmla="*/ 1608155 w 1623428"/>
                <a:gd name="connsiteY4" fmla="*/ 0 h 1623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3428" h="1623428">
                  <a:moveTo>
                    <a:pt x="1608155" y="0"/>
                  </a:moveTo>
                  <a:lnTo>
                    <a:pt x="1623428" y="0"/>
                  </a:lnTo>
                  <a:lnTo>
                    <a:pt x="0" y="1623428"/>
                  </a:lnTo>
                  <a:lnTo>
                    <a:pt x="0" y="1608155"/>
                  </a:lnTo>
                  <a:lnTo>
                    <a:pt x="160815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6" name="ES_Line19"/>
            <p:cNvSpPr/>
            <p:nvPr userDrawn="1"/>
          </p:nvSpPr>
          <p:spPr bwMode="gray">
            <a:xfrm>
              <a:off x="0" y="4819649"/>
              <a:ext cx="1714284" cy="1714284"/>
            </a:xfrm>
            <a:custGeom>
              <a:avLst/>
              <a:gdLst>
                <a:gd name="connsiteX0" fmla="*/ 1699011 w 1714284"/>
                <a:gd name="connsiteY0" fmla="*/ 0 h 1714284"/>
                <a:gd name="connsiteX1" fmla="*/ 1714284 w 1714284"/>
                <a:gd name="connsiteY1" fmla="*/ 0 h 1714284"/>
                <a:gd name="connsiteX2" fmla="*/ 0 w 1714284"/>
                <a:gd name="connsiteY2" fmla="*/ 1714284 h 1714284"/>
                <a:gd name="connsiteX3" fmla="*/ 0 w 1714284"/>
                <a:gd name="connsiteY3" fmla="*/ 1699011 h 1714284"/>
                <a:gd name="connsiteX4" fmla="*/ 1699011 w 1714284"/>
                <a:gd name="connsiteY4" fmla="*/ 0 h 17142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284" h="1714284">
                  <a:moveTo>
                    <a:pt x="1699011" y="0"/>
                  </a:moveTo>
                  <a:lnTo>
                    <a:pt x="1714284" y="0"/>
                  </a:lnTo>
                  <a:lnTo>
                    <a:pt x="0" y="1714284"/>
                  </a:lnTo>
                  <a:lnTo>
                    <a:pt x="0" y="1699011"/>
                  </a:lnTo>
                  <a:lnTo>
                    <a:pt x="1699011"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7" name="ES_Line20"/>
            <p:cNvSpPr/>
            <p:nvPr userDrawn="1"/>
          </p:nvSpPr>
          <p:spPr bwMode="gray">
            <a:xfrm>
              <a:off x="0" y="4819649"/>
              <a:ext cx="1805140" cy="1805140"/>
            </a:xfrm>
            <a:custGeom>
              <a:avLst/>
              <a:gdLst>
                <a:gd name="connsiteX0" fmla="*/ 1789867 w 1805140"/>
                <a:gd name="connsiteY0" fmla="*/ 0 h 1805140"/>
                <a:gd name="connsiteX1" fmla="*/ 1805140 w 1805140"/>
                <a:gd name="connsiteY1" fmla="*/ 0 h 1805140"/>
                <a:gd name="connsiteX2" fmla="*/ 0 w 1805140"/>
                <a:gd name="connsiteY2" fmla="*/ 1805140 h 1805140"/>
                <a:gd name="connsiteX3" fmla="*/ 0 w 1805140"/>
                <a:gd name="connsiteY3" fmla="*/ 1789866 h 1805140"/>
                <a:gd name="connsiteX4" fmla="*/ 1789867 w 1805140"/>
                <a:gd name="connsiteY4" fmla="*/ 0 h 1805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5140" h="1805140">
                  <a:moveTo>
                    <a:pt x="1789867" y="0"/>
                  </a:moveTo>
                  <a:lnTo>
                    <a:pt x="1805140" y="0"/>
                  </a:lnTo>
                  <a:lnTo>
                    <a:pt x="0" y="1805140"/>
                  </a:lnTo>
                  <a:lnTo>
                    <a:pt x="0" y="1789866"/>
                  </a:lnTo>
                  <a:lnTo>
                    <a:pt x="178986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8" name="ES_Line21"/>
            <p:cNvSpPr/>
            <p:nvPr userDrawn="1"/>
          </p:nvSpPr>
          <p:spPr bwMode="gray">
            <a:xfrm>
              <a:off x="0" y="4819649"/>
              <a:ext cx="1895996" cy="1895996"/>
            </a:xfrm>
            <a:custGeom>
              <a:avLst/>
              <a:gdLst>
                <a:gd name="connsiteX0" fmla="*/ 1880723 w 1895996"/>
                <a:gd name="connsiteY0" fmla="*/ 0 h 1895996"/>
                <a:gd name="connsiteX1" fmla="*/ 1895996 w 1895996"/>
                <a:gd name="connsiteY1" fmla="*/ 0 h 1895996"/>
                <a:gd name="connsiteX2" fmla="*/ 0 w 1895996"/>
                <a:gd name="connsiteY2" fmla="*/ 1895996 h 1895996"/>
                <a:gd name="connsiteX3" fmla="*/ 0 w 1895996"/>
                <a:gd name="connsiteY3" fmla="*/ 1880722 h 1895996"/>
                <a:gd name="connsiteX4" fmla="*/ 1880723 w 1895996"/>
                <a:gd name="connsiteY4" fmla="*/ 0 h 1895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5996" h="1895996">
                  <a:moveTo>
                    <a:pt x="1880723" y="0"/>
                  </a:moveTo>
                  <a:lnTo>
                    <a:pt x="1895996" y="0"/>
                  </a:lnTo>
                  <a:lnTo>
                    <a:pt x="0" y="1895996"/>
                  </a:lnTo>
                  <a:lnTo>
                    <a:pt x="0" y="1880722"/>
                  </a:lnTo>
                  <a:lnTo>
                    <a:pt x="188072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9" name="ES_Line22"/>
            <p:cNvSpPr/>
            <p:nvPr userDrawn="1"/>
          </p:nvSpPr>
          <p:spPr bwMode="gray">
            <a:xfrm>
              <a:off x="0" y="4819649"/>
              <a:ext cx="1986852" cy="1986852"/>
            </a:xfrm>
            <a:custGeom>
              <a:avLst/>
              <a:gdLst>
                <a:gd name="connsiteX0" fmla="*/ 1971579 w 1986852"/>
                <a:gd name="connsiteY0" fmla="*/ 0 h 1986852"/>
                <a:gd name="connsiteX1" fmla="*/ 1986852 w 1986852"/>
                <a:gd name="connsiteY1" fmla="*/ 0 h 1986852"/>
                <a:gd name="connsiteX2" fmla="*/ 0 w 1986852"/>
                <a:gd name="connsiteY2" fmla="*/ 1986852 h 1986852"/>
                <a:gd name="connsiteX3" fmla="*/ 0 w 1986852"/>
                <a:gd name="connsiteY3" fmla="*/ 1971578 h 1986852"/>
                <a:gd name="connsiteX4" fmla="*/ 1971579 w 1986852"/>
                <a:gd name="connsiteY4" fmla="*/ 0 h 1986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6852" h="1986852">
                  <a:moveTo>
                    <a:pt x="1971579" y="0"/>
                  </a:moveTo>
                  <a:lnTo>
                    <a:pt x="1986852" y="0"/>
                  </a:lnTo>
                  <a:lnTo>
                    <a:pt x="0" y="1986852"/>
                  </a:lnTo>
                  <a:lnTo>
                    <a:pt x="0" y="1971578"/>
                  </a:lnTo>
                  <a:lnTo>
                    <a:pt x="197157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0" name="ES_Line23"/>
            <p:cNvSpPr/>
            <p:nvPr userDrawn="1"/>
          </p:nvSpPr>
          <p:spPr bwMode="gray">
            <a:xfrm>
              <a:off x="0" y="4819649"/>
              <a:ext cx="2077708" cy="2077708"/>
            </a:xfrm>
            <a:custGeom>
              <a:avLst/>
              <a:gdLst>
                <a:gd name="connsiteX0" fmla="*/ 2062435 w 2077708"/>
                <a:gd name="connsiteY0" fmla="*/ 0 h 2077708"/>
                <a:gd name="connsiteX1" fmla="*/ 2077708 w 2077708"/>
                <a:gd name="connsiteY1" fmla="*/ 0 h 2077708"/>
                <a:gd name="connsiteX2" fmla="*/ 0 w 2077708"/>
                <a:gd name="connsiteY2" fmla="*/ 2077708 h 2077708"/>
                <a:gd name="connsiteX3" fmla="*/ 0 w 2077708"/>
                <a:gd name="connsiteY3" fmla="*/ 2062434 h 2077708"/>
                <a:gd name="connsiteX4" fmla="*/ 2062435 w 2077708"/>
                <a:gd name="connsiteY4" fmla="*/ 0 h 2077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7708" h="2077708">
                  <a:moveTo>
                    <a:pt x="2062435" y="0"/>
                  </a:moveTo>
                  <a:lnTo>
                    <a:pt x="2077708" y="0"/>
                  </a:lnTo>
                  <a:lnTo>
                    <a:pt x="0" y="2077708"/>
                  </a:lnTo>
                  <a:lnTo>
                    <a:pt x="0" y="2062434"/>
                  </a:lnTo>
                  <a:lnTo>
                    <a:pt x="206243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1" name="ES_Line24"/>
            <p:cNvSpPr/>
            <p:nvPr userDrawn="1"/>
          </p:nvSpPr>
          <p:spPr bwMode="gray">
            <a:xfrm>
              <a:off x="0" y="4819649"/>
              <a:ext cx="2168564" cy="2168564"/>
            </a:xfrm>
            <a:custGeom>
              <a:avLst/>
              <a:gdLst>
                <a:gd name="connsiteX0" fmla="*/ 2153291 w 2168564"/>
                <a:gd name="connsiteY0" fmla="*/ 0 h 2168564"/>
                <a:gd name="connsiteX1" fmla="*/ 2168564 w 2168564"/>
                <a:gd name="connsiteY1" fmla="*/ 0 h 2168564"/>
                <a:gd name="connsiteX2" fmla="*/ 0 w 2168564"/>
                <a:gd name="connsiteY2" fmla="*/ 2168564 h 2168564"/>
                <a:gd name="connsiteX3" fmla="*/ 0 w 2168564"/>
                <a:gd name="connsiteY3" fmla="*/ 2153290 h 2168564"/>
                <a:gd name="connsiteX4" fmla="*/ 2153291 w 2168564"/>
                <a:gd name="connsiteY4" fmla="*/ 0 h 2168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564" h="2168564">
                  <a:moveTo>
                    <a:pt x="2153291" y="0"/>
                  </a:moveTo>
                  <a:lnTo>
                    <a:pt x="2168564" y="0"/>
                  </a:lnTo>
                  <a:lnTo>
                    <a:pt x="0" y="2168564"/>
                  </a:lnTo>
                  <a:lnTo>
                    <a:pt x="0" y="2153290"/>
                  </a:lnTo>
                  <a:lnTo>
                    <a:pt x="2153291"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2" name="ES_Line25"/>
            <p:cNvSpPr/>
            <p:nvPr userDrawn="1"/>
          </p:nvSpPr>
          <p:spPr bwMode="gray">
            <a:xfrm>
              <a:off x="0" y="4819649"/>
              <a:ext cx="2259420" cy="2259420"/>
            </a:xfrm>
            <a:custGeom>
              <a:avLst/>
              <a:gdLst>
                <a:gd name="connsiteX0" fmla="*/ 2244147 w 2259420"/>
                <a:gd name="connsiteY0" fmla="*/ 0 h 2259420"/>
                <a:gd name="connsiteX1" fmla="*/ 2259420 w 2259420"/>
                <a:gd name="connsiteY1" fmla="*/ 0 h 2259420"/>
                <a:gd name="connsiteX2" fmla="*/ 0 w 2259420"/>
                <a:gd name="connsiteY2" fmla="*/ 2259420 h 2259420"/>
                <a:gd name="connsiteX3" fmla="*/ 0 w 2259420"/>
                <a:gd name="connsiteY3" fmla="*/ 2244146 h 2259420"/>
                <a:gd name="connsiteX4" fmla="*/ 2244147 w 2259420"/>
                <a:gd name="connsiteY4" fmla="*/ 0 h 225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9420" h="2259420">
                  <a:moveTo>
                    <a:pt x="2244147" y="0"/>
                  </a:moveTo>
                  <a:lnTo>
                    <a:pt x="2259420" y="0"/>
                  </a:lnTo>
                  <a:lnTo>
                    <a:pt x="0" y="2259420"/>
                  </a:lnTo>
                  <a:lnTo>
                    <a:pt x="0" y="2244146"/>
                  </a:lnTo>
                  <a:lnTo>
                    <a:pt x="224414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3" name="ES_Line26"/>
            <p:cNvSpPr/>
            <p:nvPr userDrawn="1"/>
          </p:nvSpPr>
          <p:spPr bwMode="gray">
            <a:xfrm>
              <a:off x="35666"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4" name="ES_Line27"/>
            <p:cNvSpPr/>
            <p:nvPr userDrawn="1"/>
          </p:nvSpPr>
          <p:spPr bwMode="gray">
            <a:xfrm>
              <a:off x="126522"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5" name="ES_Line28"/>
            <p:cNvSpPr/>
            <p:nvPr userDrawn="1"/>
          </p:nvSpPr>
          <p:spPr bwMode="gray">
            <a:xfrm>
              <a:off x="217378"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6" name="ES_Line29"/>
            <p:cNvSpPr/>
            <p:nvPr userDrawn="1"/>
          </p:nvSpPr>
          <p:spPr bwMode="gray">
            <a:xfrm>
              <a:off x="308234"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7" name="ES_Line30"/>
            <p:cNvSpPr/>
            <p:nvPr userDrawn="1"/>
          </p:nvSpPr>
          <p:spPr bwMode="gray">
            <a:xfrm>
              <a:off x="399090"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8" name="ES_Line31"/>
            <p:cNvSpPr/>
            <p:nvPr userDrawn="1"/>
          </p:nvSpPr>
          <p:spPr bwMode="gray">
            <a:xfrm>
              <a:off x="489946"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9" name="ES_Line32"/>
            <p:cNvSpPr/>
            <p:nvPr userDrawn="1"/>
          </p:nvSpPr>
          <p:spPr bwMode="gray">
            <a:xfrm>
              <a:off x="580802"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0" name="ES_Line33"/>
            <p:cNvSpPr/>
            <p:nvPr userDrawn="1"/>
          </p:nvSpPr>
          <p:spPr bwMode="gray">
            <a:xfrm>
              <a:off x="671658"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1" name="ES_Line34"/>
            <p:cNvSpPr/>
            <p:nvPr userDrawn="1"/>
          </p:nvSpPr>
          <p:spPr bwMode="gray">
            <a:xfrm>
              <a:off x="762514"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2" name="ES_Line35"/>
            <p:cNvSpPr/>
            <p:nvPr userDrawn="1"/>
          </p:nvSpPr>
          <p:spPr bwMode="gray">
            <a:xfrm>
              <a:off x="853370"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3" name="ES_Line36"/>
            <p:cNvSpPr/>
            <p:nvPr userDrawn="1"/>
          </p:nvSpPr>
          <p:spPr bwMode="gray">
            <a:xfrm>
              <a:off x="944226"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4" name="ES_Line37"/>
            <p:cNvSpPr/>
            <p:nvPr userDrawn="1"/>
          </p:nvSpPr>
          <p:spPr bwMode="gray">
            <a:xfrm>
              <a:off x="1035082"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5" name="ES_Line38"/>
            <p:cNvSpPr/>
            <p:nvPr userDrawn="1"/>
          </p:nvSpPr>
          <p:spPr bwMode="gray">
            <a:xfrm>
              <a:off x="1125938"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6" name="ES_Line39"/>
            <p:cNvSpPr/>
            <p:nvPr userDrawn="1"/>
          </p:nvSpPr>
          <p:spPr bwMode="gray">
            <a:xfrm>
              <a:off x="1216794"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7" name="ES_Line40"/>
            <p:cNvSpPr/>
            <p:nvPr userDrawn="1"/>
          </p:nvSpPr>
          <p:spPr bwMode="gray">
            <a:xfrm>
              <a:off x="1307650"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8" name="ES_Line41"/>
            <p:cNvSpPr/>
            <p:nvPr userDrawn="1"/>
          </p:nvSpPr>
          <p:spPr bwMode="gray">
            <a:xfrm>
              <a:off x="1398506"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9" name="ES_Line42"/>
            <p:cNvSpPr/>
            <p:nvPr userDrawn="1"/>
          </p:nvSpPr>
          <p:spPr bwMode="gray">
            <a:xfrm>
              <a:off x="1489362"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0" name="ES_Line43"/>
            <p:cNvSpPr/>
            <p:nvPr userDrawn="1"/>
          </p:nvSpPr>
          <p:spPr bwMode="gray">
            <a:xfrm>
              <a:off x="1580218"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1" name="ES_Line44"/>
            <p:cNvSpPr/>
            <p:nvPr userDrawn="1"/>
          </p:nvSpPr>
          <p:spPr bwMode="gray">
            <a:xfrm>
              <a:off x="1671074"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2" name="ES_Line45"/>
            <p:cNvSpPr/>
            <p:nvPr userDrawn="1"/>
          </p:nvSpPr>
          <p:spPr bwMode="gray">
            <a:xfrm>
              <a:off x="1761930"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3" name="ES_Line46"/>
            <p:cNvSpPr/>
            <p:nvPr userDrawn="1"/>
          </p:nvSpPr>
          <p:spPr bwMode="gray">
            <a:xfrm>
              <a:off x="1852786"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4" name="ES_Line47"/>
            <p:cNvSpPr/>
            <p:nvPr userDrawn="1"/>
          </p:nvSpPr>
          <p:spPr bwMode="gray">
            <a:xfrm>
              <a:off x="1943642"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5" name="ES_Line48"/>
            <p:cNvSpPr/>
            <p:nvPr userDrawn="1"/>
          </p:nvSpPr>
          <p:spPr bwMode="gray">
            <a:xfrm>
              <a:off x="2034498"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6" name="ES_Line49"/>
            <p:cNvSpPr/>
            <p:nvPr userDrawn="1"/>
          </p:nvSpPr>
          <p:spPr bwMode="gray">
            <a:xfrm>
              <a:off x="2125354"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7" name="ES_Line50"/>
            <p:cNvSpPr/>
            <p:nvPr userDrawn="1"/>
          </p:nvSpPr>
          <p:spPr bwMode="gray">
            <a:xfrm>
              <a:off x="2216210"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8" name="ES_Line51"/>
            <p:cNvSpPr/>
            <p:nvPr userDrawn="1"/>
          </p:nvSpPr>
          <p:spPr bwMode="gray">
            <a:xfrm>
              <a:off x="230706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9" name="ES_Line52"/>
            <p:cNvSpPr/>
            <p:nvPr userDrawn="1"/>
          </p:nvSpPr>
          <p:spPr bwMode="gray">
            <a:xfrm>
              <a:off x="239792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0" name="ES_Line53"/>
            <p:cNvSpPr/>
            <p:nvPr userDrawn="1"/>
          </p:nvSpPr>
          <p:spPr bwMode="gray">
            <a:xfrm>
              <a:off x="248877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1" name="ES_Line54"/>
            <p:cNvSpPr/>
            <p:nvPr userDrawn="1"/>
          </p:nvSpPr>
          <p:spPr bwMode="gray">
            <a:xfrm>
              <a:off x="257963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2" name="ES_Line55"/>
            <p:cNvSpPr/>
            <p:nvPr userDrawn="1"/>
          </p:nvSpPr>
          <p:spPr bwMode="gray">
            <a:xfrm>
              <a:off x="267049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3" name="ES_Line56"/>
            <p:cNvSpPr/>
            <p:nvPr userDrawn="1"/>
          </p:nvSpPr>
          <p:spPr bwMode="gray">
            <a:xfrm>
              <a:off x="276134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4" name="ES_Line57"/>
            <p:cNvSpPr/>
            <p:nvPr userDrawn="1"/>
          </p:nvSpPr>
          <p:spPr bwMode="gray">
            <a:xfrm>
              <a:off x="285220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5" name="ES_Line58"/>
            <p:cNvSpPr/>
            <p:nvPr userDrawn="1"/>
          </p:nvSpPr>
          <p:spPr bwMode="gray">
            <a:xfrm>
              <a:off x="294305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6" name="ES_Line59"/>
            <p:cNvSpPr/>
            <p:nvPr userDrawn="1"/>
          </p:nvSpPr>
          <p:spPr bwMode="gray">
            <a:xfrm>
              <a:off x="303391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7" name="ES_Line60"/>
            <p:cNvSpPr/>
            <p:nvPr userDrawn="1"/>
          </p:nvSpPr>
          <p:spPr bwMode="gray">
            <a:xfrm>
              <a:off x="312477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8" name="ES_Line61"/>
            <p:cNvSpPr/>
            <p:nvPr userDrawn="1"/>
          </p:nvSpPr>
          <p:spPr bwMode="gray">
            <a:xfrm>
              <a:off x="321562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9" name="ES_Line62"/>
            <p:cNvSpPr/>
            <p:nvPr userDrawn="1"/>
          </p:nvSpPr>
          <p:spPr bwMode="gray">
            <a:xfrm>
              <a:off x="330648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0" name="ES_Line63"/>
            <p:cNvSpPr/>
            <p:nvPr userDrawn="1"/>
          </p:nvSpPr>
          <p:spPr bwMode="gray">
            <a:xfrm>
              <a:off x="339733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1" name="ES_Line64"/>
            <p:cNvSpPr/>
            <p:nvPr userDrawn="1"/>
          </p:nvSpPr>
          <p:spPr bwMode="gray">
            <a:xfrm>
              <a:off x="348819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2" name="ES_Line65"/>
            <p:cNvSpPr/>
            <p:nvPr userDrawn="1"/>
          </p:nvSpPr>
          <p:spPr bwMode="gray">
            <a:xfrm>
              <a:off x="357905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3" name="ES_Line66"/>
            <p:cNvSpPr/>
            <p:nvPr userDrawn="1"/>
          </p:nvSpPr>
          <p:spPr bwMode="gray">
            <a:xfrm>
              <a:off x="366990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4" name="ES_Line67"/>
            <p:cNvSpPr/>
            <p:nvPr userDrawn="1"/>
          </p:nvSpPr>
          <p:spPr bwMode="gray">
            <a:xfrm>
              <a:off x="376076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5" name="ES_Line68"/>
            <p:cNvSpPr/>
            <p:nvPr userDrawn="1"/>
          </p:nvSpPr>
          <p:spPr bwMode="gray">
            <a:xfrm>
              <a:off x="385161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6" name="ES_Line69"/>
            <p:cNvSpPr/>
            <p:nvPr userDrawn="1"/>
          </p:nvSpPr>
          <p:spPr bwMode="gray">
            <a:xfrm>
              <a:off x="394247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7" name="ES_Line70"/>
            <p:cNvSpPr/>
            <p:nvPr userDrawn="1"/>
          </p:nvSpPr>
          <p:spPr bwMode="gray">
            <a:xfrm>
              <a:off x="403333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8" name="ES_Line71"/>
            <p:cNvSpPr/>
            <p:nvPr userDrawn="1"/>
          </p:nvSpPr>
          <p:spPr bwMode="gray">
            <a:xfrm>
              <a:off x="412418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9" name="ES_Line72"/>
            <p:cNvSpPr/>
            <p:nvPr userDrawn="1"/>
          </p:nvSpPr>
          <p:spPr bwMode="gray">
            <a:xfrm>
              <a:off x="421504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0" name="ES_Line73"/>
            <p:cNvSpPr/>
            <p:nvPr userDrawn="1"/>
          </p:nvSpPr>
          <p:spPr bwMode="gray">
            <a:xfrm>
              <a:off x="430589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1" name="ES_Line74"/>
            <p:cNvSpPr/>
            <p:nvPr userDrawn="1"/>
          </p:nvSpPr>
          <p:spPr bwMode="gray">
            <a:xfrm>
              <a:off x="439675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2" name="ES_Line75"/>
            <p:cNvSpPr/>
            <p:nvPr userDrawn="1"/>
          </p:nvSpPr>
          <p:spPr bwMode="gray">
            <a:xfrm>
              <a:off x="448761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3" name="ES_Line76"/>
            <p:cNvSpPr/>
            <p:nvPr userDrawn="1"/>
          </p:nvSpPr>
          <p:spPr bwMode="gray">
            <a:xfrm>
              <a:off x="457846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4" name="ES_Line77"/>
            <p:cNvSpPr/>
            <p:nvPr userDrawn="1"/>
          </p:nvSpPr>
          <p:spPr bwMode="gray">
            <a:xfrm>
              <a:off x="466932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5" name="ES_Line78"/>
            <p:cNvSpPr/>
            <p:nvPr userDrawn="1"/>
          </p:nvSpPr>
          <p:spPr bwMode="gray">
            <a:xfrm>
              <a:off x="476017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6" name="ES_Line79"/>
            <p:cNvSpPr/>
            <p:nvPr userDrawn="1"/>
          </p:nvSpPr>
          <p:spPr bwMode="gray">
            <a:xfrm>
              <a:off x="485103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7" name="ES_Line80"/>
            <p:cNvSpPr/>
            <p:nvPr userDrawn="1"/>
          </p:nvSpPr>
          <p:spPr bwMode="gray">
            <a:xfrm>
              <a:off x="494189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8" name="ES_Line81"/>
            <p:cNvSpPr/>
            <p:nvPr userDrawn="1"/>
          </p:nvSpPr>
          <p:spPr bwMode="gray">
            <a:xfrm>
              <a:off x="503274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9" name="ES_Line82"/>
            <p:cNvSpPr/>
            <p:nvPr userDrawn="1"/>
          </p:nvSpPr>
          <p:spPr bwMode="gray">
            <a:xfrm>
              <a:off x="512360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0" name="ES_Line83"/>
            <p:cNvSpPr/>
            <p:nvPr userDrawn="1"/>
          </p:nvSpPr>
          <p:spPr bwMode="gray">
            <a:xfrm>
              <a:off x="521445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1" name="ES_Line84"/>
            <p:cNvSpPr/>
            <p:nvPr userDrawn="1"/>
          </p:nvSpPr>
          <p:spPr bwMode="gray">
            <a:xfrm>
              <a:off x="530531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2" name="ES_Line85"/>
            <p:cNvSpPr/>
            <p:nvPr userDrawn="1"/>
          </p:nvSpPr>
          <p:spPr bwMode="gray">
            <a:xfrm>
              <a:off x="539617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3" name="ES_Line86"/>
            <p:cNvSpPr/>
            <p:nvPr userDrawn="1"/>
          </p:nvSpPr>
          <p:spPr bwMode="gray">
            <a:xfrm>
              <a:off x="548702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4" name="ES_Line87"/>
            <p:cNvSpPr/>
            <p:nvPr userDrawn="1"/>
          </p:nvSpPr>
          <p:spPr bwMode="gray">
            <a:xfrm>
              <a:off x="557788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5" name="ES_Line88"/>
            <p:cNvSpPr/>
            <p:nvPr userDrawn="1"/>
          </p:nvSpPr>
          <p:spPr bwMode="gray">
            <a:xfrm>
              <a:off x="566873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6" name="ES_Line89"/>
            <p:cNvSpPr/>
            <p:nvPr userDrawn="1"/>
          </p:nvSpPr>
          <p:spPr bwMode="gray">
            <a:xfrm>
              <a:off x="575959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7" name="ES_Line90"/>
            <p:cNvSpPr/>
            <p:nvPr userDrawn="1"/>
          </p:nvSpPr>
          <p:spPr bwMode="gray">
            <a:xfrm>
              <a:off x="585045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8" name="ES_Line91"/>
            <p:cNvSpPr/>
            <p:nvPr userDrawn="1"/>
          </p:nvSpPr>
          <p:spPr bwMode="gray">
            <a:xfrm>
              <a:off x="594130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9" name="ES_Line92"/>
            <p:cNvSpPr/>
            <p:nvPr userDrawn="1"/>
          </p:nvSpPr>
          <p:spPr bwMode="gray">
            <a:xfrm>
              <a:off x="603216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0" name="ES_Line93"/>
            <p:cNvSpPr/>
            <p:nvPr userDrawn="1"/>
          </p:nvSpPr>
          <p:spPr bwMode="gray">
            <a:xfrm>
              <a:off x="612301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1" name="ES_Line94"/>
            <p:cNvSpPr/>
            <p:nvPr userDrawn="1"/>
          </p:nvSpPr>
          <p:spPr bwMode="gray">
            <a:xfrm>
              <a:off x="621387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2" name="ES_Line95"/>
            <p:cNvSpPr/>
            <p:nvPr userDrawn="1"/>
          </p:nvSpPr>
          <p:spPr bwMode="gray">
            <a:xfrm>
              <a:off x="630473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3" name="ES_Line96"/>
            <p:cNvSpPr/>
            <p:nvPr userDrawn="1"/>
          </p:nvSpPr>
          <p:spPr bwMode="gray">
            <a:xfrm>
              <a:off x="639558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4" name="ES_Line97"/>
            <p:cNvSpPr/>
            <p:nvPr userDrawn="1"/>
          </p:nvSpPr>
          <p:spPr bwMode="gray">
            <a:xfrm>
              <a:off x="648644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5" name="ES_Line98"/>
            <p:cNvSpPr/>
            <p:nvPr userDrawn="1"/>
          </p:nvSpPr>
          <p:spPr bwMode="gray">
            <a:xfrm>
              <a:off x="657729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6" name="ES_Line99"/>
            <p:cNvSpPr/>
            <p:nvPr userDrawn="1"/>
          </p:nvSpPr>
          <p:spPr bwMode="gray">
            <a:xfrm>
              <a:off x="666815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7" name="ES_Line100"/>
            <p:cNvSpPr/>
            <p:nvPr userDrawn="1"/>
          </p:nvSpPr>
          <p:spPr bwMode="gray">
            <a:xfrm>
              <a:off x="675901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8" name="ES_Line101"/>
            <p:cNvSpPr/>
            <p:nvPr userDrawn="1"/>
          </p:nvSpPr>
          <p:spPr bwMode="gray">
            <a:xfrm>
              <a:off x="684986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9" name="ES_Line102"/>
            <p:cNvSpPr/>
            <p:nvPr userDrawn="1"/>
          </p:nvSpPr>
          <p:spPr bwMode="gray">
            <a:xfrm>
              <a:off x="694072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0" name="ES_Line103"/>
            <p:cNvSpPr/>
            <p:nvPr userDrawn="1"/>
          </p:nvSpPr>
          <p:spPr bwMode="gray">
            <a:xfrm>
              <a:off x="703157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1" name="ES_Line104"/>
            <p:cNvSpPr/>
            <p:nvPr userDrawn="1"/>
          </p:nvSpPr>
          <p:spPr bwMode="gray">
            <a:xfrm>
              <a:off x="712243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2" name="ES_Line105"/>
            <p:cNvSpPr/>
            <p:nvPr userDrawn="1"/>
          </p:nvSpPr>
          <p:spPr bwMode="gray">
            <a:xfrm>
              <a:off x="721329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3" name="ES_Line106"/>
            <p:cNvSpPr/>
            <p:nvPr userDrawn="1"/>
          </p:nvSpPr>
          <p:spPr bwMode="gray">
            <a:xfrm>
              <a:off x="730414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4" name="ES_Line107"/>
            <p:cNvSpPr/>
            <p:nvPr userDrawn="1"/>
          </p:nvSpPr>
          <p:spPr bwMode="gray">
            <a:xfrm>
              <a:off x="739500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5" name="ES_Line108"/>
            <p:cNvSpPr/>
            <p:nvPr userDrawn="1"/>
          </p:nvSpPr>
          <p:spPr bwMode="gray">
            <a:xfrm>
              <a:off x="748585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6" name="ES_Line109"/>
            <p:cNvSpPr/>
            <p:nvPr userDrawn="1"/>
          </p:nvSpPr>
          <p:spPr bwMode="gray">
            <a:xfrm>
              <a:off x="757671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7" name="ES_Line110"/>
            <p:cNvSpPr/>
            <p:nvPr userDrawn="1"/>
          </p:nvSpPr>
          <p:spPr bwMode="gray">
            <a:xfrm>
              <a:off x="766757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8" name="ES_Line111"/>
            <p:cNvSpPr/>
            <p:nvPr userDrawn="1"/>
          </p:nvSpPr>
          <p:spPr bwMode="gray">
            <a:xfrm>
              <a:off x="775842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9" name="ES_Line112"/>
            <p:cNvSpPr/>
            <p:nvPr userDrawn="1"/>
          </p:nvSpPr>
          <p:spPr bwMode="gray">
            <a:xfrm>
              <a:off x="784928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90" name="ES_Line113"/>
            <p:cNvSpPr/>
            <p:nvPr userDrawn="1"/>
          </p:nvSpPr>
          <p:spPr bwMode="gray">
            <a:xfrm>
              <a:off x="7940139" y="4819649"/>
              <a:ext cx="2302411" cy="2299336"/>
            </a:xfrm>
            <a:custGeom>
              <a:avLst/>
              <a:gdLst>
                <a:gd name="connsiteX0" fmla="*/ 2299336 w 2302411"/>
                <a:gd name="connsiteY0" fmla="*/ 0 h 2299336"/>
                <a:gd name="connsiteX1" fmla="*/ 2302411 w 2302411"/>
                <a:gd name="connsiteY1" fmla="*/ 0 h 2299336"/>
                <a:gd name="connsiteX2" fmla="*/ 2302411 w 2302411"/>
                <a:gd name="connsiteY2" fmla="*/ 12198 h 2299336"/>
                <a:gd name="connsiteX3" fmla="*/ 15273 w 2302411"/>
                <a:gd name="connsiteY3" fmla="*/ 2299336 h 2299336"/>
                <a:gd name="connsiteX4" fmla="*/ 0 w 2302411"/>
                <a:gd name="connsiteY4" fmla="*/ 2299336 h 2299336"/>
                <a:gd name="connsiteX5" fmla="*/ 2299336 w 2302411"/>
                <a:gd name="connsiteY5" fmla="*/ 0 h 2299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2411" h="2299336">
                  <a:moveTo>
                    <a:pt x="2299336" y="0"/>
                  </a:moveTo>
                  <a:lnTo>
                    <a:pt x="2302411" y="0"/>
                  </a:lnTo>
                  <a:lnTo>
                    <a:pt x="2302411" y="12198"/>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9" name="ES_Line114"/>
            <p:cNvSpPr/>
            <p:nvPr userDrawn="1"/>
          </p:nvSpPr>
          <p:spPr bwMode="gray">
            <a:xfrm>
              <a:off x="8030995" y="4907431"/>
              <a:ext cx="2211555" cy="2211555"/>
            </a:xfrm>
            <a:custGeom>
              <a:avLst/>
              <a:gdLst>
                <a:gd name="connsiteX0" fmla="*/ 2211555 w 2211555"/>
                <a:gd name="connsiteY0" fmla="*/ 0 h 2211555"/>
                <a:gd name="connsiteX1" fmla="*/ 2211555 w 2211555"/>
                <a:gd name="connsiteY1" fmla="*/ 15273 h 2211555"/>
                <a:gd name="connsiteX2" fmla="*/ 15273 w 2211555"/>
                <a:gd name="connsiteY2" fmla="*/ 2211555 h 2211555"/>
                <a:gd name="connsiteX3" fmla="*/ 0 w 2211555"/>
                <a:gd name="connsiteY3" fmla="*/ 2211555 h 2211555"/>
                <a:gd name="connsiteX4" fmla="*/ 2211555 w 2211555"/>
                <a:gd name="connsiteY4" fmla="*/ 0 h 2211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555" h="2211555">
                  <a:moveTo>
                    <a:pt x="2211555" y="0"/>
                  </a:moveTo>
                  <a:lnTo>
                    <a:pt x="2211555" y="15273"/>
                  </a:lnTo>
                  <a:lnTo>
                    <a:pt x="15273" y="2211555"/>
                  </a:lnTo>
                  <a:lnTo>
                    <a:pt x="0" y="2211555"/>
                  </a:lnTo>
                  <a:lnTo>
                    <a:pt x="221155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8" name="ES_Line115"/>
            <p:cNvSpPr/>
            <p:nvPr userDrawn="1"/>
          </p:nvSpPr>
          <p:spPr bwMode="gray">
            <a:xfrm>
              <a:off x="8121851" y="4998287"/>
              <a:ext cx="2120699" cy="2120699"/>
            </a:xfrm>
            <a:custGeom>
              <a:avLst/>
              <a:gdLst>
                <a:gd name="connsiteX0" fmla="*/ 2120699 w 2120699"/>
                <a:gd name="connsiteY0" fmla="*/ 0 h 2120699"/>
                <a:gd name="connsiteX1" fmla="*/ 2120699 w 2120699"/>
                <a:gd name="connsiteY1" fmla="*/ 15273 h 2120699"/>
                <a:gd name="connsiteX2" fmla="*/ 15273 w 2120699"/>
                <a:gd name="connsiteY2" fmla="*/ 2120699 h 2120699"/>
                <a:gd name="connsiteX3" fmla="*/ 0 w 2120699"/>
                <a:gd name="connsiteY3" fmla="*/ 2120699 h 2120699"/>
                <a:gd name="connsiteX4" fmla="*/ 2120699 w 2120699"/>
                <a:gd name="connsiteY4" fmla="*/ 0 h 2120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0699" h="2120699">
                  <a:moveTo>
                    <a:pt x="2120699" y="0"/>
                  </a:moveTo>
                  <a:lnTo>
                    <a:pt x="2120699" y="15273"/>
                  </a:lnTo>
                  <a:lnTo>
                    <a:pt x="15273" y="2120699"/>
                  </a:lnTo>
                  <a:lnTo>
                    <a:pt x="0" y="2120699"/>
                  </a:lnTo>
                  <a:lnTo>
                    <a:pt x="212069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7" name="ES_Line116"/>
            <p:cNvSpPr/>
            <p:nvPr userDrawn="1"/>
          </p:nvSpPr>
          <p:spPr bwMode="gray">
            <a:xfrm>
              <a:off x="8212707" y="5089143"/>
              <a:ext cx="2029843" cy="2029843"/>
            </a:xfrm>
            <a:custGeom>
              <a:avLst/>
              <a:gdLst>
                <a:gd name="connsiteX0" fmla="*/ 2029843 w 2029843"/>
                <a:gd name="connsiteY0" fmla="*/ 0 h 2029843"/>
                <a:gd name="connsiteX1" fmla="*/ 2029843 w 2029843"/>
                <a:gd name="connsiteY1" fmla="*/ 15273 h 2029843"/>
                <a:gd name="connsiteX2" fmla="*/ 15273 w 2029843"/>
                <a:gd name="connsiteY2" fmla="*/ 2029843 h 2029843"/>
                <a:gd name="connsiteX3" fmla="*/ 0 w 2029843"/>
                <a:gd name="connsiteY3" fmla="*/ 2029843 h 2029843"/>
                <a:gd name="connsiteX4" fmla="*/ 2029843 w 2029843"/>
                <a:gd name="connsiteY4" fmla="*/ 0 h 2029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9843" h="2029843">
                  <a:moveTo>
                    <a:pt x="2029843" y="0"/>
                  </a:moveTo>
                  <a:lnTo>
                    <a:pt x="2029843" y="15273"/>
                  </a:lnTo>
                  <a:lnTo>
                    <a:pt x="15273" y="2029843"/>
                  </a:lnTo>
                  <a:lnTo>
                    <a:pt x="0" y="2029843"/>
                  </a:lnTo>
                  <a:lnTo>
                    <a:pt x="202984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6" name="ES_Line117"/>
            <p:cNvSpPr/>
            <p:nvPr userDrawn="1"/>
          </p:nvSpPr>
          <p:spPr bwMode="gray">
            <a:xfrm>
              <a:off x="8303613" y="5180049"/>
              <a:ext cx="1938937" cy="1938937"/>
            </a:xfrm>
            <a:custGeom>
              <a:avLst/>
              <a:gdLst>
                <a:gd name="connsiteX0" fmla="*/ 1938937 w 1938937"/>
                <a:gd name="connsiteY0" fmla="*/ 0 h 1938937"/>
                <a:gd name="connsiteX1" fmla="*/ 1938937 w 1938937"/>
                <a:gd name="connsiteY1" fmla="*/ 15273 h 1938937"/>
                <a:gd name="connsiteX2" fmla="*/ 15273 w 1938937"/>
                <a:gd name="connsiteY2" fmla="*/ 1938937 h 1938937"/>
                <a:gd name="connsiteX3" fmla="*/ 0 w 1938937"/>
                <a:gd name="connsiteY3" fmla="*/ 1938937 h 1938937"/>
                <a:gd name="connsiteX4" fmla="*/ 1938937 w 1938937"/>
                <a:gd name="connsiteY4" fmla="*/ 0 h 1938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937" h="1938937">
                  <a:moveTo>
                    <a:pt x="1938937" y="0"/>
                  </a:moveTo>
                  <a:lnTo>
                    <a:pt x="1938937" y="15273"/>
                  </a:lnTo>
                  <a:lnTo>
                    <a:pt x="15273" y="1938937"/>
                  </a:lnTo>
                  <a:lnTo>
                    <a:pt x="0" y="1938937"/>
                  </a:lnTo>
                  <a:lnTo>
                    <a:pt x="19389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5" name="ES_Line118"/>
            <p:cNvSpPr/>
            <p:nvPr userDrawn="1"/>
          </p:nvSpPr>
          <p:spPr bwMode="gray">
            <a:xfrm>
              <a:off x="8398530" y="5274966"/>
              <a:ext cx="1844020" cy="1844020"/>
            </a:xfrm>
            <a:custGeom>
              <a:avLst/>
              <a:gdLst>
                <a:gd name="connsiteX0" fmla="*/ 1844020 w 1844020"/>
                <a:gd name="connsiteY0" fmla="*/ 0 h 1844020"/>
                <a:gd name="connsiteX1" fmla="*/ 1844020 w 1844020"/>
                <a:gd name="connsiteY1" fmla="*/ 15273 h 1844020"/>
                <a:gd name="connsiteX2" fmla="*/ 15273 w 1844020"/>
                <a:gd name="connsiteY2" fmla="*/ 1844020 h 1844020"/>
                <a:gd name="connsiteX3" fmla="*/ 0 w 1844020"/>
                <a:gd name="connsiteY3" fmla="*/ 1844020 h 1844020"/>
                <a:gd name="connsiteX4" fmla="*/ 1844020 w 1844020"/>
                <a:gd name="connsiteY4" fmla="*/ 0 h 184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020" h="1844020">
                  <a:moveTo>
                    <a:pt x="1844020" y="0"/>
                  </a:moveTo>
                  <a:lnTo>
                    <a:pt x="1844020" y="15273"/>
                  </a:lnTo>
                  <a:lnTo>
                    <a:pt x="15273" y="1844020"/>
                  </a:lnTo>
                  <a:lnTo>
                    <a:pt x="0" y="1844020"/>
                  </a:lnTo>
                  <a:lnTo>
                    <a:pt x="1844020"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4" name="ES_Line119"/>
            <p:cNvSpPr/>
            <p:nvPr userDrawn="1"/>
          </p:nvSpPr>
          <p:spPr bwMode="gray">
            <a:xfrm>
              <a:off x="8489386" y="5365822"/>
              <a:ext cx="1753164" cy="1753164"/>
            </a:xfrm>
            <a:custGeom>
              <a:avLst/>
              <a:gdLst>
                <a:gd name="connsiteX0" fmla="*/ 1753164 w 1753164"/>
                <a:gd name="connsiteY0" fmla="*/ 0 h 1753164"/>
                <a:gd name="connsiteX1" fmla="*/ 1753164 w 1753164"/>
                <a:gd name="connsiteY1" fmla="*/ 15273 h 1753164"/>
                <a:gd name="connsiteX2" fmla="*/ 15273 w 1753164"/>
                <a:gd name="connsiteY2" fmla="*/ 1753164 h 1753164"/>
                <a:gd name="connsiteX3" fmla="*/ 0 w 1753164"/>
                <a:gd name="connsiteY3" fmla="*/ 1753164 h 1753164"/>
                <a:gd name="connsiteX4" fmla="*/ 1753164 w 1753164"/>
                <a:gd name="connsiteY4" fmla="*/ 0 h 1753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3164" h="1753164">
                  <a:moveTo>
                    <a:pt x="1753164" y="0"/>
                  </a:moveTo>
                  <a:lnTo>
                    <a:pt x="1753164" y="15273"/>
                  </a:lnTo>
                  <a:lnTo>
                    <a:pt x="15273" y="1753164"/>
                  </a:lnTo>
                  <a:lnTo>
                    <a:pt x="0" y="1753164"/>
                  </a:lnTo>
                  <a:lnTo>
                    <a:pt x="1753164"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3" name="ES_Line120"/>
            <p:cNvSpPr/>
            <p:nvPr userDrawn="1"/>
          </p:nvSpPr>
          <p:spPr bwMode="gray">
            <a:xfrm>
              <a:off x="8580242" y="5456678"/>
              <a:ext cx="1662308" cy="1662308"/>
            </a:xfrm>
            <a:custGeom>
              <a:avLst/>
              <a:gdLst>
                <a:gd name="connsiteX0" fmla="*/ 1662308 w 1662308"/>
                <a:gd name="connsiteY0" fmla="*/ 0 h 1662308"/>
                <a:gd name="connsiteX1" fmla="*/ 1662308 w 1662308"/>
                <a:gd name="connsiteY1" fmla="*/ 15273 h 1662308"/>
                <a:gd name="connsiteX2" fmla="*/ 15273 w 1662308"/>
                <a:gd name="connsiteY2" fmla="*/ 1662308 h 1662308"/>
                <a:gd name="connsiteX3" fmla="*/ 0 w 1662308"/>
                <a:gd name="connsiteY3" fmla="*/ 1662308 h 1662308"/>
                <a:gd name="connsiteX4" fmla="*/ 1662308 w 1662308"/>
                <a:gd name="connsiteY4" fmla="*/ 0 h 1662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2308" h="1662308">
                  <a:moveTo>
                    <a:pt x="1662308" y="0"/>
                  </a:moveTo>
                  <a:lnTo>
                    <a:pt x="1662308" y="15273"/>
                  </a:lnTo>
                  <a:lnTo>
                    <a:pt x="15273" y="1662308"/>
                  </a:lnTo>
                  <a:lnTo>
                    <a:pt x="0" y="1662308"/>
                  </a:lnTo>
                  <a:lnTo>
                    <a:pt x="1662308"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2" name="ES_Line121"/>
            <p:cNvSpPr/>
            <p:nvPr userDrawn="1"/>
          </p:nvSpPr>
          <p:spPr bwMode="gray">
            <a:xfrm>
              <a:off x="8671098" y="5547534"/>
              <a:ext cx="1571452" cy="1571452"/>
            </a:xfrm>
            <a:custGeom>
              <a:avLst/>
              <a:gdLst>
                <a:gd name="connsiteX0" fmla="*/ 1571452 w 1571452"/>
                <a:gd name="connsiteY0" fmla="*/ 0 h 1571452"/>
                <a:gd name="connsiteX1" fmla="*/ 1571452 w 1571452"/>
                <a:gd name="connsiteY1" fmla="*/ 15273 h 1571452"/>
                <a:gd name="connsiteX2" fmla="*/ 15273 w 1571452"/>
                <a:gd name="connsiteY2" fmla="*/ 1571452 h 1571452"/>
                <a:gd name="connsiteX3" fmla="*/ 0 w 1571452"/>
                <a:gd name="connsiteY3" fmla="*/ 1571452 h 1571452"/>
                <a:gd name="connsiteX4" fmla="*/ 1571452 w 1571452"/>
                <a:gd name="connsiteY4" fmla="*/ 0 h 1571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1452" h="1571452">
                  <a:moveTo>
                    <a:pt x="1571452" y="0"/>
                  </a:moveTo>
                  <a:lnTo>
                    <a:pt x="1571452" y="15273"/>
                  </a:lnTo>
                  <a:lnTo>
                    <a:pt x="15273" y="1571452"/>
                  </a:lnTo>
                  <a:lnTo>
                    <a:pt x="0" y="1571452"/>
                  </a:lnTo>
                  <a:lnTo>
                    <a:pt x="1571452"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1" name="ES_Line122"/>
            <p:cNvSpPr/>
            <p:nvPr userDrawn="1"/>
          </p:nvSpPr>
          <p:spPr bwMode="gray">
            <a:xfrm>
              <a:off x="8761954" y="5638390"/>
              <a:ext cx="1480596" cy="1480596"/>
            </a:xfrm>
            <a:custGeom>
              <a:avLst/>
              <a:gdLst>
                <a:gd name="connsiteX0" fmla="*/ 1480596 w 1480596"/>
                <a:gd name="connsiteY0" fmla="*/ 0 h 1480596"/>
                <a:gd name="connsiteX1" fmla="*/ 1480596 w 1480596"/>
                <a:gd name="connsiteY1" fmla="*/ 15273 h 1480596"/>
                <a:gd name="connsiteX2" fmla="*/ 15273 w 1480596"/>
                <a:gd name="connsiteY2" fmla="*/ 1480596 h 1480596"/>
                <a:gd name="connsiteX3" fmla="*/ 0 w 1480596"/>
                <a:gd name="connsiteY3" fmla="*/ 1480596 h 1480596"/>
                <a:gd name="connsiteX4" fmla="*/ 1480596 w 1480596"/>
                <a:gd name="connsiteY4" fmla="*/ 0 h 1480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596" h="1480596">
                  <a:moveTo>
                    <a:pt x="1480596" y="0"/>
                  </a:moveTo>
                  <a:lnTo>
                    <a:pt x="1480596" y="15273"/>
                  </a:lnTo>
                  <a:lnTo>
                    <a:pt x="15273" y="1480596"/>
                  </a:lnTo>
                  <a:lnTo>
                    <a:pt x="0" y="1480596"/>
                  </a:lnTo>
                  <a:lnTo>
                    <a:pt x="148059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0" name="ES_Line123"/>
            <p:cNvSpPr/>
            <p:nvPr userDrawn="1"/>
          </p:nvSpPr>
          <p:spPr bwMode="gray">
            <a:xfrm>
              <a:off x="8852810" y="5729246"/>
              <a:ext cx="1389740" cy="1389740"/>
            </a:xfrm>
            <a:custGeom>
              <a:avLst/>
              <a:gdLst>
                <a:gd name="connsiteX0" fmla="*/ 1389740 w 1389740"/>
                <a:gd name="connsiteY0" fmla="*/ 0 h 1389740"/>
                <a:gd name="connsiteX1" fmla="*/ 1389740 w 1389740"/>
                <a:gd name="connsiteY1" fmla="*/ 15273 h 1389740"/>
                <a:gd name="connsiteX2" fmla="*/ 15273 w 1389740"/>
                <a:gd name="connsiteY2" fmla="*/ 1389740 h 1389740"/>
                <a:gd name="connsiteX3" fmla="*/ 0 w 1389740"/>
                <a:gd name="connsiteY3" fmla="*/ 1389740 h 1389740"/>
                <a:gd name="connsiteX4" fmla="*/ 1389740 w 1389740"/>
                <a:gd name="connsiteY4" fmla="*/ 0 h 1389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740" h="1389740">
                  <a:moveTo>
                    <a:pt x="1389740" y="0"/>
                  </a:moveTo>
                  <a:lnTo>
                    <a:pt x="1389740" y="15273"/>
                  </a:lnTo>
                  <a:lnTo>
                    <a:pt x="15273" y="1389740"/>
                  </a:lnTo>
                  <a:lnTo>
                    <a:pt x="0" y="1389740"/>
                  </a:lnTo>
                  <a:lnTo>
                    <a:pt x="1389740"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9" name="ES_Line124"/>
            <p:cNvSpPr/>
            <p:nvPr userDrawn="1"/>
          </p:nvSpPr>
          <p:spPr bwMode="gray">
            <a:xfrm>
              <a:off x="8943666" y="5820102"/>
              <a:ext cx="1298884" cy="1298884"/>
            </a:xfrm>
            <a:custGeom>
              <a:avLst/>
              <a:gdLst>
                <a:gd name="connsiteX0" fmla="*/ 1298884 w 1298884"/>
                <a:gd name="connsiteY0" fmla="*/ 0 h 1298884"/>
                <a:gd name="connsiteX1" fmla="*/ 1298884 w 1298884"/>
                <a:gd name="connsiteY1" fmla="*/ 15273 h 1298884"/>
                <a:gd name="connsiteX2" fmla="*/ 15273 w 1298884"/>
                <a:gd name="connsiteY2" fmla="*/ 1298884 h 1298884"/>
                <a:gd name="connsiteX3" fmla="*/ 0 w 1298884"/>
                <a:gd name="connsiteY3" fmla="*/ 1298884 h 1298884"/>
                <a:gd name="connsiteX4" fmla="*/ 1298884 w 1298884"/>
                <a:gd name="connsiteY4" fmla="*/ 0 h 1298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8884" h="1298884">
                  <a:moveTo>
                    <a:pt x="1298884" y="0"/>
                  </a:moveTo>
                  <a:lnTo>
                    <a:pt x="1298884" y="15273"/>
                  </a:lnTo>
                  <a:lnTo>
                    <a:pt x="15273" y="1298884"/>
                  </a:lnTo>
                  <a:lnTo>
                    <a:pt x="0" y="1298884"/>
                  </a:lnTo>
                  <a:lnTo>
                    <a:pt x="1298884"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8" name="ES_Line125"/>
            <p:cNvSpPr/>
            <p:nvPr userDrawn="1"/>
          </p:nvSpPr>
          <p:spPr bwMode="gray">
            <a:xfrm>
              <a:off x="9034522" y="5910958"/>
              <a:ext cx="1208028" cy="1208028"/>
            </a:xfrm>
            <a:custGeom>
              <a:avLst/>
              <a:gdLst>
                <a:gd name="connsiteX0" fmla="*/ 1208028 w 1208028"/>
                <a:gd name="connsiteY0" fmla="*/ 0 h 1208028"/>
                <a:gd name="connsiteX1" fmla="*/ 1208028 w 1208028"/>
                <a:gd name="connsiteY1" fmla="*/ 15273 h 1208028"/>
                <a:gd name="connsiteX2" fmla="*/ 15273 w 1208028"/>
                <a:gd name="connsiteY2" fmla="*/ 1208028 h 1208028"/>
                <a:gd name="connsiteX3" fmla="*/ 0 w 1208028"/>
                <a:gd name="connsiteY3" fmla="*/ 1208028 h 1208028"/>
                <a:gd name="connsiteX4" fmla="*/ 1208028 w 1208028"/>
                <a:gd name="connsiteY4" fmla="*/ 0 h 120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028" h="1208028">
                  <a:moveTo>
                    <a:pt x="1208028" y="0"/>
                  </a:moveTo>
                  <a:lnTo>
                    <a:pt x="1208028" y="15273"/>
                  </a:lnTo>
                  <a:lnTo>
                    <a:pt x="15273" y="1208028"/>
                  </a:lnTo>
                  <a:lnTo>
                    <a:pt x="0" y="1208028"/>
                  </a:lnTo>
                  <a:lnTo>
                    <a:pt x="1208028"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7" name="ES_Line126"/>
            <p:cNvSpPr/>
            <p:nvPr userDrawn="1"/>
          </p:nvSpPr>
          <p:spPr bwMode="gray">
            <a:xfrm>
              <a:off x="9125378" y="6001814"/>
              <a:ext cx="1117172" cy="1117172"/>
            </a:xfrm>
            <a:custGeom>
              <a:avLst/>
              <a:gdLst>
                <a:gd name="connsiteX0" fmla="*/ 1117172 w 1117172"/>
                <a:gd name="connsiteY0" fmla="*/ 0 h 1117172"/>
                <a:gd name="connsiteX1" fmla="*/ 1117172 w 1117172"/>
                <a:gd name="connsiteY1" fmla="*/ 15273 h 1117172"/>
                <a:gd name="connsiteX2" fmla="*/ 15273 w 1117172"/>
                <a:gd name="connsiteY2" fmla="*/ 1117172 h 1117172"/>
                <a:gd name="connsiteX3" fmla="*/ 0 w 1117172"/>
                <a:gd name="connsiteY3" fmla="*/ 1117172 h 1117172"/>
                <a:gd name="connsiteX4" fmla="*/ 1117172 w 1117172"/>
                <a:gd name="connsiteY4" fmla="*/ 0 h 1117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7172" h="1117172">
                  <a:moveTo>
                    <a:pt x="1117172" y="0"/>
                  </a:moveTo>
                  <a:lnTo>
                    <a:pt x="1117172" y="15273"/>
                  </a:lnTo>
                  <a:lnTo>
                    <a:pt x="15273" y="1117172"/>
                  </a:lnTo>
                  <a:lnTo>
                    <a:pt x="0" y="1117172"/>
                  </a:lnTo>
                  <a:lnTo>
                    <a:pt x="1117172"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6" name="ES_Line127"/>
            <p:cNvSpPr/>
            <p:nvPr userDrawn="1"/>
          </p:nvSpPr>
          <p:spPr bwMode="gray">
            <a:xfrm>
              <a:off x="9216234" y="6092670"/>
              <a:ext cx="1026316" cy="1026316"/>
            </a:xfrm>
            <a:custGeom>
              <a:avLst/>
              <a:gdLst>
                <a:gd name="connsiteX0" fmla="*/ 1026316 w 1026316"/>
                <a:gd name="connsiteY0" fmla="*/ 0 h 1026316"/>
                <a:gd name="connsiteX1" fmla="*/ 1026316 w 1026316"/>
                <a:gd name="connsiteY1" fmla="*/ 15273 h 1026316"/>
                <a:gd name="connsiteX2" fmla="*/ 15273 w 1026316"/>
                <a:gd name="connsiteY2" fmla="*/ 1026316 h 1026316"/>
                <a:gd name="connsiteX3" fmla="*/ 0 w 1026316"/>
                <a:gd name="connsiteY3" fmla="*/ 1026316 h 1026316"/>
                <a:gd name="connsiteX4" fmla="*/ 1026316 w 1026316"/>
                <a:gd name="connsiteY4" fmla="*/ 0 h 1026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6316" h="1026316">
                  <a:moveTo>
                    <a:pt x="1026316" y="0"/>
                  </a:moveTo>
                  <a:lnTo>
                    <a:pt x="1026316" y="15273"/>
                  </a:lnTo>
                  <a:lnTo>
                    <a:pt x="15273" y="1026316"/>
                  </a:lnTo>
                  <a:lnTo>
                    <a:pt x="0" y="1026316"/>
                  </a:lnTo>
                  <a:lnTo>
                    <a:pt x="102631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5" name="ES_Line128"/>
            <p:cNvSpPr/>
            <p:nvPr userDrawn="1"/>
          </p:nvSpPr>
          <p:spPr bwMode="gray">
            <a:xfrm>
              <a:off x="9307090" y="6183526"/>
              <a:ext cx="935460" cy="935460"/>
            </a:xfrm>
            <a:custGeom>
              <a:avLst/>
              <a:gdLst>
                <a:gd name="connsiteX0" fmla="*/ 935460 w 935460"/>
                <a:gd name="connsiteY0" fmla="*/ 0 h 935460"/>
                <a:gd name="connsiteX1" fmla="*/ 935460 w 935460"/>
                <a:gd name="connsiteY1" fmla="*/ 15273 h 935460"/>
                <a:gd name="connsiteX2" fmla="*/ 15273 w 935460"/>
                <a:gd name="connsiteY2" fmla="*/ 935460 h 935460"/>
                <a:gd name="connsiteX3" fmla="*/ 0 w 935460"/>
                <a:gd name="connsiteY3" fmla="*/ 935460 h 935460"/>
                <a:gd name="connsiteX4" fmla="*/ 935460 w 935460"/>
                <a:gd name="connsiteY4" fmla="*/ 0 h 935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460" h="935460">
                  <a:moveTo>
                    <a:pt x="935460" y="0"/>
                  </a:moveTo>
                  <a:lnTo>
                    <a:pt x="935460" y="15273"/>
                  </a:lnTo>
                  <a:lnTo>
                    <a:pt x="15273" y="935460"/>
                  </a:lnTo>
                  <a:lnTo>
                    <a:pt x="0" y="935460"/>
                  </a:lnTo>
                  <a:lnTo>
                    <a:pt x="935460"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4" name="ES_Line129"/>
            <p:cNvSpPr/>
            <p:nvPr userDrawn="1"/>
          </p:nvSpPr>
          <p:spPr bwMode="gray">
            <a:xfrm>
              <a:off x="9397946" y="6274382"/>
              <a:ext cx="844604" cy="844604"/>
            </a:xfrm>
            <a:custGeom>
              <a:avLst/>
              <a:gdLst>
                <a:gd name="connsiteX0" fmla="*/ 844604 w 844604"/>
                <a:gd name="connsiteY0" fmla="*/ 0 h 844604"/>
                <a:gd name="connsiteX1" fmla="*/ 844604 w 844604"/>
                <a:gd name="connsiteY1" fmla="*/ 15273 h 844604"/>
                <a:gd name="connsiteX2" fmla="*/ 15273 w 844604"/>
                <a:gd name="connsiteY2" fmla="*/ 844604 h 844604"/>
                <a:gd name="connsiteX3" fmla="*/ 0 w 844604"/>
                <a:gd name="connsiteY3" fmla="*/ 844604 h 844604"/>
                <a:gd name="connsiteX4" fmla="*/ 844604 w 844604"/>
                <a:gd name="connsiteY4" fmla="*/ 0 h 84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4604" h="844604">
                  <a:moveTo>
                    <a:pt x="844604" y="0"/>
                  </a:moveTo>
                  <a:lnTo>
                    <a:pt x="844604" y="15273"/>
                  </a:lnTo>
                  <a:lnTo>
                    <a:pt x="15273" y="844604"/>
                  </a:lnTo>
                  <a:lnTo>
                    <a:pt x="0" y="844604"/>
                  </a:lnTo>
                  <a:lnTo>
                    <a:pt x="844604"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3" name="ES_Line130"/>
            <p:cNvSpPr/>
            <p:nvPr userDrawn="1"/>
          </p:nvSpPr>
          <p:spPr bwMode="gray">
            <a:xfrm>
              <a:off x="9488802" y="6365238"/>
              <a:ext cx="753748" cy="753748"/>
            </a:xfrm>
            <a:custGeom>
              <a:avLst/>
              <a:gdLst>
                <a:gd name="connsiteX0" fmla="*/ 753748 w 753748"/>
                <a:gd name="connsiteY0" fmla="*/ 0 h 753748"/>
                <a:gd name="connsiteX1" fmla="*/ 753748 w 753748"/>
                <a:gd name="connsiteY1" fmla="*/ 15273 h 753748"/>
                <a:gd name="connsiteX2" fmla="*/ 15273 w 753748"/>
                <a:gd name="connsiteY2" fmla="*/ 753748 h 753748"/>
                <a:gd name="connsiteX3" fmla="*/ 0 w 753748"/>
                <a:gd name="connsiteY3" fmla="*/ 753748 h 753748"/>
                <a:gd name="connsiteX4" fmla="*/ 753748 w 753748"/>
                <a:gd name="connsiteY4" fmla="*/ 0 h 753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748" h="753748">
                  <a:moveTo>
                    <a:pt x="753748" y="0"/>
                  </a:moveTo>
                  <a:lnTo>
                    <a:pt x="753748" y="15273"/>
                  </a:lnTo>
                  <a:lnTo>
                    <a:pt x="15273" y="753748"/>
                  </a:lnTo>
                  <a:lnTo>
                    <a:pt x="0" y="753748"/>
                  </a:lnTo>
                  <a:lnTo>
                    <a:pt x="753748"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2" name="ES_Line131"/>
            <p:cNvSpPr/>
            <p:nvPr userDrawn="1"/>
          </p:nvSpPr>
          <p:spPr bwMode="gray">
            <a:xfrm>
              <a:off x="9579658" y="6456094"/>
              <a:ext cx="662892" cy="662892"/>
            </a:xfrm>
            <a:custGeom>
              <a:avLst/>
              <a:gdLst>
                <a:gd name="connsiteX0" fmla="*/ 662892 w 662892"/>
                <a:gd name="connsiteY0" fmla="*/ 0 h 662892"/>
                <a:gd name="connsiteX1" fmla="*/ 662892 w 662892"/>
                <a:gd name="connsiteY1" fmla="*/ 15273 h 662892"/>
                <a:gd name="connsiteX2" fmla="*/ 15273 w 662892"/>
                <a:gd name="connsiteY2" fmla="*/ 662892 h 662892"/>
                <a:gd name="connsiteX3" fmla="*/ 0 w 662892"/>
                <a:gd name="connsiteY3" fmla="*/ 662892 h 662892"/>
                <a:gd name="connsiteX4" fmla="*/ 662892 w 662892"/>
                <a:gd name="connsiteY4" fmla="*/ 0 h 66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892" h="662892">
                  <a:moveTo>
                    <a:pt x="662892" y="0"/>
                  </a:moveTo>
                  <a:lnTo>
                    <a:pt x="662892" y="15273"/>
                  </a:lnTo>
                  <a:lnTo>
                    <a:pt x="15273" y="662892"/>
                  </a:lnTo>
                  <a:lnTo>
                    <a:pt x="0" y="662892"/>
                  </a:lnTo>
                  <a:lnTo>
                    <a:pt x="662892"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1" name="ES_Line132"/>
            <p:cNvSpPr/>
            <p:nvPr userDrawn="1"/>
          </p:nvSpPr>
          <p:spPr bwMode="gray">
            <a:xfrm>
              <a:off x="9670514" y="6546950"/>
              <a:ext cx="572036" cy="572036"/>
            </a:xfrm>
            <a:custGeom>
              <a:avLst/>
              <a:gdLst>
                <a:gd name="connsiteX0" fmla="*/ 572036 w 572036"/>
                <a:gd name="connsiteY0" fmla="*/ 0 h 572036"/>
                <a:gd name="connsiteX1" fmla="*/ 572036 w 572036"/>
                <a:gd name="connsiteY1" fmla="*/ 15273 h 572036"/>
                <a:gd name="connsiteX2" fmla="*/ 15273 w 572036"/>
                <a:gd name="connsiteY2" fmla="*/ 572036 h 572036"/>
                <a:gd name="connsiteX3" fmla="*/ 0 w 572036"/>
                <a:gd name="connsiteY3" fmla="*/ 572036 h 572036"/>
                <a:gd name="connsiteX4" fmla="*/ 572036 w 572036"/>
                <a:gd name="connsiteY4" fmla="*/ 0 h 572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036" h="572036">
                  <a:moveTo>
                    <a:pt x="572036" y="0"/>
                  </a:moveTo>
                  <a:lnTo>
                    <a:pt x="572036" y="15273"/>
                  </a:lnTo>
                  <a:lnTo>
                    <a:pt x="15273" y="572036"/>
                  </a:lnTo>
                  <a:lnTo>
                    <a:pt x="0" y="572036"/>
                  </a:lnTo>
                  <a:lnTo>
                    <a:pt x="5720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0" name="ES_Line133"/>
            <p:cNvSpPr/>
            <p:nvPr userDrawn="1"/>
          </p:nvSpPr>
          <p:spPr bwMode="gray">
            <a:xfrm>
              <a:off x="9761370" y="6637806"/>
              <a:ext cx="481180" cy="481180"/>
            </a:xfrm>
            <a:custGeom>
              <a:avLst/>
              <a:gdLst>
                <a:gd name="connsiteX0" fmla="*/ 481180 w 481180"/>
                <a:gd name="connsiteY0" fmla="*/ 0 h 481180"/>
                <a:gd name="connsiteX1" fmla="*/ 481180 w 481180"/>
                <a:gd name="connsiteY1" fmla="*/ 15273 h 481180"/>
                <a:gd name="connsiteX2" fmla="*/ 15273 w 481180"/>
                <a:gd name="connsiteY2" fmla="*/ 481180 h 481180"/>
                <a:gd name="connsiteX3" fmla="*/ 0 w 481180"/>
                <a:gd name="connsiteY3" fmla="*/ 481180 h 481180"/>
                <a:gd name="connsiteX4" fmla="*/ 481180 w 481180"/>
                <a:gd name="connsiteY4" fmla="*/ 0 h 481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180" h="481180">
                  <a:moveTo>
                    <a:pt x="481180" y="0"/>
                  </a:moveTo>
                  <a:lnTo>
                    <a:pt x="481180" y="15273"/>
                  </a:lnTo>
                  <a:lnTo>
                    <a:pt x="15273" y="481180"/>
                  </a:lnTo>
                  <a:lnTo>
                    <a:pt x="0" y="481180"/>
                  </a:lnTo>
                  <a:lnTo>
                    <a:pt x="481180"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9" name="ES_Line134"/>
            <p:cNvSpPr/>
            <p:nvPr userDrawn="1"/>
          </p:nvSpPr>
          <p:spPr bwMode="gray">
            <a:xfrm>
              <a:off x="9852226" y="6728662"/>
              <a:ext cx="390324" cy="390324"/>
            </a:xfrm>
            <a:custGeom>
              <a:avLst/>
              <a:gdLst>
                <a:gd name="connsiteX0" fmla="*/ 390324 w 390324"/>
                <a:gd name="connsiteY0" fmla="*/ 0 h 390324"/>
                <a:gd name="connsiteX1" fmla="*/ 390324 w 390324"/>
                <a:gd name="connsiteY1" fmla="*/ 15273 h 390324"/>
                <a:gd name="connsiteX2" fmla="*/ 15273 w 390324"/>
                <a:gd name="connsiteY2" fmla="*/ 390324 h 390324"/>
                <a:gd name="connsiteX3" fmla="*/ 0 w 390324"/>
                <a:gd name="connsiteY3" fmla="*/ 390324 h 390324"/>
                <a:gd name="connsiteX4" fmla="*/ 390324 w 390324"/>
                <a:gd name="connsiteY4" fmla="*/ 0 h 390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324" h="390324">
                  <a:moveTo>
                    <a:pt x="390324" y="0"/>
                  </a:moveTo>
                  <a:lnTo>
                    <a:pt x="390324" y="15273"/>
                  </a:lnTo>
                  <a:lnTo>
                    <a:pt x="15273" y="390324"/>
                  </a:lnTo>
                  <a:lnTo>
                    <a:pt x="0" y="390324"/>
                  </a:lnTo>
                  <a:lnTo>
                    <a:pt x="390324"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8" name="ES_Line135"/>
            <p:cNvSpPr/>
            <p:nvPr userDrawn="1"/>
          </p:nvSpPr>
          <p:spPr bwMode="gray">
            <a:xfrm>
              <a:off x="9943082" y="6819518"/>
              <a:ext cx="299468" cy="299468"/>
            </a:xfrm>
            <a:custGeom>
              <a:avLst/>
              <a:gdLst>
                <a:gd name="connsiteX0" fmla="*/ 299468 w 299468"/>
                <a:gd name="connsiteY0" fmla="*/ 0 h 299468"/>
                <a:gd name="connsiteX1" fmla="*/ 299468 w 299468"/>
                <a:gd name="connsiteY1" fmla="*/ 15273 h 299468"/>
                <a:gd name="connsiteX2" fmla="*/ 15273 w 299468"/>
                <a:gd name="connsiteY2" fmla="*/ 299468 h 299468"/>
                <a:gd name="connsiteX3" fmla="*/ 0 w 299468"/>
                <a:gd name="connsiteY3" fmla="*/ 299468 h 299468"/>
                <a:gd name="connsiteX4" fmla="*/ 299468 w 299468"/>
                <a:gd name="connsiteY4" fmla="*/ 0 h 299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468" h="299468">
                  <a:moveTo>
                    <a:pt x="299468" y="0"/>
                  </a:moveTo>
                  <a:lnTo>
                    <a:pt x="299468" y="15273"/>
                  </a:lnTo>
                  <a:lnTo>
                    <a:pt x="15273" y="299468"/>
                  </a:lnTo>
                  <a:lnTo>
                    <a:pt x="0" y="299468"/>
                  </a:lnTo>
                  <a:lnTo>
                    <a:pt x="299468"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7" name="ES_Line136"/>
            <p:cNvSpPr/>
            <p:nvPr userDrawn="1"/>
          </p:nvSpPr>
          <p:spPr bwMode="gray">
            <a:xfrm>
              <a:off x="10033938" y="6910374"/>
              <a:ext cx="208612" cy="208612"/>
            </a:xfrm>
            <a:custGeom>
              <a:avLst/>
              <a:gdLst>
                <a:gd name="connsiteX0" fmla="*/ 208612 w 208612"/>
                <a:gd name="connsiteY0" fmla="*/ 0 h 208612"/>
                <a:gd name="connsiteX1" fmla="*/ 208612 w 208612"/>
                <a:gd name="connsiteY1" fmla="*/ 15273 h 208612"/>
                <a:gd name="connsiteX2" fmla="*/ 15273 w 208612"/>
                <a:gd name="connsiteY2" fmla="*/ 208612 h 208612"/>
                <a:gd name="connsiteX3" fmla="*/ 0 w 208612"/>
                <a:gd name="connsiteY3" fmla="*/ 208612 h 208612"/>
                <a:gd name="connsiteX4" fmla="*/ 208612 w 208612"/>
                <a:gd name="connsiteY4" fmla="*/ 0 h 208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12" h="208612">
                  <a:moveTo>
                    <a:pt x="208612" y="0"/>
                  </a:moveTo>
                  <a:lnTo>
                    <a:pt x="208612" y="15273"/>
                  </a:lnTo>
                  <a:lnTo>
                    <a:pt x="15273" y="208612"/>
                  </a:lnTo>
                  <a:lnTo>
                    <a:pt x="0" y="208612"/>
                  </a:lnTo>
                  <a:lnTo>
                    <a:pt x="208612"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6" name="ES_Line137"/>
            <p:cNvSpPr/>
            <p:nvPr userDrawn="1"/>
          </p:nvSpPr>
          <p:spPr bwMode="gray">
            <a:xfrm>
              <a:off x="10124794" y="7001230"/>
              <a:ext cx="117756" cy="117756"/>
            </a:xfrm>
            <a:custGeom>
              <a:avLst/>
              <a:gdLst>
                <a:gd name="connsiteX0" fmla="*/ 117756 w 117756"/>
                <a:gd name="connsiteY0" fmla="*/ 0 h 117756"/>
                <a:gd name="connsiteX1" fmla="*/ 117756 w 117756"/>
                <a:gd name="connsiteY1" fmla="*/ 15273 h 117756"/>
                <a:gd name="connsiteX2" fmla="*/ 15273 w 117756"/>
                <a:gd name="connsiteY2" fmla="*/ 117756 h 117756"/>
                <a:gd name="connsiteX3" fmla="*/ 0 w 117756"/>
                <a:gd name="connsiteY3" fmla="*/ 117756 h 117756"/>
                <a:gd name="connsiteX4" fmla="*/ 117756 w 117756"/>
                <a:gd name="connsiteY4" fmla="*/ 0 h 117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756" h="117756">
                  <a:moveTo>
                    <a:pt x="117756" y="0"/>
                  </a:moveTo>
                  <a:lnTo>
                    <a:pt x="117756" y="15273"/>
                  </a:lnTo>
                  <a:lnTo>
                    <a:pt x="15273" y="117756"/>
                  </a:lnTo>
                  <a:lnTo>
                    <a:pt x="0" y="117756"/>
                  </a:lnTo>
                  <a:lnTo>
                    <a:pt x="11775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5" name="ES_Line138"/>
            <p:cNvSpPr/>
            <p:nvPr userDrawn="1"/>
          </p:nvSpPr>
          <p:spPr bwMode="gray">
            <a:xfrm>
              <a:off x="10215650" y="7092086"/>
              <a:ext cx="26900" cy="26900"/>
            </a:xfrm>
            <a:custGeom>
              <a:avLst/>
              <a:gdLst>
                <a:gd name="connsiteX0" fmla="*/ 26900 w 26900"/>
                <a:gd name="connsiteY0" fmla="*/ 0 h 26900"/>
                <a:gd name="connsiteX1" fmla="*/ 26900 w 26900"/>
                <a:gd name="connsiteY1" fmla="*/ 15273 h 26900"/>
                <a:gd name="connsiteX2" fmla="*/ 15273 w 26900"/>
                <a:gd name="connsiteY2" fmla="*/ 26900 h 26900"/>
                <a:gd name="connsiteX3" fmla="*/ 0 w 26900"/>
                <a:gd name="connsiteY3" fmla="*/ 26900 h 26900"/>
                <a:gd name="connsiteX4" fmla="*/ 26900 w 26900"/>
                <a:gd name="connsiteY4" fmla="*/ 0 h 26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00" h="26900">
                  <a:moveTo>
                    <a:pt x="26900" y="0"/>
                  </a:moveTo>
                  <a:lnTo>
                    <a:pt x="26900" y="15273"/>
                  </a:lnTo>
                  <a:lnTo>
                    <a:pt x="15273" y="26900"/>
                  </a:lnTo>
                  <a:lnTo>
                    <a:pt x="0" y="26900"/>
                  </a:lnTo>
                  <a:lnTo>
                    <a:pt x="26900"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grpSp>
      <p:sp>
        <p:nvSpPr>
          <p:cNvPr id="6" name="ES_Shape1"/>
          <p:cNvSpPr>
            <a:spLocks/>
          </p:cNvSpPr>
          <p:nvPr userDrawn="1"/>
        </p:nvSpPr>
        <p:spPr bwMode="gray">
          <a:xfrm>
            <a:off x="1381124" y="5276849"/>
            <a:ext cx="9310689" cy="1842136"/>
          </a:xfrm>
          <a:prstGeom prst="rect">
            <a:avLst/>
          </a:prstGeom>
          <a:solidFill>
            <a:schemeClr val="accent3"/>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2" name="ES_Shape3"/>
          <p:cNvSpPr/>
          <p:nvPr userDrawn="1"/>
        </p:nvSpPr>
        <p:spPr bwMode="gray">
          <a:xfrm>
            <a:off x="1381125" y="6193157"/>
            <a:ext cx="920117" cy="925831"/>
          </a:xfrm>
          <a:custGeom>
            <a:avLst/>
            <a:gdLst>
              <a:gd name="connsiteX0" fmla="*/ 0 w 920116"/>
              <a:gd name="connsiteY0" fmla="*/ 0 h 925831"/>
              <a:gd name="connsiteX1" fmla="*/ 920116 w 920116"/>
              <a:gd name="connsiteY1" fmla="*/ 0 h 925831"/>
              <a:gd name="connsiteX2" fmla="*/ 920116 w 920116"/>
              <a:gd name="connsiteY2" fmla="*/ 925831 h 925831"/>
              <a:gd name="connsiteX3" fmla="*/ 0 w 920116"/>
              <a:gd name="connsiteY3" fmla="*/ 925831 h 925831"/>
              <a:gd name="connsiteX4" fmla="*/ 0 w 920116"/>
              <a:gd name="connsiteY4" fmla="*/ 0 h 925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116" h="925831">
                <a:moveTo>
                  <a:pt x="0" y="0"/>
                </a:moveTo>
                <a:lnTo>
                  <a:pt x="920116" y="0"/>
                </a:lnTo>
                <a:lnTo>
                  <a:pt x="920116" y="925831"/>
                </a:lnTo>
                <a:lnTo>
                  <a:pt x="0" y="925831"/>
                </a:lnTo>
                <a:lnTo>
                  <a:pt x="0" y="0"/>
                </a:lnTo>
                <a:close/>
              </a:path>
            </a:pathLst>
          </a:custGeom>
          <a:solidFill>
            <a:srgbClr val="FFFFFF"/>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23" name="ES_Shape4"/>
          <p:cNvSpPr/>
          <p:nvPr userDrawn="1"/>
        </p:nvSpPr>
        <p:spPr bwMode="gray">
          <a:xfrm>
            <a:off x="1381124" y="6658293"/>
            <a:ext cx="460693" cy="460693"/>
          </a:xfrm>
          <a:custGeom>
            <a:avLst/>
            <a:gdLst>
              <a:gd name="connsiteX0" fmla="*/ 0 w 920116"/>
              <a:gd name="connsiteY0" fmla="*/ 0 h 925831"/>
              <a:gd name="connsiteX1" fmla="*/ 920116 w 920116"/>
              <a:gd name="connsiteY1" fmla="*/ 0 h 925831"/>
              <a:gd name="connsiteX2" fmla="*/ 920116 w 920116"/>
              <a:gd name="connsiteY2" fmla="*/ 925831 h 925831"/>
              <a:gd name="connsiteX3" fmla="*/ 0 w 920116"/>
              <a:gd name="connsiteY3" fmla="*/ 925831 h 925831"/>
              <a:gd name="connsiteX4" fmla="*/ 0 w 920116"/>
              <a:gd name="connsiteY4" fmla="*/ 0 h 925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116" h="925831">
                <a:moveTo>
                  <a:pt x="0" y="0"/>
                </a:moveTo>
                <a:lnTo>
                  <a:pt x="920116" y="0"/>
                </a:lnTo>
                <a:lnTo>
                  <a:pt x="920116" y="925831"/>
                </a:lnTo>
                <a:lnTo>
                  <a:pt x="0" y="925831"/>
                </a:lnTo>
                <a:lnTo>
                  <a:pt x="0" y="0"/>
                </a:lnTo>
                <a:close/>
              </a:path>
            </a:pathLst>
          </a:custGeom>
          <a:solidFill>
            <a:srgbClr val="006298"/>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1" name="RemarkText" hidden="1"/>
          <p:cNvSpPr txBox="1">
            <a:spLocks/>
          </p:cNvSpPr>
          <p:nvPr userDrawn="1">
            <p:custDataLst>
              <p:tags r:id="rId1"/>
            </p:custDataLst>
          </p:nvPr>
        </p:nvSpPr>
        <p:spPr>
          <a:xfrm>
            <a:off x="5511686" y="7186719"/>
            <a:ext cx="4730864" cy="145157"/>
          </a:xfrm>
          <a:prstGeom prst="rect">
            <a:avLst/>
          </a:prstGeom>
        </p:spPr>
        <p:txBody>
          <a:bodyPr vert="horz" wrap="none" lIns="0" tIns="0" rIns="0" bIns="0" rtlCol="0" anchor="t"/>
          <a:lstStyle>
            <a:defPPr>
              <a:defRPr lang="en-US"/>
            </a:defPPr>
            <a:lvl1pPr algn="r">
              <a:defRPr sz="800">
                <a:solidFill>
                  <a:srgbClr val="B1B2B3"/>
                </a:solidFill>
              </a:defRPr>
            </a:lvl1pPr>
          </a:lstStyle>
          <a:p>
            <a:pPr lvl="0" algn="r"/>
            <a:endParaRPr lang="en-US" sz="800" noProof="0" dirty="0">
              <a:solidFill>
                <a:schemeClr val="tx1"/>
              </a:solidFill>
              <a:latin typeface="+mn-lt"/>
            </a:endParaRPr>
          </a:p>
        </p:txBody>
      </p:sp>
      <p:sp>
        <p:nvSpPr>
          <p:cNvPr id="15" name="BusinessDescriptor" hidden="1"/>
          <p:cNvSpPr txBox="1">
            <a:spLocks/>
          </p:cNvSpPr>
          <p:nvPr userDrawn="1">
            <p:custDataLst>
              <p:tags r:id="rId2"/>
            </p:custDataLst>
          </p:nvPr>
        </p:nvSpPr>
        <p:spPr>
          <a:xfrm>
            <a:off x="954091" y="1766493"/>
            <a:ext cx="6847547" cy="492443"/>
          </a:xfrm>
          <a:prstGeom prst="rect">
            <a:avLst/>
          </a:prstGeom>
          <a:noFill/>
        </p:spPr>
        <p:txBody>
          <a:bodyPr wrap="square" lIns="0" tIns="0" rIns="0" bIns="0" rtlCol="0" anchor="ctr">
            <a:noAutofit/>
          </a:bodyPr>
          <a:lstStyle/>
          <a:p>
            <a:pPr algn="l"/>
            <a:endParaRPr lang="en-US" sz="1600" b="0" dirty="0">
              <a:solidFill>
                <a:srgbClr val="FFFFFF"/>
              </a:solidFill>
              <a:latin typeface="Arial" panose="020B0604020202020204" pitchFamily="34" charset="0"/>
            </a:endParaRPr>
          </a:p>
        </p:txBody>
      </p:sp>
      <p:sp>
        <p:nvSpPr>
          <p:cNvPr id="13" name="Text Placeholder 2"/>
          <p:cNvSpPr>
            <a:spLocks noGrp="1"/>
          </p:cNvSpPr>
          <p:nvPr>
            <p:ph type="body" sz="quarter" idx="14" hasCustomPrompt="1"/>
          </p:nvPr>
        </p:nvSpPr>
        <p:spPr>
          <a:xfrm flipH="1">
            <a:off x="2753199" y="5796607"/>
            <a:ext cx="2304000" cy="452432"/>
          </a:xfrm>
        </p:spPr>
        <p:txBody>
          <a:bodyPr vert="horz" wrap="none" lIns="0" tIns="0" rIns="0" bIns="0" rtlCol="0" anchor="b">
            <a:noAutofit/>
          </a:bodyPr>
          <a:lstStyle>
            <a:lvl1pPr marL="0" indent="0">
              <a:buFontTx/>
              <a:buNone/>
              <a:defRPr lang="en-US" sz="1400" b="0" kern="1200" dirty="0">
                <a:solidFill>
                  <a:srgbClr val="000000"/>
                </a:solidFill>
                <a:latin typeface="+mn-lt"/>
                <a:ea typeface="+mn-ea"/>
                <a:cs typeface="+mn-cs"/>
              </a:defRPr>
            </a:lvl1pPr>
          </a:lstStyle>
          <a:p>
            <a:pPr marL="0" lvl="0"/>
            <a:r>
              <a:rPr lang="en-US" dirty="0" smtClean="0"/>
              <a:t>Name</a:t>
            </a:r>
            <a:br>
              <a:rPr lang="en-US" dirty="0" smtClean="0"/>
            </a:br>
            <a:r>
              <a:rPr lang="en-US" dirty="0" smtClean="0"/>
              <a:t>Function</a:t>
            </a:r>
            <a:endParaRPr lang="en-US" dirty="0"/>
          </a:p>
        </p:txBody>
      </p:sp>
      <p:sp>
        <p:nvSpPr>
          <p:cNvPr id="3" name="Subtitle"/>
          <p:cNvSpPr>
            <a:spLocks noGrp="1"/>
          </p:cNvSpPr>
          <p:nvPr>
            <p:ph type="subTitle" idx="1"/>
          </p:nvPr>
        </p:nvSpPr>
        <p:spPr>
          <a:xfrm>
            <a:off x="954089" y="3634009"/>
            <a:ext cx="6840091" cy="597365"/>
          </a:xfrm>
        </p:spPr>
        <p:txBody>
          <a:bodyPr lIns="0" tIns="0" rIns="0" bIns="0">
            <a:noAutofit/>
          </a:bodyPr>
          <a:lstStyle>
            <a:lvl1pPr marL="0" indent="0" algn="l">
              <a:buNone/>
              <a:defRPr sz="1900" b="0" baseline="0">
                <a:solidFill>
                  <a:srgbClr val="FFFFFF"/>
                </a:solidFill>
                <a:latin typeface="Arial" panose="020B0604020202020204" pitchFamily="34" charset="0"/>
              </a:defRPr>
            </a:lvl1pPr>
            <a:lvl2pPr marL="493427" indent="0" algn="ctr">
              <a:buNone/>
              <a:defRPr>
                <a:solidFill>
                  <a:schemeClr val="tx1">
                    <a:tint val="75000"/>
                  </a:schemeClr>
                </a:solidFill>
              </a:defRPr>
            </a:lvl2pPr>
            <a:lvl3pPr marL="986855" indent="0" algn="ctr">
              <a:buNone/>
              <a:defRPr>
                <a:solidFill>
                  <a:schemeClr val="tx1">
                    <a:tint val="75000"/>
                  </a:schemeClr>
                </a:solidFill>
              </a:defRPr>
            </a:lvl3pPr>
            <a:lvl4pPr marL="1480283" indent="0" algn="ctr">
              <a:buNone/>
              <a:defRPr>
                <a:solidFill>
                  <a:schemeClr val="tx1">
                    <a:tint val="75000"/>
                  </a:schemeClr>
                </a:solidFill>
              </a:defRPr>
            </a:lvl4pPr>
            <a:lvl5pPr marL="1973709" indent="0" algn="ctr">
              <a:buNone/>
              <a:defRPr>
                <a:solidFill>
                  <a:schemeClr val="tx1">
                    <a:tint val="75000"/>
                  </a:schemeClr>
                </a:solidFill>
              </a:defRPr>
            </a:lvl5pPr>
            <a:lvl6pPr marL="2467137" indent="0" algn="ctr">
              <a:buNone/>
              <a:defRPr>
                <a:solidFill>
                  <a:schemeClr val="tx1">
                    <a:tint val="75000"/>
                  </a:schemeClr>
                </a:solidFill>
              </a:defRPr>
            </a:lvl6pPr>
            <a:lvl7pPr marL="2960564" indent="0" algn="ctr">
              <a:buNone/>
              <a:defRPr>
                <a:solidFill>
                  <a:schemeClr val="tx1">
                    <a:tint val="75000"/>
                  </a:schemeClr>
                </a:solidFill>
              </a:defRPr>
            </a:lvl7pPr>
            <a:lvl8pPr marL="3453991" indent="0" algn="ctr">
              <a:buNone/>
              <a:defRPr>
                <a:solidFill>
                  <a:schemeClr val="tx1">
                    <a:tint val="75000"/>
                  </a:schemeClr>
                </a:solidFill>
              </a:defRPr>
            </a:lvl8pPr>
            <a:lvl9pPr marL="3947419" indent="0" algn="ctr">
              <a:buNone/>
              <a:defRPr>
                <a:solidFill>
                  <a:schemeClr val="tx1">
                    <a:tint val="75000"/>
                  </a:schemeClr>
                </a:solidFill>
              </a:defRPr>
            </a:lvl9pPr>
          </a:lstStyle>
          <a:p>
            <a:r>
              <a:rPr lang="en-US" dirty="0" smtClean="0"/>
              <a:t>Click to edit Master subtitle style</a:t>
            </a:r>
            <a:endParaRPr lang="en-US" dirty="0"/>
          </a:p>
        </p:txBody>
      </p:sp>
      <p:sp>
        <p:nvSpPr>
          <p:cNvPr id="2" name="Title"/>
          <p:cNvSpPr>
            <a:spLocks noGrp="1"/>
          </p:cNvSpPr>
          <p:nvPr>
            <p:ph type="ctrTitle"/>
          </p:nvPr>
        </p:nvSpPr>
        <p:spPr>
          <a:xfrm>
            <a:off x="954088" y="2411684"/>
            <a:ext cx="6840090" cy="1126299"/>
          </a:xfrm>
        </p:spPr>
        <p:txBody>
          <a:bodyPr tIns="17998" anchor="t"/>
          <a:lstStyle>
            <a:lvl1pPr>
              <a:lnSpc>
                <a:spcPct val="95000"/>
              </a:lnSpc>
              <a:defRPr sz="3500" baseline="0">
                <a:solidFill>
                  <a:srgbClr val="FFFFFF"/>
                </a:solidFill>
                <a:latin typeface="+mj-lt"/>
              </a:defRPr>
            </a:lvl1pPr>
          </a:lstStyle>
          <a:p>
            <a:r>
              <a:rPr lang="en-US" dirty="0" smtClean="0"/>
              <a:t>Click to edit Master title style</a:t>
            </a:r>
            <a:endParaRPr lang="en-US" dirty="0"/>
          </a:p>
        </p:txBody>
      </p:sp>
      <p:sp>
        <p:nvSpPr>
          <p:cNvPr id="155" name="Date"/>
          <p:cNvSpPr txBox="1">
            <a:spLocks/>
          </p:cNvSpPr>
          <p:nvPr userDrawn="1">
            <p:custDataLst>
              <p:tags r:id="rId3"/>
            </p:custDataLst>
          </p:nvPr>
        </p:nvSpPr>
        <p:spPr>
          <a:xfrm>
            <a:off x="2753135" y="6254301"/>
            <a:ext cx="2304000" cy="226216"/>
          </a:xfrm>
          <a:prstGeom prst="rect">
            <a:avLst/>
          </a:prstGeom>
        </p:spPr>
        <p:txBody>
          <a:bodyPr vert="horz" wrap="none" lIns="0" tIns="0" rIns="0" bIns="0" rtlCol="0" anchor="t">
            <a:noAutofit/>
          </a:bodyPr>
          <a:lstStyle>
            <a:defPPr>
              <a:defRPr lang="en-US"/>
            </a:defPPr>
            <a:lvl1pPr lvl="0" indent="0" defTabSz="986912">
              <a:lnSpc>
                <a:spcPct val="105000"/>
              </a:lnSpc>
              <a:spcBef>
                <a:spcPts val="0"/>
              </a:spcBef>
              <a:buClr>
                <a:srgbClr val="000000"/>
              </a:buClr>
              <a:buFontTx/>
              <a:buNone/>
              <a:defRPr sz="1400" b="0">
                <a:solidFill>
                  <a:srgbClr val="000000"/>
                </a:solidFill>
              </a:defRPr>
            </a:lvl1pPr>
            <a:lvl2pPr marL="358775" indent="-179388" defTabSz="986912">
              <a:lnSpc>
                <a:spcPct val="105000"/>
              </a:lnSpc>
              <a:spcBef>
                <a:spcPts val="0"/>
              </a:spcBef>
              <a:buClr>
                <a:srgbClr val="000000"/>
              </a:buClr>
              <a:buFont typeface="Arial" panose="020B0604020202020204" pitchFamily="34" charset="0"/>
              <a:buChar char="–"/>
              <a:defRPr sz="1400"/>
            </a:lvl2pPr>
            <a:lvl3pPr marL="538163" indent="-179388" defTabSz="986912">
              <a:lnSpc>
                <a:spcPct val="105000"/>
              </a:lnSpc>
              <a:spcBef>
                <a:spcPts val="0"/>
              </a:spcBef>
              <a:buClr>
                <a:srgbClr val="000000"/>
              </a:buClr>
              <a:buFont typeface="Arial" panose="020B0604020202020204" pitchFamily="34" charset="0"/>
              <a:buChar char="–"/>
              <a:defRPr sz="1200"/>
            </a:lvl3pPr>
            <a:lvl4pPr marL="719138" indent="-180975" defTabSz="986912">
              <a:lnSpc>
                <a:spcPct val="105000"/>
              </a:lnSpc>
              <a:spcBef>
                <a:spcPts val="0"/>
              </a:spcBef>
              <a:buClr>
                <a:srgbClr val="000000"/>
              </a:buClr>
              <a:buFont typeface="Arial" panose="020B0604020202020204" pitchFamily="34" charset="0"/>
              <a:buChar char="–"/>
              <a:defRPr sz="1000"/>
            </a:lvl4pPr>
            <a:lvl5pPr marL="898525" indent="-179388" defTabSz="986912">
              <a:lnSpc>
                <a:spcPct val="105000"/>
              </a:lnSpc>
              <a:spcBef>
                <a:spcPts val="0"/>
              </a:spcBef>
              <a:buClr>
                <a:srgbClr val="000000"/>
              </a:buClr>
              <a:buFont typeface="Arial" panose="020B0604020202020204" pitchFamily="34" charset="0"/>
              <a:buChar char="–"/>
              <a:defRPr sz="1000"/>
            </a:lvl5pPr>
            <a:lvl6pPr marL="1077913" indent="-179388" defTabSz="986912">
              <a:lnSpc>
                <a:spcPct val="105000"/>
              </a:lnSpc>
              <a:spcBef>
                <a:spcPts val="0"/>
              </a:spcBef>
              <a:buFont typeface="Arial" panose="020B0604020202020204" pitchFamily="34" charset="0"/>
              <a:buChar char="–"/>
              <a:defRPr sz="1000"/>
            </a:lvl6pPr>
            <a:lvl7pPr marL="1257300" indent="-179388" defTabSz="986912">
              <a:lnSpc>
                <a:spcPct val="105000"/>
              </a:lnSpc>
              <a:spcBef>
                <a:spcPts val="0"/>
              </a:spcBef>
              <a:buFont typeface="Arial" panose="020B0604020202020204" pitchFamily="34" charset="0"/>
              <a:buChar char="–"/>
              <a:defRPr sz="1000"/>
            </a:lvl7pPr>
            <a:lvl8pPr marL="1436688" indent="-179388" defTabSz="986912">
              <a:lnSpc>
                <a:spcPct val="105000"/>
              </a:lnSpc>
              <a:spcBef>
                <a:spcPts val="0"/>
              </a:spcBef>
              <a:buFont typeface="Arial" panose="020B0604020202020204" pitchFamily="34" charset="0"/>
              <a:buChar char="–"/>
              <a:defRPr sz="1000"/>
            </a:lvl8pPr>
            <a:lvl9pPr marL="1616075" indent="-179388" defTabSz="986912">
              <a:lnSpc>
                <a:spcPct val="105000"/>
              </a:lnSpc>
              <a:spcBef>
                <a:spcPts val="0"/>
              </a:spcBef>
              <a:buFont typeface="Arial" panose="020B0604020202020204" pitchFamily="34" charset="0"/>
              <a:buChar char="–"/>
              <a:defRPr sz="1000"/>
            </a:lvl9pPr>
          </a:lstStyle>
          <a:p>
            <a:pPr lvl="0"/>
            <a:r>
              <a:rPr lang="en-US" noProof="0" smtClean="0"/>
              <a:t>March 2019</a:t>
            </a:r>
            <a:endParaRPr lang="en-US" noProof="0" dirty="0"/>
          </a:p>
        </p:txBody>
      </p:sp>
      <p:sp>
        <p:nvSpPr>
          <p:cNvPr id="156" name="Text Placeholder 2"/>
          <p:cNvSpPr>
            <a:spLocks noGrp="1"/>
          </p:cNvSpPr>
          <p:nvPr>
            <p:ph type="body" sz="quarter" idx="15" hasCustomPrompt="1"/>
          </p:nvPr>
        </p:nvSpPr>
        <p:spPr>
          <a:xfrm flipH="1">
            <a:off x="7940138" y="5796607"/>
            <a:ext cx="2304000" cy="452432"/>
          </a:xfrm>
        </p:spPr>
        <p:txBody>
          <a:bodyPr vert="horz" wrap="none" lIns="0" tIns="0" rIns="0" bIns="0" rtlCol="0" anchor="b">
            <a:noAutofit/>
          </a:bodyPr>
          <a:lstStyle>
            <a:lvl1pPr marL="0" indent="0">
              <a:buFontTx/>
              <a:buNone/>
              <a:defRPr lang="en-US" sz="1400" b="0" kern="1200" dirty="0">
                <a:solidFill>
                  <a:srgbClr val="000000"/>
                </a:solidFill>
                <a:latin typeface="+mn-lt"/>
                <a:ea typeface="+mn-ea"/>
                <a:cs typeface="+mn-cs"/>
              </a:defRPr>
            </a:lvl1pPr>
          </a:lstStyle>
          <a:p>
            <a:pPr marL="0" lvl="0"/>
            <a:r>
              <a:rPr lang="en-US" dirty="0" smtClean="0"/>
              <a:t>Name</a:t>
            </a:r>
            <a:br>
              <a:rPr lang="en-US" dirty="0" smtClean="0"/>
            </a:br>
            <a:r>
              <a:rPr lang="en-US" dirty="0" smtClean="0"/>
              <a:t>Function</a:t>
            </a:r>
            <a:endParaRPr lang="en-US" dirty="0"/>
          </a:p>
        </p:txBody>
      </p:sp>
      <p:sp>
        <p:nvSpPr>
          <p:cNvPr id="157" name="Text Placeholder 2"/>
          <p:cNvSpPr>
            <a:spLocks noGrp="1"/>
          </p:cNvSpPr>
          <p:nvPr>
            <p:ph type="body" sz="quarter" idx="16" hasCustomPrompt="1"/>
          </p:nvPr>
        </p:nvSpPr>
        <p:spPr>
          <a:xfrm flipH="1">
            <a:off x="5346668" y="5796607"/>
            <a:ext cx="2304000" cy="452432"/>
          </a:xfrm>
        </p:spPr>
        <p:txBody>
          <a:bodyPr vert="horz" wrap="none" lIns="0" tIns="0" rIns="0" bIns="0" rtlCol="0" anchor="b">
            <a:noAutofit/>
          </a:bodyPr>
          <a:lstStyle>
            <a:lvl1pPr marL="0" indent="0">
              <a:buFontTx/>
              <a:buNone/>
              <a:defRPr lang="en-US" sz="1400" b="0" kern="1200" dirty="0">
                <a:solidFill>
                  <a:srgbClr val="000000"/>
                </a:solidFill>
                <a:latin typeface="+mn-lt"/>
                <a:ea typeface="+mn-ea"/>
                <a:cs typeface="+mn-cs"/>
              </a:defRPr>
            </a:lvl1pPr>
          </a:lstStyle>
          <a:p>
            <a:pPr marL="0" lvl="0"/>
            <a:r>
              <a:rPr lang="en-US" dirty="0" smtClean="0"/>
              <a:t>Name</a:t>
            </a:r>
            <a:br>
              <a:rPr lang="en-US" dirty="0" smtClean="0"/>
            </a:br>
            <a:r>
              <a:rPr lang="en-US" dirty="0" smtClean="0"/>
              <a:t>Function</a:t>
            </a:r>
            <a:endParaRPr lang="en-US" dirty="0"/>
          </a:p>
        </p:txBody>
      </p:sp>
      <p:pic>
        <p:nvPicPr>
          <p:cNvPr id="159" name="Logo"/>
          <p:cNvPicPr>
            <a:picLocks noChangeAspect="1"/>
          </p:cNvPicPr>
          <p:nvPr userDrawn="1">
            <p:custDataLst>
              <p:tags r:id="rId4"/>
            </p:custDataLst>
          </p:nvPr>
        </p:nvPicPr>
        <p:blipFill>
          <a:blip r:embed="rId6" cstate="print">
            <a:extLst>
              <a:ext uri="{28A0092B-C50C-407E-A947-70E740481C1C}">
                <a14:useLocalDpi xmlns:a14="http://schemas.microsoft.com/office/drawing/2010/main" val="0"/>
              </a:ext>
            </a:extLst>
          </a:blip>
          <a:stretch>
            <a:fillRect/>
          </a:stretch>
        </p:blipFill>
        <p:spPr>
          <a:xfrm>
            <a:off x="8424864" y="446350"/>
            <a:ext cx="1839119" cy="327636"/>
          </a:xfrm>
          <a:prstGeom prst="rect">
            <a:avLst/>
          </a:prstGeom>
        </p:spPr>
      </p:pic>
    </p:spTree>
    <p:extLst>
      <p:ext uri="{BB962C8B-B14F-4D97-AF65-F5344CB8AC3E}">
        <p14:creationId xmlns:p14="http://schemas.microsoft.com/office/powerpoint/2010/main" val="4169918456"/>
      </p:ext>
    </p:extLst>
  </p:cSld>
  <p:clrMapOvr>
    <a:masterClrMapping/>
  </p:clrMapOvr>
  <p:hf sldNum="0" hdr="0"/>
  <p:extLst mod="1">
    <p:ext uri="{DCECCB84-F9BA-43D5-87BE-67443E8EF086}">
      <p15:sldGuideLst xmlns:p15="http://schemas.microsoft.com/office/powerpoint/2012/main">
        <p15:guide id="1" pos="60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Click to edit Master title style</a:t>
            </a:r>
            <a:endParaRPr lang="en-US" dirty="0"/>
          </a:p>
        </p:txBody>
      </p:sp>
      <p:sp>
        <p:nvSpPr>
          <p:cNvPr id="5" name="Content Placeholder 4"/>
          <p:cNvSpPr>
            <a:spLocks noGrp="1"/>
          </p:cNvSpPr>
          <p:nvPr>
            <p:ph sz="quarter" idx="10"/>
          </p:nvPr>
        </p:nvSpPr>
        <p:spPr>
          <a:xfrm>
            <a:off x="449264" y="1476376"/>
            <a:ext cx="9793286" cy="5183189"/>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1075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Title Slide with Image">
    <p:bg>
      <p:bgPr>
        <a:solidFill>
          <a:schemeClr val="tx2"/>
        </a:solidFill>
        <a:effectLst/>
      </p:bgPr>
    </p:bg>
    <p:spTree>
      <p:nvGrpSpPr>
        <p:cNvPr id="1" name=""/>
        <p:cNvGrpSpPr/>
        <p:nvPr/>
      </p:nvGrpSpPr>
      <p:grpSpPr>
        <a:xfrm>
          <a:off x="0" y="0"/>
          <a:ext cx="0" cy="0"/>
          <a:chOff x="0" y="0"/>
          <a:chExt cx="0" cy="0"/>
        </a:xfrm>
      </p:grpSpPr>
      <p:sp>
        <p:nvSpPr>
          <p:cNvPr id="164" name="WhiteBackFrame"/>
          <p:cNvSpPr/>
          <p:nvPr userDrawn="1"/>
        </p:nvSpPr>
        <p:spPr bwMode="gray">
          <a:xfrm>
            <a:off x="2" y="0"/>
            <a:ext cx="10691814" cy="7559675"/>
          </a:xfrm>
          <a:custGeom>
            <a:avLst/>
            <a:gdLst>
              <a:gd name="connsiteX0" fmla="*/ 0 w 10691814"/>
              <a:gd name="connsiteY0" fmla="*/ 0 h 7559675"/>
              <a:gd name="connsiteX1" fmla="*/ 10691814 w 10691814"/>
              <a:gd name="connsiteY1" fmla="*/ 0 h 7559675"/>
              <a:gd name="connsiteX2" fmla="*/ 10691814 w 10691814"/>
              <a:gd name="connsiteY2" fmla="*/ 1619596 h 7559675"/>
              <a:gd name="connsiteX3" fmla="*/ 449265 w 10691814"/>
              <a:gd name="connsiteY3" fmla="*/ 1619596 h 7559675"/>
              <a:gd name="connsiteX4" fmla="*/ 449265 w 10691814"/>
              <a:gd name="connsiteY4" fmla="*/ 6202133 h 7559675"/>
              <a:gd name="connsiteX5" fmla="*/ 10691814 w 10691814"/>
              <a:gd name="connsiteY5" fmla="*/ 6202133 h 7559675"/>
              <a:gd name="connsiteX6" fmla="*/ 10691814 w 10691814"/>
              <a:gd name="connsiteY6" fmla="*/ 7559675 h 7559675"/>
              <a:gd name="connsiteX7" fmla="*/ 0 w 10691814"/>
              <a:gd name="connsiteY7" fmla="*/ 7559675 h 7559675"/>
              <a:gd name="connsiteX8" fmla="*/ 0 w 10691814"/>
              <a:gd name="connsiteY8" fmla="*/ 0 h 755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91814" h="7559675">
                <a:moveTo>
                  <a:pt x="0" y="0"/>
                </a:moveTo>
                <a:lnTo>
                  <a:pt x="10691814" y="0"/>
                </a:lnTo>
                <a:lnTo>
                  <a:pt x="10691814" y="1619596"/>
                </a:lnTo>
                <a:lnTo>
                  <a:pt x="449265" y="1619596"/>
                </a:lnTo>
                <a:lnTo>
                  <a:pt x="449265" y="6202133"/>
                </a:lnTo>
                <a:lnTo>
                  <a:pt x="10691814" y="6202133"/>
                </a:lnTo>
                <a:lnTo>
                  <a:pt x="10691814" y="7559675"/>
                </a:lnTo>
                <a:lnTo>
                  <a:pt x="0" y="7559675"/>
                </a:lnTo>
                <a:lnTo>
                  <a:pt x="0" y="0"/>
                </a:lnTo>
                <a:close/>
              </a:path>
            </a:pathLst>
          </a:custGeom>
          <a:solidFill>
            <a:srgbClr val="FFFFFF"/>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 name="ES_Shape2"/>
          <p:cNvSpPr>
            <a:spLocks/>
          </p:cNvSpPr>
          <p:nvPr userDrawn="1"/>
        </p:nvSpPr>
        <p:spPr bwMode="gray">
          <a:xfrm>
            <a:off x="0" y="6193157"/>
            <a:ext cx="2301240" cy="1366519"/>
          </a:xfrm>
          <a:prstGeom prst="rect">
            <a:avLst/>
          </a:prstGeom>
          <a:solidFill>
            <a:schemeClr val="accent2"/>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grpSp>
        <p:nvGrpSpPr>
          <p:cNvPr id="5" name="ES_Grid"/>
          <p:cNvGrpSpPr/>
          <p:nvPr userDrawn="1"/>
        </p:nvGrpSpPr>
        <p:grpSpPr>
          <a:xfrm>
            <a:off x="0" y="4819651"/>
            <a:ext cx="10242550" cy="2299337"/>
            <a:chOff x="0" y="4819649"/>
            <a:chExt cx="10242550" cy="2299337"/>
          </a:xfrm>
        </p:grpSpPr>
        <p:sp>
          <p:nvSpPr>
            <p:cNvPr id="12" name="ES_Line1"/>
            <p:cNvSpPr/>
            <p:nvPr userDrawn="1"/>
          </p:nvSpPr>
          <p:spPr bwMode="gray">
            <a:xfrm>
              <a:off x="0" y="4819649"/>
              <a:ext cx="78876" cy="78876"/>
            </a:xfrm>
            <a:custGeom>
              <a:avLst/>
              <a:gdLst>
                <a:gd name="connsiteX0" fmla="*/ 63603 w 78876"/>
                <a:gd name="connsiteY0" fmla="*/ 0 h 78876"/>
                <a:gd name="connsiteX1" fmla="*/ 78876 w 78876"/>
                <a:gd name="connsiteY1" fmla="*/ 0 h 78876"/>
                <a:gd name="connsiteX2" fmla="*/ 0 w 78876"/>
                <a:gd name="connsiteY2" fmla="*/ 78876 h 78876"/>
                <a:gd name="connsiteX3" fmla="*/ 0 w 78876"/>
                <a:gd name="connsiteY3" fmla="*/ 63603 h 78876"/>
                <a:gd name="connsiteX4" fmla="*/ 63603 w 78876"/>
                <a:gd name="connsiteY4" fmla="*/ 0 h 78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76" h="78876">
                  <a:moveTo>
                    <a:pt x="63603" y="0"/>
                  </a:moveTo>
                  <a:lnTo>
                    <a:pt x="78876" y="0"/>
                  </a:lnTo>
                  <a:lnTo>
                    <a:pt x="0" y="78876"/>
                  </a:lnTo>
                  <a:lnTo>
                    <a:pt x="0" y="63603"/>
                  </a:lnTo>
                  <a:lnTo>
                    <a:pt x="6360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 name="ES_Line2"/>
            <p:cNvSpPr/>
            <p:nvPr userDrawn="1"/>
          </p:nvSpPr>
          <p:spPr bwMode="gray">
            <a:xfrm>
              <a:off x="0" y="4819649"/>
              <a:ext cx="169732" cy="169732"/>
            </a:xfrm>
            <a:custGeom>
              <a:avLst/>
              <a:gdLst>
                <a:gd name="connsiteX0" fmla="*/ 154459 w 169732"/>
                <a:gd name="connsiteY0" fmla="*/ 0 h 169732"/>
                <a:gd name="connsiteX1" fmla="*/ 169732 w 169732"/>
                <a:gd name="connsiteY1" fmla="*/ 0 h 169732"/>
                <a:gd name="connsiteX2" fmla="*/ 0 w 169732"/>
                <a:gd name="connsiteY2" fmla="*/ 169732 h 169732"/>
                <a:gd name="connsiteX3" fmla="*/ 0 w 169732"/>
                <a:gd name="connsiteY3" fmla="*/ 154459 h 169732"/>
                <a:gd name="connsiteX4" fmla="*/ 154459 w 169732"/>
                <a:gd name="connsiteY4" fmla="*/ 0 h 169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732" h="169732">
                  <a:moveTo>
                    <a:pt x="154459" y="0"/>
                  </a:moveTo>
                  <a:lnTo>
                    <a:pt x="169732" y="0"/>
                  </a:lnTo>
                  <a:lnTo>
                    <a:pt x="0" y="169732"/>
                  </a:lnTo>
                  <a:lnTo>
                    <a:pt x="0" y="154459"/>
                  </a:lnTo>
                  <a:lnTo>
                    <a:pt x="15445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 name="ES_Line3"/>
            <p:cNvSpPr/>
            <p:nvPr userDrawn="1"/>
          </p:nvSpPr>
          <p:spPr bwMode="gray">
            <a:xfrm>
              <a:off x="0" y="4819649"/>
              <a:ext cx="260588" cy="260588"/>
            </a:xfrm>
            <a:custGeom>
              <a:avLst/>
              <a:gdLst>
                <a:gd name="connsiteX0" fmla="*/ 245315 w 260588"/>
                <a:gd name="connsiteY0" fmla="*/ 0 h 260588"/>
                <a:gd name="connsiteX1" fmla="*/ 260588 w 260588"/>
                <a:gd name="connsiteY1" fmla="*/ 0 h 260588"/>
                <a:gd name="connsiteX2" fmla="*/ 0 w 260588"/>
                <a:gd name="connsiteY2" fmla="*/ 260588 h 260588"/>
                <a:gd name="connsiteX3" fmla="*/ 0 w 260588"/>
                <a:gd name="connsiteY3" fmla="*/ 245315 h 260588"/>
                <a:gd name="connsiteX4" fmla="*/ 245315 w 260588"/>
                <a:gd name="connsiteY4" fmla="*/ 0 h 26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588" h="260588">
                  <a:moveTo>
                    <a:pt x="245315" y="0"/>
                  </a:moveTo>
                  <a:lnTo>
                    <a:pt x="260588" y="0"/>
                  </a:lnTo>
                  <a:lnTo>
                    <a:pt x="0" y="260588"/>
                  </a:lnTo>
                  <a:lnTo>
                    <a:pt x="0" y="245315"/>
                  </a:lnTo>
                  <a:lnTo>
                    <a:pt x="24531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 name="ES_Line4"/>
            <p:cNvSpPr/>
            <p:nvPr userDrawn="1"/>
          </p:nvSpPr>
          <p:spPr bwMode="gray">
            <a:xfrm>
              <a:off x="0" y="4819649"/>
              <a:ext cx="351444" cy="351444"/>
            </a:xfrm>
            <a:custGeom>
              <a:avLst/>
              <a:gdLst>
                <a:gd name="connsiteX0" fmla="*/ 336171 w 351444"/>
                <a:gd name="connsiteY0" fmla="*/ 0 h 351444"/>
                <a:gd name="connsiteX1" fmla="*/ 351444 w 351444"/>
                <a:gd name="connsiteY1" fmla="*/ 0 h 351444"/>
                <a:gd name="connsiteX2" fmla="*/ 0 w 351444"/>
                <a:gd name="connsiteY2" fmla="*/ 351444 h 351444"/>
                <a:gd name="connsiteX3" fmla="*/ 0 w 351444"/>
                <a:gd name="connsiteY3" fmla="*/ 336171 h 351444"/>
                <a:gd name="connsiteX4" fmla="*/ 336171 w 351444"/>
                <a:gd name="connsiteY4" fmla="*/ 0 h 351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444" h="351444">
                  <a:moveTo>
                    <a:pt x="336171" y="0"/>
                  </a:moveTo>
                  <a:lnTo>
                    <a:pt x="351444" y="0"/>
                  </a:lnTo>
                  <a:lnTo>
                    <a:pt x="0" y="351444"/>
                  </a:lnTo>
                  <a:lnTo>
                    <a:pt x="0" y="336171"/>
                  </a:lnTo>
                  <a:lnTo>
                    <a:pt x="336171"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2" name="ES_Line5"/>
            <p:cNvSpPr/>
            <p:nvPr userDrawn="1"/>
          </p:nvSpPr>
          <p:spPr bwMode="gray">
            <a:xfrm>
              <a:off x="0" y="4819649"/>
              <a:ext cx="442300" cy="442300"/>
            </a:xfrm>
            <a:custGeom>
              <a:avLst/>
              <a:gdLst>
                <a:gd name="connsiteX0" fmla="*/ 427027 w 442300"/>
                <a:gd name="connsiteY0" fmla="*/ 0 h 442300"/>
                <a:gd name="connsiteX1" fmla="*/ 442300 w 442300"/>
                <a:gd name="connsiteY1" fmla="*/ 0 h 442300"/>
                <a:gd name="connsiteX2" fmla="*/ 0 w 442300"/>
                <a:gd name="connsiteY2" fmla="*/ 442300 h 442300"/>
                <a:gd name="connsiteX3" fmla="*/ 0 w 442300"/>
                <a:gd name="connsiteY3" fmla="*/ 427027 h 442300"/>
                <a:gd name="connsiteX4" fmla="*/ 427027 w 442300"/>
                <a:gd name="connsiteY4" fmla="*/ 0 h 44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300" h="442300">
                  <a:moveTo>
                    <a:pt x="427027" y="0"/>
                  </a:moveTo>
                  <a:lnTo>
                    <a:pt x="442300" y="0"/>
                  </a:lnTo>
                  <a:lnTo>
                    <a:pt x="0" y="442300"/>
                  </a:lnTo>
                  <a:lnTo>
                    <a:pt x="0" y="427027"/>
                  </a:lnTo>
                  <a:lnTo>
                    <a:pt x="42702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3" name="ES_Line6"/>
            <p:cNvSpPr/>
            <p:nvPr userDrawn="1"/>
          </p:nvSpPr>
          <p:spPr bwMode="gray">
            <a:xfrm>
              <a:off x="0" y="4819649"/>
              <a:ext cx="533156" cy="533156"/>
            </a:xfrm>
            <a:custGeom>
              <a:avLst/>
              <a:gdLst>
                <a:gd name="connsiteX0" fmla="*/ 517883 w 533156"/>
                <a:gd name="connsiteY0" fmla="*/ 0 h 533156"/>
                <a:gd name="connsiteX1" fmla="*/ 533156 w 533156"/>
                <a:gd name="connsiteY1" fmla="*/ 0 h 533156"/>
                <a:gd name="connsiteX2" fmla="*/ 0 w 533156"/>
                <a:gd name="connsiteY2" fmla="*/ 533156 h 533156"/>
                <a:gd name="connsiteX3" fmla="*/ 0 w 533156"/>
                <a:gd name="connsiteY3" fmla="*/ 517883 h 533156"/>
                <a:gd name="connsiteX4" fmla="*/ 517883 w 533156"/>
                <a:gd name="connsiteY4" fmla="*/ 0 h 533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156" h="533156">
                  <a:moveTo>
                    <a:pt x="517883" y="0"/>
                  </a:moveTo>
                  <a:lnTo>
                    <a:pt x="533156" y="0"/>
                  </a:lnTo>
                  <a:lnTo>
                    <a:pt x="0" y="533156"/>
                  </a:lnTo>
                  <a:lnTo>
                    <a:pt x="0" y="517883"/>
                  </a:lnTo>
                  <a:lnTo>
                    <a:pt x="51788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4" name="ES_Line7"/>
            <p:cNvSpPr/>
            <p:nvPr userDrawn="1"/>
          </p:nvSpPr>
          <p:spPr bwMode="gray">
            <a:xfrm>
              <a:off x="0" y="4819649"/>
              <a:ext cx="624012" cy="624012"/>
            </a:xfrm>
            <a:custGeom>
              <a:avLst/>
              <a:gdLst>
                <a:gd name="connsiteX0" fmla="*/ 608739 w 624012"/>
                <a:gd name="connsiteY0" fmla="*/ 0 h 624012"/>
                <a:gd name="connsiteX1" fmla="*/ 624012 w 624012"/>
                <a:gd name="connsiteY1" fmla="*/ 0 h 624012"/>
                <a:gd name="connsiteX2" fmla="*/ 0 w 624012"/>
                <a:gd name="connsiteY2" fmla="*/ 624012 h 624012"/>
                <a:gd name="connsiteX3" fmla="*/ 0 w 624012"/>
                <a:gd name="connsiteY3" fmla="*/ 608739 h 624012"/>
                <a:gd name="connsiteX4" fmla="*/ 608739 w 624012"/>
                <a:gd name="connsiteY4" fmla="*/ 0 h 624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012" h="624012">
                  <a:moveTo>
                    <a:pt x="608739" y="0"/>
                  </a:moveTo>
                  <a:lnTo>
                    <a:pt x="624012" y="0"/>
                  </a:lnTo>
                  <a:lnTo>
                    <a:pt x="0" y="624012"/>
                  </a:lnTo>
                  <a:lnTo>
                    <a:pt x="0" y="608739"/>
                  </a:lnTo>
                  <a:lnTo>
                    <a:pt x="60873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5" name="ES_Line8"/>
            <p:cNvSpPr/>
            <p:nvPr userDrawn="1"/>
          </p:nvSpPr>
          <p:spPr bwMode="gray">
            <a:xfrm>
              <a:off x="0" y="4819649"/>
              <a:ext cx="714868" cy="714868"/>
            </a:xfrm>
            <a:custGeom>
              <a:avLst/>
              <a:gdLst>
                <a:gd name="connsiteX0" fmla="*/ 699595 w 714868"/>
                <a:gd name="connsiteY0" fmla="*/ 0 h 714868"/>
                <a:gd name="connsiteX1" fmla="*/ 714868 w 714868"/>
                <a:gd name="connsiteY1" fmla="*/ 0 h 714868"/>
                <a:gd name="connsiteX2" fmla="*/ 0 w 714868"/>
                <a:gd name="connsiteY2" fmla="*/ 714868 h 714868"/>
                <a:gd name="connsiteX3" fmla="*/ 0 w 714868"/>
                <a:gd name="connsiteY3" fmla="*/ 699595 h 714868"/>
                <a:gd name="connsiteX4" fmla="*/ 699595 w 714868"/>
                <a:gd name="connsiteY4" fmla="*/ 0 h 71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868" h="714868">
                  <a:moveTo>
                    <a:pt x="699595" y="0"/>
                  </a:moveTo>
                  <a:lnTo>
                    <a:pt x="714868" y="0"/>
                  </a:lnTo>
                  <a:lnTo>
                    <a:pt x="0" y="714868"/>
                  </a:lnTo>
                  <a:lnTo>
                    <a:pt x="0" y="699595"/>
                  </a:lnTo>
                  <a:lnTo>
                    <a:pt x="69959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6" name="ES_Line9"/>
            <p:cNvSpPr/>
            <p:nvPr userDrawn="1"/>
          </p:nvSpPr>
          <p:spPr bwMode="gray">
            <a:xfrm>
              <a:off x="0" y="4819649"/>
              <a:ext cx="805724" cy="805724"/>
            </a:xfrm>
            <a:custGeom>
              <a:avLst/>
              <a:gdLst>
                <a:gd name="connsiteX0" fmla="*/ 790451 w 805724"/>
                <a:gd name="connsiteY0" fmla="*/ 0 h 805724"/>
                <a:gd name="connsiteX1" fmla="*/ 805724 w 805724"/>
                <a:gd name="connsiteY1" fmla="*/ 0 h 805724"/>
                <a:gd name="connsiteX2" fmla="*/ 0 w 805724"/>
                <a:gd name="connsiteY2" fmla="*/ 805724 h 805724"/>
                <a:gd name="connsiteX3" fmla="*/ 0 w 805724"/>
                <a:gd name="connsiteY3" fmla="*/ 790451 h 805724"/>
                <a:gd name="connsiteX4" fmla="*/ 790451 w 805724"/>
                <a:gd name="connsiteY4" fmla="*/ 0 h 805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724" h="805724">
                  <a:moveTo>
                    <a:pt x="790451" y="0"/>
                  </a:moveTo>
                  <a:lnTo>
                    <a:pt x="805724" y="0"/>
                  </a:lnTo>
                  <a:lnTo>
                    <a:pt x="0" y="805724"/>
                  </a:lnTo>
                  <a:lnTo>
                    <a:pt x="0" y="790451"/>
                  </a:lnTo>
                  <a:lnTo>
                    <a:pt x="790451"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7" name="ES_Line10"/>
            <p:cNvSpPr/>
            <p:nvPr userDrawn="1"/>
          </p:nvSpPr>
          <p:spPr bwMode="gray">
            <a:xfrm>
              <a:off x="0" y="4819649"/>
              <a:ext cx="896580" cy="896580"/>
            </a:xfrm>
            <a:custGeom>
              <a:avLst/>
              <a:gdLst>
                <a:gd name="connsiteX0" fmla="*/ 881307 w 896580"/>
                <a:gd name="connsiteY0" fmla="*/ 0 h 896580"/>
                <a:gd name="connsiteX1" fmla="*/ 896580 w 896580"/>
                <a:gd name="connsiteY1" fmla="*/ 0 h 896580"/>
                <a:gd name="connsiteX2" fmla="*/ 0 w 896580"/>
                <a:gd name="connsiteY2" fmla="*/ 896580 h 896580"/>
                <a:gd name="connsiteX3" fmla="*/ 0 w 896580"/>
                <a:gd name="connsiteY3" fmla="*/ 881307 h 896580"/>
                <a:gd name="connsiteX4" fmla="*/ 881307 w 896580"/>
                <a:gd name="connsiteY4" fmla="*/ 0 h 89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580" h="896580">
                  <a:moveTo>
                    <a:pt x="881307" y="0"/>
                  </a:moveTo>
                  <a:lnTo>
                    <a:pt x="896580" y="0"/>
                  </a:lnTo>
                  <a:lnTo>
                    <a:pt x="0" y="896580"/>
                  </a:lnTo>
                  <a:lnTo>
                    <a:pt x="0" y="881307"/>
                  </a:lnTo>
                  <a:lnTo>
                    <a:pt x="88130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8" name="ES_Line11"/>
            <p:cNvSpPr/>
            <p:nvPr userDrawn="1"/>
          </p:nvSpPr>
          <p:spPr bwMode="gray">
            <a:xfrm>
              <a:off x="0" y="4819649"/>
              <a:ext cx="987436" cy="987436"/>
            </a:xfrm>
            <a:custGeom>
              <a:avLst/>
              <a:gdLst>
                <a:gd name="connsiteX0" fmla="*/ 972163 w 987436"/>
                <a:gd name="connsiteY0" fmla="*/ 0 h 987436"/>
                <a:gd name="connsiteX1" fmla="*/ 987436 w 987436"/>
                <a:gd name="connsiteY1" fmla="*/ 0 h 987436"/>
                <a:gd name="connsiteX2" fmla="*/ 0 w 987436"/>
                <a:gd name="connsiteY2" fmla="*/ 987436 h 987436"/>
                <a:gd name="connsiteX3" fmla="*/ 0 w 987436"/>
                <a:gd name="connsiteY3" fmla="*/ 972163 h 987436"/>
                <a:gd name="connsiteX4" fmla="*/ 972163 w 987436"/>
                <a:gd name="connsiteY4" fmla="*/ 0 h 987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436" h="987436">
                  <a:moveTo>
                    <a:pt x="972163" y="0"/>
                  </a:moveTo>
                  <a:lnTo>
                    <a:pt x="987436" y="0"/>
                  </a:lnTo>
                  <a:lnTo>
                    <a:pt x="0" y="987436"/>
                  </a:lnTo>
                  <a:lnTo>
                    <a:pt x="0" y="972163"/>
                  </a:lnTo>
                  <a:lnTo>
                    <a:pt x="97216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9" name="ES_Line12"/>
            <p:cNvSpPr/>
            <p:nvPr userDrawn="1"/>
          </p:nvSpPr>
          <p:spPr bwMode="gray">
            <a:xfrm>
              <a:off x="0" y="4819649"/>
              <a:ext cx="1078292" cy="1078292"/>
            </a:xfrm>
            <a:custGeom>
              <a:avLst/>
              <a:gdLst>
                <a:gd name="connsiteX0" fmla="*/ 1063019 w 1078292"/>
                <a:gd name="connsiteY0" fmla="*/ 0 h 1078292"/>
                <a:gd name="connsiteX1" fmla="*/ 1078292 w 1078292"/>
                <a:gd name="connsiteY1" fmla="*/ 0 h 1078292"/>
                <a:gd name="connsiteX2" fmla="*/ 0 w 1078292"/>
                <a:gd name="connsiteY2" fmla="*/ 1078292 h 1078292"/>
                <a:gd name="connsiteX3" fmla="*/ 0 w 1078292"/>
                <a:gd name="connsiteY3" fmla="*/ 1063019 h 1078292"/>
                <a:gd name="connsiteX4" fmla="*/ 1063019 w 1078292"/>
                <a:gd name="connsiteY4" fmla="*/ 0 h 1078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292" h="1078292">
                  <a:moveTo>
                    <a:pt x="1063019" y="0"/>
                  </a:moveTo>
                  <a:lnTo>
                    <a:pt x="1078292" y="0"/>
                  </a:lnTo>
                  <a:lnTo>
                    <a:pt x="0" y="1078292"/>
                  </a:lnTo>
                  <a:lnTo>
                    <a:pt x="0" y="1063019"/>
                  </a:lnTo>
                  <a:lnTo>
                    <a:pt x="106301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0" name="ES_Line13"/>
            <p:cNvSpPr/>
            <p:nvPr userDrawn="1"/>
          </p:nvSpPr>
          <p:spPr bwMode="gray">
            <a:xfrm>
              <a:off x="0" y="4819649"/>
              <a:ext cx="1169148" cy="1169148"/>
            </a:xfrm>
            <a:custGeom>
              <a:avLst/>
              <a:gdLst>
                <a:gd name="connsiteX0" fmla="*/ 1153875 w 1169148"/>
                <a:gd name="connsiteY0" fmla="*/ 0 h 1169148"/>
                <a:gd name="connsiteX1" fmla="*/ 1169148 w 1169148"/>
                <a:gd name="connsiteY1" fmla="*/ 0 h 1169148"/>
                <a:gd name="connsiteX2" fmla="*/ 0 w 1169148"/>
                <a:gd name="connsiteY2" fmla="*/ 1169148 h 1169148"/>
                <a:gd name="connsiteX3" fmla="*/ 0 w 1169148"/>
                <a:gd name="connsiteY3" fmla="*/ 1153875 h 1169148"/>
                <a:gd name="connsiteX4" fmla="*/ 1153875 w 1169148"/>
                <a:gd name="connsiteY4" fmla="*/ 0 h 116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9148" h="1169148">
                  <a:moveTo>
                    <a:pt x="1153875" y="0"/>
                  </a:moveTo>
                  <a:lnTo>
                    <a:pt x="1169148" y="0"/>
                  </a:lnTo>
                  <a:lnTo>
                    <a:pt x="0" y="1169148"/>
                  </a:lnTo>
                  <a:lnTo>
                    <a:pt x="0" y="1153875"/>
                  </a:lnTo>
                  <a:lnTo>
                    <a:pt x="115387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1" name="ES_Line14"/>
            <p:cNvSpPr/>
            <p:nvPr userDrawn="1"/>
          </p:nvSpPr>
          <p:spPr bwMode="gray">
            <a:xfrm>
              <a:off x="0" y="4819649"/>
              <a:ext cx="1260004" cy="1260004"/>
            </a:xfrm>
            <a:custGeom>
              <a:avLst/>
              <a:gdLst>
                <a:gd name="connsiteX0" fmla="*/ 1244731 w 1260004"/>
                <a:gd name="connsiteY0" fmla="*/ 0 h 1260004"/>
                <a:gd name="connsiteX1" fmla="*/ 1260004 w 1260004"/>
                <a:gd name="connsiteY1" fmla="*/ 0 h 1260004"/>
                <a:gd name="connsiteX2" fmla="*/ 0 w 1260004"/>
                <a:gd name="connsiteY2" fmla="*/ 1260004 h 1260004"/>
                <a:gd name="connsiteX3" fmla="*/ 0 w 1260004"/>
                <a:gd name="connsiteY3" fmla="*/ 1244731 h 1260004"/>
                <a:gd name="connsiteX4" fmla="*/ 1244731 w 1260004"/>
                <a:gd name="connsiteY4" fmla="*/ 0 h 126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0004" h="1260004">
                  <a:moveTo>
                    <a:pt x="1244731" y="0"/>
                  </a:moveTo>
                  <a:lnTo>
                    <a:pt x="1260004" y="0"/>
                  </a:lnTo>
                  <a:lnTo>
                    <a:pt x="0" y="1260004"/>
                  </a:lnTo>
                  <a:lnTo>
                    <a:pt x="0" y="1244731"/>
                  </a:lnTo>
                  <a:lnTo>
                    <a:pt x="1244731"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2" name="ES_Line15"/>
            <p:cNvSpPr/>
            <p:nvPr userDrawn="1"/>
          </p:nvSpPr>
          <p:spPr bwMode="gray">
            <a:xfrm>
              <a:off x="0" y="4819649"/>
              <a:ext cx="1350860" cy="1350860"/>
            </a:xfrm>
            <a:custGeom>
              <a:avLst/>
              <a:gdLst>
                <a:gd name="connsiteX0" fmla="*/ 1335587 w 1350860"/>
                <a:gd name="connsiteY0" fmla="*/ 0 h 1350860"/>
                <a:gd name="connsiteX1" fmla="*/ 1350860 w 1350860"/>
                <a:gd name="connsiteY1" fmla="*/ 0 h 1350860"/>
                <a:gd name="connsiteX2" fmla="*/ 0 w 1350860"/>
                <a:gd name="connsiteY2" fmla="*/ 1350860 h 1350860"/>
                <a:gd name="connsiteX3" fmla="*/ 0 w 1350860"/>
                <a:gd name="connsiteY3" fmla="*/ 1335587 h 1350860"/>
                <a:gd name="connsiteX4" fmla="*/ 1335587 w 1350860"/>
                <a:gd name="connsiteY4" fmla="*/ 0 h 1350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860" h="1350860">
                  <a:moveTo>
                    <a:pt x="1335587" y="0"/>
                  </a:moveTo>
                  <a:lnTo>
                    <a:pt x="1350860" y="0"/>
                  </a:lnTo>
                  <a:lnTo>
                    <a:pt x="0" y="1350860"/>
                  </a:lnTo>
                  <a:lnTo>
                    <a:pt x="0" y="1335587"/>
                  </a:lnTo>
                  <a:lnTo>
                    <a:pt x="133558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3" name="ES_Line16"/>
            <p:cNvSpPr/>
            <p:nvPr userDrawn="1"/>
          </p:nvSpPr>
          <p:spPr bwMode="gray">
            <a:xfrm>
              <a:off x="0" y="4819649"/>
              <a:ext cx="1441716" cy="1441716"/>
            </a:xfrm>
            <a:custGeom>
              <a:avLst/>
              <a:gdLst>
                <a:gd name="connsiteX0" fmla="*/ 1426443 w 1441716"/>
                <a:gd name="connsiteY0" fmla="*/ 0 h 1441716"/>
                <a:gd name="connsiteX1" fmla="*/ 1441716 w 1441716"/>
                <a:gd name="connsiteY1" fmla="*/ 0 h 1441716"/>
                <a:gd name="connsiteX2" fmla="*/ 0 w 1441716"/>
                <a:gd name="connsiteY2" fmla="*/ 1441716 h 1441716"/>
                <a:gd name="connsiteX3" fmla="*/ 0 w 1441716"/>
                <a:gd name="connsiteY3" fmla="*/ 1426443 h 1441716"/>
                <a:gd name="connsiteX4" fmla="*/ 1426443 w 1441716"/>
                <a:gd name="connsiteY4" fmla="*/ 0 h 1441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1716" h="1441716">
                  <a:moveTo>
                    <a:pt x="1426443" y="0"/>
                  </a:moveTo>
                  <a:lnTo>
                    <a:pt x="1441716" y="0"/>
                  </a:lnTo>
                  <a:lnTo>
                    <a:pt x="0" y="1441716"/>
                  </a:lnTo>
                  <a:lnTo>
                    <a:pt x="0" y="1426443"/>
                  </a:lnTo>
                  <a:lnTo>
                    <a:pt x="142644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4" name="ES_Line17"/>
            <p:cNvSpPr/>
            <p:nvPr userDrawn="1"/>
          </p:nvSpPr>
          <p:spPr bwMode="gray">
            <a:xfrm>
              <a:off x="0" y="4819649"/>
              <a:ext cx="1532572" cy="1532572"/>
            </a:xfrm>
            <a:custGeom>
              <a:avLst/>
              <a:gdLst>
                <a:gd name="connsiteX0" fmla="*/ 1517299 w 1532572"/>
                <a:gd name="connsiteY0" fmla="*/ 0 h 1532572"/>
                <a:gd name="connsiteX1" fmla="*/ 1532572 w 1532572"/>
                <a:gd name="connsiteY1" fmla="*/ 0 h 1532572"/>
                <a:gd name="connsiteX2" fmla="*/ 0 w 1532572"/>
                <a:gd name="connsiteY2" fmla="*/ 1532572 h 1532572"/>
                <a:gd name="connsiteX3" fmla="*/ 0 w 1532572"/>
                <a:gd name="connsiteY3" fmla="*/ 1517299 h 1532572"/>
                <a:gd name="connsiteX4" fmla="*/ 1517299 w 1532572"/>
                <a:gd name="connsiteY4" fmla="*/ 0 h 1532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72" h="1532572">
                  <a:moveTo>
                    <a:pt x="1517299" y="0"/>
                  </a:moveTo>
                  <a:lnTo>
                    <a:pt x="1532572" y="0"/>
                  </a:lnTo>
                  <a:lnTo>
                    <a:pt x="0" y="1532572"/>
                  </a:lnTo>
                  <a:lnTo>
                    <a:pt x="0" y="1517299"/>
                  </a:lnTo>
                  <a:lnTo>
                    <a:pt x="151729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5" name="ES_Line18"/>
            <p:cNvSpPr/>
            <p:nvPr userDrawn="1"/>
          </p:nvSpPr>
          <p:spPr bwMode="gray">
            <a:xfrm>
              <a:off x="0" y="4819649"/>
              <a:ext cx="1623428" cy="1623428"/>
            </a:xfrm>
            <a:custGeom>
              <a:avLst/>
              <a:gdLst>
                <a:gd name="connsiteX0" fmla="*/ 1608155 w 1623428"/>
                <a:gd name="connsiteY0" fmla="*/ 0 h 1623428"/>
                <a:gd name="connsiteX1" fmla="*/ 1623428 w 1623428"/>
                <a:gd name="connsiteY1" fmla="*/ 0 h 1623428"/>
                <a:gd name="connsiteX2" fmla="*/ 0 w 1623428"/>
                <a:gd name="connsiteY2" fmla="*/ 1623428 h 1623428"/>
                <a:gd name="connsiteX3" fmla="*/ 0 w 1623428"/>
                <a:gd name="connsiteY3" fmla="*/ 1608155 h 1623428"/>
                <a:gd name="connsiteX4" fmla="*/ 1608155 w 1623428"/>
                <a:gd name="connsiteY4" fmla="*/ 0 h 1623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3428" h="1623428">
                  <a:moveTo>
                    <a:pt x="1608155" y="0"/>
                  </a:moveTo>
                  <a:lnTo>
                    <a:pt x="1623428" y="0"/>
                  </a:lnTo>
                  <a:lnTo>
                    <a:pt x="0" y="1623428"/>
                  </a:lnTo>
                  <a:lnTo>
                    <a:pt x="0" y="1608155"/>
                  </a:lnTo>
                  <a:lnTo>
                    <a:pt x="160815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6" name="ES_Line19"/>
            <p:cNvSpPr/>
            <p:nvPr userDrawn="1"/>
          </p:nvSpPr>
          <p:spPr bwMode="gray">
            <a:xfrm>
              <a:off x="0" y="4819649"/>
              <a:ext cx="1714284" cy="1714284"/>
            </a:xfrm>
            <a:custGeom>
              <a:avLst/>
              <a:gdLst>
                <a:gd name="connsiteX0" fmla="*/ 1699011 w 1714284"/>
                <a:gd name="connsiteY0" fmla="*/ 0 h 1714284"/>
                <a:gd name="connsiteX1" fmla="*/ 1714284 w 1714284"/>
                <a:gd name="connsiteY1" fmla="*/ 0 h 1714284"/>
                <a:gd name="connsiteX2" fmla="*/ 0 w 1714284"/>
                <a:gd name="connsiteY2" fmla="*/ 1714284 h 1714284"/>
                <a:gd name="connsiteX3" fmla="*/ 0 w 1714284"/>
                <a:gd name="connsiteY3" fmla="*/ 1699011 h 1714284"/>
                <a:gd name="connsiteX4" fmla="*/ 1699011 w 1714284"/>
                <a:gd name="connsiteY4" fmla="*/ 0 h 17142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284" h="1714284">
                  <a:moveTo>
                    <a:pt x="1699011" y="0"/>
                  </a:moveTo>
                  <a:lnTo>
                    <a:pt x="1714284" y="0"/>
                  </a:lnTo>
                  <a:lnTo>
                    <a:pt x="0" y="1714284"/>
                  </a:lnTo>
                  <a:lnTo>
                    <a:pt x="0" y="1699011"/>
                  </a:lnTo>
                  <a:lnTo>
                    <a:pt x="1699011"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7" name="ES_Line20"/>
            <p:cNvSpPr/>
            <p:nvPr userDrawn="1"/>
          </p:nvSpPr>
          <p:spPr bwMode="gray">
            <a:xfrm>
              <a:off x="0" y="4819649"/>
              <a:ext cx="1805140" cy="1805140"/>
            </a:xfrm>
            <a:custGeom>
              <a:avLst/>
              <a:gdLst>
                <a:gd name="connsiteX0" fmla="*/ 1789867 w 1805140"/>
                <a:gd name="connsiteY0" fmla="*/ 0 h 1805140"/>
                <a:gd name="connsiteX1" fmla="*/ 1805140 w 1805140"/>
                <a:gd name="connsiteY1" fmla="*/ 0 h 1805140"/>
                <a:gd name="connsiteX2" fmla="*/ 0 w 1805140"/>
                <a:gd name="connsiteY2" fmla="*/ 1805140 h 1805140"/>
                <a:gd name="connsiteX3" fmla="*/ 0 w 1805140"/>
                <a:gd name="connsiteY3" fmla="*/ 1789866 h 1805140"/>
                <a:gd name="connsiteX4" fmla="*/ 1789867 w 1805140"/>
                <a:gd name="connsiteY4" fmla="*/ 0 h 1805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5140" h="1805140">
                  <a:moveTo>
                    <a:pt x="1789867" y="0"/>
                  </a:moveTo>
                  <a:lnTo>
                    <a:pt x="1805140" y="0"/>
                  </a:lnTo>
                  <a:lnTo>
                    <a:pt x="0" y="1805140"/>
                  </a:lnTo>
                  <a:lnTo>
                    <a:pt x="0" y="1789866"/>
                  </a:lnTo>
                  <a:lnTo>
                    <a:pt x="178986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8" name="ES_Line21"/>
            <p:cNvSpPr/>
            <p:nvPr userDrawn="1"/>
          </p:nvSpPr>
          <p:spPr bwMode="gray">
            <a:xfrm>
              <a:off x="0" y="4819649"/>
              <a:ext cx="1895996" cy="1895996"/>
            </a:xfrm>
            <a:custGeom>
              <a:avLst/>
              <a:gdLst>
                <a:gd name="connsiteX0" fmla="*/ 1880723 w 1895996"/>
                <a:gd name="connsiteY0" fmla="*/ 0 h 1895996"/>
                <a:gd name="connsiteX1" fmla="*/ 1895996 w 1895996"/>
                <a:gd name="connsiteY1" fmla="*/ 0 h 1895996"/>
                <a:gd name="connsiteX2" fmla="*/ 0 w 1895996"/>
                <a:gd name="connsiteY2" fmla="*/ 1895996 h 1895996"/>
                <a:gd name="connsiteX3" fmla="*/ 0 w 1895996"/>
                <a:gd name="connsiteY3" fmla="*/ 1880722 h 1895996"/>
                <a:gd name="connsiteX4" fmla="*/ 1880723 w 1895996"/>
                <a:gd name="connsiteY4" fmla="*/ 0 h 1895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5996" h="1895996">
                  <a:moveTo>
                    <a:pt x="1880723" y="0"/>
                  </a:moveTo>
                  <a:lnTo>
                    <a:pt x="1895996" y="0"/>
                  </a:lnTo>
                  <a:lnTo>
                    <a:pt x="0" y="1895996"/>
                  </a:lnTo>
                  <a:lnTo>
                    <a:pt x="0" y="1880722"/>
                  </a:lnTo>
                  <a:lnTo>
                    <a:pt x="188072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39" name="ES_Line22"/>
            <p:cNvSpPr/>
            <p:nvPr userDrawn="1"/>
          </p:nvSpPr>
          <p:spPr bwMode="gray">
            <a:xfrm>
              <a:off x="0" y="4819649"/>
              <a:ext cx="1986852" cy="1986852"/>
            </a:xfrm>
            <a:custGeom>
              <a:avLst/>
              <a:gdLst>
                <a:gd name="connsiteX0" fmla="*/ 1971579 w 1986852"/>
                <a:gd name="connsiteY0" fmla="*/ 0 h 1986852"/>
                <a:gd name="connsiteX1" fmla="*/ 1986852 w 1986852"/>
                <a:gd name="connsiteY1" fmla="*/ 0 h 1986852"/>
                <a:gd name="connsiteX2" fmla="*/ 0 w 1986852"/>
                <a:gd name="connsiteY2" fmla="*/ 1986852 h 1986852"/>
                <a:gd name="connsiteX3" fmla="*/ 0 w 1986852"/>
                <a:gd name="connsiteY3" fmla="*/ 1971578 h 1986852"/>
                <a:gd name="connsiteX4" fmla="*/ 1971579 w 1986852"/>
                <a:gd name="connsiteY4" fmla="*/ 0 h 1986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6852" h="1986852">
                  <a:moveTo>
                    <a:pt x="1971579" y="0"/>
                  </a:moveTo>
                  <a:lnTo>
                    <a:pt x="1986852" y="0"/>
                  </a:lnTo>
                  <a:lnTo>
                    <a:pt x="0" y="1986852"/>
                  </a:lnTo>
                  <a:lnTo>
                    <a:pt x="0" y="1971578"/>
                  </a:lnTo>
                  <a:lnTo>
                    <a:pt x="197157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0" name="ES_Line23"/>
            <p:cNvSpPr/>
            <p:nvPr userDrawn="1"/>
          </p:nvSpPr>
          <p:spPr bwMode="gray">
            <a:xfrm>
              <a:off x="0" y="4819649"/>
              <a:ext cx="2077708" cy="2077708"/>
            </a:xfrm>
            <a:custGeom>
              <a:avLst/>
              <a:gdLst>
                <a:gd name="connsiteX0" fmla="*/ 2062435 w 2077708"/>
                <a:gd name="connsiteY0" fmla="*/ 0 h 2077708"/>
                <a:gd name="connsiteX1" fmla="*/ 2077708 w 2077708"/>
                <a:gd name="connsiteY1" fmla="*/ 0 h 2077708"/>
                <a:gd name="connsiteX2" fmla="*/ 0 w 2077708"/>
                <a:gd name="connsiteY2" fmla="*/ 2077708 h 2077708"/>
                <a:gd name="connsiteX3" fmla="*/ 0 w 2077708"/>
                <a:gd name="connsiteY3" fmla="*/ 2062434 h 2077708"/>
                <a:gd name="connsiteX4" fmla="*/ 2062435 w 2077708"/>
                <a:gd name="connsiteY4" fmla="*/ 0 h 2077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7708" h="2077708">
                  <a:moveTo>
                    <a:pt x="2062435" y="0"/>
                  </a:moveTo>
                  <a:lnTo>
                    <a:pt x="2077708" y="0"/>
                  </a:lnTo>
                  <a:lnTo>
                    <a:pt x="0" y="2077708"/>
                  </a:lnTo>
                  <a:lnTo>
                    <a:pt x="0" y="2062434"/>
                  </a:lnTo>
                  <a:lnTo>
                    <a:pt x="206243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1" name="ES_Line24"/>
            <p:cNvSpPr/>
            <p:nvPr userDrawn="1"/>
          </p:nvSpPr>
          <p:spPr bwMode="gray">
            <a:xfrm>
              <a:off x="0" y="4819649"/>
              <a:ext cx="2168564" cy="2168564"/>
            </a:xfrm>
            <a:custGeom>
              <a:avLst/>
              <a:gdLst>
                <a:gd name="connsiteX0" fmla="*/ 2153291 w 2168564"/>
                <a:gd name="connsiteY0" fmla="*/ 0 h 2168564"/>
                <a:gd name="connsiteX1" fmla="*/ 2168564 w 2168564"/>
                <a:gd name="connsiteY1" fmla="*/ 0 h 2168564"/>
                <a:gd name="connsiteX2" fmla="*/ 0 w 2168564"/>
                <a:gd name="connsiteY2" fmla="*/ 2168564 h 2168564"/>
                <a:gd name="connsiteX3" fmla="*/ 0 w 2168564"/>
                <a:gd name="connsiteY3" fmla="*/ 2153290 h 2168564"/>
                <a:gd name="connsiteX4" fmla="*/ 2153291 w 2168564"/>
                <a:gd name="connsiteY4" fmla="*/ 0 h 2168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564" h="2168564">
                  <a:moveTo>
                    <a:pt x="2153291" y="0"/>
                  </a:moveTo>
                  <a:lnTo>
                    <a:pt x="2168564" y="0"/>
                  </a:lnTo>
                  <a:lnTo>
                    <a:pt x="0" y="2168564"/>
                  </a:lnTo>
                  <a:lnTo>
                    <a:pt x="0" y="2153290"/>
                  </a:lnTo>
                  <a:lnTo>
                    <a:pt x="2153291"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2" name="ES_Line25"/>
            <p:cNvSpPr/>
            <p:nvPr userDrawn="1"/>
          </p:nvSpPr>
          <p:spPr bwMode="gray">
            <a:xfrm>
              <a:off x="0" y="4819649"/>
              <a:ext cx="2259420" cy="2259420"/>
            </a:xfrm>
            <a:custGeom>
              <a:avLst/>
              <a:gdLst>
                <a:gd name="connsiteX0" fmla="*/ 2244147 w 2259420"/>
                <a:gd name="connsiteY0" fmla="*/ 0 h 2259420"/>
                <a:gd name="connsiteX1" fmla="*/ 2259420 w 2259420"/>
                <a:gd name="connsiteY1" fmla="*/ 0 h 2259420"/>
                <a:gd name="connsiteX2" fmla="*/ 0 w 2259420"/>
                <a:gd name="connsiteY2" fmla="*/ 2259420 h 2259420"/>
                <a:gd name="connsiteX3" fmla="*/ 0 w 2259420"/>
                <a:gd name="connsiteY3" fmla="*/ 2244146 h 2259420"/>
                <a:gd name="connsiteX4" fmla="*/ 2244147 w 2259420"/>
                <a:gd name="connsiteY4" fmla="*/ 0 h 225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9420" h="2259420">
                  <a:moveTo>
                    <a:pt x="2244147" y="0"/>
                  </a:moveTo>
                  <a:lnTo>
                    <a:pt x="2259420" y="0"/>
                  </a:lnTo>
                  <a:lnTo>
                    <a:pt x="0" y="2259420"/>
                  </a:lnTo>
                  <a:lnTo>
                    <a:pt x="0" y="2244146"/>
                  </a:lnTo>
                  <a:lnTo>
                    <a:pt x="224414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3" name="ES_Line26"/>
            <p:cNvSpPr/>
            <p:nvPr userDrawn="1"/>
          </p:nvSpPr>
          <p:spPr bwMode="gray">
            <a:xfrm>
              <a:off x="35666"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4" name="ES_Line27"/>
            <p:cNvSpPr/>
            <p:nvPr userDrawn="1"/>
          </p:nvSpPr>
          <p:spPr bwMode="gray">
            <a:xfrm>
              <a:off x="126522"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5" name="ES_Line28"/>
            <p:cNvSpPr/>
            <p:nvPr userDrawn="1"/>
          </p:nvSpPr>
          <p:spPr bwMode="gray">
            <a:xfrm>
              <a:off x="217378"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6" name="ES_Line29"/>
            <p:cNvSpPr/>
            <p:nvPr userDrawn="1"/>
          </p:nvSpPr>
          <p:spPr bwMode="gray">
            <a:xfrm>
              <a:off x="308234"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7" name="ES_Line30"/>
            <p:cNvSpPr/>
            <p:nvPr userDrawn="1"/>
          </p:nvSpPr>
          <p:spPr bwMode="gray">
            <a:xfrm>
              <a:off x="399090"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8" name="ES_Line31"/>
            <p:cNvSpPr/>
            <p:nvPr userDrawn="1"/>
          </p:nvSpPr>
          <p:spPr bwMode="gray">
            <a:xfrm>
              <a:off x="489946"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49" name="ES_Line32"/>
            <p:cNvSpPr/>
            <p:nvPr userDrawn="1"/>
          </p:nvSpPr>
          <p:spPr bwMode="gray">
            <a:xfrm>
              <a:off x="580802"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0" name="ES_Line33"/>
            <p:cNvSpPr/>
            <p:nvPr userDrawn="1"/>
          </p:nvSpPr>
          <p:spPr bwMode="gray">
            <a:xfrm>
              <a:off x="671658"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1" name="ES_Line34"/>
            <p:cNvSpPr/>
            <p:nvPr userDrawn="1"/>
          </p:nvSpPr>
          <p:spPr bwMode="gray">
            <a:xfrm>
              <a:off x="762514"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2" name="ES_Line35"/>
            <p:cNvSpPr/>
            <p:nvPr userDrawn="1"/>
          </p:nvSpPr>
          <p:spPr bwMode="gray">
            <a:xfrm>
              <a:off x="853370"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3" name="ES_Line36"/>
            <p:cNvSpPr/>
            <p:nvPr userDrawn="1"/>
          </p:nvSpPr>
          <p:spPr bwMode="gray">
            <a:xfrm>
              <a:off x="944226"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4" name="ES_Line37"/>
            <p:cNvSpPr/>
            <p:nvPr userDrawn="1"/>
          </p:nvSpPr>
          <p:spPr bwMode="gray">
            <a:xfrm>
              <a:off x="1035082"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5" name="ES_Line38"/>
            <p:cNvSpPr/>
            <p:nvPr userDrawn="1"/>
          </p:nvSpPr>
          <p:spPr bwMode="gray">
            <a:xfrm>
              <a:off x="1125938"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6" name="ES_Line39"/>
            <p:cNvSpPr/>
            <p:nvPr userDrawn="1"/>
          </p:nvSpPr>
          <p:spPr bwMode="gray">
            <a:xfrm>
              <a:off x="1216794"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7" name="ES_Line40"/>
            <p:cNvSpPr/>
            <p:nvPr userDrawn="1"/>
          </p:nvSpPr>
          <p:spPr bwMode="gray">
            <a:xfrm>
              <a:off x="1307650"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8" name="ES_Line41"/>
            <p:cNvSpPr/>
            <p:nvPr userDrawn="1"/>
          </p:nvSpPr>
          <p:spPr bwMode="gray">
            <a:xfrm>
              <a:off x="1398506"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59" name="ES_Line42"/>
            <p:cNvSpPr/>
            <p:nvPr userDrawn="1"/>
          </p:nvSpPr>
          <p:spPr bwMode="gray">
            <a:xfrm>
              <a:off x="1489362"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0" name="ES_Line43"/>
            <p:cNvSpPr/>
            <p:nvPr userDrawn="1"/>
          </p:nvSpPr>
          <p:spPr bwMode="gray">
            <a:xfrm>
              <a:off x="1580218"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1" name="ES_Line44"/>
            <p:cNvSpPr/>
            <p:nvPr userDrawn="1"/>
          </p:nvSpPr>
          <p:spPr bwMode="gray">
            <a:xfrm>
              <a:off x="1671074"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2" name="ES_Line45"/>
            <p:cNvSpPr/>
            <p:nvPr userDrawn="1"/>
          </p:nvSpPr>
          <p:spPr bwMode="gray">
            <a:xfrm>
              <a:off x="1761930"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3" name="ES_Line46"/>
            <p:cNvSpPr/>
            <p:nvPr userDrawn="1"/>
          </p:nvSpPr>
          <p:spPr bwMode="gray">
            <a:xfrm>
              <a:off x="1852786"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4" name="ES_Line47"/>
            <p:cNvSpPr/>
            <p:nvPr userDrawn="1"/>
          </p:nvSpPr>
          <p:spPr bwMode="gray">
            <a:xfrm>
              <a:off x="1943642"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5" name="ES_Line48"/>
            <p:cNvSpPr/>
            <p:nvPr userDrawn="1"/>
          </p:nvSpPr>
          <p:spPr bwMode="gray">
            <a:xfrm>
              <a:off x="2034498"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6" name="ES_Line49"/>
            <p:cNvSpPr/>
            <p:nvPr userDrawn="1"/>
          </p:nvSpPr>
          <p:spPr bwMode="gray">
            <a:xfrm>
              <a:off x="2125354"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7" name="ES_Line50"/>
            <p:cNvSpPr/>
            <p:nvPr userDrawn="1"/>
          </p:nvSpPr>
          <p:spPr bwMode="gray">
            <a:xfrm>
              <a:off x="2216210" y="4819649"/>
              <a:ext cx="2314610" cy="2299336"/>
            </a:xfrm>
            <a:custGeom>
              <a:avLst/>
              <a:gdLst>
                <a:gd name="connsiteX0" fmla="*/ 2299337 w 2314610"/>
                <a:gd name="connsiteY0" fmla="*/ 0 h 2299336"/>
                <a:gd name="connsiteX1" fmla="*/ 2314610 w 2314610"/>
                <a:gd name="connsiteY1" fmla="*/ 0 h 2299336"/>
                <a:gd name="connsiteX2" fmla="*/ 15274 w 2314610"/>
                <a:gd name="connsiteY2" fmla="*/ 2299336 h 2299336"/>
                <a:gd name="connsiteX3" fmla="*/ 0 w 2314610"/>
                <a:gd name="connsiteY3" fmla="*/ 2299336 h 2299336"/>
                <a:gd name="connsiteX4" fmla="*/ 2299337 w 2314610"/>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10" h="2299336">
                  <a:moveTo>
                    <a:pt x="2299337" y="0"/>
                  </a:moveTo>
                  <a:lnTo>
                    <a:pt x="2314610" y="0"/>
                  </a:lnTo>
                  <a:lnTo>
                    <a:pt x="15274" y="2299336"/>
                  </a:lnTo>
                  <a:lnTo>
                    <a:pt x="0" y="2299336"/>
                  </a:lnTo>
                  <a:lnTo>
                    <a:pt x="22993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8" name="ES_Line51"/>
            <p:cNvSpPr/>
            <p:nvPr userDrawn="1"/>
          </p:nvSpPr>
          <p:spPr bwMode="gray">
            <a:xfrm>
              <a:off x="230706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69" name="ES_Line52"/>
            <p:cNvSpPr/>
            <p:nvPr userDrawn="1"/>
          </p:nvSpPr>
          <p:spPr bwMode="gray">
            <a:xfrm>
              <a:off x="239792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0" name="ES_Line53"/>
            <p:cNvSpPr/>
            <p:nvPr userDrawn="1"/>
          </p:nvSpPr>
          <p:spPr bwMode="gray">
            <a:xfrm>
              <a:off x="248877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1" name="ES_Line54"/>
            <p:cNvSpPr/>
            <p:nvPr userDrawn="1"/>
          </p:nvSpPr>
          <p:spPr bwMode="gray">
            <a:xfrm>
              <a:off x="257963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2" name="ES_Line55"/>
            <p:cNvSpPr/>
            <p:nvPr userDrawn="1"/>
          </p:nvSpPr>
          <p:spPr bwMode="gray">
            <a:xfrm>
              <a:off x="267049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3" name="ES_Line56"/>
            <p:cNvSpPr/>
            <p:nvPr userDrawn="1"/>
          </p:nvSpPr>
          <p:spPr bwMode="gray">
            <a:xfrm>
              <a:off x="276134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4" name="ES_Line57"/>
            <p:cNvSpPr/>
            <p:nvPr userDrawn="1"/>
          </p:nvSpPr>
          <p:spPr bwMode="gray">
            <a:xfrm>
              <a:off x="285220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5" name="ES_Line58"/>
            <p:cNvSpPr/>
            <p:nvPr userDrawn="1"/>
          </p:nvSpPr>
          <p:spPr bwMode="gray">
            <a:xfrm>
              <a:off x="294305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6" name="ES_Line59"/>
            <p:cNvSpPr/>
            <p:nvPr userDrawn="1"/>
          </p:nvSpPr>
          <p:spPr bwMode="gray">
            <a:xfrm>
              <a:off x="303391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7" name="ES_Line60"/>
            <p:cNvSpPr/>
            <p:nvPr userDrawn="1"/>
          </p:nvSpPr>
          <p:spPr bwMode="gray">
            <a:xfrm>
              <a:off x="312477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8" name="ES_Line61"/>
            <p:cNvSpPr/>
            <p:nvPr userDrawn="1"/>
          </p:nvSpPr>
          <p:spPr bwMode="gray">
            <a:xfrm>
              <a:off x="321562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79" name="ES_Line62"/>
            <p:cNvSpPr/>
            <p:nvPr userDrawn="1"/>
          </p:nvSpPr>
          <p:spPr bwMode="gray">
            <a:xfrm>
              <a:off x="330648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0" name="ES_Line63"/>
            <p:cNvSpPr/>
            <p:nvPr userDrawn="1"/>
          </p:nvSpPr>
          <p:spPr bwMode="gray">
            <a:xfrm>
              <a:off x="339733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1" name="ES_Line64"/>
            <p:cNvSpPr/>
            <p:nvPr userDrawn="1"/>
          </p:nvSpPr>
          <p:spPr bwMode="gray">
            <a:xfrm>
              <a:off x="348819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2" name="ES_Line65"/>
            <p:cNvSpPr/>
            <p:nvPr userDrawn="1"/>
          </p:nvSpPr>
          <p:spPr bwMode="gray">
            <a:xfrm>
              <a:off x="357905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3" name="ES_Line66"/>
            <p:cNvSpPr/>
            <p:nvPr userDrawn="1"/>
          </p:nvSpPr>
          <p:spPr bwMode="gray">
            <a:xfrm>
              <a:off x="366990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4" name="ES_Line67"/>
            <p:cNvSpPr/>
            <p:nvPr userDrawn="1"/>
          </p:nvSpPr>
          <p:spPr bwMode="gray">
            <a:xfrm>
              <a:off x="376076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5" name="ES_Line68"/>
            <p:cNvSpPr/>
            <p:nvPr userDrawn="1"/>
          </p:nvSpPr>
          <p:spPr bwMode="gray">
            <a:xfrm>
              <a:off x="385161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6" name="ES_Line69"/>
            <p:cNvSpPr/>
            <p:nvPr userDrawn="1"/>
          </p:nvSpPr>
          <p:spPr bwMode="gray">
            <a:xfrm>
              <a:off x="394247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7" name="ES_Line70"/>
            <p:cNvSpPr/>
            <p:nvPr userDrawn="1"/>
          </p:nvSpPr>
          <p:spPr bwMode="gray">
            <a:xfrm>
              <a:off x="403333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8" name="ES_Line71"/>
            <p:cNvSpPr/>
            <p:nvPr userDrawn="1"/>
          </p:nvSpPr>
          <p:spPr bwMode="gray">
            <a:xfrm>
              <a:off x="412418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89" name="ES_Line72"/>
            <p:cNvSpPr/>
            <p:nvPr userDrawn="1"/>
          </p:nvSpPr>
          <p:spPr bwMode="gray">
            <a:xfrm>
              <a:off x="421504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0" name="ES_Line73"/>
            <p:cNvSpPr/>
            <p:nvPr userDrawn="1"/>
          </p:nvSpPr>
          <p:spPr bwMode="gray">
            <a:xfrm>
              <a:off x="430589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1" name="ES_Line74"/>
            <p:cNvSpPr/>
            <p:nvPr userDrawn="1"/>
          </p:nvSpPr>
          <p:spPr bwMode="gray">
            <a:xfrm>
              <a:off x="439675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2" name="ES_Line75"/>
            <p:cNvSpPr/>
            <p:nvPr userDrawn="1"/>
          </p:nvSpPr>
          <p:spPr bwMode="gray">
            <a:xfrm>
              <a:off x="448761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3" name="ES_Line76"/>
            <p:cNvSpPr/>
            <p:nvPr userDrawn="1"/>
          </p:nvSpPr>
          <p:spPr bwMode="gray">
            <a:xfrm>
              <a:off x="457846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4" name="ES_Line77"/>
            <p:cNvSpPr/>
            <p:nvPr userDrawn="1"/>
          </p:nvSpPr>
          <p:spPr bwMode="gray">
            <a:xfrm>
              <a:off x="466932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5" name="ES_Line78"/>
            <p:cNvSpPr/>
            <p:nvPr userDrawn="1"/>
          </p:nvSpPr>
          <p:spPr bwMode="gray">
            <a:xfrm>
              <a:off x="476017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6" name="ES_Line79"/>
            <p:cNvSpPr/>
            <p:nvPr userDrawn="1"/>
          </p:nvSpPr>
          <p:spPr bwMode="gray">
            <a:xfrm>
              <a:off x="485103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7" name="ES_Line80"/>
            <p:cNvSpPr/>
            <p:nvPr userDrawn="1"/>
          </p:nvSpPr>
          <p:spPr bwMode="gray">
            <a:xfrm>
              <a:off x="494189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8" name="ES_Line81"/>
            <p:cNvSpPr/>
            <p:nvPr userDrawn="1"/>
          </p:nvSpPr>
          <p:spPr bwMode="gray">
            <a:xfrm>
              <a:off x="503274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99" name="ES_Line82"/>
            <p:cNvSpPr/>
            <p:nvPr userDrawn="1"/>
          </p:nvSpPr>
          <p:spPr bwMode="gray">
            <a:xfrm>
              <a:off x="512360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0" name="ES_Line83"/>
            <p:cNvSpPr/>
            <p:nvPr userDrawn="1"/>
          </p:nvSpPr>
          <p:spPr bwMode="gray">
            <a:xfrm>
              <a:off x="521445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1" name="ES_Line84"/>
            <p:cNvSpPr/>
            <p:nvPr userDrawn="1"/>
          </p:nvSpPr>
          <p:spPr bwMode="gray">
            <a:xfrm>
              <a:off x="530531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2" name="ES_Line85"/>
            <p:cNvSpPr/>
            <p:nvPr userDrawn="1"/>
          </p:nvSpPr>
          <p:spPr bwMode="gray">
            <a:xfrm>
              <a:off x="539617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3" name="ES_Line86"/>
            <p:cNvSpPr/>
            <p:nvPr userDrawn="1"/>
          </p:nvSpPr>
          <p:spPr bwMode="gray">
            <a:xfrm>
              <a:off x="548702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4" name="ES_Line87"/>
            <p:cNvSpPr/>
            <p:nvPr userDrawn="1"/>
          </p:nvSpPr>
          <p:spPr bwMode="gray">
            <a:xfrm>
              <a:off x="557788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5" name="ES_Line88"/>
            <p:cNvSpPr/>
            <p:nvPr userDrawn="1"/>
          </p:nvSpPr>
          <p:spPr bwMode="gray">
            <a:xfrm>
              <a:off x="566873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6" name="ES_Line89"/>
            <p:cNvSpPr/>
            <p:nvPr userDrawn="1"/>
          </p:nvSpPr>
          <p:spPr bwMode="gray">
            <a:xfrm>
              <a:off x="575959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7" name="ES_Line90"/>
            <p:cNvSpPr/>
            <p:nvPr userDrawn="1"/>
          </p:nvSpPr>
          <p:spPr bwMode="gray">
            <a:xfrm>
              <a:off x="585045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8" name="ES_Line91"/>
            <p:cNvSpPr/>
            <p:nvPr userDrawn="1"/>
          </p:nvSpPr>
          <p:spPr bwMode="gray">
            <a:xfrm>
              <a:off x="594130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09" name="ES_Line92"/>
            <p:cNvSpPr/>
            <p:nvPr userDrawn="1"/>
          </p:nvSpPr>
          <p:spPr bwMode="gray">
            <a:xfrm>
              <a:off x="603216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0" name="ES_Line93"/>
            <p:cNvSpPr/>
            <p:nvPr userDrawn="1"/>
          </p:nvSpPr>
          <p:spPr bwMode="gray">
            <a:xfrm>
              <a:off x="612301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1" name="ES_Line94"/>
            <p:cNvSpPr/>
            <p:nvPr userDrawn="1"/>
          </p:nvSpPr>
          <p:spPr bwMode="gray">
            <a:xfrm>
              <a:off x="621387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2" name="ES_Line95"/>
            <p:cNvSpPr/>
            <p:nvPr userDrawn="1"/>
          </p:nvSpPr>
          <p:spPr bwMode="gray">
            <a:xfrm>
              <a:off x="630473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3" name="ES_Line96"/>
            <p:cNvSpPr/>
            <p:nvPr userDrawn="1"/>
          </p:nvSpPr>
          <p:spPr bwMode="gray">
            <a:xfrm>
              <a:off x="639558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4" name="ES_Line97"/>
            <p:cNvSpPr/>
            <p:nvPr userDrawn="1"/>
          </p:nvSpPr>
          <p:spPr bwMode="gray">
            <a:xfrm>
              <a:off x="648644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5" name="ES_Line98"/>
            <p:cNvSpPr/>
            <p:nvPr userDrawn="1"/>
          </p:nvSpPr>
          <p:spPr bwMode="gray">
            <a:xfrm>
              <a:off x="657729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6" name="ES_Line99"/>
            <p:cNvSpPr/>
            <p:nvPr userDrawn="1"/>
          </p:nvSpPr>
          <p:spPr bwMode="gray">
            <a:xfrm>
              <a:off x="666815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7" name="ES_Line100"/>
            <p:cNvSpPr/>
            <p:nvPr userDrawn="1"/>
          </p:nvSpPr>
          <p:spPr bwMode="gray">
            <a:xfrm>
              <a:off x="675901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8" name="ES_Line101"/>
            <p:cNvSpPr/>
            <p:nvPr userDrawn="1"/>
          </p:nvSpPr>
          <p:spPr bwMode="gray">
            <a:xfrm>
              <a:off x="684986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19" name="ES_Line102"/>
            <p:cNvSpPr/>
            <p:nvPr userDrawn="1"/>
          </p:nvSpPr>
          <p:spPr bwMode="gray">
            <a:xfrm>
              <a:off x="694072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0" name="ES_Line103"/>
            <p:cNvSpPr/>
            <p:nvPr userDrawn="1"/>
          </p:nvSpPr>
          <p:spPr bwMode="gray">
            <a:xfrm>
              <a:off x="703157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1" name="ES_Line104"/>
            <p:cNvSpPr/>
            <p:nvPr userDrawn="1"/>
          </p:nvSpPr>
          <p:spPr bwMode="gray">
            <a:xfrm>
              <a:off x="712243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2" name="ES_Line105"/>
            <p:cNvSpPr/>
            <p:nvPr userDrawn="1"/>
          </p:nvSpPr>
          <p:spPr bwMode="gray">
            <a:xfrm>
              <a:off x="721329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3" name="ES_Line106"/>
            <p:cNvSpPr/>
            <p:nvPr userDrawn="1"/>
          </p:nvSpPr>
          <p:spPr bwMode="gray">
            <a:xfrm>
              <a:off x="730414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4" name="ES_Line107"/>
            <p:cNvSpPr/>
            <p:nvPr userDrawn="1"/>
          </p:nvSpPr>
          <p:spPr bwMode="gray">
            <a:xfrm>
              <a:off x="739500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5" name="ES_Line108"/>
            <p:cNvSpPr/>
            <p:nvPr userDrawn="1"/>
          </p:nvSpPr>
          <p:spPr bwMode="gray">
            <a:xfrm>
              <a:off x="7485859"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6" name="ES_Line109"/>
            <p:cNvSpPr/>
            <p:nvPr userDrawn="1"/>
          </p:nvSpPr>
          <p:spPr bwMode="gray">
            <a:xfrm>
              <a:off x="7576715"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7" name="ES_Line110"/>
            <p:cNvSpPr/>
            <p:nvPr userDrawn="1"/>
          </p:nvSpPr>
          <p:spPr bwMode="gray">
            <a:xfrm>
              <a:off x="7667571"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8" name="ES_Line111"/>
            <p:cNvSpPr/>
            <p:nvPr userDrawn="1"/>
          </p:nvSpPr>
          <p:spPr bwMode="gray">
            <a:xfrm>
              <a:off x="7758427"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29" name="ES_Line112"/>
            <p:cNvSpPr/>
            <p:nvPr userDrawn="1"/>
          </p:nvSpPr>
          <p:spPr bwMode="gray">
            <a:xfrm>
              <a:off x="7849283" y="4819649"/>
              <a:ext cx="2314609" cy="2299336"/>
            </a:xfrm>
            <a:custGeom>
              <a:avLst/>
              <a:gdLst>
                <a:gd name="connsiteX0" fmla="*/ 2299336 w 2314609"/>
                <a:gd name="connsiteY0" fmla="*/ 0 h 2299336"/>
                <a:gd name="connsiteX1" fmla="*/ 2314609 w 2314609"/>
                <a:gd name="connsiteY1" fmla="*/ 0 h 2299336"/>
                <a:gd name="connsiteX2" fmla="*/ 15273 w 2314609"/>
                <a:gd name="connsiteY2" fmla="*/ 2299336 h 2299336"/>
                <a:gd name="connsiteX3" fmla="*/ 0 w 2314609"/>
                <a:gd name="connsiteY3" fmla="*/ 2299336 h 2299336"/>
                <a:gd name="connsiteX4" fmla="*/ 2299336 w 2314609"/>
                <a:gd name="connsiteY4" fmla="*/ 0 h 229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609" h="2299336">
                  <a:moveTo>
                    <a:pt x="2299336" y="0"/>
                  </a:moveTo>
                  <a:lnTo>
                    <a:pt x="2314609" y="0"/>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90" name="ES_Line113"/>
            <p:cNvSpPr/>
            <p:nvPr userDrawn="1"/>
          </p:nvSpPr>
          <p:spPr bwMode="gray">
            <a:xfrm>
              <a:off x="7940139" y="4819649"/>
              <a:ext cx="2302411" cy="2299336"/>
            </a:xfrm>
            <a:custGeom>
              <a:avLst/>
              <a:gdLst>
                <a:gd name="connsiteX0" fmla="*/ 2299336 w 2302411"/>
                <a:gd name="connsiteY0" fmla="*/ 0 h 2299336"/>
                <a:gd name="connsiteX1" fmla="*/ 2302411 w 2302411"/>
                <a:gd name="connsiteY1" fmla="*/ 0 h 2299336"/>
                <a:gd name="connsiteX2" fmla="*/ 2302411 w 2302411"/>
                <a:gd name="connsiteY2" fmla="*/ 12198 h 2299336"/>
                <a:gd name="connsiteX3" fmla="*/ 15273 w 2302411"/>
                <a:gd name="connsiteY3" fmla="*/ 2299336 h 2299336"/>
                <a:gd name="connsiteX4" fmla="*/ 0 w 2302411"/>
                <a:gd name="connsiteY4" fmla="*/ 2299336 h 2299336"/>
                <a:gd name="connsiteX5" fmla="*/ 2299336 w 2302411"/>
                <a:gd name="connsiteY5" fmla="*/ 0 h 2299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2411" h="2299336">
                  <a:moveTo>
                    <a:pt x="2299336" y="0"/>
                  </a:moveTo>
                  <a:lnTo>
                    <a:pt x="2302411" y="0"/>
                  </a:lnTo>
                  <a:lnTo>
                    <a:pt x="2302411" y="12198"/>
                  </a:lnTo>
                  <a:lnTo>
                    <a:pt x="15273" y="2299336"/>
                  </a:lnTo>
                  <a:lnTo>
                    <a:pt x="0" y="2299336"/>
                  </a:lnTo>
                  <a:lnTo>
                    <a:pt x="22993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9" name="ES_Line114"/>
            <p:cNvSpPr/>
            <p:nvPr userDrawn="1"/>
          </p:nvSpPr>
          <p:spPr bwMode="gray">
            <a:xfrm>
              <a:off x="8030995" y="4907431"/>
              <a:ext cx="2211555" cy="2211555"/>
            </a:xfrm>
            <a:custGeom>
              <a:avLst/>
              <a:gdLst>
                <a:gd name="connsiteX0" fmla="*/ 2211555 w 2211555"/>
                <a:gd name="connsiteY0" fmla="*/ 0 h 2211555"/>
                <a:gd name="connsiteX1" fmla="*/ 2211555 w 2211555"/>
                <a:gd name="connsiteY1" fmla="*/ 15273 h 2211555"/>
                <a:gd name="connsiteX2" fmla="*/ 15273 w 2211555"/>
                <a:gd name="connsiteY2" fmla="*/ 2211555 h 2211555"/>
                <a:gd name="connsiteX3" fmla="*/ 0 w 2211555"/>
                <a:gd name="connsiteY3" fmla="*/ 2211555 h 2211555"/>
                <a:gd name="connsiteX4" fmla="*/ 2211555 w 2211555"/>
                <a:gd name="connsiteY4" fmla="*/ 0 h 2211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555" h="2211555">
                  <a:moveTo>
                    <a:pt x="2211555" y="0"/>
                  </a:moveTo>
                  <a:lnTo>
                    <a:pt x="2211555" y="15273"/>
                  </a:lnTo>
                  <a:lnTo>
                    <a:pt x="15273" y="2211555"/>
                  </a:lnTo>
                  <a:lnTo>
                    <a:pt x="0" y="2211555"/>
                  </a:lnTo>
                  <a:lnTo>
                    <a:pt x="2211555"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8" name="ES_Line115"/>
            <p:cNvSpPr/>
            <p:nvPr userDrawn="1"/>
          </p:nvSpPr>
          <p:spPr bwMode="gray">
            <a:xfrm>
              <a:off x="8121851" y="4998287"/>
              <a:ext cx="2120699" cy="2120699"/>
            </a:xfrm>
            <a:custGeom>
              <a:avLst/>
              <a:gdLst>
                <a:gd name="connsiteX0" fmla="*/ 2120699 w 2120699"/>
                <a:gd name="connsiteY0" fmla="*/ 0 h 2120699"/>
                <a:gd name="connsiteX1" fmla="*/ 2120699 w 2120699"/>
                <a:gd name="connsiteY1" fmla="*/ 15273 h 2120699"/>
                <a:gd name="connsiteX2" fmla="*/ 15273 w 2120699"/>
                <a:gd name="connsiteY2" fmla="*/ 2120699 h 2120699"/>
                <a:gd name="connsiteX3" fmla="*/ 0 w 2120699"/>
                <a:gd name="connsiteY3" fmla="*/ 2120699 h 2120699"/>
                <a:gd name="connsiteX4" fmla="*/ 2120699 w 2120699"/>
                <a:gd name="connsiteY4" fmla="*/ 0 h 2120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0699" h="2120699">
                  <a:moveTo>
                    <a:pt x="2120699" y="0"/>
                  </a:moveTo>
                  <a:lnTo>
                    <a:pt x="2120699" y="15273"/>
                  </a:lnTo>
                  <a:lnTo>
                    <a:pt x="15273" y="2120699"/>
                  </a:lnTo>
                  <a:lnTo>
                    <a:pt x="0" y="2120699"/>
                  </a:lnTo>
                  <a:lnTo>
                    <a:pt x="2120699"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7" name="ES_Line116"/>
            <p:cNvSpPr/>
            <p:nvPr userDrawn="1"/>
          </p:nvSpPr>
          <p:spPr bwMode="gray">
            <a:xfrm>
              <a:off x="8212707" y="5089143"/>
              <a:ext cx="2029843" cy="2029843"/>
            </a:xfrm>
            <a:custGeom>
              <a:avLst/>
              <a:gdLst>
                <a:gd name="connsiteX0" fmla="*/ 2029843 w 2029843"/>
                <a:gd name="connsiteY0" fmla="*/ 0 h 2029843"/>
                <a:gd name="connsiteX1" fmla="*/ 2029843 w 2029843"/>
                <a:gd name="connsiteY1" fmla="*/ 15273 h 2029843"/>
                <a:gd name="connsiteX2" fmla="*/ 15273 w 2029843"/>
                <a:gd name="connsiteY2" fmla="*/ 2029843 h 2029843"/>
                <a:gd name="connsiteX3" fmla="*/ 0 w 2029843"/>
                <a:gd name="connsiteY3" fmla="*/ 2029843 h 2029843"/>
                <a:gd name="connsiteX4" fmla="*/ 2029843 w 2029843"/>
                <a:gd name="connsiteY4" fmla="*/ 0 h 2029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9843" h="2029843">
                  <a:moveTo>
                    <a:pt x="2029843" y="0"/>
                  </a:moveTo>
                  <a:lnTo>
                    <a:pt x="2029843" y="15273"/>
                  </a:lnTo>
                  <a:lnTo>
                    <a:pt x="15273" y="2029843"/>
                  </a:lnTo>
                  <a:lnTo>
                    <a:pt x="0" y="2029843"/>
                  </a:lnTo>
                  <a:lnTo>
                    <a:pt x="2029843"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6" name="ES_Line117"/>
            <p:cNvSpPr/>
            <p:nvPr userDrawn="1"/>
          </p:nvSpPr>
          <p:spPr bwMode="gray">
            <a:xfrm>
              <a:off x="8303613" y="5180049"/>
              <a:ext cx="1938937" cy="1938937"/>
            </a:xfrm>
            <a:custGeom>
              <a:avLst/>
              <a:gdLst>
                <a:gd name="connsiteX0" fmla="*/ 1938937 w 1938937"/>
                <a:gd name="connsiteY0" fmla="*/ 0 h 1938937"/>
                <a:gd name="connsiteX1" fmla="*/ 1938937 w 1938937"/>
                <a:gd name="connsiteY1" fmla="*/ 15273 h 1938937"/>
                <a:gd name="connsiteX2" fmla="*/ 15273 w 1938937"/>
                <a:gd name="connsiteY2" fmla="*/ 1938937 h 1938937"/>
                <a:gd name="connsiteX3" fmla="*/ 0 w 1938937"/>
                <a:gd name="connsiteY3" fmla="*/ 1938937 h 1938937"/>
                <a:gd name="connsiteX4" fmla="*/ 1938937 w 1938937"/>
                <a:gd name="connsiteY4" fmla="*/ 0 h 1938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937" h="1938937">
                  <a:moveTo>
                    <a:pt x="1938937" y="0"/>
                  </a:moveTo>
                  <a:lnTo>
                    <a:pt x="1938937" y="15273"/>
                  </a:lnTo>
                  <a:lnTo>
                    <a:pt x="15273" y="1938937"/>
                  </a:lnTo>
                  <a:lnTo>
                    <a:pt x="0" y="1938937"/>
                  </a:lnTo>
                  <a:lnTo>
                    <a:pt x="1938937"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5" name="ES_Line118"/>
            <p:cNvSpPr/>
            <p:nvPr userDrawn="1"/>
          </p:nvSpPr>
          <p:spPr bwMode="gray">
            <a:xfrm>
              <a:off x="8398530" y="5274966"/>
              <a:ext cx="1844020" cy="1844020"/>
            </a:xfrm>
            <a:custGeom>
              <a:avLst/>
              <a:gdLst>
                <a:gd name="connsiteX0" fmla="*/ 1844020 w 1844020"/>
                <a:gd name="connsiteY0" fmla="*/ 0 h 1844020"/>
                <a:gd name="connsiteX1" fmla="*/ 1844020 w 1844020"/>
                <a:gd name="connsiteY1" fmla="*/ 15273 h 1844020"/>
                <a:gd name="connsiteX2" fmla="*/ 15273 w 1844020"/>
                <a:gd name="connsiteY2" fmla="*/ 1844020 h 1844020"/>
                <a:gd name="connsiteX3" fmla="*/ 0 w 1844020"/>
                <a:gd name="connsiteY3" fmla="*/ 1844020 h 1844020"/>
                <a:gd name="connsiteX4" fmla="*/ 1844020 w 1844020"/>
                <a:gd name="connsiteY4" fmla="*/ 0 h 184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020" h="1844020">
                  <a:moveTo>
                    <a:pt x="1844020" y="0"/>
                  </a:moveTo>
                  <a:lnTo>
                    <a:pt x="1844020" y="15273"/>
                  </a:lnTo>
                  <a:lnTo>
                    <a:pt x="15273" y="1844020"/>
                  </a:lnTo>
                  <a:lnTo>
                    <a:pt x="0" y="1844020"/>
                  </a:lnTo>
                  <a:lnTo>
                    <a:pt x="1844020"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4" name="ES_Line119"/>
            <p:cNvSpPr/>
            <p:nvPr userDrawn="1"/>
          </p:nvSpPr>
          <p:spPr bwMode="gray">
            <a:xfrm>
              <a:off x="8489386" y="5365822"/>
              <a:ext cx="1753164" cy="1753164"/>
            </a:xfrm>
            <a:custGeom>
              <a:avLst/>
              <a:gdLst>
                <a:gd name="connsiteX0" fmla="*/ 1753164 w 1753164"/>
                <a:gd name="connsiteY0" fmla="*/ 0 h 1753164"/>
                <a:gd name="connsiteX1" fmla="*/ 1753164 w 1753164"/>
                <a:gd name="connsiteY1" fmla="*/ 15273 h 1753164"/>
                <a:gd name="connsiteX2" fmla="*/ 15273 w 1753164"/>
                <a:gd name="connsiteY2" fmla="*/ 1753164 h 1753164"/>
                <a:gd name="connsiteX3" fmla="*/ 0 w 1753164"/>
                <a:gd name="connsiteY3" fmla="*/ 1753164 h 1753164"/>
                <a:gd name="connsiteX4" fmla="*/ 1753164 w 1753164"/>
                <a:gd name="connsiteY4" fmla="*/ 0 h 1753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3164" h="1753164">
                  <a:moveTo>
                    <a:pt x="1753164" y="0"/>
                  </a:moveTo>
                  <a:lnTo>
                    <a:pt x="1753164" y="15273"/>
                  </a:lnTo>
                  <a:lnTo>
                    <a:pt x="15273" y="1753164"/>
                  </a:lnTo>
                  <a:lnTo>
                    <a:pt x="0" y="1753164"/>
                  </a:lnTo>
                  <a:lnTo>
                    <a:pt x="1753164"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3" name="ES_Line120"/>
            <p:cNvSpPr/>
            <p:nvPr userDrawn="1"/>
          </p:nvSpPr>
          <p:spPr bwMode="gray">
            <a:xfrm>
              <a:off x="8580242" y="5456678"/>
              <a:ext cx="1662308" cy="1662308"/>
            </a:xfrm>
            <a:custGeom>
              <a:avLst/>
              <a:gdLst>
                <a:gd name="connsiteX0" fmla="*/ 1662308 w 1662308"/>
                <a:gd name="connsiteY0" fmla="*/ 0 h 1662308"/>
                <a:gd name="connsiteX1" fmla="*/ 1662308 w 1662308"/>
                <a:gd name="connsiteY1" fmla="*/ 15273 h 1662308"/>
                <a:gd name="connsiteX2" fmla="*/ 15273 w 1662308"/>
                <a:gd name="connsiteY2" fmla="*/ 1662308 h 1662308"/>
                <a:gd name="connsiteX3" fmla="*/ 0 w 1662308"/>
                <a:gd name="connsiteY3" fmla="*/ 1662308 h 1662308"/>
                <a:gd name="connsiteX4" fmla="*/ 1662308 w 1662308"/>
                <a:gd name="connsiteY4" fmla="*/ 0 h 1662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2308" h="1662308">
                  <a:moveTo>
                    <a:pt x="1662308" y="0"/>
                  </a:moveTo>
                  <a:lnTo>
                    <a:pt x="1662308" y="15273"/>
                  </a:lnTo>
                  <a:lnTo>
                    <a:pt x="15273" y="1662308"/>
                  </a:lnTo>
                  <a:lnTo>
                    <a:pt x="0" y="1662308"/>
                  </a:lnTo>
                  <a:lnTo>
                    <a:pt x="1662308"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2" name="ES_Line121"/>
            <p:cNvSpPr/>
            <p:nvPr userDrawn="1"/>
          </p:nvSpPr>
          <p:spPr bwMode="gray">
            <a:xfrm>
              <a:off x="8671098" y="5547534"/>
              <a:ext cx="1571452" cy="1571452"/>
            </a:xfrm>
            <a:custGeom>
              <a:avLst/>
              <a:gdLst>
                <a:gd name="connsiteX0" fmla="*/ 1571452 w 1571452"/>
                <a:gd name="connsiteY0" fmla="*/ 0 h 1571452"/>
                <a:gd name="connsiteX1" fmla="*/ 1571452 w 1571452"/>
                <a:gd name="connsiteY1" fmla="*/ 15273 h 1571452"/>
                <a:gd name="connsiteX2" fmla="*/ 15273 w 1571452"/>
                <a:gd name="connsiteY2" fmla="*/ 1571452 h 1571452"/>
                <a:gd name="connsiteX3" fmla="*/ 0 w 1571452"/>
                <a:gd name="connsiteY3" fmla="*/ 1571452 h 1571452"/>
                <a:gd name="connsiteX4" fmla="*/ 1571452 w 1571452"/>
                <a:gd name="connsiteY4" fmla="*/ 0 h 1571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1452" h="1571452">
                  <a:moveTo>
                    <a:pt x="1571452" y="0"/>
                  </a:moveTo>
                  <a:lnTo>
                    <a:pt x="1571452" y="15273"/>
                  </a:lnTo>
                  <a:lnTo>
                    <a:pt x="15273" y="1571452"/>
                  </a:lnTo>
                  <a:lnTo>
                    <a:pt x="0" y="1571452"/>
                  </a:lnTo>
                  <a:lnTo>
                    <a:pt x="1571452"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1" name="ES_Line122"/>
            <p:cNvSpPr/>
            <p:nvPr userDrawn="1"/>
          </p:nvSpPr>
          <p:spPr bwMode="gray">
            <a:xfrm>
              <a:off x="8761954" y="5638390"/>
              <a:ext cx="1480596" cy="1480596"/>
            </a:xfrm>
            <a:custGeom>
              <a:avLst/>
              <a:gdLst>
                <a:gd name="connsiteX0" fmla="*/ 1480596 w 1480596"/>
                <a:gd name="connsiteY0" fmla="*/ 0 h 1480596"/>
                <a:gd name="connsiteX1" fmla="*/ 1480596 w 1480596"/>
                <a:gd name="connsiteY1" fmla="*/ 15273 h 1480596"/>
                <a:gd name="connsiteX2" fmla="*/ 15273 w 1480596"/>
                <a:gd name="connsiteY2" fmla="*/ 1480596 h 1480596"/>
                <a:gd name="connsiteX3" fmla="*/ 0 w 1480596"/>
                <a:gd name="connsiteY3" fmla="*/ 1480596 h 1480596"/>
                <a:gd name="connsiteX4" fmla="*/ 1480596 w 1480596"/>
                <a:gd name="connsiteY4" fmla="*/ 0 h 1480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596" h="1480596">
                  <a:moveTo>
                    <a:pt x="1480596" y="0"/>
                  </a:moveTo>
                  <a:lnTo>
                    <a:pt x="1480596" y="15273"/>
                  </a:lnTo>
                  <a:lnTo>
                    <a:pt x="15273" y="1480596"/>
                  </a:lnTo>
                  <a:lnTo>
                    <a:pt x="0" y="1480596"/>
                  </a:lnTo>
                  <a:lnTo>
                    <a:pt x="148059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80" name="ES_Line123"/>
            <p:cNvSpPr/>
            <p:nvPr userDrawn="1"/>
          </p:nvSpPr>
          <p:spPr bwMode="gray">
            <a:xfrm>
              <a:off x="8852810" y="5729246"/>
              <a:ext cx="1389740" cy="1389740"/>
            </a:xfrm>
            <a:custGeom>
              <a:avLst/>
              <a:gdLst>
                <a:gd name="connsiteX0" fmla="*/ 1389740 w 1389740"/>
                <a:gd name="connsiteY0" fmla="*/ 0 h 1389740"/>
                <a:gd name="connsiteX1" fmla="*/ 1389740 w 1389740"/>
                <a:gd name="connsiteY1" fmla="*/ 15273 h 1389740"/>
                <a:gd name="connsiteX2" fmla="*/ 15273 w 1389740"/>
                <a:gd name="connsiteY2" fmla="*/ 1389740 h 1389740"/>
                <a:gd name="connsiteX3" fmla="*/ 0 w 1389740"/>
                <a:gd name="connsiteY3" fmla="*/ 1389740 h 1389740"/>
                <a:gd name="connsiteX4" fmla="*/ 1389740 w 1389740"/>
                <a:gd name="connsiteY4" fmla="*/ 0 h 1389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740" h="1389740">
                  <a:moveTo>
                    <a:pt x="1389740" y="0"/>
                  </a:moveTo>
                  <a:lnTo>
                    <a:pt x="1389740" y="15273"/>
                  </a:lnTo>
                  <a:lnTo>
                    <a:pt x="15273" y="1389740"/>
                  </a:lnTo>
                  <a:lnTo>
                    <a:pt x="0" y="1389740"/>
                  </a:lnTo>
                  <a:lnTo>
                    <a:pt x="1389740"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9" name="ES_Line124"/>
            <p:cNvSpPr/>
            <p:nvPr userDrawn="1"/>
          </p:nvSpPr>
          <p:spPr bwMode="gray">
            <a:xfrm>
              <a:off x="8943666" y="5820102"/>
              <a:ext cx="1298884" cy="1298884"/>
            </a:xfrm>
            <a:custGeom>
              <a:avLst/>
              <a:gdLst>
                <a:gd name="connsiteX0" fmla="*/ 1298884 w 1298884"/>
                <a:gd name="connsiteY0" fmla="*/ 0 h 1298884"/>
                <a:gd name="connsiteX1" fmla="*/ 1298884 w 1298884"/>
                <a:gd name="connsiteY1" fmla="*/ 15273 h 1298884"/>
                <a:gd name="connsiteX2" fmla="*/ 15273 w 1298884"/>
                <a:gd name="connsiteY2" fmla="*/ 1298884 h 1298884"/>
                <a:gd name="connsiteX3" fmla="*/ 0 w 1298884"/>
                <a:gd name="connsiteY3" fmla="*/ 1298884 h 1298884"/>
                <a:gd name="connsiteX4" fmla="*/ 1298884 w 1298884"/>
                <a:gd name="connsiteY4" fmla="*/ 0 h 1298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8884" h="1298884">
                  <a:moveTo>
                    <a:pt x="1298884" y="0"/>
                  </a:moveTo>
                  <a:lnTo>
                    <a:pt x="1298884" y="15273"/>
                  </a:lnTo>
                  <a:lnTo>
                    <a:pt x="15273" y="1298884"/>
                  </a:lnTo>
                  <a:lnTo>
                    <a:pt x="0" y="1298884"/>
                  </a:lnTo>
                  <a:lnTo>
                    <a:pt x="1298884"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8" name="ES_Line125"/>
            <p:cNvSpPr/>
            <p:nvPr userDrawn="1"/>
          </p:nvSpPr>
          <p:spPr bwMode="gray">
            <a:xfrm>
              <a:off x="9034522" y="5910958"/>
              <a:ext cx="1208028" cy="1208028"/>
            </a:xfrm>
            <a:custGeom>
              <a:avLst/>
              <a:gdLst>
                <a:gd name="connsiteX0" fmla="*/ 1208028 w 1208028"/>
                <a:gd name="connsiteY0" fmla="*/ 0 h 1208028"/>
                <a:gd name="connsiteX1" fmla="*/ 1208028 w 1208028"/>
                <a:gd name="connsiteY1" fmla="*/ 15273 h 1208028"/>
                <a:gd name="connsiteX2" fmla="*/ 15273 w 1208028"/>
                <a:gd name="connsiteY2" fmla="*/ 1208028 h 1208028"/>
                <a:gd name="connsiteX3" fmla="*/ 0 w 1208028"/>
                <a:gd name="connsiteY3" fmla="*/ 1208028 h 1208028"/>
                <a:gd name="connsiteX4" fmla="*/ 1208028 w 1208028"/>
                <a:gd name="connsiteY4" fmla="*/ 0 h 120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028" h="1208028">
                  <a:moveTo>
                    <a:pt x="1208028" y="0"/>
                  </a:moveTo>
                  <a:lnTo>
                    <a:pt x="1208028" y="15273"/>
                  </a:lnTo>
                  <a:lnTo>
                    <a:pt x="15273" y="1208028"/>
                  </a:lnTo>
                  <a:lnTo>
                    <a:pt x="0" y="1208028"/>
                  </a:lnTo>
                  <a:lnTo>
                    <a:pt x="1208028"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7" name="ES_Line126"/>
            <p:cNvSpPr/>
            <p:nvPr userDrawn="1"/>
          </p:nvSpPr>
          <p:spPr bwMode="gray">
            <a:xfrm>
              <a:off x="9125378" y="6001814"/>
              <a:ext cx="1117172" cy="1117172"/>
            </a:xfrm>
            <a:custGeom>
              <a:avLst/>
              <a:gdLst>
                <a:gd name="connsiteX0" fmla="*/ 1117172 w 1117172"/>
                <a:gd name="connsiteY0" fmla="*/ 0 h 1117172"/>
                <a:gd name="connsiteX1" fmla="*/ 1117172 w 1117172"/>
                <a:gd name="connsiteY1" fmla="*/ 15273 h 1117172"/>
                <a:gd name="connsiteX2" fmla="*/ 15273 w 1117172"/>
                <a:gd name="connsiteY2" fmla="*/ 1117172 h 1117172"/>
                <a:gd name="connsiteX3" fmla="*/ 0 w 1117172"/>
                <a:gd name="connsiteY3" fmla="*/ 1117172 h 1117172"/>
                <a:gd name="connsiteX4" fmla="*/ 1117172 w 1117172"/>
                <a:gd name="connsiteY4" fmla="*/ 0 h 1117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7172" h="1117172">
                  <a:moveTo>
                    <a:pt x="1117172" y="0"/>
                  </a:moveTo>
                  <a:lnTo>
                    <a:pt x="1117172" y="15273"/>
                  </a:lnTo>
                  <a:lnTo>
                    <a:pt x="15273" y="1117172"/>
                  </a:lnTo>
                  <a:lnTo>
                    <a:pt x="0" y="1117172"/>
                  </a:lnTo>
                  <a:lnTo>
                    <a:pt x="1117172"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6" name="ES_Line127"/>
            <p:cNvSpPr/>
            <p:nvPr userDrawn="1"/>
          </p:nvSpPr>
          <p:spPr bwMode="gray">
            <a:xfrm>
              <a:off x="9216234" y="6092670"/>
              <a:ext cx="1026316" cy="1026316"/>
            </a:xfrm>
            <a:custGeom>
              <a:avLst/>
              <a:gdLst>
                <a:gd name="connsiteX0" fmla="*/ 1026316 w 1026316"/>
                <a:gd name="connsiteY0" fmla="*/ 0 h 1026316"/>
                <a:gd name="connsiteX1" fmla="*/ 1026316 w 1026316"/>
                <a:gd name="connsiteY1" fmla="*/ 15273 h 1026316"/>
                <a:gd name="connsiteX2" fmla="*/ 15273 w 1026316"/>
                <a:gd name="connsiteY2" fmla="*/ 1026316 h 1026316"/>
                <a:gd name="connsiteX3" fmla="*/ 0 w 1026316"/>
                <a:gd name="connsiteY3" fmla="*/ 1026316 h 1026316"/>
                <a:gd name="connsiteX4" fmla="*/ 1026316 w 1026316"/>
                <a:gd name="connsiteY4" fmla="*/ 0 h 1026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6316" h="1026316">
                  <a:moveTo>
                    <a:pt x="1026316" y="0"/>
                  </a:moveTo>
                  <a:lnTo>
                    <a:pt x="1026316" y="15273"/>
                  </a:lnTo>
                  <a:lnTo>
                    <a:pt x="15273" y="1026316"/>
                  </a:lnTo>
                  <a:lnTo>
                    <a:pt x="0" y="1026316"/>
                  </a:lnTo>
                  <a:lnTo>
                    <a:pt x="102631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5" name="ES_Line128"/>
            <p:cNvSpPr/>
            <p:nvPr userDrawn="1"/>
          </p:nvSpPr>
          <p:spPr bwMode="gray">
            <a:xfrm>
              <a:off x="9307090" y="6183526"/>
              <a:ext cx="935460" cy="935460"/>
            </a:xfrm>
            <a:custGeom>
              <a:avLst/>
              <a:gdLst>
                <a:gd name="connsiteX0" fmla="*/ 935460 w 935460"/>
                <a:gd name="connsiteY0" fmla="*/ 0 h 935460"/>
                <a:gd name="connsiteX1" fmla="*/ 935460 w 935460"/>
                <a:gd name="connsiteY1" fmla="*/ 15273 h 935460"/>
                <a:gd name="connsiteX2" fmla="*/ 15273 w 935460"/>
                <a:gd name="connsiteY2" fmla="*/ 935460 h 935460"/>
                <a:gd name="connsiteX3" fmla="*/ 0 w 935460"/>
                <a:gd name="connsiteY3" fmla="*/ 935460 h 935460"/>
                <a:gd name="connsiteX4" fmla="*/ 935460 w 935460"/>
                <a:gd name="connsiteY4" fmla="*/ 0 h 935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460" h="935460">
                  <a:moveTo>
                    <a:pt x="935460" y="0"/>
                  </a:moveTo>
                  <a:lnTo>
                    <a:pt x="935460" y="15273"/>
                  </a:lnTo>
                  <a:lnTo>
                    <a:pt x="15273" y="935460"/>
                  </a:lnTo>
                  <a:lnTo>
                    <a:pt x="0" y="935460"/>
                  </a:lnTo>
                  <a:lnTo>
                    <a:pt x="935460"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4" name="ES_Line129"/>
            <p:cNvSpPr/>
            <p:nvPr userDrawn="1"/>
          </p:nvSpPr>
          <p:spPr bwMode="gray">
            <a:xfrm>
              <a:off x="9397946" y="6274382"/>
              <a:ext cx="844604" cy="844604"/>
            </a:xfrm>
            <a:custGeom>
              <a:avLst/>
              <a:gdLst>
                <a:gd name="connsiteX0" fmla="*/ 844604 w 844604"/>
                <a:gd name="connsiteY0" fmla="*/ 0 h 844604"/>
                <a:gd name="connsiteX1" fmla="*/ 844604 w 844604"/>
                <a:gd name="connsiteY1" fmla="*/ 15273 h 844604"/>
                <a:gd name="connsiteX2" fmla="*/ 15273 w 844604"/>
                <a:gd name="connsiteY2" fmla="*/ 844604 h 844604"/>
                <a:gd name="connsiteX3" fmla="*/ 0 w 844604"/>
                <a:gd name="connsiteY3" fmla="*/ 844604 h 844604"/>
                <a:gd name="connsiteX4" fmla="*/ 844604 w 844604"/>
                <a:gd name="connsiteY4" fmla="*/ 0 h 84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4604" h="844604">
                  <a:moveTo>
                    <a:pt x="844604" y="0"/>
                  </a:moveTo>
                  <a:lnTo>
                    <a:pt x="844604" y="15273"/>
                  </a:lnTo>
                  <a:lnTo>
                    <a:pt x="15273" y="844604"/>
                  </a:lnTo>
                  <a:lnTo>
                    <a:pt x="0" y="844604"/>
                  </a:lnTo>
                  <a:lnTo>
                    <a:pt x="844604"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3" name="ES_Line130"/>
            <p:cNvSpPr/>
            <p:nvPr userDrawn="1"/>
          </p:nvSpPr>
          <p:spPr bwMode="gray">
            <a:xfrm>
              <a:off x="9488802" y="6365238"/>
              <a:ext cx="753748" cy="753748"/>
            </a:xfrm>
            <a:custGeom>
              <a:avLst/>
              <a:gdLst>
                <a:gd name="connsiteX0" fmla="*/ 753748 w 753748"/>
                <a:gd name="connsiteY0" fmla="*/ 0 h 753748"/>
                <a:gd name="connsiteX1" fmla="*/ 753748 w 753748"/>
                <a:gd name="connsiteY1" fmla="*/ 15273 h 753748"/>
                <a:gd name="connsiteX2" fmla="*/ 15273 w 753748"/>
                <a:gd name="connsiteY2" fmla="*/ 753748 h 753748"/>
                <a:gd name="connsiteX3" fmla="*/ 0 w 753748"/>
                <a:gd name="connsiteY3" fmla="*/ 753748 h 753748"/>
                <a:gd name="connsiteX4" fmla="*/ 753748 w 753748"/>
                <a:gd name="connsiteY4" fmla="*/ 0 h 753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748" h="753748">
                  <a:moveTo>
                    <a:pt x="753748" y="0"/>
                  </a:moveTo>
                  <a:lnTo>
                    <a:pt x="753748" y="15273"/>
                  </a:lnTo>
                  <a:lnTo>
                    <a:pt x="15273" y="753748"/>
                  </a:lnTo>
                  <a:lnTo>
                    <a:pt x="0" y="753748"/>
                  </a:lnTo>
                  <a:lnTo>
                    <a:pt x="753748"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2" name="ES_Line131"/>
            <p:cNvSpPr/>
            <p:nvPr userDrawn="1"/>
          </p:nvSpPr>
          <p:spPr bwMode="gray">
            <a:xfrm>
              <a:off x="9579658" y="6456094"/>
              <a:ext cx="662892" cy="662892"/>
            </a:xfrm>
            <a:custGeom>
              <a:avLst/>
              <a:gdLst>
                <a:gd name="connsiteX0" fmla="*/ 662892 w 662892"/>
                <a:gd name="connsiteY0" fmla="*/ 0 h 662892"/>
                <a:gd name="connsiteX1" fmla="*/ 662892 w 662892"/>
                <a:gd name="connsiteY1" fmla="*/ 15273 h 662892"/>
                <a:gd name="connsiteX2" fmla="*/ 15273 w 662892"/>
                <a:gd name="connsiteY2" fmla="*/ 662892 h 662892"/>
                <a:gd name="connsiteX3" fmla="*/ 0 w 662892"/>
                <a:gd name="connsiteY3" fmla="*/ 662892 h 662892"/>
                <a:gd name="connsiteX4" fmla="*/ 662892 w 662892"/>
                <a:gd name="connsiteY4" fmla="*/ 0 h 662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892" h="662892">
                  <a:moveTo>
                    <a:pt x="662892" y="0"/>
                  </a:moveTo>
                  <a:lnTo>
                    <a:pt x="662892" y="15273"/>
                  </a:lnTo>
                  <a:lnTo>
                    <a:pt x="15273" y="662892"/>
                  </a:lnTo>
                  <a:lnTo>
                    <a:pt x="0" y="662892"/>
                  </a:lnTo>
                  <a:lnTo>
                    <a:pt x="662892"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1" name="ES_Line132"/>
            <p:cNvSpPr/>
            <p:nvPr userDrawn="1"/>
          </p:nvSpPr>
          <p:spPr bwMode="gray">
            <a:xfrm>
              <a:off x="9670514" y="6546950"/>
              <a:ext cx="572036" cy="572036"/>
            </a:xfrm>
            <a:custGeom>
              <a:avLst/>
              <a:gdLst>
                <a:gd name="connsiteX0" fmla="*/ 572036 w 572036"/>
                <a:gd name="connsiteY0" fmla="*/ 0 h 572036"/>
                <a:gd name="connsiteX1" fmla="*/ 572036 w 572036"/>
                <a:gd name="connsiteY1" fmla="*/ 15273 h 572036"/>
                <a:gd name="connsiteX2" fmla="*/ 15273 w 572036"/>
                <a:gd name="connsiteY2" fmla="*/ 572036 h 572036"/>
                <a:gd name="connsiteX3" fmla="*/ 0 w 572036"/>
                <a:gd name="connsiteY3" fmla="*/ 572036 h 572036"/>
                <a:gd name="connsiteX4" fmla="*/ 572036 w 572036"/>
                <a:gd name="connsiteY4" fmla="*/ 0 h 572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036" h="572036">
                  <a:moveTo>
                    <a:pt x="572036" y="0"/>
                  </a:moveTo>
                  <a:lnTo>
                    <a:pt x="572036" y="15273"/>
                  </a:lnTo>
                  <a:lnTo>
                    <a:pt x="15273" y="572036"/>
                  </a:lnTo>
                  <a:lnTo>
                    <a:pt x="0" y="572036"/>
                  </a:lnTo>
                  <a:lnTo>
                    <a:pt x="57203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70" name="ES_Line133"/>
            <p:cNvSpPr/>
            <p:nvPr userDrawn="1"/>
          </p:nvSpPr>
          <p:spPr bwMode="gray">
            <a:xfrm>
              <a:off x="9761370" y="6637806"/>
              <a:ext cx="481180" cy="481180"/>
            </a:xfrm>
            <a:custGeom>
              <a:avLst/>
              <a:gdLst>
                <a:gd name="connsiteX0" fmla="*/ 481180 w 481180"/>
                <a:gd name="connsiteY0" fmla="*/ 0 h 481180"/>
                <a:gd name="connsiteX1" fmla="*/ 481180 w 481180"/>
                <a:gd name="connsiteY1" fmla="*/ 15273 h 481180"/>
                <a:gd name="connsiteX2" fmla="*/ 15273 w 481180"/>
                <a:gd name="connsiteY2" fmla="*/ 481180 h 481180"/>
                <a:gd name="connsiteX3" fmla="*/ 0 w 481180"/>
                <a:gd name="connsiteY3" fmla="*/ 481180 h 481180"/>
                <a:gd name="connsiteX4" fmla="*/ 481180 w 481180"/>
                <a:gd name="connsiteY4" fmla="*/ 0 h 481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180" h="481180">
                  <a:moveTo>
                    <a:pt x="481180" y="0"/>
                  </a:moveTo>
                  <a:lnTo>
                    <a:pt x="481180" y="15273"/>
                  </a:lnTo>
                  <a:lnTo>
                    <a:pt x="15273" y="481180"/>
                  </a:lnTo>
                  <a:lnTo>
                    <a:pt x="0" y="481180"/>
                  </a:lnTo>
                  <a:lnTo>
                    <a:pt x="481180"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9" name="ES_Line134"/>
            <p:cNvSpPr/>
            <p:nvPr userDrawn="1"/>
          </p:nvSpPr>
          <p:spPr bwMode="gray">
            <a:xfrm>
              <a:off x="9852226" y="6728662"/>
              <a:ext cx="390324" cy="390324"/>
            </a:xfrm>
            <a:custGeom>
              <a:avLst/>
              <a:gdLst>
                <a:gd name="connsiteX0" fmla="*/ 390324 w 390324"/>
                <a:gd name="connsiteY0" fmla="*/ 0 h 390324"/>
                <a:gd name="connsiteX1" fmla="*/ 390324 w 390324"/>
                <a:gd name="connsiteY1" fmla="*/ 15273 h 390324"/>
                <a:gd name="connsiteX2" fmla="*/ 15273 w 390324"/>
                <a:gd name="connsiteY2" fmla="*/ 390324 h 390324"/>
                <a:gd name="connsiteX3" fmla="*/ 0 w 390324"/>
                <a:gd name="connsiteY3" fmla="*/ 390324 h 390324"/>
                <a:gd name="connsiteX4" fmla="*/ 390324 w 390324"/>
                <a:gd name="connsiteY4" fmla="*/ 0 h 390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324" h="390324">
                  <a:moveTo>
                    <a:pt x="390324" y="0"/>
                  </a:moveTo>
                  <a:lnTo>
                    <a:pt x="390324" y="15273"/>
                  </a:lnTo>
                  <a:lnTo>
                    <a:pt x="15273" y="390324"/>
                  </a:lnTo>
                  <a:lnTo>
                    <a:pt x="0" y="390324"/>
                  </a:lnTo>
                  <a:lnTo>
                    <a:pt x="390324"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8" name="ES_Line135"/>
            <p:cNvSpPr/>
            <p:nvPr userDrawn="1"/>
          </p:nvSpPr>
          <p:spPr bwMode="gray">
            <a:xfrm>
              <a:off x="9943082" y="6819518"/>
              <a:ext cx="299468" cy="299468"/>
            </a:xfrm>
            <a:custGeom>
              <a:avLst/>
              <a:gdLst>
                <a:gd name="connsiteX0" fmla="*/ 299468 w 299468"/>
                <a:gd name="connsiteY0" fmla="*/ 0 h 299468"/>
                <a:gd name="connsiteX1" fmla="*/ 299468 w 299468"/>
                <a:gd name="connsiteY1" fmla="*/ 15273 h 299468"/>
                <a:gd name="connsiteX2" fmla="*/ 15273 w 299468"/>
                <a:gd name="connsiteY2" fmla="*/ 299468 h 299468"/>
                <a:gd name="connsiteX3" fmla="*/ 0 w 299468"/>
                <a:gd name="connsiteY3" fmla="*/ 299468 h 299468"/>
                <a:gd name="connsiteX4" fmla="*/ 299468 w 299468"/>
                <a:gd name="connsiteY4" fmla="*/ 0 h 299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468" h="299468">
                  <a:moveTo>
                    <a:pt x="299468" y="0"/>
                  </a:moveTo>
                  <a:lnTo>
                    <a:pt x="299468" y="15273"/>
                  </a:lnTo>
                  <a:lnTo>
                    <a:pt x="15273" y="299468"/>
                  </a:lnTo>
                  <a:lnTo>
                    <a:pt x="0" y="299468"/>
                  </a:lnTo>
                  <a:lnTo>
                    <a:pt x="299468"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7" name="ES_Line136"/>
            <p:cNvSpPr/>
            <p:nvPr userDrawn="1"/>
          </p:nvSpPr>
          <p:spPr bwMode="gray">
            <a:xfrm>
              <a:off x="10033938" y="6910374"/>
              <a:ext cx="208612" cy="208612"/>
            </a:xfrm>
            <a:custGeom>
              <a:avLst/>
              <a:gdLst>
                <a:gd name="connsiteX0" fmla="*/ 208612 w 208612"/>
                <a:gd name="connsiteY0" fmla="*/ 0 h 208612"/>
                <a:gd name="connsiteX1" fmla="*/ 208612 w 208612"/>
                <a:gd name="connsiteY1" fmla="*/ 15273 h 208612"/>
                <a:gd name="connsiteX2" fmla="*/ 15273 w 208612"/>
                <a:gd name="connsiteY2" fmla="*/ 208612 h 208612"/>
                <a:gd name="connsiteX3" fmla="*/ 0 w 208612"/>
                <a:gd name="connsiteY3" fmla="*/ 208612 h 208612"/>
                <a:gd name="connsiteX4" fmla="*/ 208612 w 208612"/>
                <a:gd name="connsiteY4" fmla="*/ 0 h 208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12" h="208612">
                  <a:moveTo>
                    <a:pt x="208612" y="0"/>
                  </a:moveTo>
                  <a:lnTo>
                    <a:pt x="208612" y="15273"/>
                  </a:lnTo>
                  <a:lnTo>
                    <a:pt x="15273" y="208612"/>
                  </a:lnTo>
                  <a:lnTo>
                    <a:pt x="0" y="208612"/>
                  </a:lnTo>
                  <a:lnTo>
                    <a:pt x="208612"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6" name="ES_Line137"/>
            <p:cNvSpPr/>
            <p:nvPr userDrawn="1"/>
          </p:nvSpPr>
          <p:spPr bwMode="gray">
            <a:xfrm>
              <a:off x="10124794" y="7001230"/>
              <a:ext cx="117756" cy="117756"/>
            </a:xfrm>
            <a:custGeom>
              <a:avLst/>
              <a:gdLst>
                <a:gd name="connsiteX0" fmla="*/ 117756 w 117756"/>
                <a:gd name="connsiteY0" fmla="*/ 0 h 117756"/>
                <a:gd name="connsiteX1" fmla="*/ 117756 w 117756"/>
                <a:gd name="connsiteY1" fmla="*/ 15273 h 117756"/>
                <a:gd name="connsiteX2" fmla="*/ 15273 w 117756"/>
                <a:gd name="connsiteY2" fmla="*/ 117756 h 117756"/>
                <a:gd name="connsiteX3" fmla="*/ 0 w 117756"/>
                <a:gd name="connsiteY3" fmla="*/ 117756 h 117756"/>
                <a:gd name="connsiteX4" fmla="*/ 117756 w 117756"/>
                <a:gd name="connsiteY4" fmla="*/ 0 h 117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756" h="117756">
                  <a:moveTo>
                    <a:pt x="117756" y="0"/>
                  </a:moveTo>
                  <a:lnTo>
                    <a:pt x="117756" y="15273"/>
                  </a:lnTo>
                  <a:lnTo>
                    <a:pt x="15273" y="117756"/>
                  </a:lnTo>
                  <a:lnTo>
                    <a:pt x="0" y="117756"/>
                  </a:lnTo>
                  <a:lnTo>
                    <a:pt x="117756"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5" name="ES_Line138"/>
            <p:cNvSpPr/>
            <p:nvPr userDrawn="1"/>
          </p:nvSpPr>
          <p:spPr bwMode="gray">
            <a:xfrm>
              <a:off x="10215650" y="7092086"/>
              <a:ext cx="26900" cy="26900"/>
            </a:xfrm>
            <a:custGeom>
              <a:avLst/>
              <a:gdLst>
                <a:gd name="connsiteX0" fmla="*/ 26900 w 26900"/>
                <a:gd name="connsiteY0" fmla="*/ 0 h 26900"/>
                <a:gd name="connsiteX1" fmla="*/ 26900 w 26900"/>
                <a:gd name="connsiteY1" fmla="*/ 15273 h 26900"/>
                <a:gd name="connsiteX2" fmla="*/ 15273 w 26900"/>
                <a:gd name="connsiteY2" fmla="*/ 26900 h 26900"/>
                <a:gd name="connsiteX3" fmla="*/ 0 w 26900"/>
                <a:gd name="connsiteY3" fmla="*/ 26900 h 26900"/>
                <a:gd name="connsiteX4" fmla="*/ 26900 w 26900"/>
                <a:gd name="connsiteY4" fmla="*/ 0 h 26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00" h="26900">
                  <a:moveTo>
                    <a:pt x="26900" y="0"/>
                  </a:moveTo>
                  <a:lnTo>
                    <a:pt x="26900" y="15273"/>
                  </a:lnTo>
                  <a:lnTo>
                    <a:pt x="15273" y="26900"/>
                  </a:lnTo>
                  <a:lnTo>
                    <a:pt x="0" y="26900"/>
                  </a:lnTo>
                  <a:lnTo>
                    <a:pt x="26900" y="0"/>
                  </a:lnTo>
                  <a:close/>
                </a:path>
              </a:pathLst>
            </a:custGeom>
            <a:solidFill>
              <a:srgbClr val="242223"/>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grpSp>
      <p:sp>
        <p:nvSpPr>
          <p:cNvPr id="6" name="ES_Shape1"/>
          <p:cNvSpPr>
            <a:spLocks/>
          </p:cNvSpPr>
          <p:nvPr userDrawn="1"/>
        </p:nvSpPr>
        <p:spPr bwMode="gray">
          <a:xfrm>
            <a:off x="1381124" y="5276849"/>
            <a:ext cx="9310689" cy="1842136"/>
          </a:xfrm>
          <a:prstGeom prst="rect">
            <a:avLst/>
          </a:prstGeom>
          <a:solidFill>
            <a:schemeClr val="accent3"/>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62" name="ES_Shape3"/>
          <p:cNvSpPr/>
          <p:nvPr userDrawn="1"/>
        </p:nvSpPr>
        <p:spPr bwMode="gray">
          <a:xfrm>
            <a:off x="1381125" y="6193157"/>
            <a:ext cx="920117" cy="925831"/>
          </a:xfrm>
          <a:custGeom>
            <a:avLst/>
            <a:gdLst>
              <a:gd name="connsiteX0" fmla="*/ 0 w 920116"/>
              <a:gd name="connsiteY0" fmla="*/ 0 h 925831"/>
              <a:gd name="connsiteX1" fmla="*/ 920116 w 920116"/>
              <a:gd name="connsiteY1" fmla="*/ 0 h 925831"/>
              <a:gd name="connsiteX2" fmla="*/ 920116 w 920116"/>
              <a:gd name="connsiteY2" fmla="*/ 925831 h 925831"/>
              <a:gd name="connsiteX3" fmla="*/ 0 w 920116"/>
              <a:gd name="connsiteY3" fmla="*/ 925831 h 925831"/>
              <a:gd name="connsiteX4" fmla="*/ 0 w 920116"/>
              <a:gd name="connsiteY4" fmla="*/ 0 h 925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116" h="925831">
                <a:moveTo>
                  <a:pt x="0" y="0"/>
                </a:moveTo>
                <a:lnTo>
                  <a:pt x="920116" y="0"/>
                </a:lnTo>
                <a:lnTo>
                  <a:pt x="920116" y="925831"/>
                </a:lnTo>
                <a:lnTo>
                  <a:pt x="0" y="925831"/>
                </a:lnTo>
                <a:lnTo>
                  <a:pt x="0" y="0"/>
                </a:lnTo>
                <a:close/>
              </a:path>
            </a:pathLst>
          </a:custGeom>
          <a:solidFill>
            <a:srgbClr val="FFFFFF"/>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23" name="ES_Shape4"/>
          <p:cNvSpPr/>
          <p:nvPr userDrawn="1"/>
        </p:nvSpPr>
        <p:spPr bwMode="gray">
          <a:xfrm>
            <a:off x="1381124" y="6658293"/>
            <a:ext cx="460693" cy="460693"/>
          </a:xfrm>
          <a:custGeom>
            <a:avLst/>
            <a:gdLst>
              <a:gd name="connsiteX0" fmla="*/ 0 w 920116"/>
              <a:gd name="connsiteY0" fmla="*/ 0 h 925831"/>
              <a:gd name="connsiteX1" fmla="*/ 920116 w 920116"/>
              <a:gd name="connsiteY1" fmla="*/ 0 h 925831"/>
              <a:gd name="connsiteX2" fmla="*/ 920116 w 920116"/>
              <a:gd name="connsiteY2" fmla="*/ 925831 h 925831"/>
              <a:gd name="connsiteX3" fmla="*/ 0 w 920116"/>
              <a:gd name="connsiteY3" fmla="*/ 925831 h 925831"/>
              <a:gd name="connsiteX4" fmla="*/ 0 w 920116"/>
              <a:gd name="connsiteY4" fmla="*/ 0 h 925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116" h="925831">
                <a:moveTo>
                  <a:pt x="0" y="0"/>
                </a:moveTo>
                <a:lnTo>
                  <a:pt x="920116" y="0"/>
                </a:lnTo>
                <a:lnTo>
                  <a:pt x="920116" y="925831"/>
                </a:lnTo>
                <a:lnTo>
                  <a:pt x="0" y="925831"/>
                </a:lnTo>
                <a:lnTo>
                  <a:pt x="0" y="0"/>
                </a:lnTo>
                <a:close/>
              </a:path>
            </a:pathLst>
          </a:custGeom>
          <a:solidFill>
            <a:srgbClr val="006298"/>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1" name="RemarkText" hidden="1"/>
          <p:cNvSpPr txBox="1">
            <a:spLocks/>
          </p:cNvSpPr>
          <p:nvPr userDrawn="1">
            <p:custDataLst>
              <p:tags r:id="rId1"/>
            </p:custDataLst>
          </p:nvPr>
        </p:nvSpPr>
        <p:spPr>
          <a:xfrm>
            <a:off x="5511686" y="7186719"/>
            <a:ext cx="4730864" cy="145157"/>
          </a:xfrm>
          <a:prstGeom prst="rect">
            <a:avLst/>
          </a:prstGeom>
        </p:spPr>
        <p:txBody>
          <a:bodyPr vert="horz" wrap="none" lIns="0" tIns="0" rIns="0" bIns="0" rtlCol="0" anchor="t"/>
          <a:lstStyle>
            <a:defPPr>
              <a:defRPr lang="en-US"/>
            </a:defPPr>
            <a:lvl1pPr algn="r">
              <a:defRPr sz="800">
                <a:solidFill>
                  <a:srgbClr val="B1B2B3"/>
                </a:solidFill>
              </a:defRPr>
            </a:lvl1pPr>
          </a:lstStyle>
          <a:p>
            <a:pPr lvl="0" algn="r"/>
            <a:endParaRPr lang="en-US" sz="800" noProof="0" dirty="0">
              <a:solidFill>
                <a:schemeClr val="tx1"/>
              </a:solidFill>
              <a:latin typeface="+mn-lt"/>
            </a:endParaRPr>
          </a:p>
        </p:txBody>
      </p:sp>
      <p:sp>
        <p:nvSpPr>
          <p:cNvPr id="3" name="Subtitle"/>
          <p:cNvSpPr>
            <a:spLocks noGrp="1"/>
          </p:cNvSpPr>
          <p:nvPr>
            <p:ph type="subTitle" idx="1"/>
          </p:nvPr>
        </p:nvSpPr>
        <p:spPr>
          <a:xfrm>
            <a:off x="954089" y="3634009"/>
            <a:ext cx="6840091" cy="597365"/>
          </a:xfrm>
        </p:spPr>
        <p:txBody>
          <a:bodyPr lIns="0" tIns="0" rIns="0" bIns="0">
            <a:noAutofit/>
          </a:bodyPr>
          <a:lstStyle>
            <a:lvl1pPr marL="0" indent="0" algn="l">
              <a:buNone/>
              <a:defRPr sz="1900" b="0" baseline="0">
                <a:solidFill>
                  <a:schemeClr val="tx1"/>
                </a:solidFill>
                <a:latin typeface="Arial" panose="020B0604020202020204" pitchFamily="34" charset="0"/>
              </a:defRPr>
            </a:lvl1pPr>
            <a:lvl2pPr marL="493427" indent="0" algn="ctr">
              <a:buNone/>
              <a:defRPr>
                <a:solidFill>
                  <a:schemeClr val="tx1">
                    <a:tint val="75000"/>
                  </a:schemeClr>
                </a:solidFill>
              </a:defRPr>
            </a:lvl2pPr>
            <a:lvl3pPr marL="986855" indent="0" algn="ctr">
              <a:buNone/>
              <a:defRPr>
                <a:solidFill>
                  <a:schemeClr val="tx1">
                    <a:tint val="75000"/>
                  </a:schemeClr>
                </a:solidFill>
              </a:defRPr>
            </a:lvl3pPr>
            <a:lvl4pPr marL="1480283" indent="0" algn="ctr">
              <a:buNone/>
              <a:defRPr>
                <a:solidFill>
                  <a:schemeClr val="tx1">
                    <a:tint val="75000"/>
                  </a:schemeClr>
                </a:solidFill>
              </a:defRPr>
            </a:lvl4pPr>
            <a:lvl5pPr marL="1973709" indent="0" algn="ctr">
              <a:buNone/>
              <a:defRPr>
                <a:solidFill>
                  <a:schemeClr val="tx1">
                    <a:tint val="75000"/>
                  </a:schemeClr>
                </a:solidFill>
              </a:defRPr>
            </a:lvl5pPr>
            <a:lvl6pPr marL="2467137" indent="0" algn="ctr">
              <a:buNone/>
              <a:defRPr>
                <a:solidFill>
                  <a:schemeClr val="tx1">
                    <a:tint val="75000"/>
                  </a:schemeClr>
                </a:solidFill>
              </a:defRPr>
            </a:lvl6pPr>
            <a:lvl7pPr marL="2960564" indent="0" algn="ctr">
              <a:buNone/>
              <a:defRPr>
                <a:solidFill>
                  <a:schemeClr val="tx1">
                    <a:tint val="75000"/>
                  </a:schemeClr>
                </a:solidFill>
              </a:defRPr>
            </a:lvl7pPr>
            <a:lvl8pPr marL="3453991" indent="0" algn="ctr">
              <a:buNone/>
              <a:defRPr>
                <a:solidFill>
                  <a:schemeClr val="tx1">
                    <a:tint val="75000"/>
                  </a:schemeClr>
                </a:solidFill>
              </a:defRPr>
            </a:lvl8pPr>
            <a:lvl9pPr marL="3947419" indent="0" algn="ctr">
              <a:buNone/>
              <a:defRPr>
                <a:solidFill>
                  <a:schemeClr val="tx1">
                    <a:tint val="75000"/>
                  </a:schemeClr>
                </a:solidFill>
              </a:defRPr>
            </a:lvl9pPr>
          </a:lstStyle>
          <a:p>
            <a:r>
              <a:rPr lang="en-US" dirty="0" smtClean="0"/>
              <a:t>Click to edit Master subtitle style</a:t>
            </a:r>
            <a:endParaRPr lang="en-US" dirty="0"/>
          </a:p>
        </p:txBody>
      </p:sp>
      <p:sp>
        <p:nvSpPr>
          <p:cNvPr id="2" name="Title"/>
          <p:cNvSpPr>
            <a:spLocks noGrp="1"/>
          </p:cNvSpPr>
          <p:nvPr>
            <p:ph type="ctrTitle"/>
          </p:nvPr>
        </p:nvSpPr>
        <p:spPr>
          <a:xfrm>
            <a:off x="954088" y="2411684"/>
            <a:ext cx="6840090" cy="1126299"/>
          </a:xfrm>
        </p:spPr>
        <p:txBody>
          <a:bodyPr tIns="17998" anchor="t"/>
          <a:lstStyle>
            <a:lvl1pPr>
              <a:lnSpc>
                <a:spcPct val="95000"/>
              </a:lnSpc>
              <a:defRPr sz="3500" baseline="0">
                <a:solidFill>
                  <a:schemeClr val="tx1"/>
                </a:solidFill>
                <a:latin typeface="+mj-lt"/>
              </a:defRPr>
            </a:lvl1pPr>
          </a:lstStyle>
          <a:p>
            <a:r>
              <a:rPr lang="en-US" dirty="0" smtClean="0"/>
              <a:t>Click to edit Master title style</a:t>
            </a:r>
            <a:endParaRPr lang="en-US" dirty="0"/>
          </a:p>
        </p:txBody>
      </p:sp>
      <p:sp>
        <p:nvSpPr>
          <p:cNvPr id="153" name="Text Placeholder 2"/>
          <p:cNvSpPr>
            <a:spLocks noGrp="1"/>
          </p:cNvSpPr>
          <p:nvPr>
            <p:ph type="body" sz="quarter" idx="14" hasCustomPrompt="1"/>
          </p:nvPr>
        </p:nvSpPr>
        <p:spPr>
          <a:xfrm flipH="1">
            <a:off x="2753199" y="5796607"/>
            <a:ext cx="2304000" cy="452432"/>
          </a:xfrm>
        </p:spPr>
        <p:txBody>
          <a:bodyPr vert="horz" wrap="none" lIns="0" tIns="0" rIns="0" bIns="0" rtlCol="0" anchor="b">
            <a:noAutofit/>
          </a:bodyPr>
          <a:lstStyle>
            <a:lvl1pPr marL="0" indent="0">
              <a:buFontTx/>
              <a:buNone/>
              <a:defRPr lang="en-US" sz="1400" b="0" kern="1200" dirty="0">
                <a:solidFill>
                  <a:srgbClr val="000000"/>
                </a:solidFill>
                <a:latin typeface="+mn-lt"/>
                <a:ea typeface="+mn-ea"/>
                <a:cs typeface="+mn-cs"/>
              </a:defRPr>
            </a:lvl1pPr>
          </a:lstStyle>
          <a:p>
            <a:pPr marL="0" lvl="0"/>
            <a:r>
              <a:rPr lang="en-US" dirty="0" smtClean="0"/>
              <a:t>Name</a:t>
            </a:r>
            <a:br>
              <a:rPr lang="en-US" dirty="0" smtClean="0"/>
            </a:br>
            <a:r>
              <a:rPr lang="en-US" dirty="0" smtClean="0"/>
              <a:t>Function</a:t>
            </a:r>
            <a:endParaRPr lang="en-US" dirty="0"/>
          </a:p>
        </p:txBody>
      </p:sp>
      <p:sp>
        <p:nvSpPr>
          <p:cNvPr id="154" name="Date"/>
          <p:cNvSpPr txBox="1">
            <a:spLocks/>
          </p:cNvSpPr>
          <p:nvPr userDrawn="1">
            <p:custDataLst>
              <p:tags r:id="rId2"/>
            </p:custDataLst>
          </p:nvPr>
        </p:nvSpPr>
        <p:spPr>
          <a:xfrm>
            <a:off x="2753135" y="6254301"/>
            <a:ext cx="2304000" cy="226216"/>
          </a:xfrm>
          <a:prstGeom prst="rect">
            <a:avLst/>
          </a:prstGeom>
        </p:spPr>
        <p:txBody>
          <a:bodyPr vert="horz" wrap="none" lIns="0" tIns="0" rIns="0" bIns="0" rtlCol="0" anchor="t">
            <a:noAutofit/>
          </a:bodyPr>
          <a:lstStyle>
            <a:defPPr>
              <a:defRPr lang="en-US"/>
            </a:defPPr>
            <a:lvl1pPr lvl="0" indent="0" defTabSz="986912">
              <a:lnSpc>
                <a:spcPct val="105000"/>
              </a:lnSpc>
              <a:spcBef>
                <a:spcPts val="0"/>
              </a:spcBef>
              <a:buClr>
                <a:srgbClr val="000000"/>
              </a:buClr>
              <a:buFontTx/>
              <a:buNone/>
              <a:defRPr sz="1400" b="0">
                <a:solidFill>
                  <a:srgbClr val="000000"/>
                </a:solidFill>
              </a:defRPr>
            </a:lvl1pPr>
            <a:lvl2pPr marL="358775" indent="-179388" defTabSz="986912">
              <a:lnSpc>
                <a:spcPct val="105000"/>
              </a:lnSpc>
              <a:spcBef>
                <a:spcPts val="0"/>
              </a:spcBef>
              <a:buClr>
                <a:srgbClr val="000000"/>
              </a:buClr>
              <a:buFont typeface="Arial" panose="020B0604020202020204" pitchFamily="34" charset="0"/>
              <a:buChar char="–"/>
              <a:defRPr sz="1400"/>
            </a:lvl2pPr>
            <a:lvl3pPr marL="538163" indent="-179388" defTabSz="986912">
              <a:lnSpc>
                <a:spcPct val="105000"/>
              </a:lnSpc>
              <a:spcBef>
                <a:spcPts val="0"/>
              </a:spcBef>
              <a:buClr>
                <a:srgbClr val="000000"/>
              </a:buClr>
              <a:buFont typeface="Arial" panose="020B0604020202020204" pitchFamily="34" charset="0"/>
              <a:buChar char="–"/>
              <a:defRPr sz="1200"/>
            </a:lvl3pPr>
            <a:lvl4pPr marL="719138" indent="-180975" defTabSz="986912">
              <a:lnSpc>
                <a:spcPct val="105000"/>
              </a:lnSpc>
              <a:spcBef>
                <a:spcPts val="0"/>
              </a:spcBef>
              <a:buClr>
                <a:srgbClr val="000000"/>
              </a:buClr>
              <a:buFont typeface="Arial" panose="020B0604020202020204" pitchFamily="34" charset="0"/>
              <a:buChar char="–"/>
              <a:defRPr sz="1000"/>
            </a:lvl4pPr>
            <a:lvl5pPr marL="898525" indent="-179388" defTabSz="986912">
              <a:lnSpc>
                <a:spcPct val="105000"/>
              </a:lnSpc>
              <a:spcBef>
                <a:spcPts val="0"/>
              </a:spcBef>
              <a:buClr>
                <a:srgbClr val="000000"/>
              </a:buClr>
              <a:buFont typeface="Arial" panose="020B0604020202020204" pitchFamily="34" charset="0"/>
              <a:buChar char="–"/>
              <a:defRPr sz="1000"/>
            </a:lvl5pPr>
            <a:lvl6pPr marL="1077913" indent="-179388" defTabSz="986912">
              <a:lnSpc>
                <a:spcPct val="105000"/>
              </a:lnSpc>
              <a:spcBef>
                <a:spcPts val="0"/>
              </a:spcBef>
              <a:buFont typeface="Arial" panose="020B0604020202020204" pitchFamily="34" charset="0"/>
              <a:buChar char="–"/>
              <a:defRPr sz="1000"/>
            </a:lvl6pPr>
            <a:lvl7pPr marL="1257300" indent="-179388" defTabSz="986912">
              <a:lnSpc>
                <a:spcPct val="105000"/>
              </a:lnSpc>
              <a:spcBef>
                <a:spcPts val="0"/>
              </a:spcBef>
              <a:buFont typeface="Arial" panose="020B0604020202020204" pitchFamily="34" charset="0"/>
              <a:buChar char="–"/>
              <a:defRPr sz="1000"/>
            </a:lvl7pPr>
            <a:lvl8pPr marL="1436688" indent="-179388" defTabSz="986912">
              <a:lnSpc>
                <a:spcPct val="105000"/>
              </a:lnSpc>
              <a:spcBef>
                <a:spcPts val="0"/>
              </a:spcBef>
              <a:buFont typeface="Arial" panose="020B0604020202020204" pitchFamily="34" charset="0"/>
              <a:buChar char="–"/>
              <a:defRPr sz="1000"/>
            </a:lvl8pPr>
            <a:lvl9pPr marL="1616075" indent="-179388" defTabSz="986912">
              <a:lnSpc>
                <a:spcPct val="105000"/>
              </a:lnSpc>
              <a:spcBef>
                <a:spcPts val="0"/>
              </a:spcBef>
              <a:buFont typeface="Arial" panose="020B0604020202020204" pitchFamily="34" charset="0"/>
              <a:buChar char="–"/>
              <a:defRPr sz="1000"/>
            </a:lvl9pPr>
          </a:lstStyle>
          <a:p>
            <a:pPr lvl="0"/>
            <a:r>
              <a:rPr lang="en-US" noProof="0" smtClean="0"/>
              <a:t>March 2019</a:t>
            </a:r>
            <a:endParaRPr lang="en-US" noProof="0" dirty="0"/>
          </a:p>
        </p:txBody>
      </p:sp>
      <p:sp>
        <p:nvSpPr>
          <p:cNvPr id="155" name="Text Placeholder 2"/>
          <p:cNvSpPr>
            <a:spLocks noGrp="1"/>
          </p:cNvSpPr>
          <p:nvPr>
            <p:ph type="body" sz="quarter" idx="15" hasCustomPrompt="1"/>
          </p:nvPr>
        </p:nvSpPr>
        <p:spPr>
          <a:xfrm flipH="1">
            <a:off x="7940138" y="5796607"/>
            <a:ext cx="2304000" cy="452432"/>
          </a:xfrm>
        </p:spPr>
        <p:txBody>
          <a:bodyPr vert="horz" wrap="none" lIns="0" tIns="0" rIns="0" bIns="0" rtlCol="0" anchor="b">
            <a:noAutofit/>
          </a:bodyPr>
          <a:lstStyle>
            <a:lvl1pPr marL="0" indent="0">
              <a:buFontTx/>
              <a:buNone/>
              <a:defRPr lang="en-US" sz="1400" b="0" kern="1200" dirty="0">
                <a:solidFill>
                  <a:srgbClr val="000000"/>
                </a:solidFill>
                <a:latin typeface="+mn-lt"/>
                <a:ea typeface="+mn-ea"/>
                <a:cs typeface="+mn-cs"/>
              </a:defRPr>
            </a:lvl1pPr>
          </a:lstStyle>
          <a:p>
            <a:pPr marL="0" lvl="0"/>
            <a:r>
              <a:rPr lang="en-US" dirty="0" smtClean="0"/>
              <a:t>Name</a:t>
            </a:r>
            <a:br>
              <a:rPr lang="en-US" dirty="0" smtClean="0"/>
            </a:br>
            <a:r>
              <a:rPr lang="en-US" dirty="0" smtClean="0"/>
              <a:t>Function</a:t>
            </a:r>
            <a:endParaRPr lang="en-US" dirty="0"/>
          </a:p>
        </p:txBody>
      </p:sp>
      <p:sp>
        <p:nvSpPr>
          <p:cNvPr id="156" name="Text Placeholder 2"/>
          <p:cNvSpPr>
            <a:spLocks noGrp="1"/>
          </p:cNvSpPr>
          <p:nvPr>
            <p:ph type="body" sz="quarter" idx="16" hasCustomPrompt="1"/>
          </p:nvPr>
        </p:nvSpPr>
        <p:spPr>
          <a:xfrm flipH="1">
            <a:off x="5346668" y="5796607"/>
            <a:ext cx="2304000" cy="452432"/>
          </a:xfrm>
        </p:spPr>
        <p:txBody>
          <a:bodyPr vert="horz" wrap="none" lIns="0" tIns="0" rIns="0" bIns="0" rtlCol="0" anchor="b">
            <a:noAutofit/>
          </a:bodyPr>
          <a:lstStyle>
            <a:lvl1pPr marL="0" indent="0">
              <a:buFontTx/>
              <a:buNone/>
              <a:defRPr lang="en-US" sz="1400" b="0" kern="1200" dirty="0">
                <a:solidFill>
                  <a:srgbClr val="000000"/>
                </a:solidFill>
                <a:latin typeface="+mn-lt"/>
                <a:ea typeface="+mn-ea"/>
                <a:cs typeface="+mn-cs"/>
              </a:defRPr>
            </a:lvl1pPr>
          </a:lstStyle>
          <a:p>
            <a:pPr marL="0" lvl="0"/>
            <a:r>
              <a:rPr lang="en-US" dirty="0" smtClean="0"/>
              <a:t>Name</a:t>
            </a:r>
            <a:br>
              <a:rPr lang="en-US" dirty="0" smtClean="0"/>
            </a:br>
            <a:r>
              <a:rPr lang="en-US" dirty="0" smtClean="0"/>
              <a:t>Function</a:t>
            </a:r>
            <a:endParaRPr lang="en-US" dirty="0"/>
          </a:p>
        </p:txBody>
      </p:sp>
      <p:pic>
        <p:nvPicPr>
          <p:cNvPr id="157" name="Logo"/>
          <p:cNvPicPr>
            <a:picLocks noChangeAspect="1"/>
          </p:cNvPicPr>
          <p:nvPr userDrawn="1">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8424864" y="446350"/>
            <a:ext cx="1839119" cy="327636"/>
          </a:xfrm>
          <a:prstGeom prst="rect">
            <a:avLst/>
          </a:prstGeom>
        </p:spPr>
      </p:pic>
      <p:sp>
        <p:nvSpPr>
          <p:cNvPr id="158" name="BusinessDescriptor" hidden="1">
            <a:extLst>
              <a:ext uri="{FF2B5EF4-FFF2-40B4-BE49-F238E27FC236}">
                <a16:creationId xmlns:a16="http://schemas.microsoft.com/office/drawing/2014/main" id="{6FEF2F85-2B91-4915-9FEA-2FC8E68DE34D}"/>
              </a:ext>
            </a:extLst>
          </p:cNvPr>
          <p:cNvSpPr txBox="1">
            <a:spLocks/>
          </p:cNvSpPr>
          <p:nvPr userDrawn="1">
            <p:custDataLst>
              <p:tags r:id="rId4"/>
            </p:custDataLst>
          </p:nvPr>
        </p:nvSpPr>
        <p:spPr>
          <a:xfrm>
            <a:off x="954091" y="1766493"/>
            <a:ext cx="6847547" cy="492443"/>
          </a:xfrm>
          <a:prstGeom prst="rect">
            <a:avLst/>
          </a:prstGeom>
          <a:noFill/>
        </p:spPr>
        <p:txBody>
          <a:bodyPr wrap="square" lIns="0" tIns="0" rIns="0" bIns="0" rtlCol="0" anchor="ctr">
            <a:noAutofit/>
          </a:bodyPr>
          <a:lstStyle/>
          <a:p>
            <a:pPr algn="l"/>
            <a:endParaRPr lang="en-US" sz="1600" b="0" dirty="0">
              <a:solidFill>
                <a:schemeClr val="tx1"/>
              </a:solidFill>
              <a:latin typeface="Arial" panose="020B0604020202020204" pitchFamily="34" charset="0"/>
            </a:endParaRPr>
          </a:p>
        </p:txBody>
      </p:sp>
    </p:spTree>
    <p:extLst>
      <p:ext uri="{BB962C8B-B14F-4D97-AF65-F5344CB8AC3E}">
        <p14:creationId xmlns:p14="http://schemas.microsoft.com/office/powerpoint/2010/main" val="1074935444"/>
      </p:ext>
    </p:extLst>
  </p:cSld>
  <p:clrMapOvr>
    <a:masterClrMapping/>
  </p:clrMapOvr>
  <p:hf sldNum="0" hdr="0"/>
  <p:extLst mod="1">
    <p:ext uri="{DCECCB84-F9BA-43D5-87BE-67443E8EF086}">
      <p15:sldGuideLst xmlns:p15="http://schemas.microsoft.com/office/powerpoint/2012/main">
        <p15:guide id="1" pos="60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Graphite" preserve="1" userDrawn="1">
  <p:cSld name="Section Header Graphite">
    <p:spTree>
      <p:nvGrpSpPr>
        <p:cNvPr id="1" name=""/>
        <p:cNvGrpSpPr/>
        <p:nvPr/>
      </p:nvGrpSpPr>
      <p:grpSpPr>
        <a:xfrm>
          <a:off x="0" y="0"/>
          <a:ext cx="0" cy="0"/>
          <a:chOff x="0" y="0"/>
          <a:chExt cx="0" cy="0"/>
        </a:xfrm>
      </p:grpSpPr>
      <p:sp>
        <p:nvSpPr>
          <p:cNvPr id="7" name="Background"/>
          <p:cNvSpPr/>
          <p:nvPr userDrawn="1"/>
        </p:nvSpPr>
        <p:spPr bwMode="ltGray">
          <a:xfrm>
            <a:off x="449265" y="2"/>
            <a:ext cx="10242551" cy="6659563"/>
          </a:xfrm>
          <a:prstGeom prst="rect">
            <a:avLst/>
          </a:prstGeom>
          <a:solidFill>
            <a:srgbClr val="373A36"/>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4" name="Picture Placeholder"/>
          <p:cNvSpPr>
            <a:spLocks noGrp="1"/>
          </p:cNvSpPr>
          <p:nvPr>
            <p:ph type="pic" sz="quarter" idx="10" hasCustomPrompt="1"/>
          </p:nvPr>
        </p:nvSpPr>
        <p:spPr bwMode="gray">
          <a:xfrm>
            <a:off x="449265" y="2"/>
            <a:ext cx="10242551" cy="6659563"/>
          </a:xfrm>
        </p:spPr>
        <p:txBody>
          <a:bodyPr tIns="683961" anchor="ctr"/>
          <a:lstStyle>
            <a:lvl1pPr marL="0" indent="0" algn="ctr">
              <a:buNone/>
              <a:defRPr>
                <a:solidFill>
                  <a:srgbClr val="E0DBC9"/>
                </a:solidFill>
              </a:defRPr>
            </a:lvl1pPr>
          </a:lstStyle>
          <a:p>
            <a:r>
              <a:rPr lang="de-DE" dirty="0"/>
              <a:t>Add optional </a:t>
            </a:r>
            <a:r>
              <a:rPr lang="de-DE" dirty="0" err="1"/>
              <a:t>image</a:t>
            </a:r>
            <a:endParaRPr lang="de-DE" dirty="0"/>
          </a:p>
        </p:txBody>
      </p:sp>
      <p:sp>
        <p:nvSpPr>
          <p:cNvPr id="12" name="RemarkText" hidden="1"/>
          <p:cNvSpPr txBox="1">
            <a:spLocks/>
          </p:cNvSpPr>
          <p:nvPr userDrawn="1">
            <p:custDataLst>
              <p:tags r:id="rId1"/>
            </p:custDataLst>
          </p:nvPr>
        </p:nvSpPr>
        <p:spPr bwMode="gray">
          <a:xfrm>
            <a:off x="2127210" y="243163"/>
            <a:ext cx="4730864" cy="145157"/>
          </a:xfrm>
          <a:prstGeom prst="rect">
            <a:avLst/>
          </a:prstGeom>
        </p:spPr>
        <p:txBody>
          <a:bodyPr vert="horz" wrap="none" lIns="0" tIns="0" rIns="0" bIns="0" rtlCol="0" anchor="t"/>
          <a:lstStyle>
            <a:defPPr>
              <a:defRPr lang="en-US"/>
            </a:defPPr>
            <a:lvl1pPr algn="r">
              <a:defRPr sz="800">
                <a:solidFill>
                  <a:srgbClr val="B1B2B3"/>
                </a:solidFill>
              </a:defRPr>
            </a:lvl1pPr>
          </a:lstStyle>
          <a:p>
            <a:pPr lvl="0" algn="ctr"/>
            <a:endParaRPr lang="en-US" sz="800" noProof="0" dirty="0">
              <a:solidFill>
                <a:srgbClr val="FFFFFF"/>
              </a:solidFill>
              <a:latin typeface="+mn-lt"/>
            </a:endParaRPr>
          </a:p>
        </p:txBody>
      </p:sp>
      <p:sp>
        <p:nvSpPr>
          <p:cNvPr id="2" name="Title"/>
          <p:cNvSpPr>
            <a:spLocks noGrp="1"/>
          </p:cNvSpPr>
          <p:nvPr>
            <p:ph type="title"/>
          </p:nvPr>
        </p:nvSpPr>
        <p:spPr bwMode="gray">
          <a:xfrm>
            <a:off x="953418" y="1979639"/>
            <a:ext cx="9289132" cy="692497"/>
          </a:xfrm>
        </p:spPr>
        <p:txBody>
          <a:bodyPr anchor="t">
            <a:spAutoFit/>
          </a:bodyPr>
          <a:lstStyle>
            <a:lvl1pPr>
              <a:lnSpc>
                <a:spcPct val="100000"/>
              </a:lnSpc>
              <a:defRPr sz="4500">
                <a:solidFill>
                  <a:srgbClr val="FFFFFF"/>
                </a:solidFill>
              </a:defRPr>
            </a:lvl1pPr>
          </a:lstStyle>
          <a:p>
            <a:r>
              <a:rPr lang="en-US" dirty="0" smtClean="0"/>
              <a:t>Click to edit Master title style</a:t>
            </a:r>
            <a:endParaRPr lang="en-US" dirty="0"/>
          </a:p>
        </p:txBody>
      </p:sp>
      <p:sp>
        <p:nvSpPr>
          <p:cNvPr id="15" name="SlideNumber"/>
          <p:cNvSpPr txBox="1">
            <a:spLocks/>
          </p:cNvSpPr>
          <p:nvPr userDrawn="1">
            <p:custDataLst>
              <p:tags r:id="rId2"/>
            </p:custDataLst>
          </p:nvPr>
        </p:nvSpPr>
        <p:spPr>
          <a:xfrm>
            <a:off x="9738394" y="7146300"/>
            <a:ext cx="504156" cy="161931"/>
          </a:xfrm>
          <a:prstGeom prst="rect">
            <a:avLst/>
          </a:prstGeom>
        </p:spPr>
        <p:txBody>
          <a:bodyPr vert="horz" wrap="none" lIns="0" tIns="0" rIns="0" bIns="0" rtlCol="0" anchor="b"/>
          <a:lstStyle>
            <a:defPPr>
              <a:defRPr lang="en-US"/>
            </a:defPPr>
            <a:lvl1pPr algn="r">
              <a:defRPr sz="1000"/>
            </a:lvl1pPr>
          </a:lstStyle>
          <a:p>
            <a:pPr lvl="0"/>
            <a:fld id="{29059ADD-60D2-4423-941A-1DFE347109DE}" type="slidenum">
              <a:rPr lang="en-US" sz="800" b="1" noProof="0" smtClean="0">
                <a:latin typeface="+mn-lt"/>
              </a:rPr>
              <a:t>‹#›</a:t>
            </a:fld>
            <a:endParaRPr lang="en-US" sz="800" b="1" noProof="0" dirty="0">
              <a:latin typeface="+mn-lt"/>
            </a:endParaRPr>
          </a:p>
        </p:txBody>
      </p:sp>
    </p:spTree>
    <p:extLst>
      <p:ext uri="{BB962C8B-B14F-4D97-AF65-F5344CB8AC3E}">
        <p14:creationId xmlns:p14="http://schemas.microsoft.com/office/powerpoint/2010/main" val="1155674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Sand" preserve="1" userDrawn="1">
  <p:cSld name="Section Header Sand">
    <p:spTree>
      <p:nvGrpSpPr>
        <p:cNvPr id="1" name=""/>
        <p:cNvGrpSpPr/>
        <p:nvPr/>
      </p:nvGrpSpPr>
      <p:grpSpPr>
        <a:xfrm>
          <a:off x="0" y="0"/>
          <a:ext cx="0" cy="0"/>
          <a:chOff x="0" y="0"/>
          <a:chExt cx="0" cy="0"/>
        </a:xfrm>
      </p:grpSpPr>
      <p:sp>
        <p:nvSpPr>
          <p:cNvPr id="7" name="Background"/>
          <p:cNvSpPr/>
          <p:nvPr userDrawn="1"/>
        </p:nvSpPr>
        <p:spPr bwMode="gray">
          <a:xfrm>
            <a:off x="449265" y="2"/>
            <a:ext cx="10242551" cy="6659563"/>
          </a:xfrm>
          <a:prstGeom prst="rect">
            <a:avLst/>
          </a:prstGeom>
          <a:solidFill>
            <a:srgbClr val="E1DCCA"/>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4" name="Picture Placeholder"/>
          <p:cNvSpPr>
            <a:spLocks noGrp="1"/>
          </p:cNvSpPr>
          <p:nvPr>
            <p:ph type="pic" sz="quarter" idx="10" hasCustomPrompt="1"/>
          </p:nvPr>
        </p:nvSpPr>
        <p:spPr>
          <a:xfrm>
            <a:off x="449265" y="2"/>
            <a:ext cx="10242551" cy="6659563"/>
          </a:xfrm>
        </p:spPr>
        <p:txBody>
          <a:bodyPr tIns="683961" anchor="ctr"/>
          <a:lstStyle>
            <a:lvl1pPr marL="0" indent="0" algn="ctr">
              <a:buNone/>
              <a:defRPr>
                <a:solidFill>
                  <a:srgbClr val="000000"/>
                </a:solidFill>
              </a:defRPr>
            </a:lvl1pPr>
          </a:lstStyle>
          <a:p>
            <a:r>
              <a:rPr lang="de-DE" dirty="0"/>
              <a:t>Add optional </a:t>
            </a:r>
            <a:r>
              <a:rPr lang="de-DE" dirty="0" err="1"/>
              <a:t>image</a:t>
            </a:r>
            <a:endParaRPr lang="de-DE" dirty="0"/>
          </a:p>
        </p:txBody>
      </p:sp>
      <p:sp>
        <p:nvSpPr>
          <p:cNvPr id="12" name="RemarkText" hidden="1"/>
          <p:cNvSpPr txBox="1">
            <a:spLocks/>
          </p:cNvSpPr>
          <p:nvPr userDrawn="1">
            <p:custDataLst>
              <p:tags r:id="rId1"/>
            </p:custDataLst>
          </p:nvPr>
        </p:nvSpPr>
        <p:spPr bwMode="gray">
          <a:xfrm>
            <a:off x="2127210" y="243163"/>
            <a:ext cx="4730864" cy="145157"/>
          </a:xfrm>
          <a:prstGeom prst="rect">
            <a:avLst/>
          </a:prstGeom>
        </p:spPr>
        <p:txBody>
          <a:bodyPr vert="horz" wrap="none" lIns="0" tIns="0" rIns="0" bIns="0" rtlCol="0" anchor="t"/>
          <a:lstStyle>
            <a:defPPr>
              <a:defRPr lang="en-US"/>
            </a:defPPr>
            <a:lvl1pPr algn="r">
              <a:defRPr sz="800">
                <a:solidFill>
                  <a:srgbClr val="B1B2B3"/>
                </a:solidFill>
              </a:defRPr>
            </a:lvl1pPr>
          </a:lstStyle>
          <a:p>
            <a:pPr lvl="0" algn="ctr"/>
            <a:endParaRPr lang="en-US" sz="800" noProof="0" dirty="0">
              <a:solidFill>
                <a:srgbClr val="000000"/>
              </a:solidFill>
              <a:latin typeface="+mn-lt"/>
            </a:endParaRPr>
          </a:p>
        </p:txBody>
      </p:sp>
      <p:sp>
        <p:nvSpPr>
          <p:cNvPr id="2" name="Title"/>
          <p:cNvSpPr>
            <a:spLocks noGrp="1"/>
          </p:cNvSpPr>
          <p:nvPr>
            <p:ph type="title"/>
          </p:nvPr>
        </p:nvSpPr>
        <p:spPr bwMode="gray">
          <a:xfrm>
            <a:off x="953418" y="1979639"/>
            <a:ext cx="9289132" cy="692497"/>
          </a:xfrm>
        </p:spPr>
        <p:txBody>
          <a:bodyPr anchor="t">
            <a:spAutoFit/>
          </a:bodyPr>
          <a:lstStyle>
            <a:lvl1pPr>
              <a:lnSpc>
                <a:spcPct val="100000"/>
              </a:lnSpc>
              <a:defRPr sz="4500">
                <a:solidFill>
                  <a:srgbClr val="000000"/>
                </a:solidFill>
              </a:defRPr>
            </a:lvl1pPr>
          </a:lstStyle>
          <a:p>
            <a:r>
              <a:rPr lang="en-US" dirty="0" smtClean="0"/>
              <a:t>Click to edit Master title style</a:t>
            </a:r>
            <a:endParaRPr lang="en-US" dirty="0"/>
          </a:p>
        </p:txBody>
      </p:sp>
      <p:sp>
        <p:nvSpPr>
          <p:cNvPr id="15" name="SlideNumber"/>
          <p:cNvSpPr txBox="1">
            <a:spLocks/>
          </p:cNvSpPr>
          <p:nvPr userDrawn="1">
            <p:custDataLst>
              <p:tags r:id="rId2"/>
            </p:custDataLst>
          </p:nvPr>
        </p:nvSpPr>
        <p:spPr>
          <a:xfrm>
            <a:off x="9738394" y="7146300"/>
            <a:ext cx="504156" cy="161931"/>
          </a:xfrm>
          <a:prstGeom prst="rect">
            <a:avLst/>
          </a:prstGeom>
        </p:spPr>
        <p:txBody>
          <a:bodyPr vert="horz" wrap="none" lIns="0" tIns="0" rIns="0" bIns="0" rtlCol="0" anchor="b"/>
          <a:lstStyle>
            <a:defPPr>
              <a:defRPr lang="en-US"/>
            </a:defPPr>
            <a:lvl1pPr algn="r">
              <a:defRPr sz="1000"/>
            </a:lvl1pPr>
          </a:lstStyle>
          <a:p>
            <a:pPr lvl="0"/>
            <a:fld id="{D839AD01-A965-473F-AA71-F9AA2BC345E4}" type="slidenum">
              <a:rPr lang="en-US" sz="800" b="1" noProof="0" smtClean="0">
                <a:latin typeface="+mn-lt"/>
              </a:rPr>
              <a:t>‹#›</a:t>
            </a:fld>
            <a:endParaRPr lang="en-US" sz="800" b="1" noProof="0" dirty="0">
              <a:latin typeface="+mn-lt"/>
            </a:endParaRPr>
          </a:p>
        </p:txBody>
      </p:sp>
    </p:spTree>
    <p:extLst>
      <p:ext uri="{BB962C8B-B14F-4D97-AF65-F5344CB8AC3E}">
        <p14:creationId xmlns:p14="http://schemas.microsoft.com/office/powerpoint/2010/main" val="8027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reserve="1" userDrawn="1">
  <p:cSld name="Two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157915406"/>
              </p:ext>
            </p:ext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spid="_x0000_s463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90" y="1590"/>
                        <a:ext cx="1587" cy="1587"/>
                      </a:xfrm>
                      <a:prstGeom prst="rect">
                        <a:avLst/>
                      </a:prstGeom>
                    </p:spPr>
                  </p:pic>
                </p:oleObj>
              </mc:Fallback>
            </mc:AlternateContent>
          </a:graphicData>
        </a:graphic>
      </p:graphicFrame>
      <p:sp>
        <p:nvSpPr>
          <p:cNvPr id="12" name="Text Placeholder 10"/>
          <p:cNvSpPr>
            <a:spLocks noGrp="1"/>
          </p:cNvSpPr>
          <p:nvPr>
            <p:ph type="body" sz="quarter" idx="16"/>
          </p:nvPr>
        </p:nvSpPr>
        <p:spPr>
          <a:xfrm>
            <a:off x="5490551" y="1476374"/>
            <a:ext cx="4752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10" name="Text Placeholder 10"/>
          <p:cNvSpPr>
            <a:spLocks noGrp="1"/>
          </p:cNvSpPr>
          <p:nvPr>
            <p:ph type="body" sz="quarter" idx="14" hasCustomPrompt="1"/>
          </p:nvPr>
        </p:nvSpPr>
        <p:spPr>
          <a:xfrm>
            <a:off x="449362" y="1476374"/>
            <a:ext cx="4752000"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2" name="Title 1"/>
          <p:cNvSpPr>
            <a:spLocks noGrp="1"/>
          </p:cNvSpPr>
          <p:nvPr>
            <p:ph type="title"/>
          </p:nvPr>
        </p:nvSpPr>
        <p:spPr/>
        <p:txBody>
          <a:bodyPr/>
          <a:lstStyle/>
          <a:p>
            <a:r>
              <a:rPr lang="en-US" dirty="0" smtClean="0"/>
              <a:t>Click to edit Master title style</a:t>
            </a:r>
            <a:endParaRPr lang="en-US" dirty="0"/>
          </a:p>
        </p:txBody>
      </p:sp>
      <p:sp>
        <p:nvSpPr>
          <p:cNvPr id="5" name="Content Placeholder 4"/>
          <p:cNvSpPr>
            <a:spLocks noGrp="1"/>
          </p:cNvSpPr>
          <p:nvPr>
            <p:ph sz="quarter" idx="17"/>
          </p:nvPr>
        </p:nvSpPr>
        <p:spPr>
          <a:xfrm>
            <a:off x="449362" y="1907629"/>
            <a:ext cx="4752000" cy="475193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Content Placeholder 4"/>
          <p:cNvSpPr>
            <a:spLocks noGrp="1"/>
          </p:cNvSpPr>
          <p:nvPr>
            <p:ph sz="quarter" idx="18"/>
          </p:nvPr>
        </p:nvSpPr>
        <p:spPr>
          <a:xfrm>
            <a:off x="5490551" y="1907629"/>
            <a:ext cx="4752000" cy="475193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292449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Two Lines and Two Contents 12" preserve="1" userDrawn="1">
  <p:cSld name="Title Two Lines and Two Contents 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9" name="Text Placeholder 10"/>
          <p:cNvSpPr>
            <a:spLocks noGrp="1"/>
          </p:cNvSpPr>
          <p:nvPr>
            <p:ph type="body" sz="quarter" idx="16" hasCustomPrompt="1"/>
          </p:nvPr>
        </p:nvSpPr>
        <p:spPr>
          <a:xfrm>
            <a:off x="5490551" y="1476375"/>
            <a:ext cx="4752000" cy="517065"/>
          </a:xfrm>
        </p:spPr>
        <p:txBody>
          <a:bodyPr>
            <a:noAutofit/>
          </a:bodyPr>
          <a:lstStyle>
            <a:lvl1pPr marL="0" indent="0">
              <a:buNone/>
              <a:defRPr sz="1600" b="1"/>
            </a:lvl1pPr>
          </a:lstStyle>
          <a:p>
            <a:pPr lvl="0"/>
            <a:r>
              <a:rPr lang="en-US" dirty="0" smtClean="0"/>
              <a:t>Click to edit Master text styles</a:t>
            </a:r>
            <a:endParaRPr lang="en-US" dirty="0"/>
          </a:p>
        </p:txBody>
      </p:sp>
      <p:sp>
        <p:nvSpPr>
          <p:cNvPr id="11" name="Text Placeholder 10"/>
          <p:cNvSpPr>
            <a:spLocks noGrp="1"/>
          </p:cNvSpPr>
          <p:nvPr>
            <p:ph type="body" sz="quarter" idx="14" hasCustomPrompt="1"/>
          </p:nvPr>
        </p:nvSpPr>
        <p:spPr>
          <a:xfrm>
            <a:off x="449362" y="1476375"/>
            <a:ext cx="4752000" cy="517065"/>
          </a:xfrm>
        </p:spPr>
        <p:txBody>
          <a:bodyPr>
            <a:noAutofit/>
          </a:bodyPr>
          <a:lstStyle>
            <a:lvl1pPr marL="0" indent="0">
              <a:buNone/>
              <a:defRPr sz="1600" b="1"/>
            </a:lvl1pPr>
          </a:lstStyle>
          <a:p>
            <a:pPr lvl="0"/>
            <a:r>
              <a:rPr lang="en-US" dirty="0" smtClean="0"/>
              <a:t>Click to edit Master text styles</a:t>
            </a:r>
            <a:endParaRPr lang="en-US" dirty="0"/>
          </a:p>
        </p:txBody>
      </p:sp>
      <p:sp>
        <p:nvSpPr>
          <p:cNvPr id="13" name="Content Placeholder 4"/>
          <p:cNvSpPr>
            <a:spLocks noGrp="1"/>
          </p:cNvSpPr>
          <p:nvPr>
            <p:ph sz="quarter" idx="17"/>
          </p:nvPr>
        </p:nvSpPr>
        <p:spPr>
          <a:xfrm>
            <a:off x="449362" y="2166164"/>
            <a:ext cx="4752000" cy="4493402"/>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Content Placeholder 4"/>
          <p:cNvSpPr>
            <a:spLocks noGrp="1"/>
          </p:cNvSpPr>
          <p:nvPr>
            <p:ph sz="quarter" idx="18"/>
          </p:nvPr>
        </p:nvSpPr>
        <p:spPr>
          <a:xfrm>
            <a:off x="5490551" y="2166163"/>
            <a:ext cx="4752000" cy="4493402"/>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733625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Two Lines and One Content" preserve="1" userDrawn="1">
  <p:cSld name="Title Two Lines and On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6" name="Text Placeholder 10"/>
          <p:cNvSpPr>
            <a:spLocks noGrp="1"/>
          </p:cNvSpPr>
          <p:nvPr>
            <p:ph type="body" sz="quarter" idx="16" hasCustomPrompt="1"/>
          </p:nvPr>
        </p:nvSpPr>
        <p:spPr>
          <a:xfrm>
            <a:off x="5490551" y="1476375"/>
            <a:ext cx="4752000" cy="517065"/>
          </a:xfrm>
        </p:spPr>
        <p:txBody>
          <a:bodyPr>
            <a:noAutofit/>
          </a:bodyPr>
          <a:lstStyle>
            <a:lvl1pPr marL="0" indent="0">
              <a:buNone/>
              <a:defRPr sz="1600" b="1"/>
            </a:lvl1pPr>
          </a:lstStyle>
          <a:p>
            <a:pPr lvl="0"/>
            <a:r>
              <a:rPr lang="en-US" dirty="0" smtClean="0"/>
              <a:t>Click to edit Master text styles</a:t>
            </a:r>
            <a:endParaRPr lang="en-US" dirty="0"/>
          </a:p>
        </p:txBody>
      </p:sp>
      <p:sp>
        <p:nvSpPr>
          <p:cNvPr id="7" name="Text Placeholder 10"/>
          <p:cNvSpPr>
            <a:spLocks noGrp="1"/>
          </p:cNvSpPr>
          <p:nvPr>
            <p:ph type="body" sz="quarter" idx="14" hasCustomPrompt="1"/>
          </p:nvPr>
        </p:nvSpPr>
        <p:spPr>
          <a:xfrm>
            <a:off x="449362" y="1476375"/>
            <a:ext cx="4752000" cy="517065"/>
          </a:xfrm>
        </p:spPr>
        <p:txBody>
          <a:bodyPr>
            <a:noAutofit/>
          </a:bodyPr>
          <a:lstStyle>
            <a:lvl1pPr marL="0" indent="0">
              <a:buNone/>
              <a:defRPr sz="1600" b="1"/>
            </a:lvl1pPr>
          </a:lstStyle>
          <a:p>
            <a:pPr lvl="0"/>
            <a:r>
              <a:rPr lang="en-US" dirty="0" smtClean="0"/>
              <a:t>Click to edit Master text styles</a:t>
            </a:r>
            <a:endParaRPr lang="en-US" dirty="0"/>
          </a:p>
        </p:txBody>
      </p:sp>
      <p:sp>
        <p:nvSpPr>
          <p:cNvPr id="9" name="Content Placeholder 4"/>
          <p:cNvSpPr>
            <a:spLocks noGrp="1"/>
          </p:cNvSpPr>
          <p:nvPr>
            <p:ph sz="quarter" idx="17"/>
          </p:nvPr>
        </p:nvSpPr>
        <p:spPr>
          <a:xfrm>
            <a:off x="449362" y="2166164"/>
            <a:ext cx="9793188" cy="4493402"/>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972039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ntents 13" preserve="1" userDrawn="1">
  <p:cSld name="Title and Two Contents 1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228800659"/>
              </p:ext>
            </p:ext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spid="_x0000_s871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90" y="1590"/>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smtClean="0"/>
              <a:t>Click to edit Master title style</a:t>
            </a:r>
            <a:endParaRPr lang="en-US" dirty="0"/>
          </a:p>
        </p:txBody>
      </p:sp>
      <p:sp>
        <p:nvSpPr>
          <p:cNvPr id="8" name="Text Placeholder 10"/>
          <p:cNvSpPr>
            <a:spLocks noGrp="1"/>
          </p:cNvSpPr>
          <p:nvPr>
            <p:ph type="body" sz="quarter" idx="16"/>
          </p:nvPr>
        </p:nvSpPr>
        <p:spPr>
          <a:xfrm>
            <a:off x="3834549" y="1476374"/>
            <a:ext cx="6408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9" name="Text Placeholder 10"/>
          <p:cNvSpPr>
            <a:spLocks noGrp="1"/>
          </p:cNvSpPr>
          <p:nvPr>
            <p:ph type="body" sz="quarter" idx="14" hasCustomPrompt="1"/>
          </p:nvPr>
        </p:nvSpPr>
        <p:spPr>
          <a:xfrm>
            <a:off x="449361" y="1476374"/>
            <a:ext cx="3096000"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11" name="Content Placeholder 4"/>
          <p:cNvSpPr>
            <a:spLocks noGrp="1"/>
          </p:cNvSpPr>
          <p:nvPr>
            <p:ph sz="quarter" idx="17"/>
          </p:nvPr>
        </p:nvSpPr>
        <p:spPr>
          <a:xfrm>
            <a:off x="449361" y="1907629"/>
            <a:ext cx="3096000" cy="475193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Content Placeholder 4"/>
          <p:cNvSpPr>
            <a:spLocks noGrp="1"/>
          </p:cNvSpPr>
          <p:nvPr>
            <p:ph sz="quarter" idx="18"/>
          </p:nvPr>
        </p:nvSpPr>
        <p:spPr>
          <a:xfrm>
            <a:off x="3834550" y="1907629"/>
            <a:ext cx="6408000" cy="475193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711689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ntents 23" preserve="1" userDrawn="1">
  <p:cSld name="Title and Two Contents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9" name="Text Placeholder 10"/>
          <p:cNvSpPr>
            <a:spLocks noGrp="1"/>
          </p:cNvSpPr>
          <p:nvPr>
            <p:ph type="body" sz="quarter" idx="16"/>
          </p:nvPr>
        </p:nvSpPr>
        <p:spPr>
          <a:xfrm>
            <a:off x="449362" y="1476374"/>
            <a:ext cx="6408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11" name="Text Placeholder 10"/>
          <p:cNvSpPr>
            <a:spLocks noGrp="1"/>
          </p:cNvSpPr>
          <p:nvPr>
            <p:ph type="body" sz="quarter" idx="14" hasCustomPrompt="1"/>
          </p:nvPr>
        </p:nvSpPr>
        <p:spPr>
          <a:xfrm>
            <a:off x="7146550" y="1476374"/>
            <a:ext cx="3096000"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13" name="Content Placeholder 4"/>
          <p:cNvSpPr>
            <a:spLocks noGrp="1"/>
          </p:cNvSpPr>
          <p:nvPr>
            <p:ph sz="quarter" idx="17"/>
          </p:nvPr>
        </p:nvSpPr>
        <p:spPr>
          <a:xfrm>
            <a:off x="7146550" y="1907629"/>
            <a:ext cx="3096000" cy="475193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Content Placeholder 4"/>
          <p:cNvSpPr>
            <a:spLocks noGrp="1"/>
          </p:cNvSpPr>
          <p:nvPr>
            <p:ph sz="quarter" idx="18"/>
          </p:nvPr>
        </p:nvSpPr>
        <p:spPr>
          <a:xfrm>
            <a:off x="449362" y="1907629"/>
            <a:ext cx="6408000" cy="475193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8434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Two Lines and Two Contents 13" preserve="1" userDrawn="1">
  <p:cSld name="Title Two Lines and Two Contents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8" name="Text Placeholder 10"/>
          <p:cNvSpPr>
            <a:spLocks noGrp="1"/>
          </p:cNvSpPr>
          <p:nvPr>
            <p:ph type="body" sz="quarter" idx="16" hasCustomPrompt="1"/>
          </p:nvPr>
        </p:nvSpPr>
        <p:spPr>
          <a:xfrm>
            <a:off x="3834549" y="1476375"/>
            <a:ext cx="6408000" cy="517065"/>
          </a:xfrm>
        </p:spPr>
        <p:txBody>
          <a:bodyPr>
            <a:noAutofit/>
          </a:bodyPr>
          <a:lstStyle>
            <a:lvl1pPr marL="0" indent="0">
              <a:buNone/>
              <a:defRPr sz="1600" b="1"/>
            </a:lvl1pPr>
          </a:lstStyle>
          <a:p>
            <a:pPr lvl="0"/>
            <a:r>
              <a:rPr lang="en-US" dirty="0" smtClean="0"/>
              <a:t>Click to edit Master text styles</a:t>
            </a:r>
            <a:endParaRPr lang="en-US" dirty="0"/>
          </a:p>
        </p:txBody>
      </p:sp>
      <p:sp>
        <p:nvSpPr>
          <p:cNvPr id="9" name="Text Placeholder 10"/>
          <p:cNvSpPr>
            <a:spLocks noGrp="1"/>
          </p:cNvSpPr>
          <p:nvPr>
            <p:ph type="body" sz="quarter" idx="14" hasCustomPrompt="1"/>
          </p:nvPr>
        </p:nvSpPr>
        <p:spPr>
          <a:xfrm>
            <a:off x="449361" y="1476375"/>
            <a:ext cx="3096000" cy="517065"/>
          </a:xfrm>
        </p:spPr>
        <p:txBody>
          <a:bodyPr>
            <a:noAutofit/>
          </a:bodyPr>
          <a:lstStyle>
            <a:lvl1pPr marL="0" indent="0">
              <a:buNone/>
              <a:defRPr sz="1600" b="1"/>
            </a:lvl1pPr>
          </a:lstStyle>
          <a:p>
            <a:pPr lvl="0"/>
            <a:r>
              <a:rPr lang="en-US" dirty="0" smtClean="0"/>
              <a:t>Click to edit Master text styles</a:t>
            </a:r>
            <a:endParaRPr lang="en-US" dirty="0"/>
          </a:p>
        </p:txBody>
      </p:sp>
      <p:sp>
        <p:nvSpPr>
          <p:cNvPr id="10" name="Content Placeholder 4"/>
          <p:cNvSpPr>
            <a:spLocks noGrp="1"/>
          </p:cNvSpPr>
          <p:nvPr>
            <p:ph sz="quarter" idx="17"/>
          </p:nvPr>
        </p:nvSpPr>
        <p:spPr>
          <a:xfrm>
            <a:off x="449361" y="2166164"/>
            <a:ext cx="3096000" cy="4493402"/>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Content Placeholder 4"/>
          <p:cNvSpPr>
            <a:spLocks noGrp="1"/>
          </p:cNvSpPr>
          <p:nvPr>
            <p:ph sz="quarter" idx="18"/>
          </p:nvPr>
        </p:nvSpPr>
        <p:spPr>
          <a:xfrm>
            <a:off x="3834550" y="2166164"/>
            <a:ext cx="6408000" cy="4493402"/>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421938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wo Lines and Two Contents 23" preserve="1" userDrawn="1">
  <p:cSld name="Title Two Lines and Two Contents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9" name="Text Placeholder 10"/>
          <p:cNvSpPr>
            <a:spLocks noGrp="1"/>
          </p:cNvSpPr>
          <p:nvPr>
            <p:ph type="body" sz="quarter" idx="16" hasCustomPrompt="1"/>
          </p:nvPr>
        </p:nvSpPr>
        <p:spPr>
          <a:xfrm>
            <a:off x="449264" y="1476375"/>
            <a:ext cx="6408000" cy="517065"/>
          </a:xfrm>
        </p:spPr>
        <p:txBody>
          <a:bodyPr>
            <a:noAutofit/>
          </a:bodyPr>
          <a:lstStyle>
            <a:lvl1pPr marL="0" indent="0">
              <a:buNone/>
              <a:defRPr sz="1600" b="1"/>
            </a:lvl1pPr>
          </a:lstStyle>
          <a:p>
            <a:pPr lvl="0"/>
            <a:r>
              <a:rPr lang="en-US" dirty="0" smtClean="0"/>
              <a:t>Click to edit Master text styles</a:t>
            </a:r>
            <a:endParaRPr lang="en-US" dirty="0"/>
          </a:p>
        </p:txBody>
      </p:sp>
      <p:sp>
        <p:nvSpPr>
          <p:cNvPr id="10" name="Text Placeholder 10"/>
          <p:cNvSpPr>
            <a:spLocks noGrp="1"/>
          </p:cNvSpPr>
          <p:nvPr>
            <p:ph type="body" sz="quarter" idx="14" hasCustomPrompt="1"/>
          </p:nvPr>
        </p:nvSpPr>
        <p:spPr>
          <a:xfrm>
            <a:off x="7146550" y="1476375"/>
            <a:ext cx="3096000" cy="517065"/>
          </a:xfrm>
        </p:spPr>
        <p:txBody>
          <a:bodyPr>
            <a:noAutofit/>
          </a:bodyPr>
          <a:lstStyle>
            <a:lvl1pPr marL="0" indent="0">
              <a:buNone/>
              <a:defRPr sz="1600" b="1"/>
            </a:lvl1pPr>
          </a:lstStyle>
          <a:p>
            <a:pPr lvl="0"/>
            <a:r>
              <a:rPr lang="en-US" dirty="0" smtClean="0"/>
              <a:t>Click to edit Master text styles</a:t>
            </a:r>
            <a:endParaRPr lang="en-US" dirty="0"/>
          </a:p>
        </p:txBody>
      </p:sp>
      <p:sp>
        <p:nvSpPr>
          <p:cNvPr id="11" name="Content Placeholder 4"/>
          <p:cNvSpPr>
            <a:spLocks noGrp="1"/>
          </p:cNvSpPr>
          <p:nvPr>
            <p:ph sz="quarter" idx="17"/>
          </p:nvPr>
        </p:nvSpPr>
        <p:spPr>
          <a:xfrm>
            <a:off x="7146550" y="2166164"/>
            <a:ext cx="3096000" cy="4493402"/>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Content Placeholder 4"/>
          <p:cNvSpPr>
            <a:spLocks noGrp="1"/>
          </p:cNvSpPr>
          <p:nvPr>
            <p:ph sz="quarter" idx="18"/>
          </p:nvPr>
        </p:nvSpPr>
        <p:spPr>
          <a:xfrm>
            <a:off x="449265" y="2166164"/>
            <a:ext cx="6408000" cy="4493402"/>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96992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with Image and Content" preserve="1" userDrawn="1">
  <p:cSld name="Title with Imag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8" name="Text Placeholder 10"/>
          <p:cNvSpPr>
            <a:spLocks noGrp="1"/>
          </p:cNvSpPr>
          <p:nvPr>
            <p:ph type="body" sz="quarter" idx="16"/>
          </p:nvPr>
        </p:nvSpPr>
        <p:spPr>
          <a:xfrm>
            <a:off x="3834549" y="1476374"/>
            <a:ext cx="6408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9" name="Text Placeholder 10"/>
          <p:cNvSpPr>
            <a:spLocks noGrp="1"/>
          </p:cNvSpPr>
          <p:nvPr>
            <p:ph type="body" sz="quarter" idx="14" hasCustomPrompt="1"/>
          </p:nvPr>
        </p:nvSpPr>
        <p:spPr>
          <a:xfrm>
            <a:off x="449361" y="1476374"/>
            <a:ext cx="3096000"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13" name="Content Placeholder 4"/>
          <p:cNvSpPr>
            <a:spLocks noGrp="1"/>
          </p:cNvSpPr>
          <p:nvPr>
            <p:ph sz="quarter" idx="18"/>
          </p:nvPr>
        </p:nvSpPr>
        <p:spPr>
          <a:xfrm>
            <a:off x="3834550" y="1907629"/>
            <a:ext cx="6408000" cy="475193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Picture Placeholder 3"/>
          <p:cNvSpPr>
            <a:spLocks noGrp="1"/>
          </p:cNvSpPr>
          <p:nvPr>
            <p:ph type="pic" sz="quarter" idx="19"/>
          </p:nvPr>
        </p:nvSpPr>
        <p:spPr>
          <a:xfrm>
            <a:off x="449361" y="1907629"/>
            <a:ext cx="3096000" cy="4751934"/>
          </a:xfrm>
        </p:spPr>
        <p:txBody>
          <a:bodyPr tIns="575966" anchor="ctr"/>
          <a:lstStyle>
            <a:lvl1pPr marL="0" indent="0" algn="ctr">
              <a:buNone/>
              <a:defRPr/>
            </a:lvl1pPr>
          </a:lstStyle>
          <a:p>
            <a:r>
              <a:rPr lang="en-US"/>
              <a:t>Click icon to add picture</a:t>
            </a:r>
            <a:endParaRPr lang="de-DE"/>
          </a:p>
        </p:txBody>
      </p:sp>
    </p:spTree>
    <p:extLst>
      <p:ext uri="{BB962C8B-B14F-4D97-AF65-F5344CB8AC3E}">
        <p14:creationId xmlns:p14="http://schemas.microsoft.com/office/powerpoint/2010/main" val="3375417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with Content and Image" preserve="1" userDrawn="1">
  <p:cSld name="Title with Content and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062382176"/>
              </p:ext>
            </p:ext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spid="_x0000_s260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90" y="1590"/>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smtClean="0"/>
              <a:t>Click to edit Master title style</a:t>
            </a:r>
            <a:endParaRPr lang="en-US" dirty="0"/>
          </a:p>
        </p:txBody>
      </p:sp>
      <p:sp>
        <p:nvSpPr>
          <p:cNvPr id="9" name="Text Placeholder 10"/>
          <p:cNvSpPr>
            <a:spLocks noGrp="1"/>
          </p:cNvSpPr>
          <p:nvPr>
            <p:ph type="body" sz="quarter" idx="16"/>
          </p:nvPr>
        </p:nvSpPr>
        <p:spPr>
          <a:xfrm>
            <a:off x="449264" y="1476374"/>
            <a:ext cx="6408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11" name="Text Placeholder 10"/>
          <p:cNvSpPr>
            <a:spLocks noGrp="1"/>
          </p:cNvSpPr>
          <p:nvPr>
            <p:ph type="body" sz="quarter" idx="14" hasCustomPrompt="1"/>
          </p:nvPr>
        </p:nvSpPr>
        <p:spPr>
          <a:xfrm>
            <a:off x="7146550" y="1476374"/>
            <a:ext cx="3096000"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13" name="Content Placeholder 4"/>
          <p:cNvSpPr>
            <a:spLocks noGrp="1"/>
          </p:cNvSpPr>
          <p:nvPr>
            <p:ph sz="quarter" idx="18"/>
          </p:nvPr>
        </p:nvSpPr>
        <p:spPr>
          <a:xfrm>
            <a:off x="449265" y="1907629"/>
            <a:ext cx="6408000" cy="475193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Picture Placeholder 3"/>
          <p:cNvSpPr>
            <a:spLocks noGrp="1"/>
          </p:cNvSpPr>
          <p:nvPr>
            <p:ph type="pic" sz="quarter" idx="19"/>
          </p:nvPr>
        </p:nvSpPr>
        <p:spPr>
          <a:xfrm>
            <a:off x="7146550" y="1907629"/>
            <a:ext cx="3096000" cy="4751934"/>
          </a:xfrm>
        </p:spPr>
        <p:txBody>
          <a:bodyPr tIns="575966" anchor="ctr"/>
          <a:lstStyle>
            <a:lvl1pPr marL="0" indent="0" algn="ctr">
              <a:buNone/>
              <a:defRPr/>
            </a:lvl1pPr>
          </a:lstStyle>
          <a:p>
            <a:r>
              <a:rPr lang="en-US"/>
              <a:t>Click icon to add picture</a:t>
            </a:r>
            <a:endParaRPr lang="de-DE"/>
          </a:p>
        </p:txBody>
      </p:sp>
    </p:spTree>
    <p:extLst>
      <p:ext uri="{BB962C8B-B14F-4D97-AF65-F5344CB8AC3E}">
        <p14:creationId xmlns:p14="http://schemas.microsoft.com/office/powerpoint/2010/main" val="4150658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ntent"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9" name="Text Placeholder 10"/>
          <p:cNvSpPr>
            <a:spLocks noGrp="1"/>
          </p:cNvSpPr>
          <p:nvPr>
            <p:ph type="body" sz="quarter" idx="16"/>
          </p:nvPr>
        </p:nvSpPr>
        <p:spPr>
          <a:xfrm>
            <a:off x="3797734" y="1476374"/>
            <a:ext cx="3096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10" name="Text Placeholder 10"/>
          <p:cNvSpPr>
            <a:spLocks noGrp="1"/>
          </p:cNvSpPr>
          <p:nvPr>
            <p:ph type="body" sz="quarter" idx="14" hasCustomPrompt="1"/>
          </p:nvPr>
        </p:nvSpPr>
        <p:spPr>
          <a:xfrm>
            <a:off x="449361" y="1476374"/>
            <a:ext cx="3096000"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12" name="Content Placeholder 4"/>
          <p:cNvSpPr>
            <a:spLocks noGrp="1"/>
          </p:cNvSpPr>
          <p:nvPr>
            <p:ph sz="quarter" idx="17"/>
          </p:nvPr>
        </p:nvSpPr>
        <p:spPr>
          <a:xfrm>
            <a:off x="449361" y="1907629"/>
            <a:ext cx="3096000" cy="475193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Content Placeholder 4"/>
          <p:cNvSpPr>
            <a:spLocks noGrp="1"/>
          </p:cNvSpPr>
          <p:nvPr>
            <p:ph sz="quarter" idx="18"/>
          </p:nvPr>
        </p:nvSpPr>
        <p:spPr>
          <a:xfrm>
            <a:off x="3797734" y="1907629"/>
            <a:ext cx="3096000" cy="475193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Text Placeholder 10"/>
          <p:cNvSpPr>
            <a:spLocks noGrp="1"/>
          </p:cNvSpPr>
          <p:nvPr>
            <p:ph type="body" sz="quarter" idx="19"/>
          </p:nvPr>
        </p:nvSpPr>
        <p:spPr>
          <a:xfrm>
            <a:off x="7146106" y="1476374"/>
            <a:ext cx="3096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18" name="Content Placeholder 4"/>
          <p:cNvSpPr>
            <a:spLocks noGrp="1"/>
          </p:cNvSpPr>
          <p:nvPr>
            <p:ph sz="quarter" idx="20"/>
          </p:nvPr>
        </p:nvSpPr>
        <p:spPr>
          <a:xfrm>
            <a:off x="7146107" y="1907629"/>
            <a:ext cx="3096000" cy="475193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592325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Two Lines and Three Content" preserve="1" userDrawn="1">
  <p:cSld name="Title Two Lines and 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9" name="Text Placeholder 10"/>
          <p:cNvSpPr>
            <a:spLocks noGrp="1"/>
          </p:cNvSpPr>
          <p:nvPr>
            <p:ph type="body" sz="quarter" idx="16" hasCustomPrompt="1"/>
          </p:nvPr>
        </p:nvSpPr>
        <p:spPr>
          <a:xfrm>
            <a:off x="3797734" y="1476375"/>
            <a:ext cx="3096000" cy="517065"/>
          </a:xfrm>
        </p:spPr>
        <p:txBody>
          <a:bodyPr>
            <a:noAutofit/>
          </a:bodyPr>
          <a:lstStyle>
            <a:lvl1pPr marL="0" indent="0">
              <a:buNone/>
              <a:defRPr sz="1600" b="1"/>
            </a:lvl1pPr>
          </a:lstStyle>
          <a:p>
            <a:pPr lvl="0"/>
            <a:r>
              <a:rPr lang="en-US" dirty="0" smtClean="0"/>
              <a:t>Click to edit Master text styles</a:t>
            </a:r>
            <a:endParaRPr lang="en-US" dirty="0"/>
          </a:p>
        </p:txBody>
      </p:sp>
      <p:sp>
        <p:nvSpPr>
          <p:cNvPr id="10" name="Text Placeholder 10"/>
          <p:cNvSpPr>
            <a:spLocks noGrp="1"/>
          </p:cNvSpPr>
          <p:nvPr>
            <p:ph type="body" sz="quarter" idx="14" hasCustomPrompt="1"/>
          </p:nvPr>
        </p:nvSpPr>
        <p:spPr>
          <a:xfrm>
            <a:off x="449361" y="1476375"/>
            <a:ext cx="3096000" cy="517065"/>
          </a:xfrm>
        </p:spPr>
        <p:txBody>
          <a:bodyPr>
            <a:noAutofit/>
          </a:bodyPr>
          <a:lstStyle>
            <a:lvl1pPr marL="0" indent="0">
              <a:buNone/>
              <a:defRPr sz="1600" b="1"/>
            </a:lvl1pPr>
          </a:lstStyle>
          <a:p>
            <a:pPr lvl="0"/>
            <a:r>
              <a:rPr lang="en-US" dirty="0" smtClean="0"/>
              <a:t>Click to edit Master text styles</a:t>
            </a:r>
            <a:endParaRPr lang="en-US" dirty="0"/>
          </a:p>
        </p:txBody>
      </p:sp>
      <p:sp>
        <p:nvSpPr>
          <p:cNvPr id="11" name="Content Placeholder 4"/>
          <p:cNvSpPr>
            <a:spLocks noGrp="1"/>
          </p:cNvSpPr>
          <p:nvPr>
            <p:ph sz="quarter" idx="17"/>
          </p:nvPr>
        </p:nvSpPr>
        <p:spPr>
          <a:xfrm>
            <a:off x="449361" y="2166164"/>
            <a:ext cx="3096000" cy="4493402"/>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4"/>
          <p:cNvSpPr>
            <a:spLocks noGrp="1"/>
          </p:cNvSpPr>
          <p:nvPr>
            <p:ph sz="quarter" idx="18"/>
          </p:nvPr>
        </p:nvSpPr>
        <p:spPr>
          <a:xfrm>
            <a:off x="3797734" y="2166164"/>
            <a:ext cx="3096000" cy="4493402"/>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Text Placeholder 10"/>
          <p:cNvSpPr>
            <a:spLocks noGrp="1"/>
          </p:cNvSpPr>
          <p:nvPr>
            <p:ph type="body" sz="quarter" idx="19" hasCustomPrompt="1"/>
          </p:nvPr>
        </p:nvSpPr>
        <p:spPr>
          <a:xfrm>
            <a:off x="7146106" y="1476375"/>
            <a:ext cx="3096000" cy="517065"/>
          </a:xfrm>
        </p:spPr>
        <p:txBody>
          <a:bodyPr>
            <a:noAutofit/>
          </a:bodyPr>
          <a:lstStyle>
            <a:lvl1pPr marL="0" indent="0">
              <a:buNone/>
              <a:defRPr sz="1600" b="1"/>
            </a:lvl1pPr>
          </a:lstStyle>
          <a:p>
            <a:pPr lvl="0"/>
            <a:r>
              <a:rPr lang="en-US" dirty="0" smtClean="0"/>
              <a:t>Click to edit Master text styles</a:t>
            </a:r>
            <a:endParaRPr lang="en-US" dirty="0"/>
          </a:p>
        </p:txBody>
      </p:sp>
      <p:sp>
        <p:nvSpPr>
          <p:cNvPr id="18" name="Content Placeholder 4"/>
          <p:cNvSpPr>
            <a:spLocks noGrp="1"/>
          </p:cNvSpPr>
          <p:nvPr>
            <p:ph sz="quarter" idx="20"/>
          </p:nvPr>
        </p:nvSpPr>
        <p:spPr>
          <a:xfrm>
            <a:off x="7146107" y="2166164"/>
            <a:ext cx="3096000" cy="4493402"/>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009085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our Boxes and Content" preserve="1" userDrawn="1">
  <p:cSld name="Four Boxe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13" name="Text Placeholder 10"/>
          <p:cNvSpPr>
            <a:spLocks noGrp="1"/>
          </p:cNvSpPr>
          <p:nvPr>
            <p:ph type="body" sz="quarter" idx="16"/>
          </p:nvPr>
        </p:nvSpPr>
        <p:spPr>
          <a:xfrm>
            <a:off x="5490551" y="1476374"/>
            <a:ext cx="4752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14" name="Text Placeholder 10"/>
          <p:cNvSpPr>
            <a:spLocks noGrp="1"/>
          </p:cNvSpPr>
          <p:nvPr>
            <p:ph type="body" sz="quarter" idx="14" hasCustomPrompt="1"/>
          </p:nvPr>
        </p:nvSpPr>
        <p:spPr>
          <a:xfrm>
            <a:off x="449362" y="1476374"/>
            <a:ext cx="4752000"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15" name="Content Placeholder 4"/>
          <p:cNvSpPr>
            <a:spLocks noGrp="1"/>
          </p:cNvSpPr>
          <p:nvPr>
            <p:ph sz="quarter" idx="17"/>
          </p:nvPr>
        </p:nvSpPr>
        <p:spPr>
          <a:xfrm>
            <a:off x="449362" y="1907629"/>
            <a:ext cx="4752000"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4"/>
          <p:cNvSpPr>
            <a:spLocks noGrp="1"/>
          </p:cNvSpPr>
          <p:nvPr>
            <p:ph sz="quarter" idx="18"/>
          </p:nvPr>
        </p:nvSpPr>
        <p:spPr>
          <a:xfrm>
            <a:off x="5490551" y="1907629"/>
            <a:ext cx="4752000"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Text Placeholder 10"/>
          <p:cNvSpPr>
            <a:spLocks noGrp="1"/>
          </p:cNvSpPr>
          <p:nvPr>
            <p:ph type="body" sz="quarter" idx="19"/>
          </p:nvPr>
        </p:nvSpPr>
        <p:spPr>
          <a:xfrm>
            <a:off x="5490551" y="4211884"/>
            <a:ext cx="4752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20" name="Text Placeholder 10"/>
          <p:cNvSpPr>
            <a:spLocks noGrp="1"/>
          </p:cNvSpPr>
          <p:nvPr>
            <p:ph type="body" sz="quarter" idx="20" hasCustomPrompt="1"/>
          </p:nvPr>
        </p:nvSpPr>
        <p:spPr>
          <a:xfrm>
            <a:off x="449362" y="4211884"/>
            <a:ext cx="4752000"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21" name="Content Placeholder 4"/>
          <p:cNvSpPr>
            <a:spLocks noGrp="1"/>
          </p:cNvSpPr>
          <p:nvPr>
            <p:ph sz="quarter" idx="21"/>
          </p:nvPr>
        </p:nvSpPr>
        <p:spPr>
          <a:xfrm>
            <a:off x="449362" y="4643139"/>
            <a:ext cx="4752000"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2" name="Content Placeholder 4"/>
          <p:cNvSpPr>
            <a:spLocks noGrp="1"/>
          </p:cNvSpPr>
          <p:nvPr>
            <p:ph sz="quarter" idx="22"/>
          </p:nvPr>
        </p:nvSpPr>
        <p:spPr>
          <a:xfrm>
            <a:off x="5490551" y="4643139"/>
            <a:ext cx="4752000"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7796501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our Contents" preserve="1" userDrawn="1">
  <p:cSld name="Four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13" name="Text Placeholder 10"/>
          <p:cNvSpPr>
            <a:spLocks noGrp="1"/>
          </p:cNvSpPr>
          <p:nvPr>
            <p:ph type="body" sz="quarter" idx="14" hasCustomPrompt="1"/>
          </p:nvPr>
        </p:nvSpPr>
        <p:spPr>
          <a:xfrm>
            <a:off x="449362" y="1476374"/>
            <a:ext cx="9793188"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15" name="Content Placeholder 4"/>
          <p:cNvSpPr>
            <a:spLocks noGrp="1"/>
          </p:cNvSpPr>
          <p:nvPr>
            <p:ph sz="quarter" idx="17"/>
          </p:nvPr>
        </p:nvSpPr>
        <p:spPr>
          <a:xfrm>
            <a:off x="449363" y="2267671"/>
            <a:ext cx="2232000" cy="439189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4"/>
          <p:cNvSpPr>
            <a:spLocks noGrp="1"/>
          </p:cNvSpPr>
          <p:nvPr>
            <p:ph sz="quarter" idx="18"/>
          </p:nvPr>
        </p:nvSpPr>
        <p:spPr>
          <a:xfrm>
            <a:off x="2969760" y="2267671"/>
            <a:ext cx="2232000" cy="439189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0" name="Content Placeholder 4"/>
          <p:cNvSpPr>
            <a:spLocks noGrp="1"/>
          </p:cNvSpPr>
          <p:nvPr>
            <p:ph sz="quarter" idx="20"/>
          </p:nvPr>
        </p:nvSpPr>
        <p:spPr>
          <a:xfrm>
            <a:off x="8010551" y="2267671"/>
            <a:ext cx="2232000" cy="439189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4" name="Content Placeholder 4"/>
          <p:cNvSpPr>
            <a:spLocks noGrp="1"/>
          </p:cNvSpPr>
          <p:nvPr>
            <p:ph sz="quarter" idx="22"/>
          </p:nvPr>
        </p:nvSpPr>
        <p:spPr>
          <a:xfrm>
            <a:off x="5490156" y="2267671"/>
            <a:ext cx="2232000" cy="4391894"/>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6" name="Text Placeholder 10"/>
          <p:cNvSpPr>
            <a:spLocks noGrp="1"/>
          </p:cNvSpPr>
          <p:nvPr>
            <p:ph type="body" sz="quarter" idx="23"/>
          </p:nvPr>
        </p:nvSpPr>
        <p:spPr>
          <a:xfrm>
            <a:off x="2969760" y="1919257"/>
            <a:ext cx="2232000" cy="258533"/>
          </a:xfrm>
        </p:spPr>
        <p:txBody>
          <a:bodyPr>
            <a:noAutofit/>
          </a:bodyPr>
          <a:lstStyle>
            <a:lvl1pPr marL="0" indent="0">
              <a:buNone/>
              <a:defRPr sz="1600" b="0"/>
            </a:lvl1pPr>
          </a:lstStyle>
          <a:p>
            <a:pPr lvl="0"/>
            <a:r>
              <a:rPr lang="en-US" dirty="0" smtClean="0"/>
              <a:t>Edit Master text styles</a:t>
            </a:r>
            <a:endParaRPr lang="en-US" dirty="0"/>
          </a:p>
        </p:txBody>
      </p:sp>
      <p:sp>
        <p:nvSpPr>
          <p:cNvPr id="27" name="Text Placeholder 10"/>
          <p:cNvSpPr>
            <a:spLocks noGrp="1"/>
          </p:cNvSpPr>
          <p:nvPr>
            <p:ph type="body" sz="quarter" idx="24" hasCustomPrompt="1"/>
          </p:nvPr>
        </p:nvSpPr>
        <p:spPr>
          <a:xfrm>
            <a:off x="449363" y="1919257"/>
            <a:ext cx="2232000" cy="258533"/>
          </a:xfrm>
        </p:spPr>
        <p:txBody>
          <a:bodyPr>
            <a:noAutofit/>
          </a:bodyPr>
          <a:lstStyle>
            <a:lvl1pPr marL="0" indent="0">
              <a:buNone/>
              <a:defRPr sz="1600" b="0"/>
            </a:lvl1pPr>
          </a:lstStyle>
          <a:p>
            <a:pPr lvl="0"/>
            <a:r>
              <a:rPr lang="en-US" dirty="0" smtClean="0"/>
              <a:t>Click to edit Master text styles</a:t>
            </a:r>
            <a:endParaRPr lang="en-US" dirty="0"/>
          </a:p>
        </p:txBody>
      </p:sp>
      <p:sp>
        <p:nvSpPr>
          <p:cNvPr id="28" name="Text Placeholder 10"/>
          <p:cNvSpPr>
            <a:spLocks noGrp="1"/>
          </p:cNvSpPr>
          <p:nvPr>
            <p:ph type="body" sz="quarter" idx="25"/>
          </p:nvPr>
        </p:nvSpPr>
        <p:spPr>
          <a:xfrm>
            <a:off x="8010550" y="1919257"/>
            <a:ext cx="2232000" cy="258533"/>
          </a:xfrm>
        </p:spPr>
        <p:txBody>
          <a:bodyPr>
            <a:noAutofit/>
          </a:bodyPr>
          <a:lstStyle>
            <a:lvl1pPr marL="0" indent="0">
              <a:buNone/>
              <a:defRPr sz="1600" b="0"/>
            </a:lvl1pPr>
          </a:lstStyle>
          <a:p>
            <a:pPr lvl="0"/>
            <a:r>
              <a:rPr lang="en-US" dirty="0" smtClean="0"/>
              <a:t>Edit Master text styles</a:t>
            </a:r>
            <a:endParaRPr lang="en-US" dirty="0"/>
          </a:p>
        </p:txBody>
      </p:sp>
      <p:sp>
        <p:nvSpPr>
          <p:cNvPr id="29" name="Text Placeholder 10"/>
          <p:cNvSpPr>
            <a:spLocks noGrp="1"/>
          </p:cNvSpPr>
          <p:nvPr>
            <p:ph type="body" sz="quarter" idx="26"/>
          </p:nvPr>
        </p:nvSpPr>
        <p:spPr>
          <a:xfrm>
            <a:off x="5490156" y="1919257"/>
            <a:ext cx="2232000" cy="258533"/>
          </a:xfrm>
        </p:spPr>
        <p:txBody>
          <a:bodyPr>
            <a:noAutofit/>
          </a:bodyPr>
          <a:lstStyle>
            <a:lvl1pPr marL="0" indent="0">
              <a:buNone/>
              <a:defRPr sz="1600" b="0"/>
            </a:lvl1pPr>
          </a:lstStyle>
          <a:p>
            <a:pPr lvl="0"/>
            <a:r>
              <a:rPr lang="en-US" dirty="0" smtClean="0"/>
              <a:t>Edit Master text styles</a:t>
            </a:r>
            <a:endParaRPr lang="en-US" dirty="0"/>
          </a:p>
        </p:txBody>
      </p:sp>
    </p:spTree>
    <p:extLst>
      <p:ext uri="{BB962C8B-B14F-4D97-AF65-F5344CB8AC3E}">
        <p14:creationId xmlns:p14="http://schemas.microsoft.com/office/powerpoint/2010/main" val="5433886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ix Contents" preserve="1" userDrawn="1">
  <p:cSld name="Six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17" name="Text Placeholder 10"/>
          <p:cNvSpPr>
            <a:spLocks noGrp="1"/>
          </p:cNvSpPr>
          <p:nvPr>
            <p:ph type="body" sz="quarter" idx="14" hasCustomPrompt="1"/>
          </p:nvPr>
        </p:nvSpPr>
        <p:spPr>
          <a:xfrm>
            <a:off x="449361" y="1476374"/>
            <a:ext cx="3096000"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19" name="Content Placeholder 4"/>
          <p:cNvSpPr>
            <a:spLocks noGrp="1"/>
          </p:cNvSpPr>
          <p:nvPr>
            <p:ph sz="quarter" idx="17"/>
          </p:nvPr>
        </p:nvSpPr>
        <p:spPr>
          <a:xfrm>
            <a:off x="449361" y="1907629"/>
            <a:ext cx="3096000"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4" name="Text Placeholder 10"/>
          <p:cNvSpPr>
            <a:spLocks noGrp="1"/>
          </p:cNvSpPr>
          <p:nvPr>
            <p:ph type="body" sz="quarter" idx="20" hasCustomPrompt="1"/>
          </p:nvPr>
        </p:nvSpPr>
        <p:spPr>
          <a:xfrm>
            <a:off x="449361" y="4211884"/>
            <a:ext cx="3096000"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26" name="Content Placeholder 4"/>
          <p:cNvSpPr>
            <a:spLocks noGrp="1"/>
          </p:cNvSpPr>
          <p:nvPr>
            <p:ph sz="quarter" idx="21"/>
          </p:nvPr>
        </p:nvSpPr>
        <p:spPr>
          <a:xfrm>
            <a:off x="449361" y="4643139"/>
            <a:ext cx="3096000"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8" name="Text Placeholder 10"/>
          <p:cNvSpPr>
            <a:spLocks noGrp="1"/>
          </p:cNvSpPr>
          <p:nvPr>
            <p:ph type="body" sz="quarter" idx="23"/>
          </p:nvPr>
        </p:nvSpPr>
        <p:spPr>
          <a:xfrm>
            <a:off x="7146106" y="1476374"/>
            <a:ext cx="3096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30" name="Content Placeholder 4"/>
          <p:cNvSpPr>
            <a:spLocks noGrp="1"/>
          </p:cNvSpPr>
          <p:nvPr>
            <p:ph sz="quarter" idx="24"/>
          </p:nvPr>
        </p:nvSpPr>
        <p:spPr>
          <a:xfrm>
            <a:off x="7146106" y="1907629"/>
            <a:ext cx="3096000"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3" name="Text Placeholder 10"/>
          <p:cNvSpPr>
            <a:spLocks noGrp="1"/>
          </p:cNvSpPr>
          <p:nvPr>
            <p:ph type="body" sz="quarter" idx="25"/>
          </p:nvPr>
        </p:nvSpPr>
        <p:spPr>
          <a:xfrm>
            <a:off x="7146106" y="4211884"/>
            <a:ext cx="3096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34" name="Content Placeholder 4"/>
          <p:cNvSpPr>
            <a:spLocks noGrp="1"/>
          </p:cNvSpPr>
          <p:nvPr>
            <p:ph sz="quarter" idx="26"/>
          </p:nvPr>
        </p:nvSpPr>
        <p:spPr>
          <a:xfrm>
            <a:off x="7146106" y="4643139"/>
            <a:ext cx="3096000"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5" name="Text Placeholder 10"/>
          <p:cNvSpPr>
            <a:spLocks noGrp="1"/>
          </p:cNvSpPr>
          <p:nvPr>
            <p:ph type="body" sz="quarter" idx="27"/>
          </p:nvPr>
        </p:nvSpPr>
        <p:spPr>
          <a:xfrm>
            <a:off x="3797734" y="1476374"/>
            <a:ext cx="3096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36" name="Content Placeholder 4"/>
          <p:cNvSpPr>
            <a:spLocks noGrp="1"/>
          </p:cNvSpPr>
          <p:nvPr>
            <p:ph sz="quarter" idx="28"/>
          </p:nvPr>
        </p:nvSpPr>
        <p:spPr>
          <a:xfrm>
            <a:off x="3797734" y="1907629"/>
            <a:ext cx="3096000"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Text Placeholder 10"/>
          <p:cNvSpPr>
            <a:spLocks noGrp="1"/>
          </p:cNvSpPr>
          <p:nvPr>
            <p:ph type="body" sz="quarter" idx="29"/>
          </p:nvPr>
        </p:nvSpPr>
        <p:spPr>
          <a:xfrm>
            <a:off x="3797734" y="4211884"/>
            <a:ext cx="3096000" cy="258533"/>
          </a:xfrm>
        </p:spPr>
        <p:txBody>
          <a:bodyPr>
            <a:noAutofit/>
          </a:bodyPr>
          <a:lstStyle>
            <a:lvl1pPr marL="0" indent="0">
              <a:buNone/>
              <a:defRPr sz="1600" b="1"/>
            </a:lvl1pPr>
          </a:lstStyle>
          <a:p>
            <a:pPr lvl="0"/>
            <a:r>
              <a:rPr lang="en-US" dirty="0" smtClean="0"/>
              <a:t>Edit Master text styles</a:t>
            </a:r>
            <a:endParaRPr lang="en-US" dirty="0"/>
          </a:p>
        </p:txBody>
      </p:sp>
      <p:sp>
        <p:nvSpPr>
          <p:cNvPr id="38" name="Content Placeholder 4"/>
          <p:cNvSpPr>
            <a:spLocks noGrp="1"/>
          </p:cNvSpPr>
          <p:nvPr>
            <p:ph sz="quarter" idx="30"/>
          </p:nvPr>
        </p:nvSpPr>
        <p:spPr>
          <a:xfrm>
            <a:off x="3797734" y="4643139"/>
            <a:ext cx="3096000"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9654506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Horizontal" preserve="1" userDrawn="1">
  <p:cSld name="Two Content Horizont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11" name="Text Placeholder 10"/>
          <p:cNvSpPr>
            <a:spLocks noGrp="1"/>
          </p:cNvSpPr>
          <p:nvPr>
            <p:ph type="body" sz="quarter" idx="14" hasCustomPrompt="1"/>
          </p:nvPr>
        </p:nvSpPr>
        <p:spPr>
          <a:xfrm>
            <a:off x="449362" y="1476374"/>
            <a:ext cx="9793188"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13" name="Content Placeholder 4"/>
          <p:cNvSpPr>
            <a:spLocks noGrp="1"/>
          </p:cNvSpPr>
          <p:nvPr>
            <p:ph sz="quarter" idx="17"/>
          </p:nvPr>
        </p:nvSpPr>
        <p:spPr>
          <a:xfrm>
            <a:off x="449362" y="1907629"/>
            <a:ext cx="9793188"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Text Placeholder 10"/>
          <p:cNvSpPr>
            <a:spLocks noGrp="1"/>
          </p:cNvSpPr>
          <p:nvPr>
            <p:ph type="body" sz="quarter" idx="20" hasCustomPrompt="1"/>
          </p:nvPr>
        </p:nvSpPr>
        <p:spPr>
          <a:xfrm>
            <a:off x="449362" y="4211884"/>
            <a:ext cx="9793188" cy="258533"/>
          </a:xfrm>
        </p:spPr>
        <p:txBody>
          <a:bodyPr>
            <a:noAutofit/>
          </a:bodyPr>
          <a:lstStyle>
            <a:lvl1pPr marL="0" indent="0">
              <a:buNone/>
              <a:defRPr sz="1600" b="1"/>
            </a:lvl1pPr>
          </a:lstStyle>
          <a:p>
            <a:pPr lvl="0"/>
            <a:r>
              <a:rPr lang="en-US" dirty="0" smtClean="0"/>
              <a:t>Click to edit Master text styles</a:t>
            </a:r>
            <a:endParaRPr lang="en-US" dirty="0"/>
          </a:p>
        </p:txBody>
      </p:sp>
      <p:sp>
        <p:nvSpPr>
          <p:cNvPr id="17" name="Content Placeholder 4"/>
          <p:cNvSpPr>
            <a:spLocks noGrp="1"/>
          </p:cNvSpPr>
          <p:nvPr>
            <p:ph sz="quarter" idx="21"/>
          </p:nvPr>
        </p:nvSpPr>
        <p:spPr>
          <a:xfrm>
            <a:off x="449362" y="4643139"/>
            <a:ext cx="9793188" cy="20160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579421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4" name="Text Placeholder 10"/>
          <p:cNvSpPr>
            <a:spLocks noGrp="1"/>
          </p:cNvSpPr>
          <p:nvPr>
            <p:ph type="body" sz="quarter" idx="14" hasCustomPrompt="1"/>
          </p:nvPr>
        </p:nvSpPr>
        <p:spPr>
          <a:xfrm>
            <a:off x="449362" y="1476375"/>
            <a:ext cx="9793188" cy="267172"/>
          </a:xfrm>
        </p:spPr>
        <p:txBody>
          <a:bodyPr>
            <a:spAutoFit/>
          </a:bodyPr>
          <a:lstStyle>
            <a:lvl1pPr marL="0" indent="0">
              <a:buNone/>
              <a:defRPr sz="1600" b="1"/>
            </a:lvl1pPr>
          </a:lstStyle>
          <a:p>
            <a:pPr lvl="0"/>
            <a:r>
              <a:rPr lang="en-US" dirty="0" smtClean="0"/>
              <a:t>Click to edit Master text styles</a:t>
            </a:r>
            <a:endParaRPr lang="en-US" dirty="0"/>
          </a:p>
        </p:txBody>
      </p:sp>
    </p:spTree>
    <p:extLst>
      <p:ext uri="{BB962C8B-B14F-4D97-AF65-F5344CB8AC3E}">
        <p14:creationId xmlns:p14="http://schemas.microsoft.com/office/powerpoint/2010/main" val="3092021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preserve="1"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10395759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with Background" preserve="1" userDrawn="1">
  <p:cSld name="Blank with Backgroun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Click to edit Master title style</a:t>
            </a:r>
            <a:endParaRPr lang="en-US" dirty="0"/>
          </a:p>
        </p:txBody>
      </p:sp>
      <p:sp>
        <p:nvSpPr>
          <p:cNvPr id="2" name="Rectangle 1"/>
          <p:cNvSpPr>
            <a:spLocks/>
          </p:cNvSpPr>
          <p:nvPr userDrawn="1"/>
        </p:nvSpPr>
        <p:spPr bwMode="gray">
          <a:xfrm>
            <a:off x="449264" y="1476376"/>
            <a:ext cx="9793286" cy="5183189"/>
          </a:xfrm>
          <a:prstGeom prst="rect">
            <a:avLst/>
          </a:prstGeom>
          <a:solidFill>
            <a:srgbClr val="E1DCCA"/>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Tree>
    <p:extLst>
      <p:ext uri="{BB962C8B-B14F-4D97-AF65-F5344CB8AC3E}">
        <p14:creationId xmlns:p14="http://schemas.microsoft.com/office/powerpoint/2010/main" val="33096288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Quote" preserve="1" userDrawn="1">
  <p:cSld name="Quote">
    <p:spTree>
      <p:nvGrpSpPr>
        <p:cNvPr id="1" name=""/>
        <p:cNvGrpSpPr/>
        <p:nvPr/>
      </p:nvGrpSpPr>
      <p:grpSpPr>
        <a:xfrm>
          <a:off x="0" y="0"/>
          <a:ext cx="0" cy="0"/>
          <a:chOff x="0" y="0"/>
          <a:chExt cx="0" cy="0"/>
        </a:xfrm>
      </p:grpSpPr>
      <p:sp>
        <p:nvSpPr>
          <p:cNvPr id="5" name="Text Placeholder"/>
          <p:cNvSpPr>
            <a:spLocks noGrp="1"/>
          </p:cNvSpPr>
          <p:nvPr>
            <p:ph type="body" sz="quarter" idx="10"/>
          </p:nvPr>
        </p:nvSpPr>
        <p:spPr>
          <a:xfrm>
            <a:off x="449263" y="1476374"/>
            <a:ext cx="7272907" cy="3959647"/>
          </a:xfrm>
        </p:spPr>
        <p:txBody>
          <a:bodyPr/>
          <a:lstStyle>
            <a:lvl1pPr marL="0" indent="0">
              <a:lnSpc>
                <a:spcPct val="100000"/>
              </a:lnSpc>
              <a:buNone/>
              <a:defRPr sz="3000" b="1" baseline="0">
                <a:latin typeface="+mj-lt"/>
              </a:defRPr>
            </a:lvl1pPr>
            <a:lvl2pPr marL="179376" indent="0">
              <a:buNone/>
              <a:defRPr sz="3000" b="1">
                <a:latin typeface="+mj-lt"/>
              </a:defRPr>
            </a:lvl2pPr>
            <a:lvl3pPr marL="358755" indent="0">
              <a:buNone/>
              <a:defRPr sz="3000" b="1">
                <a:latin typeface="+mj-lt"/>
              </a:defRPr>
            </a:lvl3pPr>
            <a:lvl4pPr marL="538132" indent="0">
              <a:buNone/>
              <a:defRPr sz="3000" b="1">
                <a:latin typeface="+mj-lt"/>
              </a:defRPr>
            </a:lvl4pPr>
            <a:lvl5pPr marL="719095" indent="0">
              <a:buNone/>
              <a:defRPr sz="3000" b="1">
                <a:latin typeface="+mj-lt"/>
              </a:defRPr>
            </a:lvl5pPr>
          </a:lstStyle>
          <a:p>
            <a:pPr lvl="0"/>
            <a:r>
              <a:rPr lang="en-US" dirty="0" smtClean="0"/>
              <a:t>Edit Master text styles</a:t>
            </a:r>
            <a:endParaRPr lang="en-US" dirty="0"/>
          </a:p>
        </p:txBody>
      </p:sp>
      <p:sp>
        <p:nvSpPr>
          <p:cNvPr id="2" name="Title"/>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34007469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Image" preserve="1" userDrawn="1">
  <p:cSld name="Image">
    <p:spTree>
      <p:nvGrpSpPr>
        <p:cNvPr id="1" name=""/>
        <p:cNvGrpSpPr/>
        <p:nvPr/>
      </p:nvGrpSpPr>
      <p:grpSpPr>
        <a:xfrm>
          <a:off x="0" y="0"/>
          <a:ext cx="0" cy="0"/>
          <a:chOff x="0" y="0"/>
          <a:chExt cx="0" cy="0"/>
        </a:xfrm>
      </p:grpSpPr>
      <p:sp>
        <p:nvSpPr>
          <p:cNvPr id="7" name="Background"/>
          <p:cNvSpPr/>
          <p:nvPr userDrawn="1"/>
        </p:nvSpPr>
        <p:spPr bwMode="gray">
          <a:xfrm>
            <a:off x="449265" y="2"/>
            <a:ext cx="10242551" cy="6659563"/>
          </a:xfrm>
          <a:prstGeom prst="rect">
            <a:avLst/>
          </a:prstGeom>
          <a:solidFill>
            <a:schemeClr val="bg1">
              <a:lumMod val="95000"/>
            </a:schemeClr>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14" name="Picture Placeholder"/>
          <p:cNvSpPr>
            <a:spLocks noGrp="1"/>
          </p:cNvSpPr>
          <p:nvPr>
            <p:ph type="pic" sz="quarter" idx="10"/>
          </p:nvPr>
        </p:nvSpPr>
        <p:spPr>
          <a:xfrm>
            <a:off x="449265" y="2"/>
            <a:ext cx="10242551" cy="6659563"/>
          </a:xfrm>
        </p:spPr>
        <p:txBody>
          <a:bodyPr tIns="683961" anchor="ctr"/>
          <a:lstStyle>
            <a:lvl1pPr marL="0" indent="0" algn="ctr">
              <a:buNone/>
              <a:defRPr>
                <a:solidFill>
                  <a:srgbClr val="000000"/>
                </a:solidFill>
              </a:defRPr>
            </a:lvl1pPr>
          </a:lstStyle>
          <a:p>
            <a:r>
              <a:rPr lang="en-US"/>
              <a:t>Click icon to add picture</a:t>
            </a:r>
            <a:endParaRPr lang="de-DE" dirty="0"/>
          </a:p>
        </p:txBody>
      </p:sp>
      <p:sp>
        <p:nvSpPr>
          <p:cNvPr id="12" name="RemarkText" hidden="1"/>
          <p:cNvSpPr txBox="1">
            <a:spLocks/>
          </p:cNvSpPr>
          <p:nvPr userDrawn="1">
            <p:custDataLst>
              <p:tags r:id="rId1"/>
            </p:custDataLst>
          </p:nvPr>
        </p:nvSpPr>
        <p:spPr>
          <a:xfrm>
            <a:off x="2127210" y="243163"/>
            <a:ext cx="4730864" cy="145157"/>
          </a:xfrm>
          <a:prstGeom prst="rect">
            <a:avLst/>
          </a:prstGeom>
        </p:spPr>
        <p:txBody>
          <a:bodyPr vert="horz" wrap="none" lIns="0" tIns="0" rIns="0" bIns="0" rtlCol="0" anchor="t"/>
          <a:lstStyle>
            <a:defPPr>
              <a:defRPr lang="en-US"/>
            </a:defPPr>
            <a:lvl1pPr algn="r">
              <a:defRPr sz="800">
                <a:solidFill>
                  <a:srgbClr val="B1B2B3"/>
                </a:solidFill>
              </a:defRPr>
            </a:lvl1pPr>
          </a:lstStyle>
          <a:p>
            <a:pPr lvl="0" algn="ctr"/>
            <a:endParaRPr lang="en-US" sz="800" noProof="0" dirty="0">
              <a:solidFill>
                <a:srgbClr val="000000"/>
              </a:solidFill>
              <a:latin typeface="+mn-lt"/>
            </a:endParaRPr>
          </a:p>
        </p:txBody>
      </p:sp>
      <p:sp>
        <p:nvSpPr>
          <p:cNvPr id="13" name="SlideNumber"/>
          <p:cNvSpPr txBox="1">
            <a:spLocks/>
          </p:cNvSpPr>
          <p:nvPr userDrawn="1">
            <p:custDataLst>
              <p:tags r:id="rId2"/>
            </p:custDataLst>
          </p:nvPr>
        </p:nvSpPr>
        <p:spPr>
          <a:xfrm>
            <a:off x="9738394" y="7146300"/>
            <a:ext cx="504156" cy="161931"/>
          </a:xfrm>
          <a:prstGeom prst="rect">
            <a:avLst/>
          </a:prstGeom>
        </p:spPr>
        <p:txBody>
          <a:bodyPr vert="horz" wrap="none" lIns="0" tIns="0" rIns="0" bIns="0" rtlCol="0" anchor="b"/>
          <a:lstStyle>
            <a:defPPr>
              <a:defRPr lang="en-US"/>
            </a:defPPr>
            <a:lvl1pPr algn="r">
              <a:defRPr sz="1000"/>
            </a:lvl1pPr>
          </a:lstStyle>
          <a:p>
            <a:pPr lvl="0"/>
            <a:fld id="{276F8735-B488-473D-BDE2-99744E9D184E}" type="slidenum">
              <a:rPr lang="en-US" sz="800" b="1" noProof="0" smtClean="0">
                <a:latin typeface="+mn-lt"/>
              </a:rPr>
              <a:t>‹#›</a:t>
            </a:fld>
            <a:endParaRPr lang="en-US" sz="800" b="1" noProof="0" dirty="0">
              <a:latin typeface="+mn-lt"/>
            </a:endParaRPr>
          </a:p>
        </p:txBody>
      </p:sp>
    </p:spTree>
    <p:extLst>
      <p:ext uri="{BB962C8B-B14F-4D97-AF65-F5344CB8AC3E}">
        <p14:creationId xmlns:p14="http://schemas.microsoft.com/office/powerpoint/2010/main" val="3489975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tact Slide" preserve="1" userDrawn="1">
  <p:cSld name="Contact Slide">
    <p:spTree>
      <p:nvGrpSpPr>
        <p:cNvPr id="1" name=""/>
        <p:cNvGrpSpPr/>
        <p:nvPr/>
      </p:nvGrpSpPr>
      <p:grpSpPr>
        <a:xfrm>
          <a:off x="0" y="0"/>
          <a:ext cx="0" cy="0"/>
          <a:chOff x="0" y="0"/>
          <a:chExt cx="0" cy="0"/>
        </a:xfrm>
      </p:grpSpPr>
      <p:sp>
        <p:nvSpPr>
          <p:cNvPr id="18" name="Picture Placeholder"/>
          <p:cNvSpPr>
            <a:spLocks noGrp="1"/>
          </p:cNvSpPr>
          <p:nvPr>
            <p:ph type="pic" sz="quarter" idx="10"/>
          </p:nvPr>
        </p:nvSpPr>
        <p:spPr>
          <a:xfrm>
            <a:off x="7218115" y="1476375"/>
            <a:ext cx="3024436" cy="3383582"/>
          </a:xfrm>
        </p:spPr>
        <p:txBody>
          <a:bodyPr tIns="503970" anchor="ctr"/>
          <a:lstStyle>
            <a:lvl1pPr marL="0" indent="0" algn="ctr">
              <a:buNone/>
              <a:defRPr sz="1300"/>
            </a:lvl1pPr>
          </a:lstStyle>
          <a:p>
            <a:r>
              <a:rPr lang="en-US"/>
              <a:t>Click icon to add picture</a:t>
            </a:r>
            <a:endParaRPr lang="de-CH" dirty="0"/>
          </a:p>
        </p:txBody>
      </p:sp>
      <p:sp>
        <p:nvSpPr>
          <p:cNvPr id="19" name="Text Placeholder"/>
          <p:cNvSpPr>
            <a:spLocks noGrp="1"/>
          </p:cNvSpPr>
          <p:nvPr>
            <p:ph type="body" sz="quarter" idx="12"/>
          </p:nvPr>
        </p:nvSpPr>
        <p:spPr>
          <a:xfrm>
            <a:off x="449362" y="1476375"/>
            <a:ext cx="4680520" cy="5183188"/>
          </a:xfrm>
        </p:spPr>
        <p:txBody>
          <a:bodyPr anchor="t"/>
          <a:lstStyle>
            <a:lvl1pPr marL="0" indent="0">
              <a:buNone/>
              <a:defRPr sz="1400" b="0"/>
            </a:lvl1pPr>
          </a:lstStyle>
          <a:p>
            <a:pPr lvl="0"/>
            <a:r>
              <a:rPr lang="en-US" noProof="1" smtClean="0"/>
              <a:t>Edit Master text styles</a:t>
            </a:r>
            <a:endParaRPr lang="en-US" noProof="1"/>
          </a:p>
        </p:txBody>
      </p:sp>
      <p:sp>
        <p:nvSpPr>
          <p:cNvPr id="2" name="Title"/>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667718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ntact Team Slide" preserve="1" userDrawn="1">
  <p:cSld name="Contact Team Slide">
    <p:spTree>
      <p:nvGrpSpPr>
        <p:cNvPr id="1" name=""/>
        <p:cNvGrpSpPr/>
        <p:nvPr/>
      </p:nvGrpSpPr>
      <p:grpSpPr>
        <a:xfrm>
          <a:off x="0" y="0"/>
          <a:ext cx="0" cy="0"/>
          <a:chOff x="0" y="0"/>
          <a:chExt cx="0" cy="0"/>
        </a:xfrm>
      </p:grpSpPr>
      <p:sp>
        <p:nvSpPr>
          <p:cNvPr id="20" name="Text Placeholder 8"/>
          <p:cNvSpPr>
            <a:spLocks noGrp="1"/>
          </p:cNvSpPr>
          <p:nvPr>
            <p:ph type="body" sz="quarter" idx="21"/>
          </p:nvPr>
        </p:nvSpPr>
        <p:spPr>
          <a:xfrm>
            <a:off x="8874299" y="5873586"/>
            <a:ext cx="1368152" cy="792088"/>
          </a:xfrm>
        </p:spPr>
        <p:txBody>
          <a:bodyPr anchor="t"/>
          <a:lstStyle>
            <a:lvl1pPr marL="0" indent="0">
              <a:buNone/>
              <a:defRPr sz="1000" b="0"/>
            </a:lvl1pPr>
          </a:lstStyle>
          <a:p>
            <a:pPr lvl="0"/>
            <a:r>
              <a:rPr lang="en-US" noProof="1" smtClean="0"/>
              <a:t>Edit Master text styles</a:t>
            </a:r>
            <a:endParaRPr lang="en-US" noProof="1"/>
          </a:p>
        </p:txBody>
      </p:sp>
      <p:sp>
        <p:nvSpPr>
          <p:cNvPr id="17" name="Picture Placeholder 8"/>
          <p:cNvSpPr>
            <a:spLocks noGrp="1"/>
          </p:cNvSpPr>
          <p:nvPr>
            <p:ph type="pic" sz="quarter" idx="20"/>
          </p:nvPr>
        </p:nvSpPr>
        <p:spPr>
          <a:xfrm>
            <a:off x="8874300" y="4218199"/>
            <a:ext cx="1368253" cy="1511374"/>
          </a:xfrm>
        </p:spPr>
        <p:txBody>
          <a:bodyPr tIns="503970" anchor="ctr"/>
          <a:lstStyle>
            <a:lvl1pPr marL="0" indent="0" algn="ctr">
              <a:buNone/>
              <a:defRPr sz="1300"/>
            </a:lvl1pPr>
          </a:lstStyle>
          <a:p>
            <a:r>
              <a:rPr lang="en-US"/>
              <a:t>Click icon to add picture</a:t>
            </a:r>
            <a:endParaRPr lang="de-CH" dirty="0"/>
          </a:p>
        </p:txBody>
      </p:sp>
      <p:sp>
        <p:nvSpPr>
          <p:cNvPr id="26" name="Text Placeholder 7"/>
          <p:cNvSpPr>
            <a:spLocks noGrp="1"/>
          </p:cNvSpPr>
          <p:nvPr>
            <p:ph type="body" sz="quarter" idx="27"/>
          </p:nvPr>
        </p:nvSpPr>
        <p:spPr>
          <a:xfrm>
            <a:off x="7194114" y="5873586"/>
            <a:ext cx="1368152" cy="792088"/>
          </a:xfrm>
        </p:spPr>
        <p:txBody>
          <a:bodyPr anchor="t"/>
          <a:lstStyle>
            <a:lvl1pPr marL="0" indent="0">
              <a:buNone/>
              <a:defRPr sz="1000" b="0"/>
            </a:lvl1pPr>
          </a:lstStyle>
          <a:p>
            <a:pPr lvl="0"/>
            <a:r>
              <a:rPr lang="en-US" noProof="1" smtClean="0"/>
              <a:t>Edit Master text styles</a:t>
            </a:r>
            <a:endParaRPr lang="en-US" noProof="1"/>
          </a:p>
        </p:txBody>
      </p:sp>
      <p:sp>
        <p:nvSpPr>
          <p:cNvPr id="25" name="Picture Placeholder 7"/>
          <p:cNvSpPr>
            <a:spLocks noGrp="1"/>
          </p:cNvSpPr>
          <p:nvPr>
            <p:ph type="pic" sz="quarter" idx="26"/>
          </p:nvPr>
        </p:nvSpPr>
        <p:spPr>
          <a:xfrm>
            <a:off x="7194114" y="4218199"/>
            <a:ext cx="1368253" cy="1511374"/>
          </a:xfrm>
        </p:spPr>
        <p:txBody>
          <a:bodyPr tIns="503970" anchor="ctr"/>
          <a:lstStyle>
            <a:lvl1pPr marL="0" indent="0" algn="ctr">
              <a:buNone/>
              <a:defRPr sz="1300"/>
            </a:lvl1pPr>
          </a:lstStyle>
          <a:p>
            <a:r>
              <a:rPr lang="en-US"/>
              <a:t>Click icon to add picture</a:t>
            </a:r>
            <a:endParaRPr lang="de-CH" dirty="0"/>
          </a:p>
        </p:txBody>
      </p:sp>
      <p:sp>
        <p:nvSpPr>
          <p:cNvPr id="24" name="Text Placeholder 6"/>
          <p:cNvSpPr>
            <a:spLocks noGrp="1"/>
          </p:cNvSpPr>
          <p:nvPr>
            <p:ph type="body" sz="quarter" idx="25"/>
          </p:nvPr>
        </p:nvSpPr>
        <p:spPr>
          <a:xfrm>
            <a:off x="5513927" y="5873586"/>
            <a:ext cx="1368152" cy="792088"/>
          </a:xfrm>
        </p:spPr>
        <p:txBody>
          <a:bodyPr anchor="t"/>
          <a:lstStyle>
            <a:lvl1pPr marL="0" indent="0">
              <a:buNone/>
              <a:defRPr sz="1000" b="0"/>
            </a:lvl1pPr>
          </a:lstStyle>
          <a:p>
            <a:pPr lvl="0"/>
            <a:r>
              <a:rPr lang="en-US" noProof="1" smtClean="0"/>
              <a:t>Edit Master text styles</a:t>
            </a:r>
            <a:endParaRPr lang="en-US" noProof="1"/>
          </a:p>
        </p:txBody>
      </p:sp>
      <p:sp>
        <p:nvSpPr>
          <p:cNvPr id="23" name="Picture Placeholder 6"/>
          <p:cNvSpPr>
            <a:spLocks noGrp="1"/>
          </p:cNvSpPr>
          <p:nvPr>
            <p:ph type="pic" sz="quarter" idx="24"/>
          </p:nvPr>
        </p:nvSpPr>
        <p:spPr>
          <a:xfrm>
            <a:off x="5513927" y="4218199"/>
            <a:ext cx="1368253" cy="1511374"/>
          </a:xfrm>
        </p:spPr>
        <p:txBody>
          <a:bodyPr tIns="503970" anchor="ctr"/>
          <a:lstStyle>
            <a:lvl1pPr marL="0" indent="0" algn="ctr">
              <a:buNone/>
              <a:defRPr sz="1300"/>
            </a:lvl1pPr>
          </a:lstStyle>
          <a:p>
            <a:r>
              <a:rPr lang="en-US"/>
              <a:t>Click icon to add picture</a:t>
            </a:r>
            <a:endParaRPr lang="de-CH" dirty="0"/>
          </a:p>
        </p:txBody>
      </p:sp>
      <p:sp>
        <p:nvSpPr>
          <p:cNvPr id="22" name="Text Placeholder 5"/>
          <p:cNvSpPr>
            <a:spLocks noGrp="1"/>
          </p:cNvSpPr>
          <p:nvPr>
            <p:ph type="body" sz="quarter" idx="23"/>
          </p:nvPr>
        </p:nvSpPr>
        <p:spPr>
          <a:xfrm>
            <a:off x="3833738" y="5873586"/>
            <a:ext cx="1368152" cy="792088"/>
          </a:xfrm>
        </p:spPr>
        <p:txBody>
          <a:bodyPr anchor="t"/>
          <a:lstStyle>
            <a:lvl1pPr marL="0" indent="0">
              <a:buNone/>
              <a:defRPr sz="1000" b="0"/>
            </a:lvl1pPr>
          </a:lstStyle>
          <a:p>
            <a:pPr lvl="0"/>
            <a:r>
              <a:rPr lang="en-US" noProof="1" smtClean="0"/>
              <a:t>Edit Master text styles</a:t>
            </a:r>
            <a:endParaRPr lang="en-US" noProof="1"/>
          </a:p>
        </p:txBody>
      </p:sp>
      <p:sp>
        <p:nvSpPr>
          <p:cNvPr id="21" name="Picture Placeholder 5"/>
          <p:cNvSpPr>
            <a:spLocks noGrp="1"/>
          </p:cNvSpPr>
          <p:nvPr>
            <p:ph type="pic" sz="quarter" idx="22"/>
          </p:nvPr>
        </p:nvSpPr>
        <p:spPr>
          <a:xfrm>
            <a:off x="3833740" y="4218199"/>
            <a:ext cx="1368253" cy="1511374"/>
          </a:xfrm>
        </p:spPr>
        <p:txBody>
          <a:bodyPr tIns="503970" anchor="ctr"/>
          <a:lstStyle>
            <a:lvl1pPr marL="0" indent="0" algn="ctr">
              <a:buNone/>
              <a:defRPr sz="1300"/>
            </a:lvl1pPr>
          </a:lstStyle>
          <a:p>
            <a:r>
              <a:rPr lang="en-US"/>
              <a:t>Click icon to add picture</a:t>
            </a:r>
            <a:endParaRPr lang="de-CH" dirty="0"/>
          </a:p>
        </p:txBody>
      </p:sp>
      <p:sp>
        <p:nvSpPr>
          <p:cNvPr id="7" name="Text Placeholder 4"/>
          <p:cNvSpPr>
            <a:spLocks noGrp="1"/>
          </p:cNvSpPr>
          <p:nvPr>
            <p:ph type="body" sz="quarter" idx="13"/>
          </p:nvPr>
        </p:nvSpPr>
        <p:spPr>
          <a:xfrm>
            <a:off x="8874299" y="3131765"/>
            <a:ext cx="1368152" cy="792088"/>
          </a:xfrm>
        </p:spPr>
        <p:txBody>
          <a:bodyPr anchor="t"/>
          <a:lstStyle>
            <a:lvl1pPr marL="0" indent="0">
              <a:buNone/>
              <a:defRPr sz="1000" b="0"/>
            </a:lvl1pPr>
          </a:lstStyle>
          <a:p>
            <a:pPr lvl="0"/>
            <a:r>
              <a:rPr lang="en-US" noProof="1" smtClean="0"/>
              <a:t>Edit Master text styles</a:t>
            </a:r>
            <a:endParaRPr lang="en-US" noProof="1"/>
          </a:p>
        </p:txBody>
      </p:sp>
      <p:sp>
        <p:nvSpPr>
          <p:cNvPr id="18" name="Picture Placeholder 4"/>
          <p:cNvSpPr>
            <a:spLocks noGrp="1"/>
          </p:cNvSpPr>
          <p:nvPr>
            <p:ph type="pic" sz="quarter" idx="10"/>
          </p:nvPr>
        </p:nvSpPr>
        <p:spPr>
          <a:xfrm>
            <a:off x="8874300" y="1476377"/>
            <a:ext cx="1368253" cy="1511374"/>
          </a:xfrm>
        </p:spPr>
        <p:txBody>
          <a:bodyPr tIns="503970" anchor="ctr"/>
          <a:lstStyle>
            <a:lvl1pPr marL="0" indent="0" algn="ctr">
              <a:buNone/>
              <a:defRPr sz="1300"/>
            </a:lvl1pPr>
          </a:lstStyle>
          <a:p>
            <a:r>
              <a:rPr lang="en-US"/>
              <a:t>Click icon to add picture</a:t>
            </a:r>
            <a:endParaRPr lang="de-CH" dirty="0"/>
          </a:p>
        </p:txBody>
      </p:sp>
      <p:sp>
        <p:nvSpPr>
          <p:cNvPr id="16" name="Text Placeholder 3"/>
          <p:cNvSpPr>
            <a:spLocks noGrp="1"/>
          </p:cNvSpPr>
          <p:nvPr>
            <p:ph type="body" sz="quarter" idx="19"/>
          </p:nvPr>
        </p:nvSpPr>
        <p:spPr>
          <a:xfrm>
            <a:off x="7194114" y="3131765"/>
            <a:ext cx="1368152" cy="792088"/>
          </a:xfrm>
        </p:spPr>
        <p:txBody>
          <a:bodyPr anchor="t"/>
          <a:lstStyle>
            <a:lvl1pPr marL="0" indent="0">
              <a:buNone/>
              <a:defRPr sz="1000" b="0"/>
            </a:lvl1pPr>
          </a:lstStyle>
          <a:p>
            <a:pPr lvl="0"/>
            <a:r>
              <a:rPr lang="en-US" noProof="1" smtClean="0"/>
              <a:t>Edit Master text styles</a:t>
            </a:r>
            <a:endParaRPr lang="en-US" noProof="1"/>
          </a:p>
        </p:txBody>
      </p:sp>
      <p:sp>
        <p:nvSpPr>
          <p:cNvPr id="15" name="Picture Placeholder 3"/>
          <p:cNvSpPr>
            <a:spLocks noGrp="1"/>
          </p:cNvSpPr>
          <p:nvPr>
            <p:ph type="pic" sz="quarter" idx="18"/>
          </p:nvPr>
        </p:nvSpPr>
        <p:spPr>
          <a:xfrm>
            <a:off x="7194114" y="1476377"/>
            <a:ext cx="1368253" cy="1511374"/>
          </a:xfrm>
        </p:spPr>
        <p:txBody>
          <a:bodyPr tIns="503970" anchor="ctr"/>
          <a:lstStyle>
            <a:lvl1pPr marL="0" indent="0" algn="ctr">
              <a:buNone/>
              <a:defRPr sz="1300"/>
            </a:lvl1pPr>
          </a:lstStyle>
          <a:p>
            <a:r>
              <a:rPr lang="en-US"/>
              <a:t>Click icon to add picture</a:t>
            </a:r>
            <a:endParaRPr lang="de-CH" dirty="0"/>
          </a:p>
        </p:txBody>
      </p:sp>
      <p:sp>
        <p:nvSpPr>
          <p:cNvPr id="11" name="Text Placeholder 2"/>
          <p:cNvSpPr>
            <a:spLocks noGrp="1"/>
          </p:cNvSpPr>
          <p:nvPr>
            <p:ph type="body" sz="quarter" idx="17"/>
          </p:nvPr>
        </p:nvSpPr>
        <p:spPr>
          <a:xfrm>
            <a:off x="5513927" y="3131765"/>
            <a:ext cx="1368152" cy="792088"/>
          </a:xfrm>
        </p:spPr>
        <p:txBody>
          <a:bodyPr anchor="t"/>
          <a:lstStyle>
            <a:lvl1pPr marL="0" indent="0">
              <a:buNone/>
              <a:defRPr sz="1000" b="0"/>
            </a:lvl1pPr>
          </a:lstStyle>
          <a:p>
            <a:pPr lvl="0"/>
            <a:r>
              <a:rPr lang="en-US" noProof="1" smtClean="0"/>
              <a:t>Edit Master text styles</a:t>
            </a:r>
            <a:endParaRPr lang="en-US" noProof="1"/>
          </a:p>
        </p:txBody>
      </p:sp>
      <p:sp>
        <p:nvSpPr>
          <p:cNvPr id="10" name="Picture Placeholder 2"/>
          <p:cNvSpPr>
            <a:spLocks noGrp="1"/>
          </p:cNvSpPr>
          <p:nvPr>
            <p:ph type="pic" sz="quarter" idx="16"/>
          </p:nvPr>
        </p:nvSpPr>
        <p:spPr>
          <a:xfrm>
            <a:off x="5513927" y="1476377"/>
            <a:ext cx="1368253" cy="1511374"/>
          </a:xfrm>
        </p:spPr>
        <p:txBody>
          <a:bodyPr tIns="503970" anchor="ctr"/>
          <a:lstStyle>
            <a:lvl1pPr marL="0" indent="0" algn="ctr">
              <a:buNone/>
              <a:defRPr sz="1300"/>
            </a:lvl1pPr>
          </a:lstStyle>
          <a:p>
            <a:r>
              <a:rPr lang="en-US"/>
              <a:t>Click icon to add picture</a:t>
            </a:r>
            <a:endParaRPr lang="de-CH" dirty="0"/>
          </a:p>
        </p:txBody>
      </p:sp>
      <p:sp>
        <p:nvSpPr>
          <p:cNvPr id="9" name="Text Placeholder 1"/>
          <p:cNvSpPr>
            <a:spLocks noGrp="1"/>
          </p:cNvSpPr>
          <p:nvPr>
            <p:ph type="body" sz="quarter" idx="15"/>
          </p:nvPr>
        </p:nvSpPr>
        <p:spPr>
          <a:xfrm>
            <a:off x="3833738" y="3131765"/>
            <a:ext cx="1368152" cy="792088"/>
          </a:xfrm>
        </p:spPr>
        <p:txBody>
          <a:bodyPr anchor="t"/>
          <a:lstStyle>
            <a:lvl1pPr marL="0" indent="0">
              <a:buNone/>
              <a:defRPr sz="1000" b="0"/>
            </a:lvl1pPr>
          </a:lstStyle>
          <a:p>
            <a:pPr lvl="0"/>
            <a:r>
              <a:rPr lang="en-US" noProof="1" smtClean="0"/>
              <a:t>Edit Master text styles</a:t>
            </a:r>
            <a:endParaRPr lang="en-US" noProof="1"/>
          </a:p>
        </p:txBody>
      </p:sp>
      <p:sp>
        <p:nvSpPr>
          <p:cNvPr id="8" name="Picture Placeholder 1"/>
          <p:cNvSpPr>
            <a:spLocks noGrp="1"/>
          </p:cNvSpPr>
          <p:nvPr>
            <p:ph type="pic" sz="quarter" idx="14"/>
          </p:nvPr>
        </p:nvSpPr>
        <p:spPr>
          <a:xfrm>
            <a:off x="3833740" y="1476377"/>
            <a:ext cx="1368253" cy="1511374"/>
          </a:xfrm>
        </p:spPr>
        <p:txBody>
          <a:bodyPr tIns="503970" anchor="ctr"/>
          <a:lstStyle>
            <a:lvl1pPr marL="0" indent="0" algn="ctr">
              <a:buNone/>
              <a:defRPr sz="1300"/>
            </a:lvl1pPr>
          </a:lstStyle>
          <a:p>
            <a:r>
              <a:rPr lang="en-US"/>
              <a:t>Click icon to add picture</a:t>
            </a:r>
            <a:endParaRPr lang="de-CH" dirty="0"/>
          </a:p>
        </p:txBody>
      </p:sp>
      <p:sp>
        <p:nvSpPr>
          <p:cNvPr id="19" name="Text Placeholder Address"/>
          <p:cNvSpPr>
            <a:spLocks noGrp="1"/>
          </p:cNvSpPr>
          <p:nvPr>
            <p:ph type="body" sz="quarter" idx="12"/>
          </p:nvPr>
        </p:nvSpPr>
        <p:spPr>
          <a:xfrm>
            <a:off x="449362" y="1476375"/>
            <a:ext cx="2808312" cy="5183188"/>
          </a:xfrm>
        </p:spPr>
        <p:txBody>
          <a:bodyPr anchor="t"/>
          <a:lstStyle>
            <a:lvl1pPr marL="0" indent="0">
              <a:buNone/>
              <a:defRPr sz="1400" b="0"/>
            </a:lvl1pPr>
          </a:lstStyle>
          <a:p>
            <a:pPr lvl="0"/>
            <a:r>
              <a:rPr lang="en-US" noProof="1" smtClean="0"/>
              <a:t>Edit Master text styles</a:t>
            </a:r>
            <a:endParaRPr lang="en-US" noProof="1"/>
          </a:p>
        </p:txBody>
      </p:sp>
      <p:sp>
        <p:nvSpPr>
          <p:cNvPr id="2" name="Title"/>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31997229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Agenda" preserve="1" userDrawn="1">
  <p:cSld name="Agenda">
    <p:spTree>
      <p:nvGrpSpPr>
        <p:cNvPr id="1" name=""/>
        <p:cNvGrpSpPr/>
        <p:nvPr/>
      </p:nvGrpSpPr>
      <p:grpSpPr>
        <a:xfrm>
          <a:off x="0" y="0"/>
          <a:ext cx="0" cy="0"/>
          <a:chOff x="0" y="0"/>
          <a:chExt cx="0" cy="0"/>
        </a:xfrm>
      </p:grpSpPr>
      <p:sp>
        <p:nvSpPr>
          <p:cNvPr id="3" name="Background"/>
          <p:cNvSpPr/>
          <p:nvPr userDrawn="1"/>
        </p:nvSpPr>
        <p:spPr bwMode="gray">
          <a:xfrm>
            <a:off x="449265" y="2"/>
            <a:ext cx="10242551" cy="6659563"/>
          </a:xfrm>
          <a:prstGeom prst="rect">
            <a:avLst/>
          </a:prstGeom>
          <a:solidFill>
            <a:srgbClr val="E1DCCA"/>
          </a:solidFill>
          <a:ln w="3175" algn="ctr">
            <a:noFill/>
            <a:miter lim="800000"/>
            <a:headEnd type="none" w="sm" len="sm"/>
            <a:tailEnd type="none" w="sm" len="sm"/>
          </a:ln>
          <a:effectLst/>
          <a:extLst/>
        </p:spPr>
        <p:txBody>
          <a:bodyPr wrap="square" lIns="35998" tIns="35998" rIns="35998" bIns="35998" rtlCol="0" anchor="ctr" anchorCtr="1"/>
          <a:lstStyle/>
          <a:p>
            <a:pPr algn="ctr" eaLnBrk="1" fontAlgn="auto" hangingPunct="1">
              <a:spcBef>
                <a:spcPts val="0"/>
              </a:spcBef>
              <a:spcAft>
                <a:spcPts val="0"/>
              </a:spcAft>
              <a:buClr>
                <a:srgbClr val="2D4B84"/>
              </a:buClr>
            </a:pPr>
            <a:endParaRPr lang="en-US" sz="1400" dirty="0">
              <a:solidFill>
                <a:srgbClr val="000000"/>
              </a:solidFill>
              <a:latin typeface="Arial"/>
            </a:endParaRPr>
          </a:p>
        </p:txBody>
      </p:sp>
      <p:sp>
        <p:nvSpPr>
          <p:cNvPr id="2" name="Title 1"/>
          <p:cNvSpPr>
            <a:spLocks noGrp="1"/>
          </p:cNvSpPr>
          <p:nvPr>
            <p:ph type="title"/>
          </p:nvPr>
        </p:nvSpPr>
        <p:spPr>
          <a:xfrm>
            <a:off x="953420" y="440929"/>
            <a:ext cx="6768752" cy="674612"/>
          </a:xfrm>
        </p:spPr>
        <p:txBody>
          <a:bodyPr/>
          <a:lstStyle>
            <a:lvl1pPr>
              <a:defRPr/>
            </a:lvl1pPr>
          </a:lstStyle>
          <a:p>
            <a:r>
              <a:rPr lang="en-US" dirty="0" smtClean="0"/>
              <a:t>Click to edit Master title style</a:t>
            </a:r>
            <a:endParaRPr lang="en-US" dirty="0"/>
          </a:p>
        </p:txBody>
      </p:sp>
      <p:sp>
        <p:nvSpPr>
          <p:cNvPr id="4" name="Date" hidden="1"/>
          <p:cNvSpPr txBox="1">
            <a:spLocks/>
          </p:cNvSpPr>
          <p:nvPr userDrawn="1">
            <p:custDataLst>
              <p:tags r:id="rId1"/>
            </p:custDataLst>
          </p:nvPr>
        </p:nvSpPr>
        <p:spPr>
          <a:xfrm>
            <a:off x="9090322" y="971527"/>
            <a:ext cx="1152228" cy="144014"/>
          </a:xfrm>
          <a:prstGeom prst="rect">
            <a:avLst/>
          </a:prstGeom>
        </p:spPr>
        <p:txBody>
          <a:bodyPr vert="horz" wrap="none" lIns="0" tIns="0" rIns="0" bIns="0" rtlCol="0" anchor="t"/>
          <a:lstStyle>
            <a:defPPr>
              <a:defRPr lang="en-US"/>
            </a:defPPr>
            <a:lvl1pPr algn="r">
              <a:defRPr sz="800">
                <a:solidFill>
                  <a:srgbClr val="B1B2B3"/>
                </a:solidFill>
              </a:defRPr>
            </a:lvl1pPr>
          </a:lstStyle>
          <a:p>
            <a:pPr lvl="0"/>
            <a:r>
              <a:rPr lang="en-US" sz="800" noProof="0" smtClean="0">
                <a:solidFill>
                  <a:srgbClr val="000000"/>
                </a:solidFill>
                <a:latin typeface="+mn-lt"/>
              </a:rPr>
              <a:t>March 2019</a:t>
            </a:r>
            <a:endParaRPr lang="en-US" sz="800" noProof="0" dirty="0">
              <a:solidFill>
                <a:srgbClr val="000000"/>
              </a:solidFill>
              <a:latin typeface="+mn-lt"/>
            </a:endParaRPr>
          </a:p>
        </p:txBody>
      </p:sp>
      <p:sp>
        <p:nvSpPr>
          <p:cNvPr id="8" name="RemarkText" hidden="1"/>
          <p:cNvSpPr txBox="1">
            <a:spLocks/>
          </p:cNvSpPr>
          <p:nvPr userDrawn="1">
            <p:custDataLst>
              <p:tags r:id="rId2"/>
            </p:custDataLst>
          </p:nvPr>
        </p:nvSpPr>
        <p:spPr>
          <a:xfrm>
            <a:off x="2127210" y="243163"/>
            <a:ext cx="4730864" cy="145157"/>
          </a:xfrm>
          <a:prstGeom prst="rect">
            <a:avLst/>
          </a:prstGeom>
        </p:spPr>
        <p:txBody>
          <a:bodyPr vert="horz" wrap="none" lIns="0" tIns="0" rIns="0" bIns="0" rtlCol="0" anchor="t"/>
          <a:lstStyle>
            <a:defPPr>
              <a:defRPr lang="en-US"/>
            </a:defPPr>
            <a:lvl1pPr algn="r">
              <a:defRPr sz="800">
                <a:solidFill>
                  <a:srgbClr val="B1B2B3"/>
                </a:solidFill>
              </a:defRPr>
            </a:lvl1pPr>
          </a:lstStyle>
          <a:p>
            <a:pPr lvl="0" algn="ctr"/>
            <a:endParaRPr lang="en-US" sz="800" noProof="0" dirty="0">
              <a:solidFill>
                <a:schemeClr val="tx1"/>
              </a:solidFill>
              <a:latin typeface="+mn-lt"/>
            </a:endParaRPr>
          </a:p>
        </p:txBody>
      </p:sp>
      <p:pic>
        <p:nvPicPr>
          <p:cNvPr id="9" name="Logo"/>
          <p:cNvPicPr>
            <a:picLocks noChangeAspect="1"/>
          </p:cNvPicPr>
          <p:nvPr userDrawn="1">
            <p:custDataLst>
              <p:tags r:id="rId3"/>
            </p:custDataLst>
          </p:nvPr>
        </p:nvPicPr>
        <p:blipFill>
          <a:blip r:embed="rId5" cstate="print">
            <a:extLst>
              <a:ext uri="{28A0092B-C50C-407E-A947-70E740481C1C}">
                <a14:useLocalDpi xmlns:a14="http://schemas.microsoft.com/office/drawing/2010/main" val="0"/>
              </a:ext>
            </a:extLst>
          </a:blip>
          <a:stretch>
            <a:fillRect/>
          </a:stretch>
        </p:blipFill>
        <p:spPr>
          <a:xfrm>
            <a:off x="9032601" y="448729"/>
            <a:ext cx="1224236" cy="218095"/>
          </a:xfrm>
          <a:prstGeom prst="rect">
            <a:avLst/>
          </a:prstGeom>
        </p:spPr>
      </p:pic>
    </p:spTree>
    <p:extLst>
      <p:ext uri="{BB962C8B-B14F-4D97-AF65-F5344CB8AC3E}">
        <p14:creationId xmlns:p14="http://schemas.microsoft.com/office/powerpoint/2010/main" val="997136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4.xml"/><Relationship Id="rId38"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3.xml"/><Relationship Id="rId37" Type="http://schemas.openxmlformats.org/officeDocument/2006/relationships/tags" Target="../tags/tag8.xml"/><Relationship Id="rId40" Type="http://schemas.openxmlformats.org/officeDocument/2006/relationships/image" Target="../media/image2.w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vmlDrawing" Target="../drawings/vmlDrawing1.vml"/><Relationship Id="rId35"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31"/>
            </p:custDataLst>
            <p:extLst>
              <p:ext uri="{D42A27DB-BD31-4B8C-83A1-F6EECF244321}">
                <p14:modId xmlns:p14="http://schemas.microsoft.com/office/powerpoint/2010/main" val="2964826833"/>
              </p:ext>
            </p:ext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spid="_x0000_s1601" name="think-cell Slide" r:id="rId38" imgW="270" imgH="270" progId="TCLayout.ActiveDocument.1">
                  <p:embed/>
                </p:oleObj>
              </mc:Choice>
              <mc:Fallback>
                <p:oleObj name="think-cell Slide" r:id="rId38" imgW="270" imgH="270" progId="TCLayout.ActiveDocument.1">
                  <p:embed/>
                  <p:pic>
                    <p:nvPicPr>
                      <p:cNvPr id="0" name=""/>
                      <p:cNvPicPr/>
                      <p:nvPr/>
                    </p:nvPicPr>
                    <p:blipFill>
                      <a:blip r:embed="rId39"/>
                      <a:stretch>
                        <a:fillRect/>
                      </a:stretch>
                    </p:blipFill>
                    <p:spPr>
                      <a:xfrm>
                        <a:off x="1590" y="1590"/>
                        <a:ext cx="1587" cy="1587"/>
                      </a:xfrm>
                      <a:prstGeom prst="rect">
                        <a:avLst/>
                      </a:prstGeom>
                    </p:spPr>
                  </p:pic>
                </p:oleObj>
              </mc:Fallback>
            </mc:AlternateContent>
          </a:graphicData>
        </a:graphic>
      </p:graphicFrame>
      <p:cxnSp>
        <p:nvCxnSpPr>
          <p:cNvPr id="18" name="Line2"/>
          <p:cNvCxnSpPr/>
          <p:nvPr>
            <p:custDataLst>
              <p:tags r:id="rId32"/>
            </p:custDataLst>
          </p:nvPr>
        </p:nvCxnSpPr>
        <p:spPr>
          <a:xfrm>
            <a:off x="449264" y="6873800"/>
            <a:ext cx="9793286" cy="0"/>
          </a:xfrm>
          <a:prstGeom prst="line">
            <a:avLst/>
          </a:prstGeom>
          <a:solidFill>
            <a:schemeClr val="bg1"/>
          </a:solidFill>
          <a:ln w="63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Line1"/>
          <p:cNvCxnSpPr/>
          <p:nvPr userDrawn="1">
            <p:custDataLst>
              <p:tags r:id="rId33"/>
            </p:custDataLst>
          </p:nvPr>
        </p:nvCxnSpPr>
        <p:spPr>
          <a:xfrm>
            <a:off x="449264" y="1285748"/>
            <a:ext cx="9793286" cy="0"/>
          </a:xfrm>
          <a:prstGeom prst="line">
            <a:avLst/>
          </a:prstGeom>
          <a:solidFill>
            <a:schemeClr val="bg1"/>
          </a:solidFill>
          <a:ln w="6350">
            <a:solidFill>
              <a:srgbClr val="000000"/>
            </a:solidFill>
          </a:ln>
        </p:spPr>
        <p:style>
          <a:lnRef idx="1">
            <a:schemeClr val="accent1"/>
          </a:lnRef>
          <a:fillRef idx="0">
            <a:schemeClr val="accent1"/>
          </a:fillRef>
          <a:effectRef idx="0">
            <a:schemeClr val="accent1"/>
          </a:effectRef>
          <a:fontRef idx="minor">
            <a:schemeClr val="tx1"/>
          </a:fontRef>
        </p:style>
      </p:cxnSp>
      <p:sp>
        <p:nvSpPr>
          <p:cNvPr id="10" name="SlideNumber"/>
          <p:cNvSpPr txBox="1">
            <a:spLocks/>
          </p:cNvSpPr>
          <p:nvPr userDrawn="1">
            <p:custDataLst>
              <p:tags r:id="rId34"/>
            </p:custDataLst>
          </p:nvPr>
        </p:nvSpPr>
        <p:spPr>
          <a:xfrm>
            <a:off x="9738394" y="7146300"/>
            <a:ext cx="504156" cy="161931"/>
          </a:xfrm>
          <a:prstGeom prst="rect">
            <a:avLst/>
          </a:prstGeom>
        </p:spPr>
        <p:txBody>
          <a:bodyPr vert="horz" wrap="none" lIns="0" tIns="0" rIns="0" bIns="0" rtlCol="0" anchor="b"/>
          <a:lstStyle>
            <a:defPPr>
              <a:defRPr lang="en-US"/>
            </a:defPPr>
            <a:lvl1pPr algn="r">
              <a:defRPr sz="1000"/>
            </a:lvl1pPr>
          </a:lstStyle>
          <a:p>
            <a:pPr lvl="0"/>
            <a:fld id="{169E9B49-5916-4C75-A92B-5C27FE2E3317}" type="slidenum">
              <a:rPr lang="en-US" sz="800" b="1" noProof="0" smtClean="0">
                <a:latin typeface="+mn-lt"/>
              </a:rPr>
              <a:t>‹#›</a:t>
            </a:fld>
            <a:endParaRPr lang="en-US" sz="800" b="1" noProof="0" dirty="0">
              <a:latin typeface="+mn-lt"/>
            </a:endParaRPr>
          </a:p>
        </p:txBody>
      </p:sp>
      <p:sp>
        <p:nvSpPr>
          <p:cNvPr id="12" name="Date" hidden="1"/>
          <p:cNvSpPr txBox="1">
            <a:spLocks/>
          </p:cNvSpPr>
          <p:nvPr userDrawn="1">
            <p:custDataLst>
              <p:tags r:id="rId35"/>
            </p:custDataLst>
          </p:nvPr>
        </p:nvSpPr>
        <p:spPr>
          <a:xfrm>
            <a:off x="9090322" y="971527"/>
            <a:ext cx="1152228" cy="144014"/>
          </a:xfrm>
          <a:prstGeom prst="rect">
            <a:avLst/>
          </a:prstGeom>
        </p:spPr>
        <p:txBody>
          <a:bodyPr vert="horz" wrap="none" lIns="0" tIns="0" rIns="0" bIns="0" rtlCol="0" anchor="t"/>
          <a:lstStyle>
            <a:defPPr>
              <a:defRPr lang="en-US"/>
            </a:defPPr>
            <a:lvl1pPr algn="r">
              <a:defRPr sz="800">
                <a:solidFill>
                  <a:srgbClr val="B1B2B3"/>
                </a:solidFill>
              </a:defRPr>
            </a:lvl1pPr>
          </a:lstStyle>
          <a:p>
            <a:pPr lvl="0"/>
            <a:r>
              <a:rPr lang="en-US" sz="800" noProof="0" smtClean="0">
                <a:solidFill>
                  <a:srgbClr val="000000"/>
                </a:solidFill>
                <a:latin typeface="+mn-lt"/>
              </a:rPr>
              <a:t>March 2019</a:t>
            </a:r>
            <a:endParaRPr lang="en-US" sz="800" noProof="0" dirty="0">
              <a:solidFill>
                <a:srgbClr val="000000"/>
              </a:solidFill>
              <a:latin typeface="+mn-lt"/>
            </a:endParaRPr>
          </a:p>
        </p:txBody>
      </p:sp>
      <p:sp>
        <p:nvSpPr>
          <p:cNvPr id="15" name="RemarkText" hidden="1"/>
          <p:cNvSpPr txBox="1">
            <a:spLocks/>
          </p:cNvSpPr>
          <p:nvPr>
            <p:custDataLst>
              <p:tags r:id="rId36"/>
            </p:custDataLst>
          </p:nvPr>
        </p:nvSpPr>
        <p:spPr>
          <a:xfrm>
            <a:off x="2127210" y="243163"/>
            <a:ext cx="4730864" cy="145157"/>
          </a:xfrm>
          <a:prstGeom prst="rect">
            <a:avLst/>
          </a:prstGeom>
        </p:spPr>
        <p:txBody>
          <a:bodyPr vert="horz" wrap="none" lIns="0" tIns="0" rIns="0" bIns="0" rtlCol="0" anchor="t"/>
          <a:lstStyle>
            <a:defPPr>
              <a:defRPr lang="en-US"/>
            </a:defPPr>
            <a:lvl1pPr algn="r">
              <a:defRPr sz="800">
                <a:solidFill>
                  <a:srgbClr val="B1B2B3"/>
                </a:solidFill>
              </a:defRPr>
            </a:lvl1pPr>
          </a:lstStyle>
          <a:p>
            <a:pPr lvl="0" algn="ctr"/>
            <a:endParaRPr lang="en-US" sz="800" noProof="0" dirty="0">
              <a:solidFill>
                <a:schemeClr val="tx1"/>
              </a:solidFill>
              <a:latin typeface="+mn-lt"/>
            </a:endParaRPr>
          </a:p>
        </p:txBody>
      </p:sp>
      <p:sp>
        <p:nvSpPr>
          <p:cNvPr id="3" name="Content Placeholder"/>
          <p:cNvSpPr>
            <a:spLocks noGrp="1"/>
          </p:cNvSpPr>
          <p:nvPr>
            <p:ph type="body" idx="1"/>
          </p:nvPr>
        </p:nvSpPr>
        <p:spPr>
          <a:xfrm>
            <a:off x="449264" y="1476376"/>
            <a:ext cx="9793286" cy="5183189"/>
          </a:xfrm>
          <a:prstGeom prst="rect">
            <a:avLst/>
          </a:prstGeom>
        </p:spPr>
        <p:txBody>
          <a:bodyPr vert="horz" lIns="0" tIns="0" rIns="0" bIns="0" rtlCol="0">
            <a:noAutofit/>
          </a:bodyPr>
          <a:lstStyle/>
          <a:p>
            <a:pPr lvl="0"/>
            <a:r>
              <a:rPr lang="en-US" noProof="0" dirty="0" smtClean="0"/>
              <a:t>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2" name="Title Placeholder"/>
          <p:cNvSpPr>
            <a:spLocks noGrp="1"/>
          </p:cNvSpPr>
          <p:nvPr>
            <p:ph type="title"/>
          </p:nvPr>
        </p:nvSpPr>
        <p:spPr>
          <a:xfrm>
            <a:off x="449362" y="440929"/>
            <a:ext cx="7272808" cy="674612"/>
          </a:xfrm>
          <a:prstGeom prst="rect">
            <a:avLst/>
          </a:prstGeom>
        </p:spPr>
        <p:txBody>
          <a:bodyPr vert="horz" lIns="0" tIns="0" rIns="0" bIns="0" rtlCol="0" anchor="b">
            <a:noAutofit/>
          </a:bodyPr>
          <a:lstStyle/>
          <a:p>
            <a:r>
              <a:rPr lang="en-US" noProof="0" dirty="0" smtClean="0"/>
              <a:t>Click to edit Master title style</a:t>
            </a:r>
            <a:endParaRPr lang="en-US" noProof="0" dirty="0"/>
          </a:p>
        </p:txBody>
      </p:sp>
      <p:pic>
        <p:nvPicPr>
          <p:cNvPr id="6" name="Logo"/>
          <p:cNvPicPr>
            <a:picLocks noChangeAspect="1"/>
          </p:cNvPicPr>
          <p:nvPr userDrawn="1">
            <p:custDataLst>
              <p:tags r:id="rId37"/>
            </p:custDataLst>
          </p:nvPr>
        </p:nvPicPr>
        <p:blipFill>
          <a:blip r:embed="rId40" cstate="print">
            <a:extLst>
              <a:ext uri="{28A0092B-C50C-407E-A947-70E740481C1C}">
                <a14:useLocalDpi xmlns:a14="http://schemas.microsoft.com/office/drawing/2010/main" val="0"/>
              </a:ext>
            </a:extLst>
          </a:blip>
          <a:stretch>
            <a:fillRect/>
          </a:stretch>
        </p:blipFill>
        <p:spPr>
          <a:xfrm>
            <a:off x="9032601" y="448729"/>
            <a:ext cx="1224236" cy="218095"/>
          </a:xfrm>
          <a:prstGeom prst="rect">
            <a:avLst/>
          </a:prstGeom>
        </p:spPr>
      </p:pic>
    </p:spTree>
    <p:extLst>
      <p:ext uri="{BB962C8B-B14F-4D97-AF65-F5344CB8AC3E}">
        <p14:creationId xmlns:p14="http://schemas.microsoft.com/office/powerpoint/2010/main" val="3260617195"/>
      </p:ext>
    </p:extLst>
  </p:cSld>
  <p:clrMap bg1="lt1" tx1="dk1" bg2="lt2" tx2="dk2" accent1="accent1" accent2="accent2" accent3="accent3" accent4="accent4" accent5="accent5" accent6="accent6" hlink="hlink" folHlink="folHlink"/>
  <p:sldLayoutIdLst>
    <p:sldLayoutId id="2147483649" r:id="rId1"/>
    <p:sldLayoutId id="2147483727" r:id="rId2"/>
    <p:sldLayoutId id="2147483732" r:id="rId3"/>
    <p:sldLayoutId id="2147483725" r:id="rId4"/>
    <p:sldLayoutId id="2147483730" r:id="rId5"/>
    <p:sldLayoutId id="2147483695" r:id="rId6"/>
    <p:sldLayoutId id="2147483697" r:id="rId7"/>
    <p:sldLayoutId id="2147483716" r:id="rId8"/>
    <p:sldLayoutId id="2147483668" r:id="rId9"/>
    <p:sldLayoutId id="2147483670" r:id="rId10"/>
    <p:sldLayoutId id="2147483717" r:id="rId11"/>
    <p:sldLayoutId id="2147483718" r:id="rId12"/>
    <p:sldLayoutId id="2147483711" r:id="rId13"/>
    <p:sldLayoutId id="2147483712" r:id="rId14"/>
    <p:sldLayoutId id="2147483721" r:id="rId15"/>
    <p:sldLayoutId id="2147483722" r:id="rId16"/>
    <p:sldLayoutId id="2147483678" r:id="rId17"/>
    <p:sldLayoutId id="2147483705" r:id="rId18"/>
    <p:sldLayoutId id="2147483710" r:id="rId19"/>
    <p:sldLayoutId id="2147483686" r:id="rId20"/>
    <p:sldLayoutId id="2147483692" r:id="rId21"/>
    <p:sldLayoutId id="2147483703" r:id="rId22"/>
    <p:sldLayoutId id="2147483699" r:id="rId23"/>
    <p:sldLayoutId id="2147483724" r:id="rId24"/>
    <p:sldLayoutId id="2147483726" r:id="rId25"/>
    <p:sldLayoutId id="2147483713" r:id="rId26"/>
    <p:sldLayoutId id="2147483729" r:id="rId27"/>
    <p:sldLayoutId id="2147483731" r:id="rId28"/>
  </p:sldLayoutIdLst>
  <p:hf sldNum="0" hdr="0"/>
  <p:txStyles>
    <p:titleStyle>
      <a:lvl1pPr algn="l" defTabSz="986855" rtl="0" eaLnBrk="1" latinLnBrk="0" hangingPunct="1">
        <a:lnSpc>
          <a:spcPct val="90000"/>
        </a:lnSpc>
        <a:spcBef>
          <a:spcPct val="0"/>
        </a:spcBef>
        <a:buNone/>
        <a:defRPr sz="2000" b="1" kern="0" baseline="0">
          <a:solidFill>
            <a:srgbClr val="000000"/>
          </a:solidFill>
          <a:latin typeface="+mj-lt"/>
          <a:ea typeface="+mj-ea"/>
          <a:cs typeface="+mj-cs"/>
        </a:defRPr>
      </a:lvl1pPr>
    </p:titleStyle>
    <p:bodyStyle>
      <a:lvl1pPr marL="179377" indent="-179377" algn="l" defTabSz="986855"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55" indent="-179377" algn="l" defTabSz="986855"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32" indent="-179377" algn="l" defTabSz="986855"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096" indent="-180965" algn="l" defTabSz="986855"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473" indent="-179377" algn="l" defTabSz="986855"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851" indent="-179377" algn="l" defTabSz="986855"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226" indent="-179377" algn="l" defTabSz="986855"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04" indent="-179377" algn="l" defTabSz="986855"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5981" indent="-179377" algn="l" defTabSz="986855"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986855" rtl="0" eaLnBrk="1" latinLnBrk="0" hangingPunct="1">
        <a:defRPr sz="2000" kern="1200">
          <a:solidFill>
            <a:schemeClr val="tx1"/>
          </a:solidFill>
          <a:latin typeface="+mn-lt"/>
          <a:ea typeface="+mn-ea"/>
          <a:cs typeface="+mn-cs"/>
        </a:defRPr>
      </a:lvl1pPr>
      <a:lvl2pPr marL="493427" algn="l" defTabSz="986855" rtl="0" eaLnBrk="1" latinLnBrk="0" hangingPunct="1">
        <a:defRPr sz="2000" kern="1200">
          <a:solidFill>
            <a:schemeClr val="tx1"/>
          </a:solidFill>
          <a:latin typeface="+mn-lt"/>
          <a:ea typeface="+mn-ea"/>
          <a:cs typeface="+mn-cs"/>
        </a:defRPr>
      </a:lvl2pPr>
      <a:lvl3pPr marL="986855" algn="l" defTabSz="986855" rtl="0" eaLnBrk="1" latinLnBrk="0" hangingPunct="1">
        <a:defRPr sz="2000" kern="1200">
          <a:solidFill>
            <a:schemeClr val="tx1"/>
          </a:solidFill>
          <a:latin typeface="+mn-lt"/>
          <a:ea typeface="+mn-ea"/>
          <a:cs typeface="+mn-cs"/>
        </a:defRPr>
      </a:lvl3pPr>
      <a:lvl4pPr marL="1480283" algn="l" defTabSz="986855" rtl="0" eaLnBrk="1" latinLnBrk="0" hangingPunct="1">
        <a:defRPr sz="2000" kern="1200">
          <a:solidFill>
            <a:schemeClr val="tx1"/>
          </a:solidFill>
          <a:latin typeface="+mn-lt"/>
          <a:ea typeface="+mn-ea"/>
          <a:cs typeface="+mn-cs"/>
        </a:defRPr>
      </a:lvl4pPr>
      <a:lvl5pPr marL="1973709" algn="l" defTabSz="986855" rtl="0" eaLnBrk="1" latinLnBrk="0" hangingPunct="1">
        <a:defRPr sz="2000" kern="1200">
          <a:solidFill>
            <a:schemeClr val="tx1"/>
          </a:solidFill>
          <a:latin typeface="+mn-lt"/>
          <a:ea typeface="+mn-ea"/>
          <a:cs typeface="+mn-cs"/>
        </a:defRPr>
      </a:lvl5pPr>
      <a:lvl6pPr marL="2467137" algn="l" defTabSz="986855" rtl="0" eaLnBrk="1" latinLnBrk="0" hangingPunct="1">
        <a:defRPr sz="2000" kern="1200">
          <a:solidFill>
            <a:schemeClr val="tx1"/>
          </a:solidFill>
          <a:latin typeface="+mn-lt"/>
          <a:ea typeface="+mn-ea"/>
          <a:cs typeface="+mn-cs"/>
        </a:defRPr>
      </a:lvl6pPr>
      <a:lvl7pPr marL="2960564" algn="l" defTabSz="986855" rtl="0" eaLnBrk="1" latinLnBrk="0" hangingPunct="1">
        <a:defRPr sz="2000" kern="1200">
          <a:solidFill>
            <a:schemeClr val="tx1"/>
          </a:solidFill>
          <a:latin typeface="+mn-lt"/>
          <a:ea typeface="+mn-ea"/>
          <a:cs typeface="+mn-cs"/>
        </a:defRPr>
      </a:lvl7pPr>
      <a:lvl8pPr marL="3453991" algn="l" defTabSz="986855" rtl="0" eaLnBrk="1" latinLnBrk="0" hangingPunct="1">
        <a:defRPr sz="2000" kern="1200">
          <a:solidFill>
            <a:schemeClr val="tx1"/>
          </a:solidFill>
          <a:latin typeface="+mn-lt"/>
          <a:ea typeface="+mn-ea"/>
          <a:cs typeface="+mn-cs"/>
        </a:defRPr>
      </a:lvl8pPr>
      <a:lvl9pPr marL="3947419" algn="l" defTabSz="986855" rtl="0" eaLnBrk="1" latinLnBrk="0" hangingPunct="1">
        <a:defRPr sz="20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83" userDrawn="1">
          <p15:clr>
            <a:srgbClr val="F26B43"/>
          </p15:clr>
        </p15:guide>
        <p15:guide id="2" pos="6452" userDrawn="1">
          <p15:clr>
            <a:srgbClr val="F26B43"/>
          </p15:clr>
        </p15:guide>
        <p15:guide id="3" orient="horz" pos="930" userDrawn="1">
          <p15:clr>
            <a:srgbClr val="F26B43"/>
          </p15:clr>
        </p15:guide>
        <p15:guide id="4" orient="horz" pos="419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slideLayout" Target="../slideLayouts/slideLayout28.xml"/><Relationship Id="rId5" Type="http://schemas.openxmlformats.org/officeDocument/2006/relationships/tags" Target="../tags/tag33.xml"/><Relationship Id="rId4" Type="http://schemas.openxmlformats.org/officeDocument/2006/relationships/tags" Target="../tags/tag3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tags" Target="../tags/tag34.xml"/></Relationships>
</file>

<file path=ppt/slides/_rels/slide4.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image" Target="../media/image5.emf"/><Relationship Id="rId2" Type="http://schemas.openxmlformats.org/officeDocument/2006/relationships/tags" Target="../tags/tag35.xml"/><Relationship Id="rId1" Type="http://schemas.openxmlformats.org/officeDocument/2006/relationships/vmlDrawing" Target="../drawings/vmlDrawing5.vml"/><Relationship Id="rId6" Type="http://schemas.openxmlformats.org/officeDocument/2006/relationships/oleObject" Target="file:///\\zrh-s103a\groupsb3\80_PB_SI\10_PBSI_1\10_PBSI_11\01_Team\03%20Marketing%20&amp;%20Presentations\02%20PB\Aktien%20Schweiz\Pr&#228;sentationen\Masterfolien%20Neu\Grafiken%20Vontobel%20Fokus%20Mandat%20Aktien%20Schweiz.xlsx!Track%20Record!%5bGrafiken%20Vontobel%20Fokus%20Mandat%20Aktien%20Schweiz.xlsx%5dTrack%20Record%20Chart%201" TargetMode="External"/><Relationship Id="rId5" Type="http://schemas.openxmlformats.org/officeDocument/2006/relationships/slideLayout" Target="../slideLayouts/slideLayout17.xml"/><Relationship Id="rId4" Type="http://schemas.openxmlformats.org/officeDocument/2006/relationships/tags" Target="../tags/tag37.xml"/></Relationships>
</file>

<file path=ppt/slides/_rels/slide5.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slideLayout" Target="../slideLayouts/slideLayout28.xml"/><Relationship Id="rId5" Type="http://schemas.openxmlformats.org/officeDocument/2006/relationships/tags" Target="../tags/tag42.xml"/><Relationship Id="rId4" Type="http://schemas.openxmlformats.org/officeDocument/2006/relationships/tags" Target="../tags/tag4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tags" Target="../tags/tag43.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3.png"/><Relationship Id="rId18" Type="http://schemas.openxmlformats.org/officeDocument/2006/relationships/image" Target="../media/image16.png"/><Relationship Id="rId3" Type="http://schemas.openxmlformats.org/officeDocument/2006/relationships/hyperlink" Target="//commons.wikimedia.org/wiki/File:Swatch_Logo.svg" TargetMode="External"/><Relationship Id="rId21" Type="http://schemas.openxmlformats.org/officeDocument/2006/relationships/image" Target="../media/image19.png"/><Relationship Id="rId7" Type="http://schemas.openxmlformats.org/officeDocument/2006/relationships/hyperlink" Target="http://de.wikipedia.org/w/index.php?title=Datei:Novartis-Logo.svg&amp;filetimestamp=20061224154146&amp;" TargetMode="External"/><Relationship Id="rId12" Type="http://schemas.openxmlformats.org/officeDocument/2006/relationships/hyperlink" Target="http://www.sgs.ch/" TargetMode="External"/><Relationship Id="rId17" Type="http://schemas.openxmlformats.org/officeDocument/2006/relationships/hyperlink" Target="http://www.bucherindustries.com/de" TargetMode="External"/><Relationship Id="rId25" Type="http://schemas.openxmlformats.org/officeDocument/2006/relationships/image" Target="../media/image21.jpeg"/><Relationship Id="rId2" Type="http://schemas.openxmlformats.org/officeDocument/2006/relationships/image" Target="../media/image7.jpeg"/><Relationship Id="rId16" Type="http://schemas.openxmlformats.org/officeDocument/2006/relationships/image" Target="../media/image15.jpe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2.gif"/><Relationship Id="rId24" Type="http://schemas.openxmlformats.org/officeDocument/2006/relationships/hyperlink" Target="https://www.google.ch/url?sa=i&amp;rct=j&amp;q=&amp;esrc=s&amp;source=imgres&amp;cd=&amp;cad=rja&amp;uact=8&amp;ved=0ahUKEwiW1Yy1v9nWAhUIbFAKHffUCKsQjRwIBw&amp;url=https://www.interroll.com/de/presse/mediengalerie/&amp;psig=AOvVaw3t5GWfdJRsB_SXnZTAh6Vs&amp;ust=1507293345797186" TargetMode="External"/><Relationship Id="rId5" Type="http://schemas.openxmlformats.org/officeDocument/2006/relationships/hyperlink" Target="http://de.wikipedia.org/w/index.php?title=Datei:Nestle-logo.svg&amp;filetimestamp=20070925160728&amp;" TargetMode="External"/><Relationship Id="rId15" Type="http://schemas.openxmlformats.org/officeDocument/2006/relationships/hyperlink" Target="https://www.partnersgroup.com/de/" TargetMode="External"/><Relationship Id="rId23" Type="http://schemas.openxmlformats.org/officeDocument/2006/relationships/image" Target="../media/image20.jpeg"/><Relationship Id="rId10" Type="http://schemas.openxmlformats.org/officeDocument/2006/relationships/hyperlink" Target="http://www.ascom.ch/ch-de" TargetMode="External"/><Relationship Id="rId19"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1.png"/><Relationship Id="rId14" Type="http://schemas.openxmlformats.org/officeDocument/2006/relationships/image" Target="../media/image14.png"/><Relationship Id="rId22" Type="http://schemas.openxmlformats.org/officeDocument/2006/relationships/hyperlink" Target="http://www.google.ch/url?sa=i&amp;rct=j&amp;q=&amp;esrc=s&amp;source=imgres&amp;cd=&amp;cad=rja&amp;uact=8&amp;ved=0ahUKEwiT0NOHwNnWAhXBb1AKHQyjDYIQjRwIBw&amp;url=http://www.emersonswan.com/resources/marketing.html&amp;psig=AOvVaw2CK-XUwQEbEBsi9Zni5TPk&amp;ust=1507293518968196"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jpeg"/><Relationship Id="rId2" Type="http://schemas.openxmlformats.org/officeDocument/2006/relationships/slideLayout" Target="../slideLayouts/slideLayout6.xml"/><Relationship Id="rId1" Type="http://schemas.openxmlformats.org/officeDocument/2006/relationships/tags" Target="../tags/tag44.xml"/><Relationship Id="rId6" Type="http://schemas.openxmlformats.org/officeDocument/2006/relationships/hyperlink" Target="https://www.google.ch/url?sa=i&amp;rct=j&amp;q=&amp;esrc=s&amp;source=images&amp;cd=&amp;cad=rja&amp;uact=8&amp;ved=0ahUKEwjgre353tbTAhWKmBoKHWsPAR4QjRwIBw&amp;url=https://www.environmental-finance.com/content/events/green-bonds-2015/sponsors.html&amp;psig=AFQjCNFU35SNF7G5yCvLuuUFf4UkxCve9A&amp;ust=1494004499387516" TargetMode="Externa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tags" Target="../tags/tag47.xml"/><Relationship Id="rId7" Type="http://schemas.openxmlformats.org/officeDocument/2006/relationships/chart" Target="../charts/chart3.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8.xml"/><Relationship Id="rId1" Type="http://schemas.openxmlformats.org/officeDocument/2006/relationships/vmlDrawing" Target="../drawings/vmlDrawing6.vml"/><Relationship Id="rId5" Type="http://schemas.openxmlformats.org/officeDocument/2006/relationships/image" Target="../media/image26.emf"/><Relationship Id="rId4" Type="http://schemas.openxmlformats.org/officeDocument/2006/relationships/oleObject" Target="file:///\\zrh-s103a\groupsb3\80_PB_SI\10_PBSI_1\10_PBSI_11\01_Team\03%20Marketing%20&amp;%20Presentations\02%20PB\Aktien%20Schweiz\Pr&#228;sentationen\Masterfolien%20Neu\Grafiken%20Vontobel%20Fokus%20Mandat%20Aktien%20Schweiz.xlsx!Intelligence!%5bGrafiken%20Vontobel%20Fokus%20Mandat%20Aktien%20Schweiz.xlsx%5dIntelligence%20Chart%202"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27.emf"/><Relationship Id="rId13" Type="http://schemas.openxmlformats.org/officeDocument/2006/relationships/image" Target="../media/image32.png"/><Relationship Id="rId3" Type="http://schemas.openxmlformats.org/officeDocument/2006/relationships/tags" Target="../tags/tag50.xml"/><Relationship Id="rId7" Type="http://schemas.openxmlformats.org/officeDocument/2006/relationships/oleObject" Target="file:///\\zrh-s103a\groupsb3\80_PB_SI\10_PBSI_1\10_PBSI_11\01_Team\03%20Marketing%20&amp;%20Presentations\02%20PB\Aktien%20Schweiz\Pr&#228;sentationen\Masterfolien%20Neu\Grafiken%20Vontobel%20Fokus%20Mandat%20Aktien%20Schweiz.xlsx!Quality!%5bGrafiken%20Vontobel%20Fokus%20Mandat%20Aktien%20Schweiz.xlsx%5dQuality%20Diagramm%204" TargetMode="External"/><Relationship Id="rId12" Type="http://schemas.openxmlformats.org/officeDocument/2006/relationships/hyperlink" Target="http://de.wikipedia.org/w/index.php?title=Datei:Novartis-Logo.svg&amp;filetimestamp=20061224154146&amp;" TargetMode="External"/><Relationship Id="rId17" Type="http://schemas.openxmlformats.org/officeDocument/2006/relationships/image" Target="../media/image29.emf"/><Relationship Id="rId2" Type="http://schemas.openxmlformats.org/officeDocument/2006/relationships/tags" Target="../tags/tag49.xml"/><Relationship Id="rId16" Type="http://schemas.openxmlformats.org/officeDocument/2006/relationships/oleObject" Target="file:///\\zrh-s103a\groupsb3\0110_WM_ID\00_Public\PUBLIC%20Distribution%20&amp;%20Business%20Mgmt\Performance%20Track%20Records\06_Special%20Aktien%20Schweiz\Grafiken%20Vontobel%20Fokus%20Mandat%20Aktien%20Schweiz.xlsx!Quality!%5bGrafiken%20Vontobel%20Fokus%20Mandat%20Aktien%20Schweiz.xlsx%5dQuality%20Diagramm%202-1" TargetMode="External"/><Relationship Id="rId1" Type="http://schemas.openxmlformats.org/officeDocument/2006/relationships/vmlDrawing" Target="../drawings/vmlDrawing7.vml"/><Relationship Id="rId6" Type="http://schemas.openxmlformats.org/officeDocument/2006/relationships/slideLayout" Target="../slideLayouts/slideLayout16.xml"/><Relationship Id="rId11" Type="http://schemas.openxmlformats.org/officeDocument/2006/relationships/image" Target="../media/image31.png"/><Relationship Id="rId5" Type="http://schemas.openxmlformats.org/officeDocument/2006/relationships/tags" Target="../tags/tag52.xml"/><Relationship Id="rId15" Type="http://schemas.openxmlformats.org/officeDocument/2006/relationships/image" Target="../media/image28.emf"/><Relationship Id="rId10" Type="http://schemas.openxmlformats.org/officeDocument/2006/relationships/image" Target="../media/image30.png"/><Relationship Id="rId4" Type="http://schemas.openxmlformats.org/officeDocument/2006/relationships/tags" Target="../tags/tag51.xml"/><Relationship Id="rId9" Type="http://schemas.openxmlformats.org/officeDocument/2006/relationships/hyperlink" Target="http://de.wikipedia.org/w/index.php?title=Datei:Nestle-logo.svg&amp;filetimestamp=20070925160728&amp;" TargetMode="External"/><Relationship Id="rId14" Type="http://schemas.openxmlformats.org/officeDocument/2006/relationships/oleObject" Target="file:///\\zrh-s103a\groupsb3\80_PB_SI\10_PBSI_1\10_PBSI_11\01_Team\03%20Marketing%20&amp;%20Presentations\02%20PB\Aktien%20Schweiz\Pr&#228;sentationen\Masterfolien%20Neu\Grafiken%20Vontobel%20Fokus%20Mandat%20Aktien%20Schweiz.xlsx!Quality!%5bGrafiken%20Vontobel%20Fokus%20Mandat%20Aktien%20Schweiz.xlsx%5dQuality%20Diagramm%202" TargetMode="External"/></Relationships>
</file>

<file path=ppt/slides/_rels/slide12.xml.rels><?xml version="1.0" encoding="UTF-8" standalone="yes"?>
<Relationships xmlns="http://schemas.openxmlformats.org/package/2006/relationships"><Relationship Id="rId3" Type="http://schemas.openxmlformats.org/officeDocument/2006/relationships/tags" Target="../tags/tag54.xml"/><Relationship Id="rId7" Type="http://schemas.openxmlformats.org/officeDocument/2006/relationships/image" Target="../media/image33.emf"/><Relationship Id="rId2" Type="http://schemas.openxmlformats.org/officeDocument/2006/relationships/tags" Target="../tags/tag53.xml"/><Relationship Id="rId1" Type="http://schemas.openxmlformats.org/officeDocument/2006/relationships/vmlDrawing" Target="../drawings/vmlDrawing8.vml"/><Relationship Id="rId6" Type="http://schemas.openxmlformats.org/officeDocument/2006/relationships/oleObject" Target="file:///\\zrh-s103a\groupsb3\80_PB_SI\10_PBSI_1\10_PBSI_11\01_Team\03%20Marketing%20&amp;%20Presentations\02%20PB\Aktien%20Schweiz\Pr&#228;sentationen\Masterfolien%20Neu\Grafiken%20Vontobel%20Fokus%20Mandat%20Aktien%20Schweiz.xlsx!Reliability%20CHF%20(Values)!%5bGrafiken%20Vontobel%20Fokus%20Mandat%20Aktien%20Schweiz.xlsx%5dReliability%20CHF%20(Values)%20Chart%201" TargetMode="External"/><Relationship Id="rId5" Type="http://schemas.openxmlformats.org/officeDocument/2006/relationships/slideLayout" Target="../slideLayouts/slideLayout21.xml"/><Relationship Id="rId4" Type="http://schemas.openxmlformats.org/officeDocument/2006/relationships/tags" Target="../tags/tag55.xml"/></Relationships>
</file>

<file path=ppt/slides/_rels/slide13.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slideLayout" Target="../slideLayouts/slideLayout28.xml"/><Relationship Id="rId5" Type="http://schemas.openxmlformats.org/officeDocument/2006/relationships/tags" Target="../tags/tag60.xml"/><Relationship Id="rId4" Type="http://schemas.openxmlformats.org/officeDocument/2006/relationships/tags" Target="../tags/tag59.xml"/></Relationships>
</file>

<file path=ppt/slides/_rels/slide1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62.xml"/><Relationship Id="rId7" Type="http://schemas.openxmlformats.org/officeDocument/2006/relationships/oleObject" Target="../embeddings/oleObject5.bin"/><Relationship Id="rId2" Type="http://schemas.openxmlformats.org/officeDocument/2006/relationships/tags" Target="../tags/tag61.xml"/><Relationship Id="rId1" Type="http://schemas.openxmlformats.org/officeDocument/2006/relationships/vmlDrawing" Target="../drawings/vmlDrawing9.vml"/><Relationship Id="rId6" Type="http://schemas.openxmlformats.org/officeDocument/2006/relationships/image" Target="../media/image34.emf"/><Relationship Id="rId11" Type="http://schemas.openxmlformats.org/officeDocument/2006/relationships/image" Target="../media/image35.emf"/><Relationship Id="rId5" Type="http://schemas.openxmlformats.org/officeDocument/2006/relationships/oleObject" Target="file:///\\zrh-s103a\groupsb3\80_PB_SI\10_PBSI_1\10_PBSI_11\01_Team\03%20Marketing%20&amp;%20Presentations\02%20PB\Aktien%20Schweiz\Pr&#228;sentationen\Masterfolien%20Neu\Grafiken%20Vontobel%20Fokus%20Mandat%20Aktien%20Schweiz.xlsx!Ex.%20Geberit!%5bGrafiken%20Vontobel%20Fokus%20Mandat%20Aktien%20Schweiz.xlsx%5dEx.%20Geberit%20Diagramm%203" TargetMode="External"/><Relationship Id="rId10" Type="http://schemas.openxmlformats.org/officeDocument/2006/relationships/oleObject" Target="file:///\\zrh-s103a\groupsb3\80_PB_SI\10_PBSI_1\10_PBSI_11\01_Team\03%20Marketing%20&amp;%20Presentations\02%20PB\Aktien%20Schweiz\Pr&#228;sentationen\Masterfolien%20Neu\Grafiken%20Vontobel%20Fokus%20Mandat%20Aktien%20Schweiz.xlsx!Ex.%20Geberit!%5bGrafiken%20Vontobel%20Fokus%20Mandat%20Aktien%20Schweiz.xlsx%5dEx.%20Geberit%20Diagramm%201" TargetMode="External"/><Relationship Id="rId4" Type="http://schemas.openxmlformats.org/officeDocument/2006/relationships/slideLayout" Target="../slideLayouts/slideLayout6.xml"/><Relationship Id="rId9"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37.png"/><Relationship Id="rId2" Type="http://schemas.openxmlformats.org/officeDocument/2006/relationships/tags" Target="../tags/tag63.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tags" Target="../tags/tag66.xml"/><Relationship Id="rId7" Type="http://schemas.openxmlformats.org/officeDocument/2006/relationships/image" Target="../media/image40.emf"/><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39.emf"/><Relationship Id="rId5" Type="http://schemas.openxmlformats.org/officeDocument/2006/relationships/image" Target="../media/image38.emf"/><Relationship Id="rId4"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tags" Target="../tags/tag69.xml"/><Relationship Id="rId7" Type="http://schemas.openxmlformats.org/officeDocument/2006/relationships/image" Target="../media/image40.emf"/><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39.emf"/><Relationship Id="rId5" Type="http://schemas.openxmlformats.org/officeDocument/2006/relationships/image" Target="../media/image38.emf"/><Relationship Id="rId4"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71.xml"/><Relationship Id="rId7" Type="http://schemas.openxmlformats.org/officeDocument/2006/relationships/oleObject" Target="../embeddings/oleObject7.bin"/><Relationship Id="rId2" Type="http://schemas.openxmlformats.org/officeDocument/2006/relationships/tags" Target="../tags/tag70.xml"/><Relationship Id="rId1" Type="http://schemas.openxmlformats.org/officeDocument/2006/relationships/vmlDrawing" Target="../drawings/vmlDrawing11.vml"/><Relationship Id="rId6" Type="http://schemas.openxmlformats.org/officeDocument/2006/relationships/slideLayout" Target="../slideLayouts/slideLayout21.xml"/><Relationship Id="rId11" Type="http://schemas.openxmlformats.org/officeDocument/2006/relationships/image" Target="../media/image40.emf"/><Relationship Id="rId5" Type="http://schemas.openxmlformats.org/officeDocument/2006/relationships/tags" Target="../tags/tag73.xml"/><Relationship Id="rId10" Type="http://schemas.openxmlformats.org/officeDocument/2006/relationships/image" Target="../media/image39.emf"/><Relationship Id="rId4" Type="http://schemas.openxmlformats.org/officeDocument/2006/relationships/tags" Target="../tags/tag72.xml"/><Relationship Id="rId9" Type="http://schemas.openxmlformats.org/officeDocument/2006/relationships/image" Target="../media/image38.emf"/></Relationships>
</file>

<file path=ppt/slides/_rels/slide21.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jpeg"/><Relationship Id="rId18" Type="http://schemas.openxmlformats.org/officeDocument/2006/relationships/image" Target="../media/image53.jpeg"/><Relationship Id="rId3" Type="http://schemas.openxmlformats.org/officeDocument/2006/relationships/slideLayout" Target="../slideLayouts/slideLayout9.xml"/><Relationship Id="rId21" Type="http://schemas.openxmlformats.org/officeDocument/2006/relationships/image" Target="../media/image56.jpeg"/><Relationship Id="rId7" Type="http://schemas.openxmlformats.org/officeDocument/2006/relationships/image" Target="../media/image1.emf"/><Relationship Id="rId12" Type="http://schemas.openxmlformats.org/officeDocument/2006/relationships/image" Target="../media/image47.png"/><Relationship Id="rId17" Type="http://schemas.openxmlformats.org/officeDocument/2006/relationships/image" Target="../media/image52.jpeg"/><Relationship Id="rId2" Type="http://schemas.openxmlformats.org/officeDocument/2006/relationships/tags" Target="../tags/tag74.xml"/><Relationship Id="rId16" Type="http://schemas.openxmlformats.org/officeDocument/2006/relationships/image" Target="../media/image51.jpeg"/><Relationship Id="rId20" Type="http://schemas.openxmlformats.org/officeDocument/2006/relationships/image" Target="../media/image55.jpeg"/><Relationship Id="rId1" Type="http://schemas.openxmlformats.org/officeDocument/2006/relationships/vmlDrawing" Target="../drawings/vmlDrawing12.vml"/><Relationship Id="rId6" Type="http://schemas.openxmlformats.org/officeDocument/2006/relationships/oleObject" Target="../embeddings/oleObject8.bin"/><Relationship Id="rId11" Type="http://schemas.openxmlformats.org/officeDocument/2006/relationships/image" Target="../media/image46.png"/><Relationship Id="rId24" Type="http://schemas.openxmlformats.org/officeDocument/2006/relationships/image" Target="../media/image59.png"/><Relationship Id="rId5" Type="http://schemas.openxmlformats.org/officeDocument/2006/relationships/image" Target="../media/image42.jpeg"/><Relationship Id="rId15" Type="http://schemas.openxmlformats.org/officeDocument/2006/relationships/image" Target="../media/image50.jpeg"/><Relationship Id="rId23" Type="http://schemas.openxmlformats.org/officeDocument/2006/relationships/image" Target="../media/image58.jpeg"/><Relationship Id="rId10" Type="http://schemas.openxmlformats.org/officeDocument/2006/relationships/image" Target="../media/image45.png"/><Relationship Id="rId19" Type="http://schemas.openxmlformats.org/officeDocument/2006/relationships/image" Target="../media/image54.jpeg"/><Relationship Id="rId4" Type="http://schemas.openxmlformats.org/officeDocument/2006/relationships/image" Target="../media/image41.jpeg"/><Relationship Id="rId9" Type="http://schemas.openxmlformats.org/officeDocument/2006/relationships/image" Target="../media/image44.png"/><Relationship Id="rId14" Type="http://schemas.openxmlformats.org/officeDocument/2006/relationships/image" Target="../media/image49.jpeg"/><Relationship Id="rId22" Type="http://schemas.openxmlformats.org/officeDocument/2006/relationships/image" Target="../media/image57.jpeg"/></Relationships>
</file>

<file path=ppt/slides/_rels/slide22.xml.rels><?xml version="1.0" encoding="UTF-8" standalone="yes"?>
<Relationships xmlns="http://schemas.openxmlformats.org/package/2006/relationships"><Relationship Id="rId8" Type="http://schemas.openxmlformats.org/officeDocument/2006/relationships/image" Target="../media/image60.emf"/><Relationship Id="rId13" Type="http://schemas.openxmlformats.org/officeDocument/2006/relationships/hyperlink" Target="http://www.google.ch/url?sa=i&amp;rct=j&amp;q=&amp;esrc=s&amp;source=images&amp;cd=&amp;cad=rja&amp;uact=8&amp;ved=0ahUKEwixkYWzmqrXAhVKWhQKHY9kCpsQjRwIBw&amp;url=http://tkbip.com/about_us/news/tkb-bnp-paribas-investment-partners-is-in-the-leaders-of-extel-survey/&amp;psig=AOvVaw1mVsPC0IjUK3PWTiu3zvMv&amp;ust=1510066545276964" TargetMode="External"/><Relationship Id="rId3" Type="http://schemas.openxmlformats.org/officeDocument/2006/relationships/tags" Target="../tags/tag77.xml"/><Relationship Id="rId7" Type="http://schemas.openxmlformats.org/officeDocument/2006/relationships/slideLayout" Target="../slideLayouts/slideLayout6.xml"/><Relationship Id="rId12" Type="http://schemas.openxmlformats.org/officeDocument/2006/relationships/image" Target="../media/image64.emf"/><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image" Target="../media/image63.emf"/><Relationship Id="rId5" Type="http://schemas.openxmlformats.org/officeDocument/2006/relationships/tags" Target="../tags/tag79.xml"/><Relationship Id="rId10" Type="http://schemas.openxmlformats.org/officeDocument/2006/relationships/image" Target="../media/image62.emf"/><Relationship Id="rId4" Type="http://schemas.openxmlformats.org/officeDocument/2006/relationships/tags" Target="../tags/tag78.xml"/><Relationship Id="rId9" Type="http://schemas.openxmlformats.org/officeDocument/2006/relationships/image" Target="../media/image61.emf"/><Relationship Id="rId14" Type="http://schemas.openxmlformats.org/officeDocument/2006/relationships/image" Target="../media/image65.png"/></Relationships>
</file>

<file path=ppt/slides/_rels/slide23.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slideLayout" Target="../slideLayouts/slideLayout28.xml"/><Relationship Id="rId5" Type="http://schemas.openxmlformats.org/officeDocument/2006/relationships/tags" Target="../tags/tag85.xml"/><Relationship Id="rId4" Type="http://schemas.openxmlformats.org/officeDocument/2006/relationships/tags" Target="../tags/tag84.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86.xml"/><Relationship Id="rId1" Type="http://schemas.openxmlformats.org/officeDocument/2006/relationships/vmlDrawing" Target="../drawings/vmlDrawing13.vml"/><Relationship Id="rId5" Type="http://schemas.openxmlformats.org/officeDocument/2006/relationships/image" Target="../media/image66.emf"/><Relationship Id="rId4" Type="http://schemas.openxmlformats.org/officeDocument/2006/relationships/oleObject" Target="../embeddings/oleObject9.bin"/></Relationships>
</file>

<file path=ppt/slides/_rels/slide25.xml.rels><?xml version="1.0" encoding="UTF-8" standalone="yes"?>
<Relationships xmlns="http://schemas.openxmlformats.org/package/2006/relationships"><Relationship Id="rId8" Type="http://schemas.openxmlformats.org/officeDocument/2006/relationships/image" Target="../media/image67.emf"/><Relationship Id="rId3" Type="http://schemas.openxmlformats.org/officeDocument/2006/relationships/tags" Target="../tags/tag88.xml"/><Relationship Id="rId7" Type="http://schemas.openxmlformats.org/officeDocument/2006/relationships/oleObject" Target="file:///\\zrh-s103a\groupsb3\80_PB_SI\20_PBSI_2\10_PBSI_21\01_Team\09_Performance\Monthly_Performance_Review\Performance%20Track%20Record_Special_Equities\Neue%20Version%20verlinkt\Performance%20Track%20Record_Fokus%20Mandat%20Schweiz_de_en.xlsx!Aktien%20Schweiz%20!%5bPerformance%20Track%20Record_Fokus%20Mandat%20Schweiz_de_en.xlsx%5dAktien%20Schweiz%20%20Chart%203" TargetMode="External"/><Relationship Id="rId2" Type="http://schemas.openxmlformats.org/officeDocument/2006/relationships/tags" Target="../tags/tag87.xml"/><Relationship Id="rId1" Type="http://schemas.openxmlformats.org/officeDocument/2006/relationships/vmlDrawing" Target="../drawings/vmlDrawing14.vml"/><Relationship Id="rId6" Type="http://schemas.openxmlformats.org/officeDocument/2006/relationships/slideLayout" Target="../slideLayouts/slideLayout21.xml"/><Relationship Id="rId5" Type="http://schemas.openxmlformats.org/officeDocument/2006/relationships/tags" Target="../tags/tag90.xml"/><Relationship Id="rId10" Type="http://schemas.openxmlformats.org/officeDocument/2006/relationships/image" Target="../media/image68.emf"/><Relationship Id="rId4" Type="http://schemas.openxmlformats.org/officeDocument/2006/relationships/tags" Target="../tags/tag89.xml"/><Relationship Id="rId9" Type="http://schemas.openxmlformats.org/officeDocument/2006/relationships/oleObject" Target="file:///\\zrh-s103a\groupsb3\80_PB_SI\20_PBSI_2\10_PBSI_21\01_Team\09_Performance\Monthly_Performance_Review\Performance%20Track%20Record_Special_Equities\Neue%20Version%20Specials%20verlinkt\Performance%20Track%20Record_Fokus%20Mandat%20Schweiz_de_en.xlsx!Aktien%20Schweiz%20!R60C17:R67C17" TargetMode="External"/></Relationships>
</file>

<file path=ppt/slides/_rels/slide26.xml.rels><?xml version="1.0" encoding="UTF-8" standalone="yes"?>
<Relationships xmlns="http://schemas.openxmlformats.org/package/2006/relationships"><Relationship Id="rId3" Type="http://schemas.openxmlformats.org/officeDocument/2006/relationships/tags" Target="../tags/tag92.xml"/><Relationship Id="rId7" Type="http://schemas.openxmlformats.org/officeDocument/2006/relationships/image" Target="../media/image69.emf"/><Relationship Id="rId2" Type="http://schemas.openxmlformats.org/officeDocument/2006/relationships/tags" Target="../tags/tag91.xml"/><Relationship Id="rId1" Type="http://schemas.openxmlformats.org/officeDocument/2006/relationships/vmlDrawing" Target="../drawings/vmlDrawing15.vml"/><Relationship Id="rId6" Type="http://schemas.openxmlformats.org/officeDocument/2006/relationships/oleObject" Target="file:///\\zrh-s103a\groupsb3\80_PB_SI\20_PBSI_2\10_PBSI_21\01_Team\09_Performance\Monthly_Performance_Review\Performance%20Track%20Record_Special_Equities\Neue%20Version%20Specials%20verlinkt\Performance%20Track%20Record_Fokus%20Mandat%20Schweiz_de_en.xlsx!Aktien%20Schweiz%20!R59C11:R73C14" TargetMode="External"/><Relationship Id="rId5" Type="http://schemas.openxmlformats.org/officeDocument/2006/relationships/slideLayout" Target="../slideLayouts/slideLayout21.xml"/><Relationship Id="rId4" Type="http://schemas.openxmlformats.org/officeDocument/2006/relationships/tags" Target="../tags/tag93.xml"/></Relationships>
</file>

<file path=ppt/slides/_rels/slide27.xml.rels><?xml version="1.0" encoding="UTF-8" standalone="yes"?>
<Relationships xmlns="http://schemas.openxmlformats.org/package/2006/relationships"><Relationship Id="rId8" Type="http://schemas.openxmlformats.org/officeDocument/2006/relationships/image" Target="../media/image70.emf"/><Relationship Id="rId3" Type="http://schemas.openxmlformats.org/officeDocument/2006/relationships/tags" Target="../tags/tag95.xml"/><Relationship Id="rId7" Type="http://schemas.openxmlformats.org/officeDocument/2006/relationships/oleObject" Target="file:///\\zrh-s103a\groupsb3\80_PB_SI\10_PBSI_1\10_PBSI_11\01_Team\03%20Marketing%20&amp;%20Presentations\02%20PB\Aktien%20Schweiz\Pr&#228;sentationen\Masterfolien%20Neu\Grafiken%20Vontobel%20Fokus%20Mandat%20Aktien%20Schweiz.xlsx!Sector%20Weightings!%5bGrafiken%20Vontobel%20Fokus%20Mandat%20Aktien%20Schweiz.xlsx%5dSector%20Weightings%20Diagramm%201" TargetMode="External"/><Relationship Id="rId2" Type="http://schemas.openxmlformats.org/officeDocument/2006/relationships/tags" Target="../tags/tag94.xml"/><Relationship Id="rId1" Type="http://schemas.openxmlformats.org/officeDocument/2006/relationships/vmlDrawing" Target="../drawings/vmlDrawing16.vml"/><Relationship Id="rId6" Type="http://schemas.openxmlformats.org/officeDocument/2006/relationships/slideLayout" Target="../slideLayouts/slideLayout21.xml"/><Relationship Id="rId5" Type="http://schemas.openxmlformats.org/officeDocument/2006/relationships/tags" Target="../tags/tag97.xml"/><Relationship Id="rId10" Type="http://schemas.openxmlformats.org/officeDocument/2006/relationships/image" Target="../media/image1.emf"/><Relationship Id="rId4" Type="http://schemas.openxmlformats.org/officeDocument/2006/relationships/tags" Target="../tags/tag96.xml"/><Relationship Id="rId9" Type="http://schemas.openxmlformats.org/officeDocument/2006/relationships/oleObject" Target="../embeddings/oleObject10.bin"/></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98.xml"/><Relationship Id="rId1" Type="http://schemas.openxmlformats.org/officeDocument/2006/relationships/vmlDrawing" Target="../drawings/vmlDrawing17.vml"/><Relationship Id="rId5" Type="http://schemas.openxmlformats.org/officeDocument/2006/relationships/image" Target="../media/image71.emf"/><Relationship Id="rId4" Type="http://schemas.openxmlformats.org/officeDocument/2006/relationships/oleObject" Target="file:///\\zrh-s103a\groupsb3\80_PB_SI\10_PBSI_1\10_PBSI_11\01_Team\03%20Marketing%20&amp;%20Presentations\02%20PB\Aktien%20Schweiz\Pr&#228;sentationen\Masterfolien%20Neu\Grafiken%20Vontobel%20Fokus%20Mandat%20Aktien%20Schweiz.xlsx!Stock%20Weightings!R30C2:R52C5" TargetMode="Externa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9.xml"/><Relationship Id="rId1" Type="http://schemas.openxmlformats.org/officeDocument/2006/relationships/vmlDrawing" Target="../drawings/vmlDrawing18.vml"/><Relationship Id="rId5" Type="http://schemas.openxmlformats.org/officeDocument/2006/relationships/image" Target="../media/image72.emf"/><Relationship Id="rId4" Type="http://schemas.openxmlformats.org/officeDocument/2006/relationships/oleObject" Target="file:///\\zrh-s103a\groupsb3\0110_WM_ID\00_Public\PUBLIC%20Distribution%20&amp;%20Business%20Mgmt\Performance%20Track%20Records\06_Special%20Aktien%20Schweiz\Grafiken%20Vontobel%20Fokus%20Mandat%20Aktien%20Schweiz.xlsx!Dividend%20Yield!R25C9:R42C15" TargetMode="Externa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74.emf"/><Relationship Id="rId2" Type="http://schemas.openxmlformats.org/officeDocument/2006/relationships/tags" Target="../tags/tag100.xml"/><Relationship Id="rId1" Type="http://schemas.openxmlformats.org/officeDocument/2006/relationships/vmlDrawing" Target="../drawings/vmlDrawing19.vml"/><Relationship Id="rId6" Type="http://schemas.openxmlformats.org/officeDocument/2006/relationships/oleObject" Target="file:///\\zrh-s103a\groupsb3\0110_WM_ID\00_Public\PUBLIC%20Distribution%20&amp;%20Business%20Mgmt\Performance%20Track%20Records\06_Special%20Aktien%20Schweiz\Grafiken%20Vontobel%20Fokus%20Mandat%20Aktien%20Schweiz.xlsx!Model%20Portfolio!R4C21:R21C25" TargetMode="External"/><Relationship Id="rId5" Type="http://schemas.openxmlformats.org/officeDocument/2006/relationships/image" Target="../media/image73.emf"/><Relationship Id="rId4" Type="http://schemas.openxmlformats.org/officeDocument/2006/relationships/oleObject" Target="file:///\\zrh-s103a\groupsb3\80_PB_SI\10_PBSI_1\10_PBSI_11\01_Team\03%20Marketing%20&amp;%20Presentations\02%20PB\Aktien%20Schweiz\Pr&#228;sentationen\Masterfolien%20Neu\Grafiken%20Vontobel%20Fokus%20Mandat%20Aktien%20Schweiz.xlsx!Model%20Portfolio!%5bGrafiken%20Vontobel%20Fokus%20Mandat%20Aktien%20Schweiz.xlsx%5dModel%20Portfolio%20Diagramm%202" TargetMode="Externa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10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slideLayout" Target="../slideLayouts/slideLayout28.xml"/><Relationship Id="rId5" Type="http://schemas.openxmlformats.org/officeDocument/2006/relationships/tags" Target="../tags/tag106.xml"/><Relationship Id="rId4" Type="http://schemas.openxmlformats.org/officeDocument/2006/relationships/tags" Target="../tags/tag105.xml"/></Relationships>
</file>

<file path=ppt/slides/_rels/slide34.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slideLayout" Target="../slideLayouts/slideLayout26.xml"/><Relationship Id="rId1" Type="http://schemas.openxmlformats.org/officeDocument/2006/relationships/tags" Target="../tags/tag107.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108.xml"/><Relationship Id="rId1" Type="http://schemas.openxmlformats.org/officeDocument/2006/relationships/vmlDrawing" Target="../drawings/vmlDrawing20.vml"/><Relationship Id="rId5" Type="http://schemas.openxmlformats.org/officeDocument/2006/relationships/image" Target="../media/image76.emf"/><Relationship Id="rId4" Type="http://schemas.openxmlformats.org/officeDocument/2006/relationships/oleObject" Target="file:///\\zrh-s103a\groupsb3\0110_WM_ID\00_Public\PUBLIC%20Distribution%20&amp;%20Business%20Mgmt\Performance%20Track%20Records\06_Special%20Aktien%20Schweiz\Grafiken%20Vontobel%20Fokus%20Mandat%20Aktien%20Schweiz.xlsx!Reliability%20LOC%20(2)!%5bGrafiken%20Vontobel%20Fokus%20Mandat%20Aktien%20Schweiz.xlsx%5dReliability%20LOC%20(2)%20Chart%201" TargetMode="External"/></Relationships>
</file>

<file path=ppt/slides/_rels/slide36.xml.rels><?xml version="1.0" encoding="UTF-8" standalone="yes"?>
<Relationships xmlns="http://schemas.openxmlformats.org/package/2006/relationships"><Relationship Id="rId2" Type="http://schemas.openxmlformats.org/officeDocument/2006/relationships/hyperlink" Target="mailto:wealthmanagement@vontobel.com" TargetMode="Externa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4"/>
          </p:nvPr>
        </p:nvSpPr>
        <p:spPr/>
        <p:txBody>
          <a:bodyPr/>
          <a:lstStyle/>
          <a:p>
            <a:endParaRPr lang="de-CH"/>
          </a:p>
        </p:txBody>
      </p:sp>
      <p:sp>
        <p:nvSpPr>
          <p:cNvPr id="7" name="Subtitle 6"/>
          <p:cNvSpPr>
            <a:spLocks noGrp="1"/>
          </p:cNvSpPr>
          <p:nvPr>
            <p:ph type="subTitle" idx="1"/>
          </p:nvPr>
        </p:nvSpPr>
        <p:spPr/>
        <p:txBody>
          <a:bodyPr/>
          <a:lstStyle/>
          <a:p>
            <a:endParaRPr lang="de-CH"/>
          </a:p>
        </p:txBody>
      </p:sp>
      <p:sp>
        <p:nvSpPr>
          <p:cNvPr id="4" name="Title 3"/>
          <p:cNvSpPr>
            <a:spLocks noGrp="1"/>
          </p:cNvSpPr>
          <p:nvPr>
            <p:ph type="ctrTitle"/>
          </p:nvPr>
        </p:nvSpPr>
        <p:spPr/>
        <p:txBody>
          <a:bodyPr/>
          <a:lstStyle/>
          <a:p>
            <a:r>
              <a:rPr lang="en-US" dirty="0" smtClean="0"/>
              <a:t>Vontobel Specials</a:t>
            </a:r>
            <a:br>
              <a:rPr lang="en-US" dirty="0" smtClean="0"/>
            </a:br>
            <a:r>
              <a:rPr lang="en-US" dirty="0" smtClean="0"/>
              <a:t>Swiss Equities</a:t>
            </a:r>
            <a:endParaRPr lang="en-US" dirty="0"/>
          </a:p>
        </p:txBody>
      </p:sp>
      <p:sp>
        <p:nvSpPr>
          <p:cNvPr id="9" name="Text Placeholder 8"/>
          <p:cNvSpPr>
            <a:spLocks noGrp="1"/>
          </p:cNvSpPr>
          <p:nvPr>
            <p:ph type="body" sz="quarter" idx="15"/>
          </p:nvPr>
        </p:nvSpPr>
        <p:spPr/>
        <p:txBody>
          <a:bodyPr/>
          <a:lstStyle/>
          <a:p>
            <a:endParaRPr lang="de-CH"/>
          </a:p>
        </p:txBody>
      </p:sp>
      <p:sp>
        <p:nvSpPr>
          <p:cNvPr id="10" name="Text Placeholder 9"/>
          <p:cNvSpPr>
            <a:spLocks noGrp="1"/>
          </p:cNvSpPr>
          <p:nvPr>
            <p:ph type="body" sz="quarter" idx="16"/>
          </p:nvPr>
        </p:nvSpPr>
        <p:spPr/>
        <p:txBody>
          <a:bodyPr/>
          <a:lstStyle/>
          <a:p>
            <a:endParaRPr lang="de-CH"/>
          </a:p>
        </p:txBody>
      </p:sp>
    </p:spTree>
    <p:extLst>
      <p:ext uri="{BB962C8B-B14F-4D97-AF65-F5344CB8AC3E}">
        <p14:creationId xmlns:p14="http://schemas.microsoft.com/office/powerpoint/2010/main" val="27735046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Table of contents</a:t>
            </a:r>
            <a:endParaRPr lang="en-US" dirty="0"/>
          </a:p>
        </p:txBody>
      </p:sp>
      <p:sp>
        <p:nvSpPr>
          <p:cNvPr id="4" name="TocEntry1">
            <a:hlinkClick r:id="" action="ppaction://noaction"/>
          </p:cNvPr>
          <p:cNvSpPr txBox="1"/>
          <p:nvPr>
            <p:custDataLst>
              <p:tags r:id="rId1"/>
            </p:custDataLst>
          </p:nvPr>
        </p:nvSpPr>
        <p:spPr>
          <a:xfrm>
            <a:off x="952500" y="2051050"/>
            <a:ext cx="9289131" cy="415498"/>
          </a:xfrm>
          <a:prstGeom prst="rect">
            <a:avLst/>
          </a:prstGeom>
          <a:noFill/>
        </p:spPr>
        <p:txBody>
          <a:bodyPr vert="horz" wrap="square" lIns="0" tIns="0" rIns="0" bIns="0" rtlCol="0">
            <a:spAutoFit/>
          </a:bodyPr>
          <a:lstStyle/>
          <a:p>
            <a:pPr>
              <a:lnSpc>
                <a:spcPct val="90000"/>
              </a:lnSpc>
            </a:pPr>
            <a:r>
              <a:rPr lang="de-CH" sz="3000" b="1" smtClean="0">
                <a:latin typeface="Arial"/>
              </a:rPr>
              <a:t>Summary</a:t>
            </a:r>
            <a:endParaRPr lang="de-CH" sz="3000" b="1" dirty="0">
              <a:latin typeface="Arial"/>
            </a:endParaRPr>
          </a:p>
        </p:txBody>
      </p:sp>
      <p:sp>
        <p:nvSpPr>
          <p:cNvPr id="5" name="TocEntry2">
            <a:hlinkClick r:id="" action="ppaction://noaction"/>
          </p:cNvPr>
          <p:cNvSpPr txBox="1"/>
          <p:nvPr>
            <p:custDataLst>
              <p:tags r:id="rId2"/>
            </p:custDataLst>
          </p:nvPr>
        </p:nvSpPr>
        <p:spPr>
          <a:xfrm>
            <a:off x="952500" y="2542748"/>
            <a:ext cx="9289131" cy="415498"/>
          </a:xfrm>
          <a:prstGeom prst="rect">
            <a:avLst/>
          </a:prstGeom>
          <a:noFill/>
        </p:spPr>
        <p:txBody>
          <a:bodyPr vert="horz" wrap="square" lIns="0" tIns="0" rIns="0" bIns="0" rtlCol="0">
            <a:spAutoFit/>
          </a:bodyPr>
          <a:lstStyle/>
          <a:p>
            <a:pPr>
              <a:lnSpc>
                <a:spcPct val="90000"/>
              </a:lnSpc>
            </a:pPr>
            <a:r>
              <a:rPr lang="de-CH" sz="3000" smtClean="0">
                <a:solidFill>
                  <a:srgbClr val="000000"/>
                </a:solidFill>
                <a:latin typeface="Arial"/>
              </a:rPr>
              <a:t>Swiss equities</a:t>
            </a:r>
            <a:endParaRPr lang="de-CH" sz="3000" dirty="0">
              <a:solidFill>
                <a:srgbClr val="000000"/>
              </a:solidFill>
              <a:latin typeface="Arial"/>
            </a:endParaRPr>
          </a:p>
        </p:txBody>
      </p:sp>
      <p:sp>
        <p:nvSpPr>
          <p:cNvPr id="6" name="TocEntry3">
            <a:hlinkClick r:id="" action="ppaction://noaction"/>
          </p:cNvPr>
          <p:cNvSpPr txBox="1"/>
          <p:nvPr>
            <p:custDataLst>
              <p:tags r:id="rId3"/>
            </p:custDataLst>
          </p:nvPr>
        </p:nvSpPr>
        <p:spPr>
          <a:xfrm>
            <a:off x="952500" y="3034446"/>
            <a:ext cx="9289131" cy="415498"/>
          </a:xfrm>
          <a:prstGeom prst="rect">
            <a:avLst/>
          </a:prstGeom>
          <a:noFill/>
        </p:spPr>
        <p:txBody>
          <a:bodyPr vert="horz" wrap="square" lIns="0" tIns="0" rIns="0" bIns="0" rtlCol="0">
            <a:spAutoFit/>
          </a:bodyPr>
          <a:lstStyle/>
          <a:p>
            <a:pPr>
              <a:lnSpc>
                <a:spcPct val="90000"/>
              </a:lnSpc>
            </a:pPr>
            <a:r>
              <a:rPr lang="de-CH" sz="3000" smtClean="0">
                <a:solidFill>
                  <a:srgbClr val="000000"/>
                </a:solidFill>
                <a:latin typeface="Arial"/>
              </a:rPr>
              <a:t>Our investment approach</a:t>
            </a:r>
            <a:endParaRPr lang="de-CH" sz="3000" dirty="0">
              <a:solidFill>
                <a:srgbClr val="000000"/>
              </a:solidFill>
              <a:latin typeface="Arial"/>
            </a:endParaRPr>
          </a:p>
        </p:txBody>
      </p:sp>
      <p:sp>
        <p:nvSpPr>
          <p:cNvPr id="7" name="TocEntry4">
            <a:hlinkClick r:id="" action="ppaction://noaction"/>
          </p:cNvPr>
          <p:cNvSpPr txBox="1"/>
          <p:nvPr>
            <p:custDataLst>
              <p:tags r:id="rId4"/>
            </p:custDataLst>
          </p:nvPr>
        </p:nvSpPr>
        <p:spPr>
          <a:xfrm>
            <a:off x="952500" y="3526144"/>
            <a:ext cx="9289131" cy="415498"/>
          </a:xfrm>
          <a:prstGeom prst="rect">
            <a:avLst/>
          </a:prstGeom>
          <a:noFill/>
        </p:spPr>
        <p:txBody>
          <a:bodyPr vert="horz" wrap="square" lIns="0" tIns="0" rIns="0" bIns="0" rtlCol="0">
            <a:spAutoFit/>
          </a:bodyPr>
          <a:lstStyle/>
          <a:p>
            <a:pPr>
              <a:lnSpc>
                <a:spcPct val="90000"/>
              </a:lnSpc>
            </a:pPr>
            <a:r>
              <a:rPr lang="de-CH" sz="3000" dirty="0" smtClean="0">
                <a:solidFill>
                  <a:srgbClr val="000000"/>
                </a:solidFill>
                <a:latin typeface="Arial"/>
              </a:rPr>
              <a:t>Vontobel Specials Swiss </a:t>
            </a:r>
            <a:r>
              <a:rPr lang="de-CH" sz="3000" dirty="0" err="1" smtClean="0">
                <a:solidFill>
                  <a:srgbClr val="000000"/>
                </a:solidFill>
                <a:latin typeface="Arial"/>
              </a:rPr>
              <a:t>Equities</a:t>
            </a:r>
            <a:endParaRPr lang="de-CH" sz="3000" dirty="0">
              <a:solidFill>
                <a:srgbClr val="000000"/>
              </a:solidFill>
              <a:latin typeface="Arial"/>
            </a:endParaRPr>
          </a:p>
        </p:txBody>
      </p:sp>
      <p:sp>
        <p:nvSpPr>
          <p:cNvPr id="8" name="TocEntry5">
            <a:hlinkClick r:id="" action="ppaction://noaction"/>
          </p:cNvPr>
          <p:cNvSpPr txBox="1"/>
          <p:nvPr>
            <p:custDataLst>
              <p:tags r:id="rId5"/>
            </p:custDataLst>
          </p:nvPr>
        </p:nvSpPr>
        <p:spPr>
          <a:xfrm>
            <a:off x="952500" y="4017842"/>
            <a:ext cx="9289131" cy="415498"/>
          </a:xfrm>
          <a:prstGeom prst="rect">
            <a:avLst/>
          </a:prstGeom>
          <a:noFill/>
        </p:spPr>
        <p:txBody>
          <a:bodyPr vert="horz" wrap="square" lIns="0" tIns="0" rIns="0" bIns="0" rtlCol="0">
            <a:spAutoFit/>
          </a:bodyPr>
          <a:lstStyle/>
          <a:p>
            <a:pPr>
              <a:lnSpc>
                <a:spcPct val="90000"/>
              </a:lnSpc>
            </a:pPr>
            <a:r>
              <a:rPr lang="de-CH" sz="3000" smtClean="0">
                <a:solidFill>
                  <a:srgbClr val="000000"/>
                </a:solidFill>
                <a:latin typeface="Arial"/>
              </a:rPr>
              <a:t>Appendix</a:t>
            </a:r>
            <a:endParaRPr lang="de-CH" sz="3000" dirty="0">
              <a:solidFill>
                <a:srgbClr val="000000"/>
              </a:solidFill>
              <a:latin typeface="Arial"/>
            </a:endParaRPr>
          </a:p>
        </p:txBody>
      </p:sp>
    </p:spTree>
    <p:extLst>
      <p:ext uri="{BB962C8B-B14F-4D97-AF65-F5344CB8AC3E}">
        <p14:creationId xmlns:p14="http://schemas.microsoft.com/office/powerpoint/2010/main" val="3359734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mode of operation – your benefits</a:t>
            </a:r>
            <a:endParaRPr lang="en-US" dirty="0"/>
          </a:p>
        </p:txBody>
      </p:sp>
      <p:sp>
        <p:nvSpPr>
          <p:cNvPr id="5" name="Content Placeholder 4"/>
          <p:cNvSpPr>
            <a:spLocks noGrp="1"/>
          </p:cNvSpPr>
          <p:nvPr>
            <p:ph sz="quarter" idx="18"/>
          </p:nvPr>
        </p:nvSpPr>
        <p:spPr/>
        <p:txBody>
          <a:bodyPr/>
          <a:lstStyle/>
          <a:p>
            <a:pPr marL="0" indent="0">
              <a:spcAft>
                <a:spcPts val="1200"/>
              </a:spcAft>
              <a:buNone/>
            </a:pPr>
            <a:r>
              <a:rPr lang="en-US" sz="1400" dirty="0" smtClean="0"/>
              <a:t>“We invest assets in the Swiss equity markets with a balance-sheet-oriented, commercial view on the enterprises, a focus on stability and under consideration of Swiss values.” </a:t>
            </a:r>
          </a:p>
          <a:p>
            <a:pPr>
              <a:spcAft>
                <a:spcPts val="1200"/>
              </a:spcAft>
            </a:pPr>
            <a:r>
              <a:rPr lang="en-US" sz="1400" dirty="0" smtClean="0"/>
              <a:t>High export share of the companies led to a global diversification </a:t>
            </a:r>
          </a:p>
          <a:p>
            <a:pPr>
              <a:spcAft>
                <a:spcPts val="1200"/>
              </a:spcAft>
            </a:pPr>
            <a:r>
              <a:rPr lang="en-US" sz="1400" dirty="0" smtClean="0"/>
              <a:t>Mandate is based on direct investments in Swiss equities</a:t>
            </a:r>
          </a:p>
          <a:p>
            <a:pPr>
              <a:spcAft>
                <a:spcPts val="1200"/>
              </a:spcAft>
            </a:pPr>
            <a:r>
              <a:rPr lang="en-US" sz="1400" dirty="0" smtClean="0"/>
              <a:t>Outstanding yield on the basis of first-class research; </a:t>
            </a:r>
            <a:r>
              <a:rPr lang="en-US" sz="1400" dirty="0" err="1" smtClean="0"/>
              <a:t>Vontobel</a:t>
            </a:r>
            <a:r>
              <a:rPr lang="en-US" sz="1400" dirty="0" smtClean="0"/>
              <a:t> is the number 1 in the field of research for Swiss equities</a:t>
            </a:r>
            <a:endParaRPr lang="en-US" sz="1400" baseline="30000" dirty="0"/>
          </a:p>
        </p:txBody>
      </p:sp>
      <p:sp>
        <p:nvSpPr>
          <p:cNvPr id="10" name="TextBox 9"/>
          <p:cNvSpPr txBox="1"/>
          <p:nvPr>
            <p:custDataLst>
              <p:tags r:id="rId1"/>
            </p:custDataLst>
          </p:nvPr>
        </p:nvSpPr>
        <p:spPr bwMode="gray">
          <a:xfrm>
            <a:off x="449263" y="7186309"/>
            <a:ext cx="7578036" cy="1219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400">
              <a:tabLst>
                <a:tab pos="2852937" algn="l"/>
              </a:tabLst>
            </a:pPr>
            <a:r>
              <a:rPr lang="en-US" sz="800" dirty="0" smtClean="0">
                <a:solidFill>
                  <a:srgbClr val="000000"/>
                </a:solidFill>
                <a:latin typeface="Arial"/>
              </a:rPr>
              <a:t>1 </a:t>
            </a:r>
            <a:r>
              <a:rPr lang="en-US" sz="800" dirty="0" err="1" smtClean="0">
                <a:solidFill>
                  <a:srgbClr val="000000"/>
                </a:solidFill>
                <a:latin typeface="Arial"/>
              </a:rPr>
              <a:t>Vontobel</a:t>
            </a:r>
            <a:r>
              <a:rPr lang="en-US" sz="800" dirty="0" smtClean="0">
                <a:solidFill>
                  <a:srgbClr val="000000"/>
                </a:solidFill>
                <a:latin typeface="Arial"/>
              </a:rPr>
              <a:t> named as the number 1 in research/brokerage for Swiss equities in the Thomson </a:t>
            </a:r>
            <a:r>
              <a:rPr lang="en-US" sz="800" dirty="0" err="1" smtClean="0">
                <a:solidFill>
                  <a:srgbClr val="000000"/>
                </a:solidFill>
                <a:latin typeface="Arial"/>
              </a:rPr>
              <a:t>Extel</a:t>
            </a:r>
            <a:r>
              <a:rPr lang="en-US" sz="800" dirty="0" smtClean="0">
                <a:solidFill>
                  <a:srgbClr val="000000"/>
                </a:solidFill>
                <a:latin typeface="Arial"/>
              </a:rPr>
              <a:t> Surveys from 2011, 2012, 2013, 2014, 2015, 2016, 2017 and 2018 </a:t>
            </a:r>
            <a:endParaRPr lang="en-US" sz="800" dirty="0">
              <a:solidFill>
                <a:srgbClr val="000000"/>
              </a:solidFill>
              <a:latin typeface="Arial"/>
            </a:endParaRPr>
          </a:p>
        </p:txBody>
      </p:sp>
      <p:pic>
        <p:nvPicPr>
          <p:cNvPr id="4" name="Picture Placeholder 3"/>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l="6565" r="6565"/>
          <a:stretch>
            <a:fillRect/>
          </a:stretch>
        </p:blipFill>
        <p:spPr/>
      </p:pic>
    </p:spTree>
    <p:extLst>
      <p:ext uri="{BB962C8B-B14F-4D97-AF65-F5344CB8AC3E}">
        <p14:creationId xmlns:p14="http://schemas.microsoft.com/office/powerpoint/2010/main" val="32048194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custDataLst>
              <p:tags r:id="rId2"/>
            </p:custDataLst>
          </p:nvPr>
        </p:nvSpPr>
        <p:spPr bwMode="gray">
          <a:xfrm>
            <a:off x="0" y="6810300"/>
            <a:ext cx="10691813" cy="127000"/>
          </a:xfrm>
          <a:prstGeom prst="rect">
            <a:avLst/>
          </a:prstGeom>
          <a:solidFill>
            <a:srgbClr val="FFFFFF"/>
          </a:solidFill>
          <a:ln w="3175" algn="ctr">
            <a:noFill/>
            <a:miter lim="800000"/>
            <a:headEnd type="none" w="sm" len="sm"/>
            <a:tailEnd type="none" w="sm" len="sm"/>
          </a:ln>
          <a:effectLst/>
          <a:extLst/>
        </p:spPr>
        <p:txBody>
          <a:bodyPr wrap="square" lIns="35998" tIns="35998" rIns="35998" bIns="35998" spcCol="0" rtlCol="0" anchor="t" anchorCtr="0"/>
          <a:lstStyle/>
          <a:p>
            <a:pPr algn="ctr">
              <a:buClr>
                <a:srgbClr val="2D4B84"/>
              </a:buClr>
            </a:pPr>
            <a:endParaRPr lang="en-US" sz="1400" dirty="0">
              <a:solidFill>
                <a:srgbClr val="000000"/>
              </a:solidFill>
              <a:latin typeface="Arial"/>
            </a:endParaRPr>
          </a:p>
        </p:txBody>
      </p:sp>
      <p:sp>
        <p:nvSpPr>
          <p:cNvPr id="2" name="Title 1"/>
          <p:cNvSpPr>
            <a:spLocks noGrp="1"/>
          </p:cNvSpPr>
          <p:nvPr>
            <p:ph type="title"/>
          </p:nvPr>
        </p:nvSpPr>
        <p:spPr/>
        <p:txBody>
          <a:bodyPr/>
          <a:lstStyle/>
          <a:p>
            <a:r>
              <a:rPr lang="en-US" dirty="0" smtClean="0"/>
              <a:t>Swiss equities are attractive – </a:t>
            </a:r>
            <a:r>
              <a:rPr lang="en-US" dirty="0" err="1" smtClean="0"/>
              <a:t>Vontobel</a:t>
            </a:r>
            <a:r>
              <a:rPr lang="en-US" dirty="0" smtClean="0"/>
              <a:t> offers you the needed competence</a:t>
            </a:r>
            <a:endParaRPr lang="en-US" dirty="0"/>
          </a:p>
        </p:txBody>
      </p:sp>
      <p:sp>
        <p:nvSpPr>
          <p:cNvPr id="3" name="Text Placeholder 2"/>
          <p:cNvSpPr>
            <a:spLocks noGrp="1"/>
          </p:cNvSpPr>
          <p:nvPr>
            <p:ph type="body" sz="quarter" idx="16"/>
          </p:nvPr>
        </p:nvSpPr>
        <p:spPr/>
        <p:txBody>
          <a:bodyPr/>
          <a:lstStyle/>
          <a:p>
            <a:r>
              <a:rPr lang="en-US" dirty="0" smtClean="0">
                <a:solidFill>
                  <a:srgbClr val="000000"/>
                </a:solidFill>
              </a:rPr>
              <a:t>Why </a:t>
            </a:r>
            <a:r>
              <a:rPr lang="en-US" dirty="0" err="1" smtClean="0">
                <a:solidFill>
                  <a:srgbClr val="000000"/>
                </a:solidFill>
              </a:rPr>
              <a:t>Vontobel</a:t>
            </a:r>
            <a:r>
              <a:rPr lang="en-US" dirty="0" smtClean="0">
                <a:solidFill>
                  <a:srgbClr val="000000"/>
                </a:solidFill>
              </a:rPr>
              <a:t> for Swiss equities?</a:t>
            </a:r>
            <a:endParaRPr lang="en-US" dirty="0"/>
          </a:p>
        </p:txBody>
      </p:sp>
      <p:sp>
        <p:nvSpPr>
          <p:cNvPr id="4" name="Text Placeholder 3"/>
          <p:cNvSpPr>
            <a:spLocks noGrp="1"/>
          </p:cNvSpPr>
          <p:nvPr>
            <p:ph type="body" sz="quarter" idx="14"/>
          </p:nvPr>
        </p:nvSpPr>
        <p:spPr/>
        <p:txBody>
          <a:bodyPr/>
          <a:lstStyle/>
          <a:p>
            <a:r>
              <a:rPr lang="en-US" dirty="0" smtClean="0">
                <a:solidFill>
                  <a:srgbClr val="000000"/>
                </a:solidFill>
              </a:rPr>
              <a:t>Why Swiss equities?</a:t>
            </a:r>
            <a:endParaRPr lang="en-US" dirty="0"/>
          </a:p>
        </p:txBody>
      </p:sp>
      <p:sp>
        <p:nvSpPr>
          <p:cNvPr id="5" name="Content Placeholder 4"/>
          <p:cNvSpPr>
            <a:spLocks noGrp="1"/>
          </p:cNvSpPr>
          <p:nvPr>
            <p:ph sz="quarter" idx="17"/>
          </p:nvPr>
        </p:nvSpPr>
        <p:spPr>
          <a:xfrm>
            <a:off x="449362" y="1835621"/>
            <a:ext cx="4752000" cy="1737399"/>
          </a:xfrm>
        </p:spPr>
        <p:txBody>
          <a:bodyPr wrap="square">
            <a:spAutoFit/>
          </a:bodyPr>
          <a:lstStyle/>
          <a:p>
            <a:pPr>
              <a:spcAft>
                <a:spcPts val="600"/>
              </a:spcAft>
            </a:pPr>
            <a:r>
              <a:rPr lang="en-US" sz="1400" dirty="0"/>
              <a:t>The Swiss equity market is marked by strong </a:t>
            </a:r>
            <a:r>
              <a:rPr lang="en-US" sz="1400" b="1" i="1" dirty="0"/>
              <a:t>corporate</a:t>
            </a:r>
            <a:r>
              <a:rPr lang="en-US" sz="1400" dirty="0"/>
              <a:t> </a:t>
            </a:r>
            <a:r>
              <a:rPr lang="en-US" sz="1400" b="1" i="1" dirty="0"/>
              <a:t>governance, diversity, intelligence, quality, reliability and simplicity </a:t>
            </a:r>
          </a:p>
          <a:p>
            <a:pPr>
              <a:spcAft>
                <a:spcPts val="600"/>
              </a:spcAft>
            </a:pPr>
            <a:r>
              <a:rPr lang="en-US" sz="1400" dirty="0"/>
              <a:t>Swiss companies are </a:t>
            </a:r>
            <a:r>
              <a:rPr lang="en-US" sz="1400" b="1" i="1" dirty="0"/>
              <a:t>globally diversified</a:t>
            </a:r>
          </a:p>
          <a:p>
            <a:pPr>
              <a:spcAft>
                <a:spcPts val="600"/>
              </a:spcAft>
            </a:pPr>
            <a:r>
              <a:rPr lang="en-US" sz="1400" dirty="0"/>
              <a:t>In an international comparison, the Swiss equity market has demonstrated </a:t>
            </a:r>
            <a:r>
              <a:rPr lang="en-US" sz="1400" b="1" i="1" dirty="0"/>
              <a:t>outstanding performance </a:t>
            </a:r>
            <a:r>
              <a:rPr lang="en-US" sz="1400" dirty="0"/>
              <a:t>over the past 30 years</a:t>
            </a:r>
          </a:p>
        </p:txBody>
      </p:sp>
      <p:sp>
        <p:nvSpPr>
          <p:cNvPr id="6" name="Content Placeholder 5"/>
          <p:cNvSpPr>
            <a:spLocks noGrp="1"/>
          </p:cNvSpPr>
          <p:nvPr>
            <p:ph sz="quarter" idx="18"/>
          </p:nvPr>
        </p:nvSpPr>
        <p:spPr>
          <a:xfrm>
            <a:off x="5490551" y="1835622"/>
            <a:ext cx="4752000" cy="1737399"/>
          </a:xfrm>
        </p:spPr>
        <p:txBody>
          <a:bodyPr wrap="square">
            <a:spAutoFit/>
          </a:bodyPr>
          <a:lstStyle/>
          <a:p>
            <a:pPr>
              <a:spcAft>
                <a:spcPts val="600"/>
              </a:spcAft>
            </a:pPr>
            <a:r>
              <a:rPr lang="en-US" sz="1400" dirty="0" err="1" smtClean="0"/>
              <a:t>Vontobel</a:t>
            </a:r>
            <a:r>
              <a:rPr lang="en-US" sz="1400" dirty="0" smtClean="0"/>
              <a:t> is an independent, family-owned Swiss private bank that has been standing for </a:t>
            </a:r>
            <a:r>
              <a:rPr lang="en-US" sz="1400" b="1" i="1" dirty="0" smtClean="0"/>
              <a:t>stability, financial strength and risk awareness</a:t>
            </a:r>
            <a:r>
              <a:rPr lang="en-US" sz="1400" dirty="0" smtClean="0"/>
              <a:t> for generations</a:t>
            </a:r>
          </a:p>
          <a:p>
            <a:pPr>
              <a:spcAft>
                <a:spcPts val="600"/>
              </a:spcAft>
            </a:pPr>
            <a:r>
              <a:rPr lang="en-US" sz="1400" dirty="0" smtClean="0"/>
              <a:t>Our </a:t>
            </a:r>
            <a:r>
              <a:rPr lang="en-US" sz="1400" b="1" i="1" dirty="0" smtClean="0"/>
              <a:t>proven research competencies</a:t>
            </a:r>
            <a:r>
              <a:rPr lang="en-US" sz="1400" baseline="30000" dirty="0" smtClean="0"/>
              <a:t>1</a:t>
            </a:r>
            <a:r>
              <a:rPr lang="en-US" sz="1400" b="1" i="1" dirty="0" smtClean="0"/>
              <a:t> </a:t>
            </a:r>
            <a:r>
              <a:rPr lang="en-US" sz="1400" dirty="0" smtClean="0"/>
              <a:t>and long-standing experience</a:t>
            </a:r>
          </a:p>
          <a:p>
            <a:pPr>
              <a:spcAft>
                <a:spcPts val="600"/>
              </a:spcAft>
            </a:pPr>
            <a:r>
              <a:rPr lang="en-US" sz="1400" dirty="0" smtClean="0"/>
              <a:t>In total, we manage about CHF 35 billion in multi-asset investments with </a:t>
            </a:r>
            <a:r>
              <a:rPr lang="en-US" sz="1400" b="1" i="1" dirty="0" smtClean="0"/>
              <a:t>dedicated experts</a:t>
            </a:r>
            <a:endParaRPr lang="en-US" sz="1400" b="1" i="1" dirty="0"/>
          </a:p>
        </p:txBody>
      </p:sp>
      <p:sp>
        <p:nvSpPr>
          <p:cNvPr id="7" name="Text Placeholder 6"/>
          <p:cNvSpPr>
            <a:spLocks noGrp="1"/>
          </p:cNvSpPr>
          <p:nvPr>
            <p:ph type="body" sz="quarter" idx="19"/>
          </p:nvPr>
        </p:nvSpPr>
        <p:spPr>
          <a:xfrm>
            <a:off x="5490551" y="3956839"/>
            <a:ext cx="4752000" cy="258533"/>
          </a:xfrm>
        </p:spPr>
        <p:txBody>
          <a:bodyPr/>
          <a:lstStyle/>
          <a:p>
            <a:r>
              <a:rPr lang="en-US" dirty="0" smtClean="0">
                <a:solidFill>
                  <a:srgbClr val="000000"/>
                </a:solidFill>
              </a:rPr>
              <a:t>Our track record* (Jan 2012 – Feb 2019)</a:t>
            </a:r>
            <a:endParaRPr lang="en-US" dirty="0">
              <a:solidFill>
                <a:srgbClr val="000000"/>
              </a:solidFill>
            </a:endParaRPr>
          </a:p>
        </p:txBody>
      </p:sp>
      <p:sp>
        <p:nvSpPr>
          <p:cNvPr id="8" name="Text Placeholder 7"/>
          <p:cNvSpPr>
            <a:spLocks noGrp="1"/>
          </p:cNvSpPr>
          <p:nvPr>
            <p:ph type="body" sz="quarter" idx="20"/>
          </p:nvPr>
        </p:nvSpPr>
        <p:spPr>
          <a:xfrm>
            <a:off x="449362" y="3956839"/>
            <a:ext cx="4752000" cy="258533"/>
          </a:xfrm>
        </p:spPr>
        <p:txBody>
          <a:bodyPr/>
          <a:lstStyle/>
          <a:p>
            <a:r>
              <a:rPr lang="en-US" dirty="0" smtClean="0">
                <a:solidFill>
                  <a:srgbClr val="000000"/>
                </a:solidFill>
              </a:rPr>
              <a:t>Our solution: Vontobel Specials</a:t>
            </a:r>
            <a:endParaRPr lang="en-US" dirty="0"/>
          </a:p>
        </p:txBody>
      </p:sp>
      <p:sp>
        <p:nvSpPr>
          <p:cNvPr id="9" name="Content Placeholder 8"/>
          <p:cNvSpPr>
            <a:spLocks noGrp="1"/>
          </p:cNvSpPr>
          <p:nvPr>
            <p:ph sz="quarter" idx="21"/>
          </p:nvPr>
        </p:nvSpPr>
        <p:spPr>
          <a:xfrm>
            <a:off x="449362" y="4316680"/>
            <a:ext cx="4752000" cy="2016000"/>
          </a:xfrm>
        </p:spPr>
        <p:txBody>
          <a:bodyPr/>
          <a:lstStyle/>
          <a:p>
            <a:pPr>
              <a:spcAft>
                <a:spcPts val="600"/>
              </a:spcAft>
            </a:pPr>
            <a:r>
              <a:rPr lang="en-US" sz="1400" b="1" i="1" dirty="0"/>
              <a:t>Direct investment </a:t>
            </a:r>
            <a:r>
              <a:rPr lang="en-US" sz="1400" dirty="0"/>
              <a:t>in sound Swiss companies with a long-term focus</a:t>
            </a:r>
          </a:p>
          <a:p>
            <a:pPr>
              <a:spcAft>
                <a:spcPts val="600"/>
              </a:spcAft>
            </a:pPr>
            <a:r>
              <a:rPr lang="en-US" sz="1400" b="1" i="1" dirty="0"/>
              <a:t>Structured investment process </a:t>
            </a:r>
            <a:r>
              <a:rPr lang="en-US" sz="1400" dirty="0"/>
              <a:t>based on quantitative and qualitative criteri</a:t>
            </a:r>
            <a:r>
              <a:rPr lang="en-US" sz="1400" b="1" i="1" dirty="0"/>
              <a:t>a</a:t>
            </a:r>
          </a:p>
          <a:p>
            <a:pPr>
              <a:spcAft>
                <a:spcPts val="600"/>
              </a:spcAft>
            </a:pPr>
            <a:r>
              <a:rPr lang="en-US" sz="1400" b="1" i="1" dirty="0"/>
              <a:t>Active selection of securities </a:t>
            </a:r>
            <a:r>
              <a:rPr lang="en-US" sz="1400" dirty="0"/>
              <a:t>to outperform the overall market</a:t>
            </a:r>
          </a:p>
          <a:p>
            <a:pPr>
              <a:spcAft>
                <a:spcPts val="600"/>
              </a:spcAft>
            </a:pPr>
            <a:r>
              <a:rPr lang="en-US" sz="1400" b="1" i="1" dirty="0"/>
              <a:t>Systematic monitoring </a:t>
            </a:r>
            <a:r>
              <a:rPr lang="en-US" sz="1400" dirty="0"/>
              <a:t>of the company results and business operations</a:t>
            </a:r>
          </a:p>
        </p:txBody>
      </p:sp>
      <p:sp>
        <p:nvSpPr>
          <p:cNvPr id="12" name="TextBox 11"/>
          <p:cNvSpPr txBox="1"/>
          <p:nvPr>
            <p:custDataLst>
              <p:tags r:id="rId3"/>
            </p:custDataLst>
          </p:nvPr>
        </p:nvSpPr>
        <p:spPr bwMode="gray">
          <a:xfrm>
            <a:off x="449263" y="6576709"/>
            <a:ext cx="7642772" cy="7315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347">
              <a:tabLst>
                <a:tab pos="2852772" algn="l"/>
                <a:tab pos="2852937" algn="l"/>
              </a:tabLst>
            </a:pPr>
            <a:r>
              <a:rPr lang="en-US" altLang="de-DE" sz="800" baseline="30000" dirty="0" smtClean="0">
                <a:solidFill>
                  <a:srgbClr val="000000"/>
                </a:solidFill>
                <a:latin typeface="Arial"/>
              </a:rPr>
              <a:t>1</a:t>
            </a:r>
            <a:r>
              <a:rPr lang="en-US" altLang="de-DE" sz="800" dirty="0" smtClean="0">
                <a:solidFill>
                  <a:srgbClr val="000000"/>
                </a:solidFill>
                <a:latin typeface="Arial"/>
              </a:rPr>
              <a:t> </a:t>
            </a:r>
            <a:r>
              <a:rPr lang="en-US" altLang="de-DE" sz="800" dirty="0" err="1" smtClean="0">
                <a:solidFill>
                  <a:srgbClr val="000000"/>
                </a:solidFill>
                <a:latin typeface="Arial"/>
              </a:rPr>
              <a:t>Vontobel</a:t>
            </a:r>
            <a:r>
              <a:rPr lang="en-US" altLang="de-DE" sz="800" dirty="0" smtClean="0">
                <a:solidFill>
                  <a:srgbClr val="000000"/>
                </a:solidFill>
                <a:latin typeface="Arial"/>
              </a:rPr>
              <a:t> named as the number 1 in research/brokerage for Swiss equities in the Thomson </a:t>
            </a:r>
            <a:r>
              <a:rPr lang="en-US" altLang="de-DE" sz="800" dirty="0" err="1" smtClean="0">
                <a:solidFill>
                  <a:srgbClr val="000000"/>
                </a:solidFill>
                <a:latin typeface="Arial"/>
              </a:rPr>
              <a:t>Extel</a:t>
            </a:r>
            <a:r>
              <a:rPr lang="en-US" altLang="de-DE" sz="800" dirty="0" smtClean="0">
                <a:solidFill>
                  <a:srgbClr val="000000"/>
                </a:solidFill>
                <a:latin typeface="Arial"/>
              </a:rPr>
              <a:t> Surveys from 2011, 2012, 2013, 2014, 2015, 2016, 2017 and 2018. </a:t>
            </a:r>
            <a:br>
              <a:rPr lang="en-US" altLang="de-DE" sz="800" dirty="0" smtClean="0">
                <a:solidFill>
                  <a:srgbClr val="000000"/>
                </a:solidFill>
                <a:latin typeface="Arial"/>
              </a:rPr>
            </a:br>
            <a:r>
              <a:rPr lang="en-US" altLang="de-DE" sz="800" dirty="0" smtClean="0">
                <a:solidFill>
                  <a:srgbClr val="000000"/>
                </a:solidFill>
                <a:latin typeface="Arial"/>
              </a:rPr>
              <a:t>* Performance figures </a:t>
            </a:r>
            <a:r>
              <a:rPr lang="en-US" sz="800" dirty="0" smtClean="0">
                <a:solidFill>
                  <a:srgbClr val="000000"/>
                </a:solidFill>
                <a:latin typeface="Arial"/>
              </a:rPr>
              <a:t>are gross of fees and costs and based on individual client portfolios</a:t>
            </a:r>
            <a:r>
              <a:rPr lang="en-US" altLang="de-DE" sz="800" dirty="0" smtClean="0">
                <a:solidFill>
                  <a:srgbClr val="000000"/>
                </a:solidFill>
                <a:latin typeface="Arial"/>
              </a:rPr>
              <a:t>. Actual performance may deviate from this significantly. Past performance is no guarantee of future results and in no way constitutes an assurance on the part of Bank Vontobel AG with regard to returns or risks in the future. Performance and risk indicators are calculated gross, i.e. without fees, expenses and taxes etc. The amount of the commissions, fees and other payments to be deducted is based on our currently applicable pricing and services schedule. **</a:t>
            </a:r>
            <a:r>
              <a:rPr lang="en-US" sz="800" dirty="0" smtClean="0">
                <a:solidFill>
                  <a:srgbClr val="000000"/>
                </a:solidFill>
                <a:latin typeface="Arial"/>
              </a:rPr>
              <a:t>Swiss Equities Benchmark consists of 95% Swiss Performance Index (SPI®) and </a:t>
            </a:r>
            <a:r>
              <a:rPr lang="de-CH" sz="800" dirty="0" smtClean="0">
                <a:solidFill>
                  <a:srgbClr val="000000"/>
                </a:solidFill>
              </a:rPr>
              <a:t>5</a:t>
            </a:r>
            <a:r>
              <a:rPr lang="de-CH" sz="800" dirty="0">
                <a:solidFill>
                  <a:srgbClr val="000000"/>
                </a:solidFill>
              </a:rPr>
              <a:t>% JP. Morgan Cash 1 </a:t>
            </a:r>
            <a:r>
              <a:rPr lang="de-CH" sz="800" dirty="0" err="1">
                <a:solidFill>
                  <a:srgbClr val="000000"/>
                </a:solidFill>
              </a:rPr>
              <a:t>Month</a:t>
            </a:r>
            <a:r>
              <a:rPr lang="de-CH" sz="800" dirty="0">
                <a:solidFill>
                  <a:srgbClr val="000000"/>
                </a:solidFill>
              </a:rPr>
              <a:t> CHF (</a:t>
            </a:r>
            <a:r>
              <a:rPr lang="de-CH" sz="800" dirty="0" err="1">
                <a:solidFill>
                  <a:srgbClr val="000000"/>
                </a:solidFill>
              </a:rPr>
              <a:t>Until</a:t>
            </a:r>
            <a:r>
              <a:rPr lang="de-CH" sz="800" dirty="0">
                <a:solidFill>
                  <a:srgbClr val="000000"/>
                </a:solidFill>
              </a:rPr>
              <a:t> June 30, 2018: </a:t>
            </a:r>
            <a:r>
              <a:rPr lang="de-CH" sz="800" dirty="0" err="1">
                <a:solidFill>
                  <a:srgbClr val="000000"/>
                </a:solidFill>
              </a:rPr>
              <a:t>Citigroup</a:t>
            </a:r>
            <a:r>
              <a:rPr lang="de-CH" sz="800" dirty="0">
                <a:solidFill>
                  <a:srgbClr val="000000"/>
                </a:solidFill>
              </a:rPr>
              <a:t> </a:t>
            </a:r>
            <a:r>
              <a:rPr lang="de-CH" sz="800" dirty="0" err="1">
                <a:solidFill>
                  <a:srgbClr val="000000"/>
                </a:solidFill>
              </a:rPr>
              <a:t>Eurodeposit</a:t>
            </a:r>
            <a:r>
              <a:rPr lang="de-CH" sz="800" dirty="0">
                <a:solidFill>
                  <a:srgbClr val="000000"/>
                </a:solidFill>
              </a:rPr>
              <a:t> 1 </a:t>
            </a:r>
            <a:r>
              <a:rPr lang="de-CH" sz="800" dirty="0" err="1">
                <a:solidFill>
                  <a:srgbClr val="000000"/>
                </a:solidFill>
              </a:rPr>
              <a:t>Month</a:t>
            </a:r>
            <a:r>
              <a:rPr lang="de-CH" sz="800" dirty="0">
                <a:solidFill>
                  <a:srgbClr val="000000"/>
                </a:solidFill>
              </a:rPr>
              <a:t> CHF</a:t>
            </a:r>
            <a:r>
              <a:rPr lang="de-CH" sz="800" dirty="0" smtClean="0">
                <a:solidFill>
                  <a:srgbClr val="000000"/>
                </a:solidFill>
              </a:rPr>
              <a:t>).</a:t>
            </a:r>
            <a:endParaRPr lang="en-US" sz="800" dirty="0">
              <a:solidFill>
                <a:srgbClr val="000000"/>
              </a:solidFill>
              <a:latin typeface="Arial"/>
            </a:endParaRPr>
          </a:p>
        </p:txBody>
      </p:sp>
      <p:cxnSp>
        <p:nvCxnSpPr>
          <p:cNvPr id="10" name="Straight Connector 9"/>
          <p:cNvCxnSpPr/>
          <p:nvPr>
            <p:custDataLst>
              <p:tags r:id="rId4"/>
            </p:custDataLst>
          </p:nvPr>
        </p:nvCxnSpPr>
        <p:spPr bwMode="gray">
          <a:xfrm>
            <a:off x="449264" y="6487745"/>
            <a:ext cx="9793286"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14" name="Object 13"/>
          <p:cNvGraphicFramePr>
            <a:graphicFrameLocks noChangeAspect="1"/>
          </p:cNvGraphicFramePr>
          <p:nvPr>
            <p:extLst>
              <p:ext uri="{D42A27DB-BD31-4B8C-83A1-F6EECF244321}">
                <p14:modId xmlns:p14="http://schemas.microsoft.com/office/powerpoint/2010/main" val="644870549"/>
              </p:ext>
            </p:extLst>
          </p:nvPr>
        </p:nvGraphicFramePr>
        <p:xfrm>
          <a:off x="5490551" y="4230747"/>
          <a:ext cx="4081817" cy="2179466"/>
        </p:xfrm>
        <a:graphic>
          <a:graphicData uri="http://schemas.openxmlformats.org/presentationml/2006/ole">
            <mc:AlternateContent xmlns:mc="http://schemas.openxmlformats.org/markup-compatibility/2006">
              <mc:Choice xmlns:v="urn:schemas-microsoft-com:vml" Requires="v">
                <p:oleObj spid="_x0000_s34851" name="Worksheet" r:id="rId6" imgW="5191232" imgH="2771591" progId="Excel.Sheet.12">
                  <p:link updateAutomatic="1"/>
                </p:oleObj>
              </mc:Choice>
              <mc:Fallback>
                <p:oleObj name="Worksheet" r:id="rId6" imgW="5191232" imgH="2771591" progId="Excel.Sheet.12">
                  <p:link updateAutomatic="1"/>
                  <p:pic>
                    <p:nvPicPr>
                      <p:cNvPr id="0" name=""/>
                      <p:cNvPicPr/>
                      <p:nvPr/>
                    </p:nvPicPr>
                    <p:blipFill>
                      <a:blip r:embed="rId7"/>
                      <a:stretch>
                        <a:fillRect/>
                      </a:stretch>
                    </p:blipFill>
                    <p:spPr>
                      <a:xfrm>
                        <a:off x="5490551" y="4230747"/>
                        <a:ext cx="4081817" cy="2179466"/>
                      </a:xfrm>
                      <a:prstGeom prst="rect">
                        <a:avLst/>
                      </a:prstGeom>
                    </p:spPr>
                  </p:pic>
                </p:oleObj>
              </mc:Fallback>
            </mc:AlternateContent>
          </a:graphicData>
        </a:graphic>
      </p:graphicFrame>
    </p:spTree>
    <p:extLst>
      <p:ext uri="{BB962C8B-B14F-4D97-AF65-F5344CB8AC3E}">
        <p14:creationId xmlns:p14="http://schemas.microsoft.com/office/powerpoint/2010/main" val="4708234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Table of contents</a:t>
            </a:r>
            <a:endParaRPr lang="en-US" dirty="0"/>
          </a:p>
        </p:txBody>
      </p:sp>
      <p:sp>
        <p:nvSpPr>
          <p:cNvPr id="4" name="TocEntry1">
            <a:hlinkClick r:id="" action="ppaction://noaction"/>
          </p:cNvPr>
          <p:cNvSpPr txBox="1"/>
          <p:nvPr>
            <p:custDataLst>
              <p:tags r:id="rId1"/>
            </p:custDataLst>
          </p:nvPr>
        </p:nvSpPr>
        <p:spPr>
          <a:xfrm>
            <a:off x="952500" y="2051050"/>
            <a:ext cx="9289131" cy="415498"/>
          </a:xfrm>
          <a:prstGeom prst="rect">
            <a:avLst/>
          </a:prstGeom>
          <a:noFill/>
        </p:spPr>
        <p:txBody>
          <a:bodyPr vert="horz" wrap="square" lIns="0" tIns="0" rIns="0" bIns="0" rtlCol="0">
            <a:spAutoFit/>
          </a:bodyPr>
          <a:lstStyle/>
          <a:p>
            <a:pPr>
              <a:lnSpc>
                <a:spcPct val="90000"/>
              </a:lnSpc>
            </a:pPr>
            <a:r>
              <a:rPr lang="de-CH" sz="3000" dirty="0" smtClean="0">
                <a:latin typeface="Arial"/>
              </a:rPr>
              <a:t>Summary</a:t>
            </a:r>
            <a:endParaRPr lang="de-CH" sz="3000" dirty="0">
              <a:latin typeface="Arial"/>
            </a:endParaRPr>
          </a:p>
        </p:txBody>
      </p:sp>
      <p:sp>
        <p:nvSpPr>
          <p:cNvPr id="5" name="TocEntry2">
            <a:hlinkClick r:id="" action="ppaction://noaction"/>
          </p:cNvPr>
          <p:cNvSpPr txBox="1"/>
          <p:nvPr>
            <p:custDataLst>
              <p:tags r:id="rId2"/>
            </p:custDataLst>
          </p:nvPr>
        </p:nvSpPr>
        <p:spPr>
          <a:xfrm>
            <a:off x="952500" y="2542748"/>
            <a:ext cx="9289131" cy="415498"/>
          </a:xfrm>
          <a:prstGeom prst="rect">
            <a:avLst/>
          </a:prstGeom>
          <a:noFill/>
        </p:spPr>
        <p:txBody>
          <a:bodyPr vert="horz" wrap="square" lIns="0" tIns="0" rIns="0" bIns="0" rtlCol="0">
            <a:spAutoFit/>
          </a:bodyPr>
          <a:lstStyle/>
          <a:p>
            <a:pPr>
              <a:lnSpc>
                <a:spcPct val="90000"/>
              </a:lnSpc>
            </a:pPr>
            <a:r>
              <a:rPr lang="de-CH" sz="3000" b="1" dirty="0" smtClean="0">
                <a:solidFill>
                  <a:srgbClr val="000000"/>
                </a:solidFill>
                <a:latin typeface="Arial"/>
              </a:rPr>
              <a:t>Swiss </a:t>
            </a:r>
            <a:r>
              <a:rPr lang="de-CH" sz="3000" b="1" dirty="0" err="1" smtClean="0">
                <a:solidFill>
                  <a:srgbClr val="000000"/>
                </a:solidFill>
                <a:latin typeface="Arial"/>
              </a:rPr>
              <a:t>equities</a:t>
            </a:r>
            <a:endParaRPr lang="de-CH" sz="3000" b="1" dirty="0">
              <a:solidFill>
                <a:srgbClr val="000000"/>
              </a:solidFill>
              <a:latin typeface="Arial"/>
            </a:endParaRPr>
          </a:p>
        </p:txBody>
      </p:sp>
      <p:sp>
        <p:nvSpPr>
          <p:cNvPr id="6" name="TocEntry3">
            <a:hlinkClick r:id="" action="ppaction://noaction"/>
          </p:cNvPr>
          <p:cNvSpPr txBox="1"/>
          <p:nvPr>
            <p:custDataLst>
              <p:tags r:id="rId3"/>
            </p:custDataLst>
          </p:nvPr>
        </p:nvSpPr>
        <p:spPr>
          <a:xfrm>
            <a:off x="952500" y="3034446"/>
            <a:ext cx="9289131" cy="415498"/>
          </a:xfrm>
          <a:prstGeom prst="rect">
            <a:avLst/>
          </a:prstGeom>
          <a:noFill/>
        </p:spPr>
        <p:txBody>
          <a:bodyPr vert="horz" wrap="square" lIns="0" tIns="0" rIns="0" bIns="0" rtlCol="0">
            <a:spAutoFit/>
          </a:bodyPr>
          <a:lstStyle/>
          <a:p>
            <a:pPr>
              <a:lnSpc>
                <a:spcPct val="90000"/>
              </a:lnSpc>
            </a:pPr>
            <a:r>
              <a:rPr lang="de-CH" sz="3000" smtClean="0">
                <a:solidFill>
                  <a:srgbClr val="000000"/>
                </a:solidFill>
                <a:latin typeface="Arial"/>
              </a:rPr>
              <a:t>Our investment approach</a:t>
            </a:r>
            <a:endParaRPr lang="de-CH" sz="3000" dirty="0">
              <a:solidFill>
                <a:srgbClr val="000000"/>
              </a:solidFill>
              <a:latin typeface="Arial"/>
            </a:endParaRPr>
          </a:p>
        </p:txBody>
      </p:sp>
      <p:sp>
        <p:nvSpPr>
          <p:cNvPr id="7" name="TocEntry4">
            <a:hlinkClick r:id="" action="ppaction://noaction"/>
          </p:cNvPr>
          <p:cNvSpPr txBox="1"/>
          <p:nvPr>
            <p:custDataLst>
              <p:tags r:id="rId4"/>
            </p:custDataLst>
          </p:nvPr>
        </p:nvSpPr>
        <p:spPr>
          <a:xfrm>
            <a:off x="952500" y="3526144"/>
            <a:ext cx="9289131" cy="415498"/>
          </a:xfrm>
          <a:prstGeom prst="rect">
            <a:avLst/>
          </a:prstGeom>
          <a:noFill/>
        </p:spPr>
        <p:txBody>
          <a:bodyPr vert="horz" wrap="square" lIns="0" tIns="0" rIns="0" bIns="0" rtlCol="0">
            <a:spAutoFit/>
          </a:bodyPr>
          <a:lstStyle/>
          <a:p>
            <a:pPr>
              <a:lnSpc>
                <a:spcPct val="90000"/>
              </a:lnSpc>
            </a:pPr>
            <a:r>
              <a:rPr lang="de-CH" sz="3000" dirty="0" smtClean="0">
                <a:solidFill>
                  <a:srgbClr val="000000"/>
                </a:solidFill>
                <a:latin typeface="Arial"/>
              </a:rPr>
              <a:t>Vontobel Specials Swiss </a:t>
            </a:r>
            <a:r>
              <a:rPr lang="de-CH" sz="3000" dirty="0" err="1" smtClean="0">
                <a:solidFill>
                  <a:srgbClr val="000000"/>
                </a:solidFill>
                <a:latin typeface="Arial"/>
              </a:rPr>
              <a:t>Equities</a:t>
            </a:r>
            <a:endParaRPr lang="de-CH" sz="3000" dirty="0">
              <a:solidFill>
                <a:srgbClr val="000000"/>
              </a:solidFill>
              <a:latin typeface="Arial"/>
            </a:endParaRPr>
          </a:p>
        </p:txBody>
      </p:sp>
      <p:sp>
        <p:nvSpPr>
          <p:cNvPr id="8" name="TocEntry5">
            <a:hlinkClick r:id="" action="ppaction://noaction"/>
          </p:cNvPr>
          <p:cNvSpPr txBox="1"/>
          <p:nvPr>
            <p:custDataLst>
              <p:tags r:id="rId5"/>
            </p:custDataLst>
          </p:nvPr>
        </p:nvSpPr>
        <p:spPr>
          <a:xfrm>
            <a:off x="952500" y="4017842"/>
            <a:ext cx="9289131" cy="415498"/>
          </a:xfrm>
          <a:prstGeom prst="rect">
            <a:avLst/>
          </a:prstGeom>
          <a:noFill/>
        </p:spPr>
        <p:txBody>
          <a:bodyPr vert="horz" wrap="square" lIns="0" tIns="0" rIns="0" bIns="0" rtlCol="0">
            <a:spAutoFit/>
          </a:bodyPr>
          <a:lstStyle/>
          <a:p>
            <a:pPr>
              <a:lnSpc>
                <a:spcPct val="90000"/>
              </a:lnSpc>
            </a:pPr>
            <a:r>
              <a:rPr lang="de-CH" sz="3000" smtClean="0">
                <a:solidFill>
                  <a:srgbClr val="000000"/>
                </a:solidFill>
                <a:latin typeface="Arial"/>
              </a:rPr>
              <a:t>Appendix</a:t>
            </a:r>
            <a:endParaRPr lang="de-CH" sz="3000" dirty="0">
              <a:solidFill>
                <a:srgbClr val="000000"/>
              </a:solidFill>
              <a:latin typeface="Arial"/>
            </a:endParaRPr>
          </a:p>
        </p:txBody>
      </p:sp>
    </p:spTree>
    <p:extLst>
      <p:ext uri="{BB962C8B-B14F-4D97-AF65-F5344CB8AC3E}">
        <p14:creationId xmlns:p14="http://schemas.microsoft.com/office/powerpoint/2010/main" val="35617708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Swiss equities: Identification with Switzerland and its values</a:t>
            </a:r>
            <a:endParaRPr lang="en-US" dirty="0"/>
          </a:p>
        </p:txBody>
      </p:sp>
      <p:sp>
        <p:nvSpPr>
          <p:cNvPr id="3" name="Text Placeholder 2"/>
          <p:cNvSpPr>
            <a:spLocks noGrp="1"/>
          </p:cNvSpPr>
          <p:nvPr>
            <p:ph type="body" sz="quarter" idx="16"/>
          </p:nvPr>
        </p:nvSpPr>
        <p:spPr/>
        <p:txBody>
          <a:bodyPr/>
          <a:lstStyle/>
          <a:p>
            <a:r>
              <a:rPr lang="en-US" dirty="0" err="1" smtClean="0"/>
              <a:t>S’Geleitwort</a:t>
            </a:r>
            <a:r>
              <a:rPr lang="en-US" dirty="0" smtClean="0"/>
              <a:t> </a:t>
            </a:r>
            <a:r>
              <a:rPr lang="en-US" dirty="0" err="1" smtClean="0"/>
              <a:t>vo</a:t>
            </a:r>
            <a:r>
              <a:rPr lang="en-US" dirty="0" smtClean="0"/>
              <a:t> </a:t>
            </a:r>
            <a:r>
              <a:rPr lang="en-US" dirty="0" err="1" smtClean="0"/>
              <a:t>dr</a:t>
            </a:r>
            <a:r>
              <a:rPr lang="en-US" dirty="0" smtClean="0"/>
              <a:t> </a:t>
            </a:r>
            <a:r>
              <a:rPr lang="en-US" dirty="0" err="1" smtClean="0"/>
              <a:t>Presidäntin</a:t>
            </a:r>
            <a:endParaRPr lang="en-US" dirty="0"/>
          </a:p>
        </p:txBody>
      </p:sp>
      <p:sp>
        <p:nvSpPr>
          <p:cNvPr id="5" name="Content Placeholder 4"/>
          <p:cNvSpPr>
            <a:spLocks noGrp="1"/>
          </p:cNvSpPr>
          <p:nvPr>
            <p:ph sz="quarter" idx="18"/>
          </p:nvPr>
        </p:nvSpPr>
        <p:spPr/>
        <p:txBody>
          <a:bodyPr/>
          <a:lstStyle/>
          <a:p>
            <a:pPr marL="0" indent="0">
              <a:spcAft>
                <a:spcPts val="600"/>
              </a:spcAft>
              <a:buNone/>
            </a:pPr>
            <a:r>
              <a:rPr lang="en-US" sz="1400" dirty="0" smtClean="0"/>
              <a:t>De </a:t>
            </a:r>
            <a:r>
              <a:rPr lang="en-US" sz="1400" dirty="0" err="1" smtClean="0"/>
              <a:t>Gschäftsbricht</a:t>
            </a:r>
            <a:r>
              <a:rPr lang="en-US" sz="1400" dirty="0" smtClean="0"/>
              <a:t> in </a:t>
            </a:r>
            <a:r>
              <a:rPr lang="en-US" sz="1400" dirty="0" err="1" smtClean="0"/>
              <a:t>Schwiizerdüütsch</a:t>
            </a:r>
            <a:r>
              <a:rPr lang="en-US" sz="1400" dirty="0" smtClean="0"/>
              <a:t>! </a:t>
            </a:r>
            <a:r>
              <a:rPr lang="en-US" sz="1400" dirty="0" err="1" smtClean="0"/>
              <a:t>Mer</a:t>
            </a:r>
            <a:r>
              <a:rPr lang="en-US" sz="1400" dirty="0" smtClean="0"/>
              <a:t> </a:t>
            </a:r>
            <a:r>
              <a:rPr lang="en-US" sz="1400" dirty="0" err="1" smtClean="0"/>
              <a:t>wänd</a:t>
            </a:r>
            <a:r>
              <a:rPr lang="en-US" sz="1400" dirty="0" smtClean="0"/>
              <a:t> </a:t>
            </a:r>
            <a:r>
              <a:rPr lang="en-US" sz="1400" dirty="0" err="1" smtClean="0"/>
              <a:t>eusi</a:t>
            </a:r>
            <a:r>
              <a:rPr lang="en-US" sz="1400" dirty="0" smtClean="0"/>
              <a:t> </a:t>
            </a:r>
            <a:r>
              <a:rPr lang="en-US" sz="1400" dirty="0" err="1" smtClean="0"/>
              <a:t>schtarch</a:t>
            </a:r>
            <a:r>
              <a:rPr lang="en-US" sz="1400" dirty="0" smtClean="0"/>
              <a:t> </a:t>
            </a:r>
            <a:r>
              <a:rPr lang="en-US" sz="1400" dirty="0" err="1" smtClean="0"/>
              <a:t>Identifikation</a:t>
            </a:r>
            <a:r>
              <a:rPr lang="en-US" sz="1400" dirty="0" smtClean="0"/>
              <a:t> </a:t>
            </a:r>
            <a:r>
              <a:rPr lang="en-US" sz="1400" dirty="0" err="1" smtClean="0"/>
              <a:t>mit</a:t>
            </a:r>
            <a:r>
              <a:rPr lang="en-US" sz="1400" dirty="0" smtClean="0"/>
              <a:t> </a:t>
            </a:r>
            <a:r>
              <a:rPr lang="en-US" sz="1400" dirty="0" err="1" smtClean="0"/>
              <a:t>eusem</a:t>
            </a:r>
            <a:r>
              <a:rPr lang="en-US" sz="1400" dirty="0" smtClean="0"/>
              <a:t> Land und sine </a:t>
            </a:r>
            <a:r>
              <a:rPr lang="en-US" sz="1400" dirty="0" err="1" smtClean="0"/>
              <a:t>Wärt</a:t>
            </a:r>
            <a:r>
              <a:rPr lang="en-US" sz="1400" dirty="0" smtClean="0"/>
              <a:t> no meh </a:t>
            </a:r>
            <a:r>
              <a:rPr lang="en-US" sz="1400" dirty="0" err="1" smtClean="0"/>
              <a:t>underschtriche</a:t>
            </a:r>
            <a:r>
              <a:rPr lang="en-US" sz="1400" dirty="0" smtClean="0"/>
              <a:t>. </a:t>
            </a:r>
            <a:r>
              <a:rPr lang="en-US" sz="1400" dirty="0" err="1" smtClean="0"/>
              <a:t>Dezue</a:t>
            </a:r>
            <a:r>
              <a:rPr lang="en-US" sz="1400" dirty="0" smtClean="0"/>
              <a:t> </a:t>
            </a:r>
            <a:r>
              <a:rPr lang="en-US" sz="1400" dirty="0" err="1" smtClean="0"/>
              <a:t>ghöre</a:t>
            </a:r>
            <a:r>
              <a:rPr lang="en-US" sz="1400" dirty="0" smtClean="0"/>
              <a:t> </a:t>
            </a:r>
            <a:r>
              <a:rPr lang="en-US" sz="1400" b="1" i="1" dirty="0" err="1" smtClean="0"/>
              <a:t>Verlässlechkeit</a:t>
            </a:r>
            <a:r>
              <a:rPr lang="en-US" sz="1400" b="1" i="1" dirty="0" smtClean="0"/>
              <a:t>,</a:t>
            </a:r>
            <a:r>
              <a:rPr lang="en-US" sz="1400" dirty="0" smtClean="0"/>
              <a:t> die </a:t>
            </a:r>
            <a:r>
              <a:rPr lang="en-US" sz="1400" dirty="0" err="1" smtClean="0"/>
              <a:t>höchi</a:t>
            </a:r>
            <a:r>
              <a:rPr lang="en-US" sz="1400" b="1" i="1" dirty="0" smtClean="0"/>
              <a:t> </a:t>
            </a:r>
            <a:r>
              <a:rPr lang="en-US" sz="1400" b="1" i="1" dirty="0" err="1" smtClean="0"/>
              <a:t>Qualität</a:t>
            </a:r>
            <a:r>
              <a:rPr lang="en-US" sz="1400" b="1" i="1" dirty="0" smtClean="0"/>
              <a:t> </a:t>
            </a:r>
            <a:r>
              <a:rPr lang="en-US" sz="1400" dirty="0" err="1" smtClean="0"/>
              <a:t>i</a:t>
            </a:r>
            <a:r>
              <a:rPr lang="en-US" sz="1400" dirty="0" smtClean="0"/>
              <a:t> de </a:t>
            </a:r>
            <a:r>
              <a:rPr lang="en-US" sz="1400" dirty="0" err="1" smtClean="0"/>
              <a:t>Uusfüehrig</a:t>
            </a:r>
            <a:r>
              <a:rPr lang="en-US" sz="1400" dirty="0" smtClean="0"/>
              <a:t>, </a:t>
            </a:r>
            <a:r>
              <a:rPr lang="en-US" sz="1400" b="1" i="1" dirty="0" err="1" smtClean="0"/>
              <a:t>Intelligänz</a:t>
            </a:r>
            <a:r>
              <a:rPr lang="en-US" sz="1400" b="1" i="1" dirty="0" smtClean="0"/>
              <a:t>,</a:t>
            </a:r>
            <a:r>
              <a:rPr lang="en-US" sz="1400" dirty="0" smtClean="0"/>
              <a:t> </a:t>
            </a:r>
            <a:r>
              <a:rPr lang="en-US" sz="1400" dirty="0" err="1" smtClean="0"/>
              <a:t>aber</a:t>
            </a:r>
            <a:r>
              <a:rPr lang="en-US" sz="1400" dirty="0" smtClean="0"/>
              <a:t> </a:t>
            </a:r>
            <a:r>
              <a:rPr lang="en-US" sz="1400" dirty="0" err="1" smtClean="0"/>
              <a:t>hauptsächlech</a:t>
            </a:r>
            <a:r>
              <a:rPr lang="en-US" sz="1400" dirty="0" smtClean="0"/>
              <a:t> </a:t>
            </a:r>
            <a:r>
              <a:rPr lang="en-US" sz="1400" b="1" i="1" dirty="0" err="1" smtClean="0"/>
              <a:t>Villfalt</a:t>
            </a:r>
            <a:r>
              <a:rPr lang="en-US" sz="1400" b="1" i="1" dirty="0" smtClean="0"/>
              <a:t>, </a:t>
            </a:r>
            <a:r>
              <a:rPr lang="en-US" sz="1400" b="1" i="1" dirty="0" err="1" smtClean="0"/>
              <a:t>Eifachheit</a:t>
            </a:r>
            <a:r>
              <a:rPr lang="en-US" sz="1400" b="1" i="1" dirty="0" smtClean="0"/>
              <a:t> </a:t>
            </a:r>
            <a:r>
              <a:rPr lang="en-US" sz="1400" dirty="0" smtClean="0"/>
              <a:t>und </a:t>
            </a:r>
            <a:r>
              <a:rPr lang="en-US" sz="1400" b="1" i="1" dirty="0" err="1" smtClean="0"/>
              <a:t>Bescheideheit</a:t>
            </a:r>
            <a:r>
              <a:rPr lang="en-US" sz="1400" b="1" i="1" dirty="0" smtClean="0"/>
              <a:t>. </a:t>
            </a:r>
            <a:r>
              <a:rPr lang="en-US" sz="1400" dirty="0" smtClean="0"/>
              <a:t>I </a:t>
            </a:r>
            <a:r>
              <a:rPr lang="en-US" sz="1400" dirty="0" err="1" smtClean="0"/>
              <a:t>dem</a:t>
            </a:r>
            <a:r>
              <a:rPr lang="en-US" sz="1400" dirty="0" smtClean="0"/>
              <a:t> Senn und </a:t>
            </a:r>
            <a:r>
              <a:rPr lang="en-US" sz="1400" dirty="0" err="1" smtClean="0"/>
              <a:t>Geischt</a:t>
            </a:r>
            <a:r>
              <a:rPr lang="en-US" sz="1400" dirty="0" smtClean="0"/>
              <a:t> </a:t>
            </a:r>
            <a:r>
              <a:rPr lang="en-US" sz="1400" dirty="0" err="1" smtClean="0"/>
              <a:t>hämmer</a:t>
            </a:r>
            <a:r>
              <a:rPr lang="en-US" sz="1400" dirty="0" smtClean="0"/>
              <a:t> </a:t>
            </a:r>
            <a:r>
              <a:rPr lang="en-US" sz="1400" dirty="0" err="1" smtClean="0"/>
              <a:t>weder</a:t>
            </a:r>
            <a:r>
              <a:rPr lang="en-US" sz="1400" dirty="0" smtClean="0"/>
              <a:t> </a:t>
            </a:r>
            <a:r>
              <a:rPr lang="en-US" sz="1400" dirty="0" err="1" smtClean="0"/>
              <a:t>mol</a:t>
            </a:r>
            <a:r>
              <a:rPr lang="en-US" sz="1400" dirty="0" smtClean="0"/>
              <a:t> </a:t>
            </a:r>
            <a:r>
              <a:rPr lang="en-US" sz="1400" dirty="0" err="1" smtClean="0"/>
              <a:t>öppis</a:t>
            </a:r>
            <a:r>
              <a:rPr lang="en-US" sz="1400" dirty="0" smtClean="0"/>
              <a:t> </a:t>
            </a:r>
            <a:r>
              <a:rPr lang="en-US" sz="1400" dirty="0" err="1" smtClean="0"/>
              <a:t>positiv</a:t>
            </a:r>
            <a:r>
              <a:rPr lang="en-US" sz="1400" dirty="0" smtClean="0"/>
              <a:t> </a:t>
            </a:r>
            <a:r>
              <a:rPr lang="en-US" sz="1400" dirty="0" err="1" smtClean="0"/>
              <a:t>Provokativs</a:t>
            </a:r>
            <a:r>
              <a:rPr lang="en-US" sz="1400" dirty="0" smtClean="0"/>
              <a:t> </a:t>
            </a:r>
            <a:r>
              <a:rPr lang="en-US" sz="1400" dirty="0" err="1" smtClean="0"/>
              <a:t>gmacht</a:t>
            </a:r>
            <a:r>
              <a:rPr lang="en-US" sz="1400" dirty="0" smtClean="0"/>
              <a:t>: </a:t>
            </a:r>
            <a:r>
              <a:rPr lang="en-US" sz="1400" dirty="0" err="1" smtClean="0"/>
              <a:t>Mer</a:t>
            </a:r>
            <a:r>
              <a:rPr lang="en-US" sz="1400" dirty="0" smtClean="0"/>
              <a:t> </a:t>
            </a:r>
            <a:r>
              <a:rPr lang="en-US" sz="1400" dirty="0" err="1" smtClean="0"/>
              <a:t>händ</a:t>
            </a:r>
            <a:r>
              <a:rPr lang="en-US" sz="1400" dirty="0" smtClean="0"/>
              <a:t> die </a:t>
            </a:r>
            <a:r>
              <a:rPr lang="en-US" sz="1400" dirty="0" err="1" smtClean="0"/>
              <a:t>düütsch</a:t>
            </a:r>
            <a:r>
              <a:rPr lang="en-US" sz="1400" dirty="0" smtClean="0"/>
              <a:t> Version </a:t>
            </a:r>
            <a:r>
              <a:rPr lang="en-US" sz="1400" dirty="0" err="1" smtClean="0"/>
              <a:t>vo</a:t>
            </a:r>
            <a:r>
              <a:rPr lang="en-US" sz="1400" dirty="0" smtClean="0"/>
              <a:t> </a:t>
            </a:r>
            <a:r>
              <a:rPr lang="en-US" sz="1400" dirty="0" err="1" smtClean="0"/>
              <a:t>eusem</a:t>
            </a:r>
            <a:r>
              <a:rPr lang="en-US" sz="1400" dirty="0" smtClean="0"/>
              <a:t> </a:t>
            </a:r>
            <a:r>
              <a:rPr lang="en-US" sz="1400" dirty="0" err="1" smtClean="0"/>
              <a:t>Gschäftsbricht</a:t>
            </a:r>
            <a:r>
              <a:rPr lang="en-US" sz="1400" dirty="0" smtClean="0"/>
              <a:t> </a:t>
            </a:r>
            <a:r>
              <a:rPr lang="en-US" sz="1400" dirty="0" err="1" smtClean="0"/>
              <a:t>vo</a:t>
            </a:r>
            <a:r>
              <a:rPr lang="en-US" sz="1400" dirty="0" smtClean="0"/>
              <a:t> A </a:t>
            </a:r>
            <a:r>
              <a:rPr lang="en-US" sz="1400" dirty="0" err="1" smtClean="0"/>
              <a:t>bes</a:t>
            </a:r>
            <a:r>
              <a:rPr lang="en-US" sz="1400" dirty="0" smtClean="0"/>
              <a:t> Z </a:t>
            </a:r>
            <a:r>
              <a:rPr lang="en-US" sz="1400" dirty="0" err="1" smtClean="0"/>
              <a:t>mitere</a:t>
            </a:r>
            <a:r>
              <a:rPr lang="en-US" sz="1400" dirty="0" smtClean="0"/>
              <a:t> </a:t>
            </a:r>
            <a:r>
              <a:rPr lang="en-US" sz="1400" dirty="0" err="1" smtClean="0"/>
              <a:t>schwiizerdüütsche</a:t>
            </a:r>
            <a:r>
              <a:rPr lang="en-US" sz="1400" dirty="0" smtClean="0"/>
              <a:t> Version </a:t>
            </a:r>
            <a:r>
              <a:rPr lang="en-US" sz="1400" dirty="0" err="1" smtClean="0"/>
              <a:t>ersetzt</a:t>
            </a:r>
            <a:r>
              <a:rPr lang="en-US" sz="1400" dirty="0" smtClean="0"/>
              <a:t>! Das </a:t>
            </a:r>
            <a:r>
              <a:rPr lang="en-US" sz="1400" dirty="0" err="1" smtClean="0"/>
              <a:t>isch</a:t>
            </a:r>
            <a:r>
              <a:rPr lang="en-US" sz="1400" dirty="0" smtClean="0"/>
              <a:t> </a:t>
            </a:r>
            <a:r>
              <a:rPr lang="en-US" sz="1400" dirty="0" err="1" smtClean="0"/>
              <a:t>wahri</a:t>
            </a:r>
            <a:r>
              <a:rPr lang="en-US" sz="1400" dirty="0" smtClean="0"/>
              <a:t> </a:t>
            </a:r>
            <a:r>
              <a:rPr lang="en-US" sz="1400" dirty="0" err="1" smtClean="0"/>
              <a:t>Swissness</a:t>
            </a:r>
            <a:r>
              <a:rPr lang="en-US" sz="1400" dirty="0" smtClean="0"/>
              <a:t>, </a:t>
            </a:r>
            <a:r>
              <a:rPr lang="en-US" sz="1400" dirty="0" err="1" smtClean="0"/>
              <a:t>womit</a:t>
            </a:r>
            <a:r>
              <a:rPr lang="en-US" sz="1400" dirty="0" smtClean="0"/>
              <a:t> </a:t>
            </a:r>
            <a:r>
              <a:rPr lang="en-US" sz="1400" dirty="0" err="1" smtClean="0"/>
              <a:t>mer</a:t>
            </a:r>
            <a:r>
              <a:rPr lang="en-US" sz="1400" dirty="0" smtClean="0"/>
              <a:t> </a:t>
            </a:r>
            <a:r>
              <a:rPr lang="en-US" sz="1400" dirty="0" err="1" smtClean="0"/>
              <a:t>eusi</a:t>
            </a:r>
            <a:r>
              <a:rPr lang="en-US" sz="1400" dirty="0" smtClean="0"/>
              <a:t> </a:t>
            </a:r>
            <a:r>
              <a:rPr lang="en-US" sz="1400" dirty="0" err="1" smtClean="0"/>
              <a:t>Landslüüt</a:t>
            </a:r>
            <a:r>
              <a:rPr lang="en-US" sz="1400" dirty="0" smtClean="0"/>
              <a:t> </a:t>
            </a:r>
            <a:r>
              <a:rPr lang="en-US" sz="1400" dirty="0" err="1" smtClean="0"/>
              <a:t>es</a:t>
            </a:r>
            <a:r>
              <a:rPr lang="en-US" sz="1400" dirty="0" smtClean="0"/>
              <a:t> </a:t>
            </a:r>
            <a:r>
              <a:rPr lang="en-US" sz="1400" dirty="0" err="1" smtClean="0"/>
              <a:t>bezli</a:t>
            </a:r>
            <a:r>
              <a:rPr lang="en-US" sz="1400" dirty="0" smtClean="0"/>
              <a:t> </a:t>
            </a:r>
            <a:r>
              <a:rPr lang="en-US" sz="1400" dirty="0" err="1" smtClean="0"/>
              <a:t>uufrüttle</a:t>
            </a:r>
            <a:r>
              <a:rPr lang="en-US" sz="1400" dirty="0" smtClean="0"/>
              <a:t>, wo </a:t>
            </a:r>
            <a:r>
              <a:rPr lang="en-US" sz="1400" dirty="0" err="1" smtClean="0"/>
              <a:t>mängisch</a:t>
            </a:r>
            <a:r>
              <a:rPr lang="en-US" sz="1400" dirty="0" smtClean="0"/>
              <a:t> </a:t>
            </a:r>
            <a:r>
              <a:rPr lang="en-US" sz="1400" dirty="0" err="1" smtClean="0"/>
              <a:t>zor</a:t>
            </a:r>
            <a:r>
              <a:rPr lang="en-US" sz="1400" dirty="0" smtClean="0"/>
              <a:t> </a:t>
            </a:r>
            <a:r>
              <a:rPr lang="en-US" sz="1400" dirty="0" err="1" smtClean="0"/>
              <a:t>ehner</a:t>
            </a:r>
            <a:r>
              <a:rPr lang="en-US" sz="1400" dirty="0" smtClean="0"/>
              <a:t> </a:t>
            </a:r>
            <a:r>
              <a:rPr lang="en-US" sz="1400" dirty="0" err="1" smtClean="0"/>
              <a:t>konventionelle</a:t>
            </a:r>
            <a:r>
              <a:rPr lang="en-US" sz="1400" dirty="0" smtClean="0"/>
              <a:t> Site </a:t>
            </a:r>
            <a:r>
              <a:rPr lang="en-US" sz="1400" dirty="0" err="1" smtClean="0"/>
              <a:t>neige</a:t>
            </a:r>
            <a:r>
              <a:rPr lang="en-US" sz="1400" dirty="0" smtClean="0"/>
              <a:t>, wo </a:t>
            </a:r>
            <a:r>
              <a:rPr lang="en-US" sz="1400" dirty="0" err="1" smtClean="0"/>
              <a:t>vor</a:t>
            </a:r>
            <a:r>
              <a:rPr lang="en-US" sz="1400" dirty="0" smtClean="0"/>
              <a:t> </a:t>
            </a:r>
            <a:r>
              <a:rPr lang="en-US" sz="1400" dirty="0" err="1" smtClean="0"/>
              <a:t>allem</a:t>
            </a:r>
            <a:r>
              <a:rPr lang="en-US" sz="1400" dirty="0" smtClean="0"/>
              <a:t> of </a:t>
            </a:r>
            <a:r>
              <a:rPr lang="en-US" sz="1400" dirty="0" err="1" smtClean="0"/>
              <a:t>ehri</a:t>
            </a:r>
            <a:r>
              <a:rPr lang="en-US" sz="1400" dirty="0" smtClean="0"/>
              <a:t> </a:t>
            </a:r>
            <a:r>
              <a:rPr lang="en-US" sz="1400" dirty="0" err="1" smtClean="0"/>
              <a:t>Secherheit</a:t>
            </a:r>
            <a:r>
              <a:rPr lang="en-US" sz="1400" dirty="0" smtClean="0"/>
              <a:t> </a:t>
            </a:r>
            <a:r>
              <a:rPr lang="en-US" sz="1400" dirty="0" err="1" smtClean="0"/>
              <a:t>bedacht</a:t>
            </a:r>
            <a:r>
              <a:rPr lang="en-US" sz="1400" dirty="0" smtClean="0"/>
              <a:t> send und </a:t>
            </a:r>
            <a:r>
              <a:rPr lang="en-US" sz="1400" dirty="0" err="1" smtClean="0"/>
              <a:t>schön</a:t>
            </a:r>
            <a:r>
              <a:rPr lang="en-US" sz="1400" dirty="0" smtClean="0"/>
              <a:t> </a:t>
            </a:r>
            <a:r>
              <a:rPr lang="en-US" sz="1400" dirty="0" err="1" smtClean="0"/>
              <a:t>vorsichtig</a:t>
            </a:r>
            <a:r>
              <a:rPr lang="en-US" sz="1400" dirty="0" smtClean="0"/>
              <a:t> und </a:t>
            </a:r>
            <a:r>
              <a:rPr lang="en-US" sz="1400" dirty="0" err="1" smtClean="0"/>
              <a:t>bequem</a:t>
            </a:r>
            <a:r>
              <a:rPr lang="en-US" sz="1400" dirty="0" smtClean="0"/>
              <a:t> </a:t>
            </a:r>
            <a:r>
              <a:rPr lang="en-US" sz="1400" dirty="0" err="1" smtClean="0"/>
              <a:t>dor</a:t>
            </a:r>
            <a:r>
              <a:rPr lang="en-US" sz="1400" dirty="0" smtClean="0"/>
              <a:t> </a:t>
            </a:r>
            <a:r>
              <a:rPr lang="en-US" sz="1400" dirty="0" err="1" smtClean="0"/>
              <a:t>s’Läbe</a:t>
            </a:r>
            <a:r>
              <a:rPr lang="en-US" sz="1400" dirty="0" smtClean="0"/>
              <a:t> </a:t>
            </a:r>
            <a:r>
              <a:rPr lang="en-US" sz="1400" dirty="0" err="1" smtClean="0"/>
              <a:t>wänd</a:t>
            </a:r>
            <a:r>
              <a:rPr lang="en-US" sz="1400" dirty="0" smtClean="0"/>
              <a:t> </a:t>
            </a:r>
            <a:r>
              <a:rPr lang="en-US" sz="1400" dirty="0" err="1" smtClean="0"/>
              <a:t>goh</a:t>
            </a:r>
            <a:r>
              <a:rPr lang="en-US" sz="1400" dirty="0" smtClean="0"/>
              <a:t>.</a:t>
            </a:r>
            <a:endParaRPr lang="en-US" sz="1400" dirty="0"/>
          </a:p>
        </p:txBody>
      </p:sp>
      <p:pic>
        <p:nvPicPr>
          <p:cNvPr id="9" name="Picture 2"/>
          <p:cNvPicPr>
            <a:picLocks noGrp="1" noChangeAspect="1" noChangeArrowheads="1"/>
          </p:cNvPicPr>
          <p:nvPr>
            <p:ph type="pic" sz="quarter" idx="19"/>
          </p:nvPr>
        </p:nvPicPr>
        <p:blipFill rotWithShape="1">
          <a:blip r:embed="rId3" cstate="email">
            <a:extLst>
              <a:ext uri="{28A0092B-C50C-407E-A947-70E740481C1C}">
                <a14:useLocalDpi xmlns:a14="http://schemas.microsoft.com/office/drawing/2010/main"/>
              </a:ext>
            </a:extLst>
          </a:blip>
          <a:srcRect l="2341" r="2341"/>
          <a:stretch/>
        </p:blipFill>
        <p:spPr bwMode="auto">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custDataLst>
              <p:tags r:id="rId1"/>
            </p:custDataLst>
          </p:nvPr>
        </p:nvSpPr>
        <p:spPr bwMode="gray">
          <a:xfrm>
            <a:off x="449263" y="7186309"/>
            <a:ext cx="7272905" cy="1219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400">
              <a:tabLst>
                <a:tab pos="2852937" algn="l"/>
              </a:tabLst>
            </a:pPr>
            <a:r>
              <a:rPr lang="en-US" sz="800" dirty="0" smtClean="0">
                <a:solidFill>
                  <a:srgbClr val="000000"/>
                </a:solidFill>
                <a:latin typeface="Arial"/>
              </a:rPr>
              <a:t>Swatch annual report 2012</a:t>
            </a:r>
            <a:r>
              <a:rPr lang="en-US" sz="800" smtClean="0">
                <a:solidFill>
                  <a:srgbClr val="000000"/>
                </a:solidFill>
                <a:latin typeface="Arial"/>
              </a:rPr>
              <a:t>: “Eimaligi </a:t>
            </a:r>
            <a:r>
              <a:rPr lang="en-US" sz="800" err="1" smtClean="0">
                <a:solidFill>
                  <a:srgbClr val="000000"/>
                </a:solidFill>
                <a:latin typeface="Arial"/>
              </a:rPr>
              <a:t>Dialäkt</a:t>
            </a:r>
            <a:r>
              <a:rPr lang="en-US" sz="800" smtClean="0">
                <a:solidFill>
                  <a:srgbClr val="000000"/>
                </a:solidFill>
                <a:latin typeface="Arial"/>
              </a:rPr>
              <a:t> Usgaab”</a:t>
            </a:r>
            <a:endParaRPr lang="en-US" sz="800" dirty="0">
              <a:solidFill>
                <a:srgbClr val="000000"/>
              </a:solidFill>
              <a:latin typeface="Arial"/>
            </a:endParaRPr>
          </a:p>
        </p:txBody>
      </p:sp>
    </p:spTree>
    <p:extLst>
      <p:ext uri="{BB962C8B-B14F-4D97-AF65-F5344CB8AC3E}">
        <p14:creationId xmlns:p14="http://schemas.microsoft.com/office/powerpoint/2010/main" val="23414125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Swiss equities: The way to success with Swiss values</a:t>
            </a:r>
            <a:endParaRPr lang="en-US" dirty="0"/>
          </a:p>
        </p:txBody>
      </p:sp>
      <p:sp>
        <p:nvSpPr>
          <p:cNvPr id="3" name="Content Placeholder 2"/>
          <p:cNvSpPr>
            <a:spLocks noGrp="1"/>
          </p:cNvSpPr>
          <p:nvPr>
            <p:ph sz="quarter" idx="10"/>
          </p:nvPr>
        </p:nvSpPr>
        <p:spPr/>
        <p:txBody>
          <a:bodyPr/>
          <a:lstStyle/>
          <a:p>
            <a:endParaRPr lang="en-US" dirty="0"/>
          </a:p>
        </p:txBody>
      </p:sp>
      <p:sp>
        <p:nvSpPr>
          <p:cNvPr id="20" name="Rectangle 4"/>
          <p:cNvSpPr>
            <a:spLocks noChangeArrowheads="1"/>
          </p:cNvSpPr>
          <p:nvPr/>
        </p:nvSpPr>
        <p:spPr bwMode="gray">
          <a:xfrm>
            <a:off x="2094182" y="1487131"/>
            <a:ext cx="4572655" cy="684000"/>
          </a:xfrm>
          <a:prstGeom prst="rect">
            <a:avLst/>
          </a:prstGeom>
          <a:solidFill>
            <a:srgbClr val="FFFFFF"/>
          </a:solidFill>
          <a:ln w="9525" algn="ctr">
            <a:noFill/>
            <a:miter lim="800000"/>
            <a:headEnd type="none" w="lg" len="lg"/>
            <a:tailEnd type="none" w="lg" len="lg"/>
          </a:ln>
        </p:spPr>
        <p:txBody>
          <a:bodyPr lIns="72000" tIns="36000" rIns="36000" bIns="36000" anchor="ctr"/>
          <a:lstStyle/>
          <a:p>
            <a:pPr lvl="0" defTabSz="757238">
              <a:lnSpc>
                <a:spcPct val="105000"/>
              </a:lnSpc>
            </a:pPr>
            <a:r>
              <a:rPr lang="en-US" altLang="en-US" sz="1400" dirty="0" smtClean="0"/>
              <a:t>In an international comparison, Swiss companies have a well-established culture of </a:t>
            </a:r>
            <a:r>
              <a:rPr lang="en-US" altLang="en-US" sz="1400" b="1" i="1" dirty="0" smtClean="0"/>
              <a:t>strong corporate governance</a:t>
            </a:r>
            <a:endParaRPr lang="en-US" sz="1400" b="1" i="1" kern="0" dirty="0"/>
          </a:p>
        </p:txBody>
      </p:sp>
      <p:sp>
        <p:nvSpPr>
          <p:cNvPr id="21" name="Rectangle 4"/>
          <p:cNvSpPr>
            <a:spLocks noChangeArrowheads="1"/>
          </p:cNvSpPr>
          <p:nvPr/>
        </p:nvSpPr>
        <p:spPr bwMode="gray">
          <a:xfrm>
            <a:off x="2094182" y="5074231"/>
            <a:ext cx="4572655" cy="684000"/>
          </a:xfrm>
          <a:prstGeom prst="rect">
            <a:avLst/>
          </a:prstGeom>
          <a:solidFill>
            <a:srgbClr val="FFFFFF"/>
          </a:solidFill>
          <a:ln w="9525" algn="ctr">
            <a:noFill/>
            <a:miter lim="800000"/>
            <a:headEnd type="none" w="lg" len="lg"/>
            <a:tailEnd type="none" w="lg" len="lg"/>
          </a:ln>
        </p:spPr>
        <p:txBody>
          <a:bodyPr lIns="72000" tIns="36000" rIns="36000" bIns="36000" anchor="ctr"/>
          <a:lstStyle/>
          <a:p>
            <a:pPr>
              <a:lnSpc>
                <a:spcPct val="105000"/>
              </a:lnSpc>
            </a:pPr>
            <a:r>
              <a:rPr lang="en-US" sz="1400" kern="0" dirty="0" smtClean="0">
                <a:solidFill>
                  <a:srgbClr val="000000"/>
                </a:solidFill>
              </a:rPr>
              <a:t>Many enterprises are backed by a strong family, which enables a </a:t>
            </a:r>
            <a:r>
              <a:rPr lang="en-US" sz="1400" b="1" kern="0" dirty="0" smtClean="0">
                <a:solidFill>
                  <a:srgbClr val="000000"/>
                </a:solidFill>
              </a:rPr>
              <a:t>long-term, sustainable strategy</a:t>
            </a:r>
            <a:endParaRPr lang="en-US" altLang="en-US" sz="1400" dirty="0">
              <a:solidFill>
                <a:srgbClr val="000000"/>
              </a:solidFill>
            </a:endParaRPr>
          </a:p>
        </p:txBody>
      </p:sp>
      <p:sp>
        <p:nvSpPr>
          <p:cNvPr id="22" name="Rectangle 4"/>
          <p:cNvSpPr>
            <a:spLocks noChangeArrowheads="1"/>
          </p:cNvSpPr>
          <p:nvPr/>
        </p:nvSpPr>
        <p:spPr bwMode="gray">
          <a:xfrm>
            <a:off x="2094182" y="4177456"/>
            <a:ext cx="4572655" cy="684000"/>
          </a:xfrm>
          <a:prstGeom prst="rect">
            <a:avLst/>
          </a:prstGeom>
          <a:solidFill>
            <a:srgbClr val="FFFFFF"/>
          </a:solidFill>
          <a:ln w="9525" algn="ctr">
            <a:noFill/>
            <a:miter lim="800000"/>
            <a:headEnd type="none" w="lg" len="lg"/>
            <a:tailEnd type="none" w="lg" len="lg"/>
          </a:ln>
        </p:spPr>
        <p:txBody>
          <a:bodyPr lIns="72000" tIns="36000" rIns="36000" bIns="36000" anchor="ctr"/>
          <a:lstStyle/>
          <a:p>
            <a:pPr>
              <a:lnSpc>
                <a:spcPct val="105000"/>
              </a:lnSpc>
            </a:pPr>
            <a:r>
              <a:rPr lang="en-US" sz="1400" dirty="0" smtClean="0"/>
              <a:t>High </a:t>
            </a:r>
            <a:r>
              <a:rPr lang="en-US" sz="1400" b="1" dirty="0" smtClean="0"/>
              <a:t>profit margins</a:t>
            </a:r>
            <a:r>
              <a:rPr lang="en-US" sz="1400" dirty="0" smtClean="0"/>
              <a:t>, stable </a:t>
            </a:r>
            <a:r>
              <a:rPr lang="en-US" sz="1400" b="1" dirty="0" smtClean="0"/>
              <a:t>cash flows</a:t>
            </a:r>
            <a:r>
              <a:rPr lang="en-US" sz="1400" dirty="0" smtClean="0"/>
              <a:t> and a </a:t>
            </a:r>
            <a:r>
              <a:rPr lang="en-US" sz="1400" b="1" dirty="0" smtClean="0"/>
              <a:t>sound balance sheet </a:t>
            </a:r>
            <a:r>
              <a:rPr lang="en-US" sz="1400" dirty="0" smtClean="0"/>
              <a:t>are the fundamental data we are looking for</a:t>
            </a:r>
            <a:endParaRPr lang="en-US" altLang="en-US" sz="1400" b="1" dirty="0">
              <a:solidFill>
                <a:srgbClr val="000000"/>
              </a:solidFill>
            </a:endParaRPr>
          </a:p>
        </p:txBody>
      </p:sp>
      <p:sp>
        <p:nvSpPr>
          <p:cNvPr id="23" name="Rectangle 4"/>
          <p:cNvSpPr>
            <a:spLocks noChangeArrowheads="1"/>
          </p:cNvSpPr>
          <p:nvPr/>
        </p:nvSpPr>
        <p:spPr bwMode="gray">
          <a:xfrm>
            <a:off x="2094182" y="3280681"/>
            <a:ext cx="4572655" cy="684000"/>
          </a:xfrm>
          <a:prstGeom prst="rect">
            <a:avLst/>
          </a:prstGeom>
          <a:solidFill>
            <a:srgbClr val="FFFFFF"/>
          </a:solidFill>
          <a:ln w="9525" algn="ctr">
            <a:noFill/>
            <a:miter lim="800000"/>
            <a:headEnd type="none" w="lg" len="lg"/>
            <a:tailEnd type="none" w="lg" len="lg"/>
          </a:ln>
        </p:spPr>
        <p:txBody>
          <a:bodyPr lIns="72000" tIns="36000" rIns="36000" bIns="36000" anchor="ctr"/>
          <a:lstStyle/>
          <a:p>
            <a:pPr>
              <a:lnSpc>
                <a:spcPct val="105000"/>
              </a:lnSpc>
            </a:pPr>
            <a:r>
              <a:rPr lang="en-US" altLang="en-US" sz="1400" dirty="0" smtClean="0"/>
              <a:t>The competition situation with a strong franc, the education center and a flexible job market form the basis for innovation</a:t>
            </a:r>
            <a:endParaRPr lang="en-US" altLang="en-US" sz="1400" b="1" i="1" dirty="0">
              <a:solidFill>
                <a:srgbClr val="000000"/>
              </a:solidFill>
            </a:endParaRPr>
          </a:p>
        </p:txBody>
      </p:sp>
      <p:sp>
        <p:nvSpPr>
          <p:cNvPr id="24" name="Rectangle 4"/>
          <p:cNvSpPr>
            <a:spLocks noChangeArrowheads="1"/>
          </p:cNvSpPr>
          <p:nvPr/>
        </p:nvSpPr>
        <p:spPr bwMode="gray">
          <a:xfrm>
            <a:off x="2094182" y="5971005"/>
            <a:ext cx="4572655" cy="684000"/>
          </a:xfrm>
          <a:prstGeom prst="rect">
            <a:avLst/>
          </a:prstGeom>
          <a:solidFill>
            <a:srgbClr val="FFFFFF"/>
          </a:solidFill>
          <a:ln w="9525" algn="ctr">
            <a:noFill/>
            <a:miter lim="800000"/>
            <a:headEnd type="none" w="lg" len="lg"/>
            <a:tailEnd type="none" w="lg" len="lg"/>
          </a:ln>
        </p:spPr>
        <p:txBody>
          <a:bodyPr lIns="72000" tIns="36000" rIns="36000" bIns="36000" anchor="ctr"/>
          <a:lstStyle/>
          <a:p>
            <a:pPr>
              <a:lnSpc>
                <a:spcPct val="105000"/>
              </a:lnSpc>
            </a:pPr>
            <a:r>
              <a:rPr lang="en-US" sz="1400" dirty="0" smtClean="0"/>
              <a:t>We invest in enterprises with a </a:t>
            </a:r>
            <a:r>
              <a:rPr lang="en-US" sz="1400" b="1" dirty="0" smtClean="0"/>
              <a:t>tangible, comprehensible</a:t>
            </a:r>
            <a:r>
              <a:rPr lang="en-US" sz="1400" dirty="0" smtClean="0"/>
              <a:t> and successful business model</a:t>
            </a:r>
            <a:endParaRPr lang="en-US" altLang="en-US" sz="1400" dirty="0">
              <a:solidFill>
                <a:srgbClr val="000000"/>
              </a:solidFill>
            </a:endParaRPr>
          </a:p>
        </p:txBody>
      </p:sp>
      <p:sp>
        <p:nvSpPr>
          <p:cNvPr id="25" name="Rectangle 4"/>
          <p:cNvSpPr>
            <a:spLocks noChangeArrowheads="1"/>
          </p:cNvSpPr>
          <p:nvPr/>
        </p:nvSpPr>
        <p:spPr bwMode="gray">
          <a:xfrm>
            <a:off x="2094182" y="2383906"/>
            <a:ext cx="4572655" cy="684000"/>
          </a:xfrm>
          <a:prstGeom prst="rect">
            <a:avLst/>
          </a:prstGeom>
          <a:solidFill>
            <a:srgbClr val="FFFFFF"/>
          </a:solidFill>
          <a:ln w="9525" algn="ctr">
            <a:noFill/>
            <a:miter lim="800000"/>
            <a:headEnd type="none" w="lg" len="lg"/>
            <a:tailEnd type="none" w="lg" len="lg"/>
          </a:ln>
        </p:spPr>
        <p:txBody>
          <a:bodyPr lIns="72000" tIns="36000" rIns="36000" bIns="36000" anchor="ctr"/>
          <a:lstStyle/>
          <a:p>
            <a:pPr>
              <a:lnSpc>
                <a:spcPct val="105000"/>
              </a:lnSpc>
            </a:pPr>
            <a:r>
              <a:rPr lang="en-US" sz="1400" dirty="0"/>
              <a:t>Swiss companies have a strong international focus. We thus invest with a global footprint</a:t>
            </a:r>
          </a:p>
        </p:txBody>
      </p:sp>
      <p:sp>
        <p:nvSpPr>
          <p:cNvPr id="26" name="Rectangle 4"/>
          <p:cNvSpPr>
            <a:spLocks noChangeArrowheads="1"/>
          </p:cNvSpPr>
          <p:nvPr/>
        </p:nvSpPr>
        <p:spPr bwMode="gray">
          <a:xfrm>
            <a:off x="446090" y="1487131"/>
            <a:ext cx="1620000" cy="684000"/>
          </a:xfrm>
          <a:prstGeom prst="rect">
            <a:avLst/>
          </a:prstGeom>
          <a:solidFill>
            <a:schemeClr val="lt2"/>
          </a:solidFill>
          <a:ln w="9525" algn="ctr">
            <a:noFill/>
            <a:miter lim="800000"/>
            <a:headEnd type="none" w="lg" len="lg"/>
            <a:tailEnd type="none" w="lg" len="lg"/>
          </a:ln>
        </p:spPr>
        <p:txBody>
          <a:bodyPr lIns="87278" tIns="87278" rIns="87278" bIns="87278" anchor="ctr"/>
          <a:lstStyle/>
          <a:p>
            <a:pPr lvl="0" algn="ctr" defTabSz="873125">
              <a:defRPr/>
            </a:pPr>
            <a:r>
              <a:rPr lang="en-US" sz="1400" b="1" dirty="0" smtClean="0"/>
              <a:t>Corporate Governance</a:t>
            </a:r>
            <a:endParaRPr kumimoji="0" lang="en-US" sz="1400" b="0" i="0" u="none" strike="noStrike" kern="0" cap="none" spc="0" normalizeH="0" baseline="0" dirty="0">
              <a:ln>
                <a:noFill/>
              </a:ln>
              <a:effectLst/>
              <a:uLnTx/>
              <a:uFillTx/>
            </a:endParaRPr>
          </a:p>
        </p:txBody>
      </p:sp>
      <p:sp>
        <p:nvSpPr>
          <p:cNvPr id="27" name="Rectangle 6"/>
          <p:cNvSpPr>
            <a:spLocks noChangeArrowheads="1"/>
          </p:cNvSpPr>
          <p:nvPr/>
        </p:nvSpPr>
        <p:spPr bwMode="gray">
          <a:xfrm>
            <a:off x="446090" y="2383906"/>
            <a:ext cx="1620000" cy="684000"/>
          </a:xfrm>
          <a:prstGeom prst="rect">
            <a:avLst/>
          </a:prstGeom>
          <a:solidFill>
            <a:schemeClr val="lt2"/>
          </a:solidFill>
          <a:ln w="9525" algn="ctr">
            <a:noFill/>
            <a:miter lim="800000"/>
            <a:headEnd type="none" w="lg" len="lg"/>
            <a:tailEnd type="none" w="lg" len="lg"/>
          </a:ln>
        </p:spPr>
        <p:txBody>
          <a:bodyPr lIns="87278" tIns="87278" rIns="87278" bIns="87278" anchor="ctr"/>
          <a:lstStyle/>
          <a:p>
            <a:pPr lvl="0" algn="ctr" defTabSz="873125">
              <a:defRPr/>
            </a:pPr>
            <a:r>
              <a:rPr lang="en-US" sz="1400" b="1" dirty="0" smtClean="0"/>
              <a:t>Diversity</a:t>
            </a:r>
            <a:endParaRPr kumimoji="0" lang="en-US" sz="1400" b="0" i="0" u="none" strike="noStrike" kern="0" cap="none" spc="0" normalizeH="0" baseline="0" dirty="0">
              <a:ln>
                <a:noFill/>
              </a:ln>
              <a:effectLst/>
              <a:uLnTx/>
              <a:uFillTx/>
            </a:endParaRPr>
          </a:p>
        </p:txBody>
      </p:sp>
      <p:sp>
        <p:nvSpPr>
          <p:cNvPr id="28" name="Rectangle 8"/>
          <p:cNvSpPr>
            <a:spLocks noChangeArrowheads="1"/>
          </p:cNvSpPr>
          <p:nvPr/>
        </p:nvSpPr>
        <p:spPr bwMode="gray">
          <a:xfrm>
            <a:off x="446090" y="3280681"/>
            <a:ext cx="1620000" cy="684000"/>
          </a:xfrm>
          <a:prstGeom prst="rect">
            <a:avLst/>
          </a:prstGeom>
          <a:solidFill>
            <a:schemeClr val="lt2"/>
          </a:solidFill>
          <a:ln w="9525" algn="ctr">
            <a:noFill/>
            <a:miter lim="800000"/>
            <a:headEnd type="none" w="lg" len="lg"/>
            <a:tailEnd type="none" w="lg" len="lg"/>
          </a:ln>
        </p:spPr>
        <p:txBody>
          <a:bodyPr lIns="87278" tIns="87278" rIns="87278" bIns="87278" anchor="ctr"/>
          <a:lstStyle/>
          <a:p>
            <a:pPr lvl="0" algn="ctr" defTabSz="873125">
              <a:defRPr/>
            </a:pPr>
            <a:r>
              <a:rPr lang="en-US" sz="1400" b="1" dirty="0" smtClean="0"/>
              <a:t>Intelligence</a:t>
            </a:r>
            <a:endParaRPr kumimoji="0" lang="en-US" sz="1400" b="0" i="0" u="none" strike="noStrike" kern="0" cap="none" spc="0" normalizeH="0" baseline="0" dirty="0">
              <a:ln>
                <a:noFill/>
              </a:ln>
              <a:effectLst/>
              <a:uLnTx/>
              <a:uFillTx/>
            </a:endParaRPr>
          </a:p>
        </p:txBody>
      </p:sp>
      <p:sp>
        <p:nvSpPr>
          <p:cNvPr id="29" name="Rectangle 10"/>
          <p:cNvSpPr>
            <a:spLocks noChangeArrowheads="1"/>
          </p:cNvSpPr>
          <p:nvPr/>
        </p:nvSpPr>
        <p:spPr bwMode="gray">
          <a:xfrm>
            <a:off x="446090" y="4177456"/>
            <a:ext cx="1620000" cy="684000"/>
          </a:xfrm>
          <a:prstGeom prst="rect">
            <a:avLst/>
          </a:prstGeom>
          <a:solidFill>
            <a:schemeClr val="lt2"/>
          </a:solidFill>
          <a:ln w="9525" algn="ctr">
            <a:noFill/>
            <a:miter lim="800000"/>
            <a:headEnd type="none" w="lg" len="lg"/>
            <a:tailEnd type="none" w="lg" len="lg"/>
          </a:ln>
        </p:spPr>
        <p:txBody>
          <a:bodyPr lIns="87278" tIns="87278" rIns="87278" bIns="87278" anchor="ctr"/>
          <a:lstStyle/>
          <a:p>
            <a:pPr lvl="0" algn="ctr" defTabSz="873125">
              <a:defRPr/>
            </a:pPr>
            <a:r>
              <a:rPr lang="en-US" sz="1400" b="1" dirty="0" smtClean="0"/>
              <a:t>Quality</a:t>
            </a:r>
            <a:endParaRPr kumimoji="0" lang="en-US" sz="1400" b="0" i="0" u="none" strike="noStrike" kern="0" cap="none" spc="0" normalizeH="0" baseline="0" dirty="0">
              <a:ln>
                <a:noFill/>
              </a:ln>
              <a:effectLst/>
              <a:uLnTx/>
              <a:uFillTx/>
            </a:endParaRPr>
          </a:p>
        </p:txBody>
      </p:sp>
      <p:sp>
        <p:nvSpPr>
          <p:cNvPr id="30" name="Rectangle 12"/>
          <p:cNvSpPr>
            <a:spLocks noChangeArrowheads="1"/>
          </p:cNvSpPr>
          <p:nvPr/>
        </p:nvSpPr>
        <p:spPr bwMode="gray">
          <a:xfrm>
            <a:off x="446090" y="5074231"/>
            <a:ext cx="1620000" cy="684000"/>
          </a:xfrm>
          <a:prstGeom prst="rect">
            <a:avLst/>
          </a:prstGeom>
          <a:solidFill>
            <a:schemeClr val="lt2"/>
          </a:solidFill>
          <a:ln w="9525" algn="ctr">
            <a:noFill/>
            <a:miter lim="800000"/>
            <a:headEnd type="none" w="lg" len="lg"/>
            <a:tailEnd type="none" w="lg" len="lg"/>
          </a:ln>
        </p:spPr>
        <p:txBody>
          <a:bodyPr lIns="87278" tIns="87278" rIns="87278" bIns="87278" anchor="ctr"/>
          <a:lstStyle/>
          <a:p>
            <a:pPr lvl="0" algn="ctr" defTabSz="873125">
              <a:defRPr/>
            </a:pPr>
            <a:r>
              <a:rPr lang="en-US" sz="1400" b="1" dirty="0" smtClean="0"/>
              <a:t>Reliability</a:t>
            </a:r>
            <a:endParaRPr kumimoji="0" lang="en-US" sz="1400" b="0" i="0" u="none" strike="noStrike" kern="0" cap="none" spc="0" normalizeH="0" baseline="0" dirty="0">
              <a:ln>
                <a:noFill/>
              </a:ln>
              <a:effectLst/>
              <a:uLnTx/>
              <a:uFillTx/>
            </a:endParaRPr>
          </a:p>
        </p:txBody>
      </p:sp>
      <p:sp>
        <p:nvSpPr>
          <p:cNvPr id="31" name="Rectangle 14"/>
          <p:cNvSpPr>
            <a:spLocks noChangeArrowheads="1"/>
          </p:cNvSpPr>
          <p:nvPr/>
        </p:nvSpPr>
        <p:spPr bwMode="gray">
          <a:xfrm>
            <a:off x="446090" y="5971005"/>
            <a:ext cx="1620000" cy="684000"/>
          </a:xfrm>
          <a:prstGeom prst="rect">
            <a:avLst/>
          </a:prstGeom>
          <a:solidFill>
            <a:schemeClr val="lt2"/>
          </a:solidFill>
          <a:ln w="9525" algn="ctr">
            <a:noFill/>
            <a:miter lim="800000"/>
            <a:headEnd type="none" w="lg" len="lg"/>
            <a:tailEnd type="none" w="lg" len="lg"/>
          </a:ln>
        </p:spPr>
        <p:txBody>
          <a:bodyPr lIns="87278" tIns="87278" rIns="87278" bIns="87278" anchor="ctr"/>
          <a:lstStyle/>
          <a:p>
            <a:pPr algn="ctr" defTabSz="873125">
              <a:defRPr/>
            </a:pPr>
            <a:r>
              <a:rPr lang="en-US" sz="1400" b="1" dirty="0" smtClean="0"/>
              <a:t>Simplicity</a:t>
            </a:r>
            <a:endParaRPr lang="en-US" sz="1400" b="1" dirty="0"/>
          </a:p>
        </p:txBody>
      </p:sp>
      <p:grpSp>
        <p:nvGrpSpPr>
          <p:cNvPr id="48" name="Group 47"/>
          <p:cNvGrpSpPr>
            <a:grpSpLocks noChangeAspect="1"/>
          </p:cNvGrpSpPr>
          <p:nvPr/>
        </p:nvGrpSpPr>
        <p:grpSpPr>
          <a:xfrm>
            <a:off x="6839712" y="1573233"/>
            <a:ext cx="3315769" cy="4964628"/>
            <a:chOff x="6563466" y="1931014"/>
            <a:chExt cx="2733999" cy="4093557"/>
          </a:xfrm>
        </p:grpSpPr>
        <p:pic>
          <p:nvPicPr>
            <p:cNvPr id="49" name="Picture 48"/>
            <p:cNvPicPr>
              <a:picLocks noChangeAspect="1"/>
            </p:cNvPicPr>
            <p:nvPr/>
          </p:nvPicPr>
          <p:blipFill rotWithShape="1">
            <a:blip r:embed="rId2" cstate="screen">
              <a:extLst>
                <a:ext uri="{28A0092B-C50C-407E-A947-70E740481C1C}">
                  <a14:useLocalDpi xmlns:a14="http://schemas.microsoft.com/office/drawing/2010/main"/>
                </a:ext>
              </a:extLst>
            </a:blip>
            <a:srcRect l="10977" t="11167" r="6962" b="3196"/>
            <a:stretch/>
          </p:blipFill>
          <p:spPr>
            <a:xfrm>
              <a:off x="6975639" y="2676386"/>
              <a:ext cx="1839896" cy="1920069"/>
            </a:xfrm>
            <a:prstGeom prst="rect">
              <a:avLst/>
            </a:prstGeom>
          </p:spPr>
        </p:pic>
        <p:pic>
          <p:nvPicPr>
            <p:cNvPr id="50" name="Picture 23" descr="Swatch-Logo">
              <a:hlinkClick r:id="rId3" tooltip="Swatch-Logo"/>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510458" y="5524997"/>
              <a:ext cx="659567" cy="14246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7" descr="Unternehmenslogo">
              <a:hlinkClick r:id="rId5" tooltip="Unternehmenslogo"/>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609184" y="2873846"/>
              <a:ext cx="341133" cy="339130"/>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1" descr="Logo">
              <a:hlinkClick r:id="rId7" tooltip="Logo"/>
            </p:cNvPr>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6563466" y="5170839"/>
              <a:ext cx="837806" cy="14745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625408" y="1931014"/>
              <a:ext cx="672057" cy="1941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4" name="Picture 4" descr="http://www.ascom.ch/ch-de/ascom_logo.gif">
              <a:hlinkClick r:id="rId10"/>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07900" y="2130344"/>
              <a:ext cx="854080" cy="298582"/>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6" descr="SGS Logo. Return to home page">
              <a:hlinkClick r:id="rId12" tooltip="Return to home page"/>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53400" y="5243413"/>
              <a:ext cx="572003" cy="278408"/>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8" descr="Ho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66647" y="4290890"/>
              <a:ext cx="374585" cy="374585"/>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12" descr="Partners Group">
              <a:hlinkClick r:id="rId15"/>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6609184" y="5796637"/>
              <a:ext cx="934052" cy="182567"/>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14" descr="Bucher">
              <a:hlinkClick r:id="rId17"/>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481392" y="5893449"/>
              <a:ext cx="699329" cy="131122"/>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697416" y="3412626"/>
              <a:ext cx="561878" cy="3138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Grafik 1" descr="image00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48826" y="2324151"/>
              <a:ext cx="790575"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 name="Grafik 2" descr="image00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259495" y="4639558"/>
              <a:ext cx="9334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2" name="Picture 4" descr="Bildergebnis">
            <a:hlinkClick r:id="rId22"/>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8979555" y="4817754"/>
            <a:ext cx="1240782" cy="386931"/>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Bildergebnis">
            <a:hlinkClick r:id="rId24"/>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9308879" y="2477213"/>
            <a:ext cx="846602" cy="621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0147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endParaRPr lang="en-US" dirty="0"/>
          </a:p>
        </p:txBody>
      </p:sp>
      <p:sp>
        <p:nvSpPr>
          <p:cNvPr id="3" name="Text Placeholder 2"/>
          <p:cNvSpPr>
            <a:spLocks noGrp="1"/>
          </p:cNvSpPr>
          <p:nvPr>
            <p:ph type="body" sz="quarter" idx="14"/>
          </p:nvPr>
        </p:nvSpPr>
        <p:spPr/>
        <p:txBody>
          <a:bodyPr/>
          <a:lstStyle/>
          <a:p>
            <a:r>
              <a:rPr lang="en-US" dirty="0" smtClean="0"/>
              <a:t>Corporate governance rating (in points)</a:t>
            </a:r>
            <a:endParaRPr lang="en-US" dirty="0"/>
          </a:p>
        </p:txBody>
      </p:sp>
      <p:sp>
        <p:nvSpPr>
          <p:cNvPr id="4" name="Title 3"/>
          <p:cNvSpPr>
            <a:spLocks noGrp="1"/>
          </p:cNvSpPr>
          <p:nvPr>
            <p:ph type="title"/>
          </p:nvPr>
        </p:nvSpPr>
        <p:spPr/>
        <p:txBody>
          <a:bodyPr/>
          <a:lstStyle/>
          <a:p>
            <a:r>
              <a:rPr lang="en-US" altLang="en-US" noProof="1" smtClean="0"/>
              <a:t>Corporate Governance: Swiss companies have a strong corporate governance</a:t>
            </a:r>
            <a:endParaRPr lang="en-US" dirty="0"/>
          </a:p>
        </p:txBody>
      </p:sp>
      <p:sp>
        <p:nvSpPr>
          <p:cNvPr id="6" name="Content Placeholder 5"/>
          <p:cNvSpPr>
            <a:spLocks noGrp="1"/>
          </p:cNvSpPr>
          <p:nvPr>
            <p:ph sz="quarter" idx="18"/>
          </p:nvPr>
        </p:nvSpPr>
        <p:spPr/>
        <p:txBody>
          <a:bodyPr/>
          <a:lstStyle/>
          <a:p>
            <a:pPr>
              <a:spcAft>
                <a:spcPts val="600"/>
              </a:spcAft>
            </a:pPr>
            <a:r>
              <a:rPr lang="en-US" sz="1400" dirty="0" smtClean="0"/>
              <a:t>Swiss companies value the principles of strong corporate governance </a:t>
            </a:r>
          </a:p>
          <a:p>
            <a:pPr>
              <a:spcAft>
                <a:spcPts val="600"/>
              </a:spcAft>
            </a:pPr>
            <a:r>
              <a:rPr lang="en-US" sz="1400" dirty="0" smtClean="0"/>
              <a:t>Important evaluation criteria include shareholder base and capital structure, shareholder participation rights, composition of board of directors and executive management; information policy, and compensation and participation models </a:t>
            </a:r>
          </a:p>
          <a:p>
            <a:pPr>
              <a:spcAft>
                <a:spcPts val="600"/>
              </a:spcAft>
            </a:pPr>
            <a:r>
              <a:rPr lang="en-US" sz="1400" dirty="0" smtClean="0"/>
              <a:t>We consider strong corporate governance as a central component of a stock’s  long-term structural growth</a:t>
            </a:r>
            <a:endParaRPr lang="en-US" sz="1400" dirty="0"/>
          </a:p>
        </p:txBody>
      </p:sp>
      <p:sp>
        <p:nvSpPr>
          <p:cNvPr id="7" name="TextBox 6"/>
          <p:cNvSpPr txBox="1"/>
          <p:nvPr/>
        </p:nvSpPr>
        <p:spPr>
          <a:xfrm>
            <a:off x="2823715" y="2298220"/>
            <a:ext cx="1255152" cy="215444"/>
          </a:xfrm>
          <a:prstGeom prst="rect">
            <a:avLst/>
          </a:prstGeom>
          <a:noFill/>
        </p:spPr>
        <p:txBody>
          <a:bodyPr wrap="none" lIns="0" tIns="0" rIns="0" bIns="0" rtlCol="0">
            <a:spAutoFit/>
          </a:bodyPr>
          <a:lstStyle/>
          <a:p>
            <a:pPr algn="l"/>
            <a:r>
              <a:rPr lang="en-US" sz="1400" b="1" dirty="0" smtClean="0"/>
              <a:t>Maximum*: 86 </a:t>
            </a:r>
          </a:p>
        </p:txBody>
      </p:sp>
      <p:sp>
        <p:nvSpPr>
          <p:cNvPr id="8" name="TextBox 7"/>
          <p:cNvSpPr txBox="1"/>
          <p:nvPr/>
        </p:nvSpPr>
        <p:spPr>
          <a:xfrm>
            <a:off x="2823715" y="2614047"/>
            <a:ext cx="1303242" cy="215444"/>
          </a:xfrm>
          <a:prstGeom prst="rect">
            <a:avLst/>
          </a:prstGeom>
          <a:noFill/>
        </p:spPr>
        <p:txBody>
          <a:bodyPr wrap="none" lIns="0" tIns="0" rIns="0" bIns="0" rtlCol="0">
            <a:spAutoFit/>
          </a:bodyPr>
          <a:lstStyle/>
          <a:p>
            <a:pPr algn="l"/>
            <a:r>
              <a:rPr lang="en-US" sz="1400" b="1" dirty="0" smtClean="0"/>
              <a:t>Switzerland: 82</a:t>
            </a:r>
            <a:endParaRPr lang="en-US" sz="1400" b="1" dirty="0"/>
          </a:p>
        </p:txBody>
      </p:sp>
      <p:sp>
        <p:nvSpPr>
          <p:cNvPr id="9" name="TextBox 8"/>
          <p:cNvSpPr txBox="1"/>
          <p:nvPr/>
        </p:nvSpPr>
        <p:spPr>
          <a:xfrm>
            <a:off x="2823715" y="5397253"/>
            <a:ext cx="1115690" cy="215444"/>
          </a:xfrm>
          <a:prstGeom prst="rect">
            <a:avLst/>
          </a:prstGeom>
          <a:noFill/>
        </p:spPr>
        <p:txBody>
          <a:bodyPr wrap="none" lIns="0" tIns="0" rIns="0" bIns="0" rtlCol="0">
            <a:spAutoFit/>
          </a:bodyPr>
          <a:lstStyle/>
          <a:p>
            <a:pPr algn="l"/>
            <a:r>
              <a:rPr lang="en-US" sz="1400" b="1" dirty="0" smtClean="0"/>
              <a:t>Minimum: 3* </a:t>
            </a:r>
            <a:endParaRPr lang="en-US" sz="1400" b="1" dirty="0"/>
          </a:p>
        </p:txBody>
      </p:sp>
      <p:pic>
        <p:nvPicPr>
          <p:cNvPr id="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35728" y="2286927"/>
            <a:ext cx="331559" cy="211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65034" y="2618322"/>
            <a:ext cx="271248" cy="2120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416495" y="2111228"/>
            <a:ext cx="816163" cy="215444"/>
          </a:xfrm>
          <a:prstGeom prst="rect">
            <a:avLst/>
          </a:prstGeom>
          <a:noFill/>
        </p:spPr>
        <p:txBody>
          <a:bodyPr wrap="square" lIns="0" tIns="0" rIns="0" bIns="0" rtlCol="0">
            <a:spAutoFit/>
          </a:bodyPr>
          <a:lstStyle/>
          <a:p>
            <a:pPr algn="ctr"/>
            <a:r>
              <a:rPr lang="en-US" sz="1400" dirty="0" smtClean="0"/>
              <a:t>Very good</a:t>
            </a:r>
            <a:endParaRPr lang="en-US" sz="1400" dirty="0" smtClean="0">
              <a:latin typeface="Arial (body)"/>
            </a:endParaRPr>
          </a:p>
        </p:txBody>
      </p:sp>
      <p:sp>
        <p:nvSpPr>
          <p:cNvPr id="14" name="TextBox 13"/>
          <p:cNvSpPr txBox="1"/>
          <p:nvPr/>
        </p:nvSpPr>
        <p:spPr>
          <a:xfrm>
            <a:off x="496606" y="5805844"/>
            <a:ext cx="736052" cy="215444"/>
          </a:xfrm>
          <a:prstGeom prst="rect">
            <a:avLst/>
          </a:prstGeom>
          <a:noFill/>
        </p:spPr>
        <p:txBody>
          <a:bodyPr wrap="square" lIns="0" tIns="0" rIns="0" bIns="0" rtlCol="0">
            <a:spAutoFit/>
          </a:bodyPr>
          <a:lstStyle/>
          <a:p>
            <a:pPr algn="ctr"/>
            <a:r>
              <a:rPr lang="en-US" sz="1400" dirty="0" smtClean="0"/>
              <a:t>Poor</a:t>
            </a:r>
          </a:p>
        </p:txBody>
      </p:sp>
      <p:pic>
        <p:nvPicPr>
          <p:cNvPr id="15"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16896" y="5395040"/>
            <a:ext cx="351889" cy="2345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8" descr="Bildergebnis für Logo sustainalytics">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4173" y="5629574"/>
            <a:ext cx="1881007" cy="627002"/>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p:nvSpPr>
        <p:spPr bwMode="gray">
          <a:xfrm>
            <a:off x="1513462" y="2415372"/>
            <a:ext cx="1045582" cy="3246458"/>
          </a:xfrm>
          <a:prstGeom prst="rect">
            <a:avLst/>
          </a:prstGeom>
          <a:solidFill>
            <a:schemeClr val="accent2"/>
          </a:solidFill>
          <a:ln w="3175" algn="ctr">
            <a:noFill/>
            <a:miter lim="800000"/>
            <a:headEnd type="none" w="sm" len="sm"/>
            <a:tailEnd type="none" w="sm" len="sm"/>
          </a:ln>
          <a:effectLst/>
          <a:extLst/>
        </p:spPr>
        <p:txBody>
          <a:bodyPr wrap="square" lIns="36000" tIns="36000" rIns="36000" bIns="36000" rtlCol="0" anchor="ctr" anchorCtr="1"/>
          <a:lstStyle/>
          <a:p>
            <a:pPr algn="ctr" eaLnBrk="1" fontAlgn="auto" hangingPunct="1">
              <a:spcBef>
                <a:spcPts val="0"/>
              </a:spcBef>
              <a:spcAft>
                <a:spcPts val="0"/>
              </a:spcAft>
              <a:buClr>
                <a:srgbClr val="2D4B84"/>
              </a:buClr>
            </a:pPr>
            <a:endParaRPr lang="en-US" sz="1400" dirty="0" smtClean="0">
              <a:solidFill>
                <a:srgbClr val="000000"/>
              </a:solidFill>
              <a:latin typeface="ITC Officina Sans Book"/>
            </a:endParaRPr>
          </a:p>
        </p:txBody>
      </p:sp>
      <p:cxnSp>
        <p:nvCxnSpPr>
          <p:cNvPr id="18" name="Straight Connector 17"/>
          <p:cNvCxnSpPr/>
          <p:nvPr/>
        </p:nvCxnSpPr>
        <p:spPr>
          <a:xfrm flipV="1">
            <a:off x="1424608" y="2721945"/>
            <a:ext cx="1224136" cy="2420"/>
          </a:xfrm>
          <a:prstGeom prst="line">
            <a:avLst/>
          </a:prstGeom>
          <a:ln w="28575">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24608" y="2415371"/>
            <a:ext cx="1224136" cy="1"/>
          </a:xfrm>
          <a:prstGeom prst="line">
            <a:avLst/>
          </a:prstGeom>
          <a:ln w="28575">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424608" y="5550790"/>
            <a:ext cx="1224136" cy="2"/>
          </a:xfrm>
          <a:prstGeom prst="line">
            <a:avLst/>
          </a:prstGeom>
          <a:ln w="28575">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21" name="TextBox 20"/>
          <p:cNvSpPr txBox="1"/>
          <p:nvPr>
            <p:custDataLst>
              <p:tags r:id="rId1"/>
            </p:custDataLst>
          </p:nvPr>
        </p:nvSpPr>
        <p:spPr bwMode="gray">
          <a:xfrm>
            <a:off x="449263" y="7064388"/>
            <a:ext cx="7272905" cy="2438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400">
              <a:tabLst>
                <a:tab pos="2852937" algn="l"/>
              </a:tabLst>
            </a:pPr>
            <a:r>
              <a:rPr lang="en-US" sz="800" dirty="0">
                <a:solidFill>
                  <a:srgbClr val="000000"/>
                </a:solidFill>
                <a:latin typeface="Arial"/>
              </a:rPr>
              <a:t>Source: </a:t>
            </a:r>
            <a:r>
              <a:rPr lang="en-US" sz="800" dirty="0" err="1">
                <a:solidFill>
                  <a:srgbClr val="000000"/>
                </a:solidFill>
                <a:latin typeface="Arial"/>
              </a:rPr>
              <a:t>Sustainalytics</a:t>
            </a:r>
            <a:r>
              <a:rPr lang="en-US" sz="800" dirty="0">
                <a:solidFill>
                  <a:srgbClr val="000000"/>
                </a:solidFill>
                <a:latin typeface="Arial"/>
              </a:rPr>
              <a:t> / </a:t>
            </a:r>
            <a:r>
              <a:rPr lang="en-US" sz="800" dirty="0" err="1">
                <a:solidFill>
                  <a:srgbClr val="000000"/>
                </a:solidFill>
                <a:latin typeface="Arial"/>
              </a:rPr>
              <a:t>FuW</a:t>
            </a:r>
            <a:r>
              <a:rPr lang="en-US" sz="800" dirty="0">
                <a:solidFill>
                  <a:srgbClr val="000000"/>
                </a:solidFill>
                <a:latin typeface="Arial"/>
              </a:rPr>
              <a:t>; </a:t>
            </a:r>
            <a:r>
              <a:rPr lang="en-US" sz="800" dirty="0" err="1">
                <a:solidFill>
                  <a:srgbClr val="000000"/>
                </a:solidFill>
                <a:latin typeface="Arial"/>
              </a:rPr>
              <a:t>zRating</a:t>
            </a:r>
            <a:r>
              <a:rPr lang="en-US" sz="800" dirty="0">
                <a:solidFill>
                  <a:srgbClr val="000000"/>
                </a:solidFill>
                <a:latin typeface="Arial"/>
              </a:rPr>
              <a:t>; March 2017</a:t>
            </a:r>
          </a:p>
          <a:p>
            <a:pPr defTabSz="914400">
              <a:tabLst>
                <a:tab pos="2852937" algn="l"/>
              </a:tabLst>
            </a:pPr>
            <a:r>
              <a:rPr lang="en-US" sz="800" dirty="0">
                <a:solidFill>
                  <a:srgbClr val="000000"/>
                </a:solidFill>
                <a:latin typeface="Arial"/>
              </a:rPr>
              <a:t>Maximum Denmark, Minimum Somalia</a:t>
            </a:r>
          </a:p>
        </p:txBody>
      </p:sp>
      <p:cxnSp>
        <p:nvCxnSpPr>
          <p:cNvPr id="22" name="Straight Connector 21"/>
          <p:cNvCxnSpPr>
            <a:cxnSpLocks/>
          </p:cNvCxnSpPr>
          <p:nvPr/>
        </p:nvCxnSpPr>
        <p:spPr>
          <a:xfrm>
            <a:off x="864632" y="2460383"/>
            <a:ext cx="0" cy="3085791"/>
          </a:xfrm>
          <a:prstGeom prst="line">
            <a:avLst/>
          </a:prstGeom>
          <a:ln w="28575">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129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custDataLst>
              <p:tags r:id="rId1"/>
            </p:custDataLst>
          </p:nvPr>
        </p:nvSpPr>
        <p:spPr bwMode="gray">
          <a:xfrm>
            <a:off x="0" y="6810300"/>
            <a:ext cx="10691813" cy="127000"/>
          </a:xfrm>
          <a:prstGeom prst="rect">
            <a:avLst/>
          </a:prstGeom>
          <a:solidFill>
            <a:srgbClr val="FFFFFF"/>
          </a:solidFill>
          <a:ln w="3175" algn="ctr">
            <a:noFill/>
            <a:miter lim="800000"/>
            <a:headEnd type="none" w="sm" len="sm"/>
            <a:tailEnd type="none" w="sm" len="sm"/>
          </a:ln>
          <a:effectLst/>
          <a:extLst/>
        </p:spPr>
        <p:txBody>
          <a:bodyPr wrap="square" lIns="36000" tIns="36000" rIns="36000" bIns="36000" rtlCol="0" anchor="t" anchorCtr="0"/>
          <a:lstStyle/>
          <a:p>
            <a:pPr algn="ctr" eaLnBrk="1" fontAlgn="auto" hangingPunct="1">
              <a:spcBef>
                <a:spcPts val="0"/>
              </a:spcBef>
              <a:spcAft>
                <a:spcPts val="0"/>
              </a:spcAft>
              <a:buClr>
                <a:srgbClr val="2D4B84"/>
              </a:buClr>
            </a:pPr>
            <a:endParaRPr lang="en-US" sz="1400" dirty="0" smtClean="0">
              <a:solidFill>
                <a:srgbClr val="000000"/>
              </a:solidFill>
              <a:latin typeface="Arial"/>
            </a:endParaRPr>
          </a:p>
        </p:txBody>
      </p:sp>
      <p:sp>
        <p:nvSpPr>
          <p:cNvPr id="2" name="Text Placeholder 1"/>
          <p:cNvSpPr>
            <a:spLocks noGrp="1"/>
          </p:cNvSpPr>
          <p:nvPr>
            <p:ph type="body" sz="quarter" idx="16"/>
          </p:nvPr>
        </p:nvSpPr>
        <p:spPr>
          <a:xfrm>
            <a:off x="5659886" y="1476374"/>
            <a:ext cx="4572000" cy="258533"/>
          </a:xfrm>
        </p:spPr>
        <p:txBody>
          <a:bodyPr/>
          <a:lstStyle/>
          <a:p>
            <a:endParaRPr lang="en-US" dirty="0"/>
          </a:p>
        </p:txBody>
      </p:sp>
      <p:sp>
        <p:nvSpPr>
          <p:cNvPr id="3" name="Text Placeholder 2"/>
          <p:cNvSpPr>
            <a:spLocks noGrp="1"/>
          </p:cNvSpPr>
          <p:nvPr>
            <p:ph type="body" sz="quarter" idx="14"/>
          </p:nvPr>
        </p:nvSpPr>
        <p:spPr>
          <a:xfrm>
            <a:off x="449362" y="1476374"/>
            <a:ext cx="4932000" cy="258533"/>
          </a:xfrm>
        </p:spPr>
        <p:txBody>
          <a:bodyPr/>
          <a:lstStyle/>
          <a:p>
            <a:r>
              <a:rPr lang="en-US" dirty="0" smtClean="0">
                <a:solidFill>
                  <a:srgbClr val="000000"/>
                </a:solidFill>
              </a:rPr>
              <a:t>Sales share by region for SMI®* companies</a:t>
            </a:r>
            <a:endParaRPr lang="en-US" dirty="0"/>
          </a:p>
        </p:txBody>
      </p:sp>
      <p:sp>
        <p:nvSpPr>
          <p:cNvPr id="4" name="Title 3"/>
          <p:cNvSpPr>
            <a:spLocks noGrp="1"/>
          </p:cNvSpPr>
          <p:nvPr>
            <p:ph type="title"/>
          </p:nvPr>
        </p:nvSpPr>
        <p:spPr/>
        <p:txBody>
          <a:bodyPr/>
          <a:lstStyle/>
          <a:p>
            <a:r>
              <a:rPr lang="en-US" altLang="en-US" noProof="1" smtClean="0"/>
              <a:t>Diversity: Swiss companies are globally diversified</a:t>
            </a:r>
            <a:endParaRPr lang="en-US" dirty="0"/>
          </a:p>
        </p:txBody>
      </p:sp>
      <p:sp>
        <p:nvSpPr>
          <p:cNvPr id="5" name="Content Placeholder 4"/>
          <p:cNvSpPr>
            <a:spLocks noGrp="1"/>
          </p:cNvSpPr>
          <p:nvPr>
            <p:ph sz="quarter" idx="17"/>
          </p:nvPr>
        </p:nvSpPr>
        <p:spPr/>
        <p:txBody>
          <a:bodyPr/>
          <a:lstStyle/>
          <a:p>
            <a:endParaRPr lang="en-US" dirty="0"/>
          </a:p>
        </p:txBody>
      </p:sp>
      <p:sp>
        <p:nvSpPr>
          <p:cNvPr id="6" name="Content Placeholder 5"/>
          <p:cNvSpPr>
            <a:spLocks noGrp="1"/>
          </p:cNvSpPr>
          <p:nvPr>
            <p:ph sz="quarter" idx="18"/>
          </p:nvPr>
        </p:nvSpPr>
        <p:spPr>
          <a:xfrm>
            <a:off x="5659886" y="1907629"/>
            <a:ext cx="4572000" cy="4751934"/>
          </a:xfrm>
        </p:spPr>
        <p:txBody>
          <a:bodyPr/>
          <a:lstStyle/>
          <a:p>
            <a:pPr>
              <a:spcAft>
                <a:spcPts val="600"/>
              </a:spcAft>
            </a:pPr>
            <a:r>
              <a:rPr lang="en-US" sz="1400" dirty="0" smtClean="0"/>
              <a:t>The home market sales of all SMI® companies amount to 8%. For all SPI® companies, they amount to 11%</a:t>
            </a:r>
          </a:p>
          <a:p>
            <a:pPr>
              <a:spcAft>
                <a:spcPts val="600"/>
              </a:spcAft>
            </a:pPr>
            <a:r>
              <a:rPr lang="en-US" sz="1400" dirty="0" smtClean="0"/>
              <a:t>Apart from Norway and Sweden, Switzerland is one of Europe’s most global stock markets</a:t>
            </a:r>
          </a:p>
          <a:p>
            <a:pPr>
              <a:spcAft>
                <a:spcPts val="600"/>
              </a:spcAft>
            </a:pPr>
            <a:r>
              <a:rPr lang="en-US" sz="1400" dirty="0" smtClean="0"/>
              <a:t>In other regions, the global footprint is significantly smaller</a:t>
            </a:r>
          </a:p>
          <a:p>
            <a:pPr lvl="1">
              <a:spcAft>
                <a:spcPts val="600"/>
              </a:spcAft>
            </a:pPr>
            <a:r>
              <a:rPr lang="en-US" sz="1200" dirty="0" smtClean="0"/>
              <a:t>Europe (ex Switzerland and UK)</a:t>
            </a:r>
          </a:p>
          <a:p>
            <a:pPr lvl="1">
              <a:spcAft>
                <a:spcPts val="600"/>
              </a:spcAft>
            </a:pPr>
            <a:endParaRPr lang="en-US" sz="1200" dirty="0" smtClean="0"/>
          </a:p>
          <a:p>
            <a:pPr lvl="1">
              <a:spcAft>
                <a:spcPts val="600"/>
              </a:spcAft>
            </a:pPr>
            <a:endParaRPr lang="en-US" sz="1200" dirty="0" smtClean="0"/>
          </a:p>
          <a:p>
            <a:pPr lvl="1">
              <a:spcAft>
                <a:spcPts val="600"/>
              </a:spcAft>
            </a:pPr>
            <a:endParaRPr lang="en-US" sz="1200" dirty="0" smtClean="0"/>
          </a:p>
          <a:p>
            <a:pPr lvl="1">
              <a:spcAft>
                <a:spcPts val="600"/>
              </a:spcAft>
            </a:pPr>
            <a:r>
              <a:rPr lang="en-US" sz="1200" dirty="0" smtClean="0"/>
              <a:t>North America</a:t>
            </a:r>
          </a:p>
          <a:p>
            <a:pPr lvl="1">
              <a:spcAft>
                <a:spcPts val="600"/>
              </a:spcAft>
            </a:pPr>
            <a:endParaRPr lang="en-US" sz="1200" dirty="0" smtClean="0"/>
          </a:p>
          <a:p>
            <a:pPr lvl="1">
              <a:spcAft>
                <a:spcPts val="600"/>
              </a:spcAft>
            </a:pPr>
            <a:endParaRPr lang="en-US" sz="1200" dirty="0" smtClean="0"/>
          </a:p>
          <a:p>
            <a:pPr lvl="1">
              <a:spcAft>
                <a:spcPts val="600"/>
              </a:spcAft>
            </a:pPr>
            <a:endParaRPr lang="en-US" sz="1200" dirty="0" smtClean="0"/>
          </a:p>
          <a:p>
            <a:pPr lvl="1">
              <a:spcAft>
                <a:spcPts val="600"/>
              </a:spcAft>
            </a:pPr>
            <a:r>
              <a:rPr lang="en-US" sz="1200" dirty="0" smtClean="0"/>
              <a:t>Japan</a:t>
            </a:r>
          </a:p>
          <a:p>
            <a:pPr>
              <a:spcAft>
                <a:spcPts val="600"/>
              </a:spcAft>
            </a:pPr>
            <a:endParaRPr lang="en-US" sz="1400" dirty="0"/>
          </a:p>
        </p:txBody>
      </p:sp>
      <p:graphicFrame>
        <p:nvGraphicFramePr>
          <p:cNvPr id="7" name="Chart 6"/>
          <p:cNvGraphicFramePr/>
          <p:nvPr>
            <p:extLst>
              <p:ext uri="{D42A27DB-BD31-4B8C-83A1-F6EECF244321}">
                <p14:modId xmlns:p14="http://schemas.microsoft.com/office/powerpoint/2010/main" val="185268920"/>
              </p:ext>
            </p:extLst>
          </p:nvPr>
        </p:nvGraphicFramePr>
        <p:xfrm>
          <a:off x="7782765" y="3501008"/>
          <a:ext cx="1848539" cy="931461"/>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Box 7"/>
          <p:cNvSpPr txBox="1"/>
          <p:nvPr/>
        </p:nvSpPr>
        <p:spPr>
          <a:xfrm>
            <a:off x="8870700" y="3769002"/>
            <a:ext cx="1008224" cy="369332"/>
          </a:xfrm>
          <a:prstGeom prst="rect">
            <a:avLst/>
          </a:prstGeom>
          <a:noFill/>
        </p:spPr>
        <p:txBody>
          <a:bodyPr wrap="square" lIns="0" tIns="0" rIns="0" bIns="0" rtlCol="0">
            <a:spAutoFit/>
          </a:bodyPr>
          <a:lstStyle/>
          <a:p>
            <a:pPr algn="l"/>
            <a:r>
              <a:rPr lang="en-US" sz="1200" dirty="0" smtClean="0"/>
              <a:t>Europe: 28% </a:t>
            </a:r>
          </a:p>
          <a:p>
            <a:pPr algn="l"/>
            <a:r>
              <a:rPr lang="en-US" sz="1200" dirty="0" smtClean="0"/>
              <a:t>Global: 72%</a:t>
            </a:r>
            <a:endParaRPr lang="en-US" sz="1200" dirty="0"/>
          </a:p>
        </p:txBody>
      </p:sp>
      <p:graphicFrame>
        <p:nvGraphicFramePr>
          <p:cNvPr id="9" name="Chart 8"/>
          <p:cNvGraphicFramePr/>
          <p:nvPr>
            <p:extLst>
              <p:ext uri="{D42A27DB-BD31-4B8C-83A1-F6EECF244321}">
                <p14:modId xmlns:p14="http://schemas.microsoft.com/office/powerpoint/2010/main" val="222379188"/>
              </p:ext>
            </p:extLst>
          </p:nvPr>
        </p:nvGraphicFramePr>
        <p:xfrm>
          <a:off x="7657853" y="4577055"/>
          <a:ext cx="1967121" cy="936104"/>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Box 9"/>
          <p:cNvSpPr txBox="1"/>
          <p:nvPr/>
        </p:nvSpPr>
        <p:spPr>
          <a:xfrm>
            <a:off x="8881989" y="4793079"/>
            <a:ext cx="1368000" cy="369332"/>
          </a:xfrm>
          <a:prstGeom prst="rect">
            <a:avLst/>
          </a:prstGeom>
          <a:noFill/>
        </p:spPr>
        <p:txBody>
          <a:bodyPr wrap="square" lIns="0" tIns="0" rIns="0" bIns="0" rtlCol="0">
            <a:spAutoFit/>
          </a:bodyPr>
          <a:lstStyle/>
          <a:p>
            <a:pPr algn="l"/>
            <a:r>
              <a:rPr lang="en-US" sz="1200" dirty="0" smtClean="0"/>
              <a:t>North America: 71% </a:t>
            </a:r>
          </a:p>
          <a:p>
            <a:pPr algn="l"/>
            <a:r>
              <a:rPr lang="en-US" sz="1200" dirty="0" smtClean="0"/>
              <a:t>Global: 29%</a:t>
            </a:r>
            <a:endParaRPr lang="en-US" sz="1200" dirty="0"/>
          </a:p>
        </p:txBody>
      </p:sp>
      <p:graphicFrame>
        <p:nvGraphicFramePr>
          <p:cNvPr id="11" name="Chart 10"/>
          <p:cNvGraphicFramePr/>
          <p:nvPr>
            <p:extLst>
              <p:ext uri="{D42A27DB-BD31-4B8C-83A1-F6EECF244321}">
                <p14:modId xmlns:p14="http://schemas.microsoft.com/office/powerpoint/2010/main" val="3706641105"/>
              </p:ext>
            </p:extLst>
          </p:nvPr>
        </p:nvGraphicFramePr>
        <p:xfrm>
          <a:off x="7702168" y="5631714"/>
          <a:ext cx="2088232" cy="936080"/>
        </p:xfrm>
        <a:graphic>
          <a:graphicData uri="http://schemas.openxmlformats.org/drawingml/2006/chart">
            <c:chart xmlns:c="http://schemas.openxmlformats.org/drawingml/2006/chart" xmlns:r="http://schemas.openxmlformats.org/officeDocument/2006/relationships" r:id="rId7"/>
          </a:graphicData>
        </a:graphic>
      </p:graphicFrame>
      <p:sp>
        <p:nvSpPr>
          <p:cNvPr id="12" name="TextBox 11"/>
          <p:cNvSpPr txBox="1"/>
          <p:nvPr/>
        </p:nvSpPr>
        <p:spPr>
          <a:xfrm>
            <a:off x="8881877" y="5915088"/>
            <a:ext cx="1296256" cy="369332"/>
          </a:xfrm>
          <a:prstGeom prst="rect">
            <a:avLst/>
          </a:prstGeom>
          <a:noFill/>
        </p:spPr>
        <p:txBody>
          <a:bodyPr wrap="square" lIns="0" tIns="0" rIns="0" bIns="0" rtlCol="0">
            <a:spAutoFit/>
          </a:bodyPr>
          <a:lstStyle/>
          <a:p>
            <a:pPr algn="l"/>
            <a:r>
              <a:rPr lang="en-US" sz="1200" dirty="0" smtClean="0"/>
              <a:t>Japan: 72% </a:t>
            </a:r>
          </a:p>
          <a:p>
            <a:pPr algn="l"/>
            <a:r>
              <a:rPr lang="en-US" sz="1200" dirty="0" smtClean="0"/>
              <a:t>Global: 28%</a:t>
            </a:r>
            <a:endParaRPr lang="en-US" sz="1200" dirty="0"/>
          </a:p>
        </p:txBody>
      </p:sp>
      <p:graphicFrame>
        <p:nvGraphicFramePr>
          <p:cNvPr id="13" name="Diagramm 1"/>
          <p:cNvGraphicFramePr>
            <a:graphicFrameLocks/>
          </p:cNvGraphicFramePr>
          <p:nvPr>
            <p:extLst>
              <p:ext uri="{D42A27DB-BD31-4B8C-83A1-F6EECF244321}">
                <p14:modId xmlns:p14="http://schemas.microsoft.com/office/powerpoint/2010/main" val="1759324604"/>
              </p:ext>
            </p:extLst>
          </p:nvPr>
        </p:nvGraphicFramePr>
        <p:xfrm>
          <a:off x="542819" y="1908000"/>
          <a:ext cx="4650069" cy="4289600"/>
        </p:xfrm>
        <a:graphic>
          <a:graphicData uri="http://schemas.openxmlformats.org/drawingml/2006/chart">
            <c:chart xmlns:c="http://schemas.openxmlformats.org/drawingml/2006/chart" xmlns:r="http://schemas.openxmlformats.org/officeDocument/2006/relationships" r:id="rId8"/>
          </a:graphicData>
        </a:graphic>
      </p:graphicFrame>
      <p:sp>
        <p:nvSpPr>
          <p:cNvPr id="14" name="TextBox 13"/>
          <p:cNvSpPr txBox="1"/>
          <p:nvPr>
            <p:custDataLst>
              <p:tags r:id="rId2"/>
            </p:custDataLst>
          </p:nvPr>
        </p:nvSpPr>
        <p:spPr bwMode="gray">
          <a:xfrm>
            <a:off x="449263" y="6820549"/>
            <a:ext cx="7272905" cy="48768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400">
              <a:tabLst>
                <a:tab pos="2852937" algn="l"/>
              </a:tabLst>
            </a:pPr>
            <a:r>
              <a:rPr lang="en-US" sz="800" dirty="0">
                <a:solidFill>
                  <a:srgbClr val="000000"/>
                </a:solidFill>
                <a:latin typeface="Arial"/>
              </a:rPr>
              <a:t>Source: Morgan Stanley / Graph: </a:t>
            </a:r>
            <a:r>
              <a:rPr lang="en-US" sz="800" dirty="0" err="1">
                <a:solidFill>
                  <a:srgbClr val="000000"/>
                </a:solidFill>
                <a:latin typeface="Arial"/>
              </a:rPr>
              <a:t>FuW</a:t>
            </a:r>
            <a:r>
              <a:rPr lang="en-US" sz="800" dirty="0">
                <a:solidFill>
                  <a:srgbClr val="000000"/>
                </a:solidFill>
                <a:latin typeface="Arial"/>
              </a:rPr>
              <a:t>, </a:t>
            </a:r>
            <a:r>
              <a:rPr lang="en-US" sz="800" dirty="0" err="1">
                <a:solidFill>
                  <a:srgbClr val="000000"/>
                </a:solidFill>
                <a:latin typeface="Arial"/>
              </a:rPr>
              <a:t>ck</a:t>
            </a:r>
            <a:endParaRPr lang="en-US" sz="800" dirty="0">
              <a:solidFill>
                <a:srgbClr val="000000"/>
              </a:solidFill>
              <a:latin typeface="Arial"/>
            </a:endParaRPr>
          </a:p>
          <a:p>
            <a:pPr defTabSz="914400">
              <a:tabLst>
                <a:tab pos="2852937" algn="l"/>
              </a:tabLst>
            </a:pPr>
            <a:r>
              <a:rPr lang="en-US" sz="800" dirty="0">
                <a:solidFill>
                  <a:srgbClr val="000000"/>
                </a:solidFill>
                <a:latin typeface="Arial"/>
              </a:rPr>
              <a:t>SMI®: Swiss Market Index, SPI®: Swiss Performance Index. The Swiss Market Index contains the 20 largest Swiss companies. The SPI® contains more than 200 companies as of </a:t>
            </a:r>
            <a:r>
              <a:rPr lang="en-US" sz="800" dirty="0" smtClean="0">
                <a:solidFill>
                  <a:srgbClr val="000000"/>
                </a:solidFill>
                <a:latin typeface="Arial"/>
              </a:rPr>
              <a:t>28.02.2019</a:t>
            </a:r>
            <a:endParaRPr lang="en-US" sz="800" dirty="0">
              <a:solidFill>
                <a:srgbClr val="000000"/>
              </a:solidFill>
              <a:latin typeface="Arial"/>
            </a:endParaRPr>
          </a:p>
          <a:p>
            <a:pPr defTabSz="914400">
              <a:tabLst>
                <a:tab pos="2852937" algn="l"/>
              </a:tabLst>
            </a:pPr>
            <a:r>
              <a:rPr lang="en-US" sz="800" dirty="0">
                <a:solidFill>
                  <a:srgbClr val="000000"/>
                </a:solidFill>
                <a:latin typeface="Arial"/>
              </a:rPr>
              <a:t>*Global split: North America: 30%, Western Europe: 25%, Asia/Pacific region: 20%, Latin America: 9%, Eastern Europe: 4%, Middle East, Africa: 4%</a:t>
            </a:r>
          </a:p>
        </p:txBody>
      </p:sp>
      <p:cxnSp>
        <p:nvCxnSpPr>
          <p:cNvPr id="15" name="Straight Connector 14"/>
          <p:cNvCxnSpPr/>
          <p:nvPr>
            <p:custDataLst>
              <p:tags r:id="rId3"/>
            </p:custDataLst>
          </p:nvPr>
        </p:nvCxnSpPr>
        <p:spPr bwMode="gray">
          <a:xfrm>
            <a:off x="449264" y="6760910"/>
            <a:ext cx="9793286"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129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a:xfrm>
            <a:off x="449362" y="1476376"/>
            <a:ext cx="4893915" cy="258532"/>
          </a:xfrm>
        </p:spPr>
        <p:txBody>
          <a:bodyPr wrap="square">
            <a:spAutoFit/>
          </a:bodyPr>
          <a:lstStyle/>
          <a:p>
            <a:r>
              <a:rPr lang="en-US" dirty="0" smtClean="0"/>
              <a:t>Depreciation of currencies versus CHF since 1973</a:t>
            </a:r>
            <a:endParaRPr lang="en-US" dirty="0"/>
          </a:p>
        </p:txBody>
      </p:sp>
      <p:sp>
        <p:nvSpPr>
          <p:cNvPr id="4" name="Title 3"/>
          <p:cNvSpPr>
            <a:spLocks noGrp="1"/>
          </p:cNvSpPr>
          <p:nvPr>
            <p:ph type="title"/>
          </p:nvPr>
        </p:nvSpPr>
        <p:spPr/>
        <p:txBody>
          <a:bodyPr/>
          <a:lstStyle/>
          <a:p>
            <a:r>
              <a:rPr lang="en-US" dirty="0" smtClean="0"/>
              <a:t>Intelligence: The strong franc forces companies to be innovative</a:t>
            </a:r>
            <a:endParaRPr lang="en-US" dirty="0"/>
          </a:p>
        </p:txBody>
      </p:sp>
      <p:sp>
        <p:nvSpPr>
          <p:cNvPr id="6" name="Content Placeholder 5"/>
          <p:cNvSpPr>
            <a:spLocks noGrp="1"/>
          </p:cNvSpPr>
          <p:nvPr>
            <p:ph sz="quarter" idx="18"/>
          </p:nvPr>
        </p:nvSpPr>
        <p:spPr/>
        <p:txBody>
          <a:bodyPr/>
          <a:lstStyle/>
          <a:p>
            <a:pPr>
              <a:spcAft>
                <a:spcPts val="600"/>
              </a:spcAft>
            </a:pPr>
            <a:r>
              <a:rPr lang="en-US" sz="1400" dirty="0"/>
              <a:t>On 15 September 1971, President Nixon cancelled the convertibility of the US dollar to gold</a:t>
            </a:r>
          </a:p>
          <a:p>
            <a:pPr>
              <a:spcAft>
                <a:spcPts val="600"/>
              </a:spcAft>
            </a:pPr>
            <a:r>
              <a:rPr lang="en-US" sz="1400" dirty="0"/>
              <a:t>Since March 1973, most of the world’s currencies have no longer been pegged to the US dollar, and flexible exchange rates have been used</a:t>
            </a:r>
          </a:p>
          <a:p>
            <a:pPr>
              <a:spcAft>
                <a:spcPts val="600"/>
              </a:spcAft>
            </a:pPr>
            <a:r>
              <a:rPr lang="en-US" sz="1400" dirty="0"/>
              <a:t>Since then, the Swiss franc has become the world’s strongest currency</a:t>
            </a:r>
          </a:p>
          <a:p>
            <a:pPr>
              <a:spcAft>
                <a:spcPts val="600"/>
              </a:spcAft>
            </a:pPr>
            <a:r>
              <a:rPr lang="en-US" sz="1400" dirty="0"/>
              <a:t>The strength of the Swiss franc continues to be a burden for enterprises, forcing them to continuously improve their productivity and innovation in order to remain competitive at the international level</a:t>
            </a:r>
          </a:p>
          <a:p>
            <a:pPr>
              <a:spcAft>
                <a:spcPts val="600"/>
              </a:spcAft>
            </a:pPr>
            <a:r>
              <a:rPr lang="en-US" sz="1400" dirty="0"/>
              <a:t>The high export share despite the strong currency shows that this has been achieved</a:t>
            </a:r>
          </a:p>
        </p:txBody>
      </p:sp>
      <p:sp>
        <p:nvSpPr>
          <p:cNvPr id="7" name="TextBox 6"/>
          <p:cNvSpPr txBox="1"/>
          <p:nvPr>
            <p:custDataLst>
              <p:tags r:id="rId2"/>
            </p:custDataLst>
          </p:nvPr>
        </p:nvSpPr>
        <p:spPr bwMode="gray">
          <a:xfrm>
            <a:off x="449263" y="7064388"/>
            <a:ext cx="7272905" cy="2438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400">
              <a:tabLst>
                <a:tab pos="2852937" algn="l"/>
              </a:tabLst>
            </a:pPr>
            <a:r>
              <a:rPr lang="en-US" sz="800" dirty="0" smtClean="0">
                <a:solidFill>
                  <a:srgbClr val="000000"/>
                </a:solidFill>
                <a:latin typeface="Arial"/>
              </a:rPr>
              <a:t>Change from 01.01.1973 – 28.02.2019</a:t>
            </a:r>
          </a:p>
          <a:p>
            <a:pPr defTabSz="914400">
              <a:tabLst>
                <a:tab pos="2852937" algn="l"/>
              </a:tabLst>
            </a:pPr>
            <a:r>
              <a:rPr lang="en-US" sz="800" dirty="0" smtClean="0">
                <a:solidFill>
                  <a:srgbClr val="000000"/>
                </a:solidFill>
                <a:latin typeface="Arial"/>
              </a:rPr>
              <a:t>* DEM (German mark) until 31.12.1998, EUR from 01.01.1999</a:t>
            </a:r>
            <a:endParaRPr lang="en-US" sz="800" dirty="0">
              <a:solidFill>
                <a:srgbClr val="000000"/>
              </a:solidFill>
              <a:latin typeface="Arial"/>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499081864"/>
              </p:ext>
            </p:extLst>
          </p:nvPr>
        </p:nvGraphicFramePr>
        <p:xfrm>
          <a:off x="676994" y="1605642"/>
          <a:ext cx="4438650" cy="4314825"/>
        </p:xfrm>
        <a:graphic>
          <a:graphicData uri="http://schemas.openxmlformats.org/presentationml/2006/ole">
            <mc:AlternateContent xmlns:mc="http://schemas.openxmlformats.org/markup-compatibility/2006">
              <mc:Choice xmlns:v="urn:schemas-microsoft-com:vml" Requires="v">
                <p:oleObj spid="_x0000_s22609" name="Worksheet" r:id="rId4" imgW="4438498" imgH="4314641" progId="Excel.Sheet.12">
                  <p:link updateAutomatic="1"/>
                </p:oleObj>
              </mc:Choice>
              <mc:Fallback>
                <p:oleObj name="Worksheet" r:id="rId4" imgW="4438498" imgH="4314641" progId="Excel.Sheet.12">
                  <p:link updateAutomatic="1"/>
                  <p:pic>
                    <p:nvPicPr>
                      <p:cNvPr id="0" name=""/>
                      <p:cNvPicPr/>
                      <p:nvPr/>
                    </p:nvPicPr>
                    <p:blipFill>
                      <a:blip r:embed="rId5"/>
                      <a:stretch>
                        <a:fillRect/>
                      </a:stretch>
                    </p:blipFill>
                    <p:spPr>
                      <a:xfrm>
                        <a:off x="676994" y="1605642"/>
                        <a:ext cx="4438650" cy="4314825"/>
                      </a:xfrm>
                      <a:prstGeom prst="rect">
                        <a:avLst/>
                      </a:prstGeom>
                    </p:spPr>
                  </p:pic>
                </p:oleObj>
              </mc:Fallback>
            </mc:AlternateContent>
          </a:graphicData>
        </a:graphic>
      </p:graphicFrame>
    </p:spTree>
    <p:extLst>
      <p:ext uri="{BB962C8B-B14F-4D97-AF65-F5344CB8AC3E}">
        <p14:creationId xmlns:p14="http://schemas.microsoft.com/office/powerpoint/2010/main" val="1895129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p:cNvGraphicFramePr>
            <a:graphicFrameLocks noChangeAspect="1"/>
          </p:cNvGraphicFramePr>
          <p:nvPr>
            <p:extLst>
              <p:ext uri="{D42A27DB-BD31-4B8C-83A1-F6EECF244321}">
                <p14:modId xmlns:p14="http://schemas.microsoft.com/office/powerpoint/2010/main" val="2471556447"/>
              </p:ext>
            </p:extLst>
          </p:nvPr>
        </p:nvGraphicFramePr>
        <p:xfrm>
          <a:off x="6893734" y="2134727"/>
          <a:ext cx="2867025" cy="4314825"/>
        </p:xfrm>
        <a:graphic>
          <a:graphicData uri="http://schemas.openxmlformats.org/presentationml/2006/ole">
            <mc:AlternateContent xmlns:mc="http://schemas.openxmlformats.org/markup-compatibility/2006">
              <mc:Choice xmlns:v="urn:schemas-microsoft-com:vml" Requires="v">
                <p:oleObj spid="_x0000_s25803" name="Worksheet" r:id="rId7" imgW="2867193" imgH="4314641" progId="Excel.Sheet.12">
                  <p:link updateAutomatic="1"/>
                </p:oleObj>
              </mc:Choice>
              <mc:Fallback>
                <p:oleObj name="Worksheet" r:id="rId7" imgW="2867193" imgH="4314641" progId="Excel.Sheet.12">
                  <p:link updateAutomatic="1"/>
                  <p:pic>
                    <p:nvPicPr>
                      <p:cNvPr id="0" name=""/>
                      <p:cNvPicPr/>
                      <p:nvPr/>
                    </p:nvPicPr>
                    <p:blipFill>
                      <a:blip r:embed="rId8"/>
                      <a:stretch>
                        <a:fillRect/>
                      </a:stretch>
                    </p:blipFill>
                    <p:spPr>
                      <a:xfrm>
                        <a:off x="6893734" y="2134727"/>
                        <a:ext cx="2867025" cy="4314825"/>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smtClean="0"/>
              <a:t>Quality: High-quality industries, premium names</a:t>
            </a:r>
            <a:endParaRPr lang="en-US" dirty="0"/>
          </a:p>
        </p:txBody>
      </p:sp>
      <p:sp>
        <p:nvSpPr>
          <p:cNvPr id="3" name="Text Placeholder 2"/>
          <p:cNvSpPr>
            <a:spLocks noGrp="1"/>
          </p:cNvSpPr>
          <p:nvPr>
            <p:ph type="body" sz="quarter" idx="16"/>
            <p:custDataLst>
              <p:tags r:id="rId2"/>
            </p:custDataLst>
          </p:nvPr>
        </p:nvSpPr>
        <p:spPr/>
        <p:txBody>
          <a:bodyPr/>
          <a:lstStyle/>
          <a:p>
            <a:r>
              <a:rPr lang="en-US" dirty="0" smtClean="0">
                <a:solidFill>
                  <a:srgbClr val="000000"/>
                </a:solidFill>
              </a:rPr>
              <a:t>No. of companies in the industry</a:t>
            </a:r>
            <a:endParaRPr lang="en-US" dirty="0">
              <a:solidFill>
                <a:srgbClr val="000000"/>
              </a:solidFill>
            </a:endParaRPr>
          </a:p>
        </p:txBody>
      </p:sp>
      <p:sp>
        <p:nvSpPr>
          <p:cNvPr id="4" name="Text Placeholder 3"/>
          <p:cNvSpPr>
            <a:spLocks noGrp="1"/>
          </p:cNvSpPr>
          <p:nvPr>
            <p:ph type="body" sz="quarter" idx="14"/>
            <p:custDataLst>
              <p:tags r:id="rId3"/>
            </p:custDataLst>
          </p:nvPr>
        </p:nvSpPr>
        <p:spPr/>
        <p:txBody>
          <a:bodyPr/>
          <a:lstStyle/>
          <a:p>
            <a:r>
              <a:rPr lang="en-US" smtClean="0">
                <a:solidFill>
                  <a:srgbClr val="000000"/>
                </a:solidFill>
              </a:rPr>
              <a:t>Industry weighting</a:t>
            </a:r>
            <a:endParaRPr lang="en-US" dirty="0">
              <a:solidFill>
                <a:srgbClr val="000000"/>
              </a:solidFill>
            </a:endParaRPr>
          </a:p>
        </p:txBody>
      </p:sp>
      <p:sp>
        <p:nvSpPr>
          <p:cNvPr id="7" name="Text Placeholder 6"/>
          <p:cNvSpPr>
            <a:spLocks noGrp="1"/>
          </p:cNvSpPr>
          <p:nvPr>
            <p:ph type="body" sz="quarter" idx="19"/>
            <p:custDataLst>
              <p:tags r:id="rId4"/>
            </p:custDataLst>
          </p:nvPr>
        </p:nvSpPr>
        <p:spPr/>
        <p:txBody>
          <a:bodyPr/>
          <a:lstStyle/>
          <a:p>
            <a:r>
              <a:rPr lang="en-US" smtClean="0">
                <a:solidFill>
                  <a:srgbClr val="000000"/>
                </a:solidFill>
              </a:rPr>
              <a:t>Capitalization (CHF 1.3 trillion)</a:t>
            </a:r>
            <a:endParaRPr lang="en-US" dirty="0">
              <a:solidFill>
                <a:srgbClr val="000000"/>
              </a:solidFill>
            </a:endParaRPr>
          </a:p>
        </p:txBody>
      </p:sp>
      <p:sp>
        <p:nvSpPr>
          <p:cNvPr id="9" name="TextBox 8"/>
          <p:cNvSpPr txBox="1"/>
          <p:nvPr>
            <p:custDataLst>
              <p:tags r:id="rId5"/>
            </p:custDataLst>
          </p:nvPr>
        </p:nvSpPr>
        <p:spPr bwMode="gray">
          <a:xfrm>
            <a:off x="449263" y="7064388"/>
            <a:ext cx="7272905" cy="2438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400">
              <a:tabLst>
                <a:tab pos="2852937" algn="l"/>
              </a:tabLst>
            </a:pPr>
            <a:r>
              <a:rPr lang="en-US" sz="800" dirty="0" smtClean="0">
                <a:solidFill>
                  <a:srgbClr val="000000"/>
                </a:solidFill>
                <a:latin typeface="Arial"/>
              </a:rPr>
              <a:t>SPI®: Swiss Performance Index. The SPI® contains more than 200 companies</a:t>
            </a:r>
          </a:p>
          <a:p>
            <a:pPr defTabSz="914400">
              <a:tabLst>
                <a:tab pos="2852937" algn="l"/>
              </a:tabLst>
            </a:pPr>
            <a:r>
              <a:rPr lang="en-US" sz="800" dirty="0" smtClean="0">
                <a:solidFill>
                  <a:srgbClr val="000000"/>
                </a:solidFill>
                <a:latin typeface="Arial"/>
              </a:rPr>
              <a:t>as of 28.02.2019</a:t>
            </a:r>
            <a:endParaRPr lang="en-US" sz="800" dirty="0">
              <a:solidFill>
                <a:srgbClr val="000000"/>
              </a:solidFill>
              <a:latin typeface="Arial"/>
            </a:endParaRPr>
          </a:p>
        </p:txBody>
      </p:sp>
      <p:pic>
        <p:nvPicPr>
          <p:cNvPr id="16" name="Picture 7" descr="Unternehmenslogo">
            <a:hlinkClick r:id="rId9" tooltip="Unternehmenslogo"/>
          </p:cNvPr>
          <p:cNvPicPr>
            <a:picLocks noChangeAspect="1" noChangeArrowheads="1"/>
          </p:cNvPicPr>
          <p:nvPr/>
        </p:nvPicPr>
        <p:blipFill>
          <a:blip r:embed="rId10" cstate="print">
            <a:extLst>
              <a:ext uri="{28A0092B-C50C-407E-A947-70E740481C1C}">
                <a14:useLocalDpi xmlns:a14="http://schemas.microsoft.com/office/drawing/2010/main"/>
              </a:ext>
            </a:extLst>
          </a:blip>
          <a:srcRect/>
          <a:stretch>
            <a:fillRect/>
          </a:stretch>
        </p:blipFill>
        <p:spPr bwMode="auto">
          <a:xfrm>
            <a:off x="9197615" y="5865152"/>
            <a:ext cx="421156" cy="41868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5"/>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9197615" y="4098410"/>
            <a:ext cx="693679" cy="387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11" descr="Logo">
            <a:hlinkClick r:id="rId12" tooltip="Logo"/>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9197615" y="5088668"/>
            <a:ext cx="1034326" cy="18203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Object 9"/>
          <p:cNvGraphicFramePr>
            <a:graphicFrameLocks noChangeAspect="1"/>
          </p:cNvGraphicFramePr>
          <p:nvPr>
            <p:extLst>
              <p:ext uri="{D42A27DB-BD31-4B8C-83A1-F6EECF244321}">
                <p14:modId xmlns:p14="http://schemas.microsoft.com/office/powerpoint/2010/main" val="1000235994"/>
              </p:ext>
            </p:extLst>
          </p:nvPr>
        </p:nvGraphicFramePr>
        <p:xfrm>
          <a:off x="294461" y="1911350"/>
          <a:ext cx="2905125" cy="4314825"/>
        </p:xfrm>
        <a:graphic>
          <a:graphicData uri="http://schemas.openxmlformats.org/presentationml/2006/ole">
            <mc:AlternateContent xmlns:mc="http://schemas.openxmlformats.org/markup-compatibility/2006">
              <mc:Choice xmlns:v="urn:schemas-microsoft-com:vml" Requires="v">
                <p:oleObj spid="_x0000_s25804" name="Worksheet" r:id="rId14" imgW="2905232" imgH="4314641" progId="Excel.Sheet.12">
                  <p:link updateAutomatic="1"/>
                </p:oleObj>
              </mc:Choice>
              <mc:Fallback>
                <p:oleObj name="Worksheet" r:id="rId14" imgW="2905232" imgH="4314641" progId="Excel.Sheet.12">
                  <p:link updateAutomatic="1"/>
                  <p:pic>
                    <p:nvPicPr>
                      <p:cNvPr id="0" name=""/>
                      <p:cNvPicPr/>
                      <p:nvPr/>
                    </p:nvPicPr>
                    <p:blipFill>
                      <a:blip r:embed="rId15"/>
                      <a:stretch>
                        <a:fillRect/>
                      </a:stretch>
                    </p:blipFill>
                    <p:spPr>
                      <a:xfrm>
                        <a:off x="294461" y="1911350"/>
                        <a:ext cx="2905125" cy="4314825"/>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330413322"/>
              </p:ext>
            </p:extLst>
          </p:nvPr>
        </p:nvGraphicFramePr>
        <p:xfrm>
          <a:off x="3594097" y="1993440"/>
          <a:ext cx="2905125" cy="4314825"/>
        </p:xfrm>
        <a:graphic>
          <a:graphicData uri="http://schemas.openxmlformats.org/presentationml/2006/ole">
            <mc:AlternateContent xmlns:mc="http://schemas.openxmlformats.org/markup-compatibility/2006">
              <mc:Choice xmlns:v="urn:schemas-microsoft-com:vml" Requires="v">
                <p:oleObj spid="_x0000_s25805" name="Worksheet" r:id="rId16" imgW="2905232" imgH="4314641" progId="Excel.Sheet.12">
                  <p:link updateAutomatic="1"/>
                </p:oleObj>
              </mc:Choice>
              <mc:Fallback>
                <p:oleObj name="Worksheet" r:id="rId16" imgW="2905232" imgH="4314641" progId="Excel.Sheet.12">
                  <p:link updateAutomatic="1"/>
                  <p:pic>
                    <p:nvPicPr>
                      <p:cNvPr id="0" name=""/>
                      <p:cNvPicPr/>
                      <p:nvPr/>
                    </p:nvPicPr>
                    <p:blipFill>
                      <a:blip r:embed="rId17"/>
                      <a:stretch>
                        <a:fillRect/>
                      </a:stretch>
                    </p:blipFill>
                    <p:spPr>
                      <a:xfrm>
                        <a:off x="3594097" y="1993440"/>
                        <a:ext cx="2905125" cy="4314825"/>
                      </a:xfrm>
                      <a:prstGeom prst="rect">
                        <a:avLst/>
                      </a:prstGeom>
                    </p:spPr>
                  </p:pic>
                </p:oleObj>
              </mc:Fallback>
            </mc:AlternateContent>
          </a:graphicData>
        </a:graphic>
      </p:graphicFrame>
    </p:spTree>
    <p:extLst>
      <p:ext uri="{BB962C8B-B14F-4D97-AF65-F5344CB8AC3E}">
        <p14:creationId xmlns:p14="http://schemas.microsoft.com/office/powerpoint/2010/main" val="8660995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custDataLst>
              <p:tags r:id="rId2"/>
            </p:custDataLst>
          </p:nvPr>
        </p:nvSpPr>
        <p:spPr bwMode="gray">
          <a:xfrm>
            <a:off x="0" y="6810300"/>
            <a:ext cx="10691813" cy="127000"/>
          </a:xfrm>
          <a:prstGeom prst="rect">
            <a:avLst/>
          </a:prstGeom>
          <a:solidFill>
            <a:srgbClr val="FFFFFF"/>
          </a:solidFill>
          <a:ln w="3175" algn="ctr">
            <a:noFill/>
            <a:miter lim="800000"/>
            <a:headEnd type="none" w="sm" len="sm"/>
            <a:tailEnd type="none" w="sm" len="sm"/>
          </a:ln>
          <a:effectLst/>
          <a:extLst/>
        </p:spPr>
        <p:txBody>
          <a:bodyPr wrap="square" lIns="36000" tIns="36000" rIns="36000" bIns="36000" rtlCol="0" anchor="t" anchorCtr="0"/>
          <a:lstStyle/>
          <a:p>
            <a:pPr algn="ctr" eaLnBrk="1" fontAlgn="auto" hangingPunct="1">
              <a:spcBef>
                <a:spcPts val="0"/>
              </a:spcBef>
              <a:spcAft>
                <a:spcPts val="0"/>
              </a:spcAft>
              <a:buClr>
                <a:srgbClr val="2D4B84"/>
              </a:buClr>
            </a:pPr>
            <a:endParaRPr lang="en-US" sz="1400" dirty="0" smtClean="0">
              <a:solidFill>
                <a:srgbClr val="000000"/>
              </a:solidFill>
              <a:latin typeface="Arial"/>
            </a:endParaRPr>
          </a:p>
        </p:txBody>
      </p:sp>
      <p:sp>
        <p:nvSpPr>
          <p:cNvPr id="2" name="Title 1"/>
          <p:cNvSpPr>
            <a:spLocks noGrp="1"/>
          </p:cNvSpPr>
          <p:nvPr>
            <p:ph type="title"/>
          </p:nvPr>
        </p:nvSpPr>
        <p:spPr/>
        <p:txBody>
          <a:bodyPr/>
          <a:lstStyle/>
          <a:p>
            <a:r>
              <a:rPr lang="en-US" dirty="0" smtClean="0"/>
              <a:t>Reliability: Compelling long-term performance over 30 years</a:t>
            </a:r>
            <a:endParaRPr lang="en-US" dirty="0"/>
          </a:p>
        </p:txBody>
      </p:sp>
      <p:sp>
        <p:nvSpPr>
          <p:cNvPr id="3" name="Text Placeholder 2"/>
          <p:cNvSpPr>
            <a:spLocks noGrp="1"/>
          </p:cNvSpPr>
          <p:nvPr>
            <p:ph type="body" sz="quarter" idx="14"/>
          </p:nvPr>
        </p:nvSpPr>
        <p:spPr>
          <a:xfrm>
            <a:off x="449362" y="1476376"/>
            <a:ext cx="9793188" cy="258532"/>
          </a:xfrm>
        </p:spPr>
        <p:txBody>
          <a:bodyPr/>
          <a:lstStyle/>
          <a:p>
            <a:r>
              <a:rPr lang="de-CH" dirty="0"/>
              <a:t>SPI</a:t>
            </a:r>
            <a:r>
              <a:rPr lang="de-CH" baseline="30000" dirty="0"/>
              <a:t>®</a:t>
            </a:r>
            <a:r>
              <a:rPr lang="en-US" dirty="0" smtClean="0"/>
              <a:t> compared to international indices denominated in Swiss francs</a:t>
            </a:r>
            <a:endParaRPr lang="en-US" dirty="0"/>
          </a:p>
        </p:txBody>
      </p:sp>
      <p:sp>
        <p:nvSpPr>
          <p:cNvPr id="4" name="TextBox 3"/>
          <p:cNvSpPr txBox="1"/>
          <p:nvPr>
            <p:custDataLst>
              <p:tags r:id="rId3"/>
            </p:custDataLst>
          </p:nvPr>
        </p:nvSpPr>
        <p:spPr bwMode="gray">
          <a:xfrm>
            <a:off x="449263" y="6820549"/>
            <a:ext cx="7272905" cy="487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a:solidFill>
                  <a:schemeClr val="accent4"/>
                </a:solidFill>
              </a14:hiddenLine>
            </a:ext>
          </a:extLst>
        </p:spPr>
        <p:txBody>
          <a:bodyPr vert="horz" wrap="square" lIns="0" tIns="0" rIns="0" bIns="0" rtlCol="0" anchor="b">
            <a:spAutoFit/>
          </a:bodyPr>
          <a:lstStyle/>
          <a:p>
            <a:pPr defTabSz="914400">
              <a:tabLst>
                <a:tab pos="2852937" algn="l"/>
              </a:tabLst>
            </a:pPr>
            <a:r>
              <a:rPr lang="de-CH" sz="800" dirty="0">
                <a:solidFill>
                  <a:srgbClr val="000000"/>
                </a:solidFill>
              </a:rPr>
              <a:t>SPI</a:t>
            </a:r>
            <a:r>
              <a:rPr lang="de-CH" sz="800" baseline="30000" dirty="0">
                <a:solidFill>
                  <a:srgbClr val="000000"/>
                </a:solidFill>
              </a:rPr>
              <a:t>®</a:t>
            </a:r>
            <a:r>
              <a:rPr lang="en-US" sz="800" dirty="0" smtClean="0">
                <a:solidFill>
                  <a:srgbClr val="000000"/>
                </a:solidFill>
                <a:latin typeface="Arial"/>
              </a:rPr>
              <a:t>: Swiss Performance Index. The </a:t>
            </a:r>
            <a:r>
              <a:rPr lang="de-CH" sz="800" dirty="0">
                <a:solidFill>
                  <a:srgbClr val="000000"/>
                </a:solidFill>
              </a:rPr>
              <a:t>SPI</a:t>
            </a:r>
            <a:r>
              <a:rPr lang="de-CH" sz="800" baseline="30000" dirty="0">
                <a:solidFill>
                  <a:srgbClr val="000000"/>
                </a:solidFill>
              </a:rPr>
              <a:t>®</a:t>
            </a:r>
            <a:r>
              <a:rPr lang="en-US" sz="800" dirty="0" smtClean="0">
                <a:solidFill>
                  <a:srgbClr val="000000"/>
                </a:solidFill>
                <a:latin typeface="Arial"/>
              </a:rPr>
              <a:t> contains more than 200 companies</a:t>
            </a:r>
          </a:p>
          <a:p>
            <a:pPr defTabSz="914400">
              <a:tabLst>
                <a:tab pos="2852937" algn="l"/>
              </a:tabLst>
            </a:pPr>
            <a:r>
              <a:rPr lang="en-US" sz="800" dirty="0" smtClean="0">
                <a:solidFill>
                  <a:srgbClr val="000000"/>
                </a:solidFill>
                <a:latin typeface="Arial"/>
              </a:rPr>
              <a:t>Actual performance may deviate from this significantly. Past performance is no guarantee of future results and in no way constitutes an assurance on the part of Bank Vontobel AG with regard to returns or risks in the future. Reference currency CHF, as of 28.02.2019.</a:t>
            </a:r>
          </a:p>
          <a:p>
            <a:pPr defTabSz="914400">
              <a:tabLst>
                <a:tab pos="2852937" algn="l"/>
              </a:tabLst>
            </a:pPr>
            <a:r>
              <a:rPr lang="en-US" sz="800" dirty="0" smtClean="0">
                <a:solidFill>
                  <a:srgbClr val="000000"/>
                </a:solidFill>
                <a:latin typeface="Arial"/>
              </a:rPr>
              <a:t>Source: Bloomberg</a:t>
            </a:r>
            <a:endParaRPr lang="en-US" sz="800" dirty="0">
              <a:solidFill>
                <a:srgbClr val="000000"/>
              </a:solidFill>
              <a:latin typeface="Arial"/>
            </a:endParaRPr>
          </a:p>
        </p:txBody>
      </p:sp>
      <p:cxnSp>
        <p:nvCxnSpPr>
          <p:cNvPr id="5" name="Straight Connector 4"/>
          <p:cNvCxnSpPr/>
          <p:nvPr>
            <p:custDataLst>
              <p:tags r:id="rId4"/>
            </p:custDataLst>
          </p:nvPr>
        </p:nvCxnSpPr>
        <p:spPr bwMode="gray">
          <a:xfrm>
            <a:off x="449264" y="6784592"/>
            <a:ext cx="9793286"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7" name="Object 6"/>
          <p:cNvGraphicFramePr>
            <a:graphicFrameLocks noChangeAspect="1"/>
          </p:cNvGraphicFramePr>
          <p:nvPr>
            <p:extLst>
              <p:ext uri="{D42A27DB-BD31-4B8C-83A1-F6EECF244321}">
                <p14:modId xmlns:p14="http://schemas.microsoft.com/office/powerpoint/2010/main" val="2145726924"/>
              </p:ext>
            </p:extLst>
          </p:nvPr>
        </p:nvGraphicFramePr>
        <p:xfrm>
          <a:off x="264427" y="2086534"/>
          <a:ext cx="8991600" cy="4314825"/>
        </p:xfrm>
        <a:graphic>
          <a:graphicData uri="http://schemas.openxmlformats.org/presentationml/2006/ole">
            <mc:AlternateContent xmlns:mc="http://schemas.openxmlformats.org/markup-compatibility/2006">
              <mc:Choice xmlns:v="urn:schemas-microsoft-com:vml" Requires="v">
                <p:oleObj spid="_x0000_s26693" name="Worksheet" r:id="rId6" imgW="8991478" imgH="4314641" progId="Excel.Sheet.12">
                  <p:link updateAutomatic="1"/>
                </p:oleObj>
              </mc:Choice>
              <mc:Fallback>
                <p:oleObj name="Worksheet" r:id="rId6" imgW="8991478" imgH="4314641" progId="Excel.Sheet.12">
                  <p:link updateAutomatic="1"/>
                  <p:pic>
                    <p:nvPicPr>
                      <p:cNvPr id="0" name=""/>
                      <p:cNvPicPr/>
                      <p:nvPr/>
                    </p:nvPicPr>
                    <p:blipFill>
                      <a:blip r:embed="rId7"/>
                      <a:stretch>
                        <a:fillRect/>
                      </a:stretch>
                    </p:blipFill>
                    <p:spPr>
                      <a:xfrm>
                        <a:off x="264427" y="2086534"/>
                        <a:ext cx="8991600" cy="4314825"/>
                      </a:xfrm>
                      <a:prstGeom prst="rect">
                        <a:avLst/>
                      </a:prstGeom>
                    </p:spPr>
                  </p:pic>
                </p:oleObj>
              </mc:Fallback>
            </mc:AlternateContent>
          </a:graphicData>
        </a:graphic>
      </p:graphicFrame>
    </p:spTree>
    <p:extLst>
      <p:ext uri="{BB962C8B-B14F-4D97-AF65-F5344CB8AC3E}">
        <p14:creationId xmlns:p14="http://schemas.microsoft.com/office/powerpoint/2010/main" val="32050194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Table of contents</a:t>
            </a:r>
            <a:endParaRPr lang="en-US" dirty="0"/>
          </a:p>
        </p:txBody>
      </p:sp>
      <p:sp>
        <p:nvSpPr>
          <p:cNvPr id="4" name="TocEntry1">
            <a:hlinkClick r:id="" action="ppaction://noaction"/>
          </p:cNvPr>
          <p:cNvSpPr txBox="1"/>
          <p:nvPr>
            <p:custDataLst>
              <p:tags r:id="rId1"/>
            </p:custDataLst>
          </p:nvPr>
        </p:nvSpPr>
        <p:spPr>
          <a:xfrm>
            <a:off x="952500" y="2051050"/>
            <a:ext cx="9289131" cy="415498"/>
          </a:xfrm>
          <a:prstGeom prst="rect">
            <a:avLst/>
          </a:prstGeom>
          <a:noFill/>
        </p:spPr>
        <p:txBody>
          <a:bodyPr vert="horz" wrap="square" lIns="0" tIns="0" rIns="0" bIns="0" rtlCol="0">
            <a:spAutoFit/>
          </a:bodyPr>
          <a:lstStyle/>
          <a:p>
            <a:pPr>
              <a:lnSpc>
                <a:spcPct val="90000"/>
              </a:lnSpc>
            </a:pPr>
            <a:r>
              <a:rPr lang="de-CH" sz="3000" dirty="0" smtClean="0">
                <a:latin typeface="Arial"/>
              </a:rPr>
              <a:t>Summary</a:t>
            </a:r>
            <a:endParaRPr lang="de-CH" sz="3000" dirty="0">
              <a:latin typeface="Arial"/>
            </a:endParaRPr>
          </a:p>
        </p:txBody>
      </p:sp>
      <p:sp>
        <p:nvSpPr>
          <p:cNvPr id="5" name="TocEntry2">
            <a:hlinkClick r:id="" action="ppaction://noaction"/>
          </p:cNvPr>
          <p:cNvSpPr txBox="1"/>
          <p:nvPr>
            <p:custDataLst>
              <p:tags r:id="rId2"/>
            </p:custDataLst>
          </p:nvPr>
        </p:nvSpPr>
        <p:spPr>
          <a:xfrm>
            <a:off x="952500" y="2542748"/>
            <a:ext cx="9289131" cy="415498"/>
          </a:xfrm>
          <a:prstGeom prst="rect">
            <a:avLst/>
          </a:prstGeom>
          <a:noFill/>
        </p:spPr>
        <p:txBody>
          <a:bodyPr vert="horz" wrap="square" lIns="0" tIns="0" rIns="0" bIns="0" rtlCol="0">
            <a:spAutoFit/>
          </a:bodyPr>
          <a:lstStyle/>
          <a:p>
            <a:pPr>
              <a:lnSpc>
                <a:spcPct val="90000"/>
              </a:lnSpc>
            </a:pPr>
            <a:r>
              <a:rPr lang="de-CH" sz="3000" dirty="0" smtClean="0">
                <a:solidFill>
                  <a:srgbClr val="000000"/>
                </a:solidFill>
                <a:latin typeface="Arial"/>
              </a:rPr>
              <a:t>Swiss </a:t>
            </a:r>
            <a:r>
              <a:rPr lang="de-CH" sz="3000" dirty="0" err="1" smtClean="0">
                <a:solidFill>
                  <a:srgbClr val="000000"/>
                </a:solidFill>
                <a:latin typeface="Arial"/>
              </a:rPr>
              <a:t>equities</a:t>
            </a:r>
            <a:endParaRPr lang="de-CH" sz="3000" dirty="0">
              <a:solidFill>
                <a:srgbClr val="000000"/>
              </a:solidFill>
              <a:latin typeface="Arial"/>
            </a:endParaRPr>
          </a:p>
        </p:txBody>
      </p:sp>
      <p:sp>
        <p:nvSpPr>
          <p:cNvPr id="6" name="TocEntry3">
            <a:hlinkClick r:id="" action="ppaction://noaction"/>
          </p:cNvPr>
          <p:cNvSpPr txBox="1"/>
          <p:nvPr>
            <p:custDataLst>
              <p:tags r:id="rId3"/>
            </p:custDataLst>
          </p:nvPr>
        </p:nvSpPr>
        <p:spPr>
          <a:xfrm>
            <a:off x="952500" y="3034446"/>
            <a:ext cx="9289131" cy="415498"/>
          </a:xfrm>
          <a:prstGeom prst="rect">
            <a:avLst/>
          </a:prstGeom>
          <a:noFill/>
        </p:spPr>
        <p:txBody>
          <a:bodyPr vert="horz" wrap="square" lIns="0" tIns="0" rIns="0" bIns="0" rtlCol="0">
            <a:spAutoFit/>
          </a:bodyPr>
          <a:lstStyle/>
          <a:p>
            <a:pPr>
              <a:lnSpc>
                <a:spcPct val="90000"/>
              </a:lnSpc>
            </a:pPr>
            <a:r>
              <a:rPr lang="de-CH" sz="3000" b="1" dirty="0" err="1" smtClean="0">
                <a:solidFill>
                  <a:srgbClr val="000000"/>
                </a:solidFill>
                <a:latin typeface="Arial"/>
              </a:rPr>
              <a:t>Our</a:t>
            </a:r>
            <a:r>
              <a:rPr lang="de-CH" sz="3000" b="1" dirty="0" smtClean="0">
                <a:solidFill>
                  <a:srgbClr val="000000"/>
                </a:solidFill>
                <a:latin typeface="Arial"/>
              </a:rPr>
              <a:t> </a:t>
            </a:r>
            <a:r>
              <a:rPr lang="de-CH" sz="3000" b="1" dirty="0" err="1" smtClean="0">
                <a:solidFill>
                  <a:srgbClr val="000000"/>
                </a:solidFill>
                <a:latin typeface="Arial"/>
              </a:rPr>
              <a:t>investment</a:t>
            </a:r>
            <a:r>
              <a:rPr lang="de-CH" sz="3000" b="1" dirty="0" smtClean="0">
                <a:solidFill>
                  <a:srgbClr val="000000"/>
                </a:solidFill>
                <a:latin typeface="Arial"/>
              </a:rPr>
              <a:t> </a:t>
            </a:r>
            <a:r>
              <a:rPr lang="de-CH" sz="3000" b="1" dirty="0" err="1" smtClean="0">
                <a:solidFill>
                  <a:srgbClr val="000000"/>
                </a:solidFill>
                <a:latin typeface="Arial"/>
              </a:rPr>
              <a:t>approach</a:t>
            </a:r>
            <a:endParaRPr lang="de-CH" sz="3000" b="1" dirty="0">
              <a:solidFill>
                <a:srgbClr val="000000"/>
              </a:solidFill>
              <a:latin typeface="Arial"/>
            </a:endParaRPr>
          </a:p>
        </p:txBody>
      </p:sp>
      <p:sp>
        <p:nvSpPr>
          <p:cNvPr id="7" name="TocEntry4">
            <a:hlinkClick r:id="" action="ppaction://noaction"/>
          </p:cNvPr>
          <p:cNvSpPr txBox="1"/>
          <p:nvPr>
            <p:custDataLst>
              <p:tags r:id="rId4"/>
            </p:custDataLst>
          </p:nvPr>
        </p:nvSpPr>
        <p:spPr>
          <a:xfrm>
            <a:off x="952500" y="3526144"/>
            <a:ext cx="9289131" cy="415498"/>
          </a:xfrm>
          <a:prstGeom prst="rect">
            <a:avLst/>
          </a:prstGeom>
          <a:noFill/>
        </p:spPr>
        <p:txBody>
          <a:bodyPr vert="horz" wrap="square" lIns="0" tIns="0" rIns="0" bIns="0" rtlCol="0">
            <a:spAutoFit/>
          </a:bodyPr>
          <a:lstStyle/>
          <a:p>
            <a:pPr>
              <a:lnSpc>
                <a:spcPct val="90000"/>
              </a:lnSpc>
            </a:pPr>
            <a:r>
              <a:rPr lang="de-CH" sz="3000" dirty="0" smtClean="0">
                <a:solidFill>
                  <a:srgbClr val="000000"/>
                </a:solidFill>
                <a:latin typeface="Arial"/>
              </a:rPr>
              <a:t>Vontobel Specials Swiss </a:t>
            </a:r>
            <a:r>
              <a:rPr lang="de-CH" sz="3000" dirty="0" err="1" smtClean="0">
                <a:solidFill>
                  <a:srgbClr val="000000"/>
                </a:solidFill>
                <a:latin typeface="Arial"/>
              </a:rPr>
              <a:t>Equities</a:t>
            </a:r>
            <a:endParaRPr lang="de-CH" sz="3000" dirty="0">
              <a:solidFill>
                <a:srgbClr val="000000"/>
              </a:solidFill>
              <a:latin typeface="Arial"/>
            </a:endParaRPr>
          </a:p>
        </p:txBody>
      </p:sp>
      <p:sp>
        <p:nvSpPr>
          <p:cNvPr id="8" name="TocEntry5">
            <a:hlinkClick r:id="" action="ppaction://noaction"/>
          </p:cNvPr>
          <p:cNvSpPr txBox="1"/>
          <p:nvPr>
            <p:custDataLst>
              <p:tags r:id="rId5"/>
            </p:custDataLst>
          </p:nvPr>
        </p:nvSpPr>
        <p:spPr>
          <a:xfrm>
            <a:off x="952500" y="4017842"/>
            <a:ext cx="9289131" cy="415498"/>
          </a:xfrm>
          <a:prstGeom prst="rect">
            <a:avLst/>
          </a:prstGeom>
          <a:noFill/>
        </p:spPr>
        <p:txBody>
          <a:bodyPr vert="horz" wrap="square" lIns="0" tIns="0" rIns="0" bIns="0" rtlCol="0">
            <a:spAutoFit/>
          </a:bodyPr>
          <a:lstStyle/>
          <a:p>
            <a:pPr>
              <a:lnSpc>
                <a:spcPct val="90000"/>
              </a:lnSpc>
            </a:pPr>
            <a:r>
              <a:rPr lang="de-CH" sz="3000" smtClean="0">
                <a:solidFill>
                  <a:srgbClr val="000000"/>
                </a:solidFill>
                <a:latin typeface="Arial"/>
              </a:rPr>
              <a:t>Appendix</a:t>
            </a:r>
            <a:endParaRPr lang="de-CH" sz="3000" dirty="0">
              <a:solidFill>
                <a:srgbClr val="000000"/>
              </a:solidFill>
              <a:latin typeface="Arial"/>
            </a:endParaRPr>
          </a:p>
        </p:txBody>
      </p:sp>
    </p:spTree>
    <p:extLst>
      <p:ext uri="{BB962C8B-B14F-4D97-AF65-F5344CB8AC3E}">
        <p14:creationId xmlns:p14="http://schemas.microsoft.com/office/powerpoint/2010/main" val="5360587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p:cNvGraphicFramePr>
            <a:graphicFrameLocks noChangeAspect="1"/>
          </p:cNvGraphicFramePr>
          <p:nvPr>
            <p:extLst>
              <p:ext uri="{D42A27DB-BD31-4B8C-83A1-F6EECF244321}">
                <p14:modId xmlns:p14="http://schemas.microsoft.com/office/powerpoint/2010/main" val="3531243186"/>
              </p:ext>
            </p:extLst>
          </p:nvPr>
        </p:nvGraphicFramePr>
        <p:xfrm>
          <a:off x="6012788" y="2017037"/>
          <a:ext cx="4419600" cy="4314825"/>
        </p:xfrm>
        <a:graphic>
          <a:graphicData uri="http://schemas.openxmlformats.org/presentationml/2006/ole">
            <mc:AlternateContent xmlns:mc="http://schemas.openxmlformats.org/markup-compatibility/2006">
              <mc:Choice xmlns:v="urn:schemas-microsoft-com:vml" Requires="v">
                <p:oleObj spid="_x0000_s6798" name="Worksheet" r:id="rId5" imgW="4419478" imgH="4314641" progId="Excel.Sheet.12">
                  <p:link updateAutomatic="1"/>
                </p:oleObj>
              </mc:Choice>
              <mc:Fallback>
                <p:oleObj name="Worksheet" r:id="rId5" imgW="4419478" imgH="4314641" progId="Excel.Sheet.12">
                  <p:link updateAutomatic="1"/>
                  <p:pic>
                    <p:nvPicPr>
                      <p:cNvPr id="0" name=""/>
                      <p:cNvPicPr/>
                      <p:nvPr/>
                    </p:nvPicPr>
                    <p:blipFill>
                      <a:blip r:embed="rId6"/>
                      <a:stretch>
                        <a:fillRect/>
                      </a:stretch>
                    </p:blipFill>
                    <p:spPr>
                      <a:xfrm>
                        <a:off x="6012788" y="2017037"/>
                        <a:ext cx="4419600" cy="4314825"/>
                      </a:xfrm>
                      <a:prstGeom prst="rect">
                        <a:avLst/>
                      </a:prstGeom>
                    </p:spPr>
                  </p:pic>
                </p:oleObj>
              </mc:Fallback>
            </mc:AlternateContent>
          </a:graphicData>
        </a:graphic>
      </p:graphicFrame>
      <p:sp>
        <p:nvSpPr>
          <p:cNvPr id="16" name="Oval 15"/>
          <p:cNvSpPr/>
          <p:nvPr/>
        </p:nvSpPr>
        <p:spPr>
          <a:xfrm>
            <a:off x="2244045" y="4307255"/>
            <a:ext cx="76147" cy="7900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en-US" dirty="0"/>
          </a:p>
        </p:txBody>
      </p:sp>
      <p:sp>
        <p:nvSpPr>
          <p:cNvPr id="17" name="Oval 16"/>
          <p:cNvSpPr/>
          <p:nvPr/>
        </p:nvSpPr>
        <p:spPr>
          <a:xfrm>
            <a:off x="2688618" y="5070704"/>
            <a:ext cx="76147" cy="7900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en-US" dirty="0"/>
          </a:p>
        </p:txBody>
      </p:sp>
      <p:cxnSp>
        <p:nvCxnSpPr>
          <p:cNvPr id="25" name="Elbow Connector 24"/>
          <p:cNvCxnSpPr>
            <a:stCxn id="16" idx="6"/>
            <a:endCxn id="17" idx="0"/>
          </p:cNvCxnSpPr>
          <p:nvPr/>
        </p:nvCxnSpPr>
        <p:spPr>
          <a:xfrm>
            <a:off x="2320192" y="4346756"/>
            <a:ext cx="406500" cy="723948"/>
          </a:xfrm>
          <a:prstGeom prst="bentConnector2">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6" name="Elbow Connector 5"/>
          <p:cNvCxnSpPr/>
          <p:nvPr/>
        </p:nvCxnSpPr>
        <p:spPr>
          <a:xfrm>
            <a:off x="7923427" y="3329878"/>
            <a:ext cx="203422" cy="324000"/>
          </a:xfrm>
          <a:prstGeom prst="bentConnector2">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0" name="Object 9" hidden="1"/>
          <p:cNvGraphicFramePr>
            <a:graphicFrameLocks noChangeAspect="1"/>
          </p:cNvGraphicFramePr>
          <p:nvPr>
            <p:custDataLst>
              <p:tags r:id="rId2"/>
            </p:custDataLst>
            <p:extLst>
              <p:ext uri="{D42A27DB-BD31-4B8C-83A1-F6EECF244321}">
                <p14:modId xmlns:p14="http://schemas.microsoft.com/office/powerpoint/2010/main" val="2042335106"/>
              </p:ext>
            </p:ext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spid="_x0000_s6799"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1590" y="1590"/>
                        <a:ext cx="1587" cy="1587"/>
                      </a:xfrm>
                      <a:prstGeom prst="rect">
                        <a:avLst/>
                      </a:prstGeom>
                    </p:spPr>
                  </p:pic>
                </p:oleObj>
              </mc:Fallback>
            </mc:AlternateContent>
          </a:graphicData>
        </a:graphic>
      </p:graphicFrame>
      <p:sp>
        <p:nvSpPr>
          <p:cNvPr id="2" name="Text Placeholder 1"/>
          <p:cNvSpPr>
            <a:spLocks noGrp="1"/>
          </p:cNvSpPr>
          <p:nvPr>
            <p:ph type="body" sz="quarter" idx="16"/>
          </p:nvPr>
        </p:nvSpPr>
        <p:spPr>
          <a:xfrm>
            <a:off x="5490551" y="1476376"/>
            <a:ext cx="4752000" cy="258532"/>
          </a:xfrm>
        </p:spPr>
        <p:txBody>
          <a:bodyPr wrap="square">
            <a:spAutoFit/>
          </a:bodyPr>
          <a:lstStyle/>
          <a:p>
            <a:r>
              <a:rPr lang="en-US" dirty="0" smtClean="0"/>
              <a:t>Earnings per share (real economy)</a:t>
            </a:r>
            <a:endParaRPr lang="en-US" dirty="0"/>
          </a:p>
        </p:txBody>
      </p:sp>
      <p:sp>
        <p:nvSpPr>
          <p:cNvPr id="3" name="Text Placeholder 2"/>
          <p:cNvSpPr>
            <a:spLocks noGrp="1"/>
          </p:cNvSpPr>
          <p:nvPr>
            <p:ph type="body" sz="quarter" idx="14"/>
          </p:nvPr>
        </p:nvSpPr>
        <p:spPr>
          <a:xfrm>
            <a:off x="449362" y="1476376"/>
            <a:ext cx="4752000" cy="258532"/>
          </a:xfrm>
        </p:spPr>
        <p:txBody>
          <a:bodyPr wrap="square">
            <a:spAutoFit/>
          </a:bodyPr>
          <a:lstStyle/>
          <a:p>
            <a:r>
              <a:rPr lang="en-US" dirty="0" smtClean="0"/>
              <a:t>Equity price (capital market)</a:t>
            </a:r>
            <a:endParaRPr lang="en-US" dirty="0"/>
          </a:p>
        </p:txBody>
      </p:sp>
      <p:sp>
        <p:nvSpPr>
          <p:cNvPr id="4" name="Title 3"/>
          <p:cNvSpPr>
            <a:spLocks noGrp="1"/>
          </p:cNvSpPr>
          <p:nvPr>
            <p:ph type="title"/>
          </p:nvPr>
        </p:nvSpPr>
        <p:spPr>
          <a:xfrm>
            <a:off x="449363" y="440929"/>
            <a:ext cx="7519094" cy="674612"/>
          </a:xfrm>
        </p:spPr>
        <p:txBody>
          <a:bodyPr/>
          <a:lstStyle/>
          <a:p>
            <a:pPr>
              <a:lnSpc>
                <a:spcPct val="80000"/>
              </a:lnSpc>
            </a:pPr>
            <a:r>
              <a:rPr lang="en-US" dirty="0" smtClean="0"/>
              <a:t>Nervous capital markets vs stable real economy offers opportunities</a:t>
            </a:r>
            <a:endParaRPr lang="en-US" dirty="0"/>
          </a:p>
        </p:txBody>
      </p:sp>
      <p:sp>
        <p:nvSpPr>
          <p:cNvPr id="9" name="TextBox 8"/>
          <p:cNvSpPr txBox="1"/>
          <p:nvPr>
            <p:custDataLst>
              <p:tags r:id="rId3"/>
            </p:custDataLst>
          </p:nvPr>
        </p:nvSpPr>
        <p:spPr bwMode="gray">
          <a:xfrm>
            <a:off x="449264" y="7062009"/>
            <a:ext cx="7272904" cy="2462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r>
              <a:rPr lang="en-US" sz="800" dirty="0">
                <a:solidFill>
                  <a:srgbClr val="000000"/>
                </a:solidFill>
              </a:rPr>
              <a:t>Source: Bloomberg</a:t>
            </a:r>
          </a:p>
          <a:p>
            <a:r>
              <a:rPr lang="en-US" sz="800" dirty="0">
                <a:solidFill>
                  <a:srgbClr val="000000"/>
                </a:solidFill>
              </a:rPr>
              <a:t>as of </a:t>
            </a:r>
            <a:r>
              <a:rPr lang="en-US" sz="800" dirty="0" smtClean="0">
                <a:solidFill>
                  <a:srgbClr val="000000"/>
                </a:solidFill>
              </a:rPr>
              <a:t>28.02.2019</a:t>
            </a:r>
            <a:endParaRPr lang="en-US" sz="800" dirty="0">
              <a:solidFill>
                <a:srgbClr val="000000"/>
              </a:solidFill>
            </a:endParaRPr>
          </a:p>
        </p:txBody>
      </p:sp>
      <p:pic>
        <p:nvPicPr>
          <p:cNvPr id="13" name="Picture 12"/>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193252" y="1693863"/>
            <a:ext cx="1008112" cy="173396"/>
          </a:xfrm>
          <a:prstGeom prst="rect">
            <a:avLst/>
          </a:prstGeom>
        </p:spPr>
      </p:pic>
      <p:pic>
        <p:nvPicPr>
          <p:cNvPr id="14" name="Picture 13"/>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9233827" y="1693863"/>
            <a:ext cx="1008112" cy="173396"/>
          </a:xfrm>
          <a:prstGeom prst="rect">
            <a:avLst/>
          </a:prstGeom>
        </p:spPr>
      </p:pic>
      <p:sp>
        <p:nvSpPr>
          <p:cNvPr id="21" name="Oval 20"/>
          <p:cNvSpPr/>
          <p:nvPr/>
        </p:nvSpPr>
        <p:spPr>
          <a:xfrm>
            <a:off x="7847282" y="3278343"/>
            <a:ext cx="76147" cy="79001"/>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en-US" dirty="0"/>
          </a:p>
        </p:txBody>
      </p:sp>
      <p:sp>
        <p:nvSpPr>
          <p:cNvPr id="22" name="Oval 21"/>
          <p:cNvSpPr/>
          <p:nvPr/>
        </p:nvSpPr>
        <p:spPr>
          <a:xfrm>
            <a:off x="8088776" y="3670444"/>
            <a:ext cx="76147" cy="79001"/>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en-US" dirty="0"/>
          </a:p>
        </p:txBody>
      </p:sp>
      <p:sp>
        <p:nvSpPr>
          <p:cNvPr id="30" name="Content Placeholder 5"/>
          <p:cNvSpPr>
            <a:spLocks noGrp="1"/>
          </p:cNvSpPr>
          <p:nvPr>
            <p:ph sz="quarter" idx="18"/>
          </p:nvPr>
        </p:nvSpPr>
        <p:spPr>
          <a:xfrm>
            <a:off x="1327868" y="3592752"/>
            <a:ext cx="2167490" cy="581698"/>
          </a:xfrm>
        </p:spPr>
        <p:txBody>
          <a:bodyPr wrap="square">
            <a:spAutoFit/>
          </a:bodyPr>
          <a:lstStyle/>
          <a:p>
            <a:pPr marL="0" indent="0">
              <a:spcBef>
                <a:spcPts val="600"/>
              </a:spcBef>
              <a:buNone/>
            </a:pPr>
            <a:r>
              <a:rPr lang="en-US" sz="1200" dirty="0" smtClean="0"/>
              <a:t>During the financial crisis, the share price dropped almost 50 percent</a:t>
            </a:r>
            <a:endParaRPr lang="en-US" sz="1200" dirty="0"/>
          </a:p>
        </p:txBody>
      </p:sp>
      <p:sp>
        <p:nvSpPr>
          <p:cNvPr id="29" name="Content Placeholder 5"/>
          <p:cNvSpPr>
            <a:spLocks noGrp="1"/>
          </p:cNvSpPr>
          <p:nvPr>
            <p:ph sz="quarter" idx="18"/>
          </p:nvPr>
        </p:nvSpPr>
        <p:spPr>
          <a:xfrm>
            <a:off x="6910057" y="2681748"/>
            <a:ext cx="2192947" cy="387798"/>
          </a:xfrm>
        </p:spPr>
        <p:txBody>
          <a:bodyPr wrap="square">
            <a:spAutoFit/>
          </a:bodyPr>
          <a:lstStyle/>
          <a:p>
            <a:pPr marL="0" indent="0">
              <a:spcBef>
                <a:spcPts val="600"/>
              </a:spcBef>
              <a:buNone/>
            </a:pPr>
            <a:r>
              <a:rPr lang="en-US" sz="1200" dirty="0" smtClean="0"/>
              <a:t>The actual earnings per share dropped only 20 percent</a:t>
            </a:r>
            <a:endParaRPr lang="en-US" sz="1200" dirty="0"/>
          </a:p>
        </p:txBody>
      </p:sp>
      <p:graphicFrame>
        <p:nvGraphicFramePr>
          <p:cNvPr id="7" name="Object 6"/>
          <p:cNvGraphicFramePr>
            <a:graphicFrameLocks noChangeAspect="1"/>
          </p:cNvGraphicFramePr>
          <p:nvPr>
            <p:extLst>
              <p:ext uri="{D42A27DB-BD31-4B8C-83A1-F6EECF244321}">
                <p14:modId xmlns:p14="http://schemas.microsoft.com/office/powerpoint/2010/main" val="1311995071"/>
              </p:ext>
            </p:extLst>
          </p:nvPr>
        </p:nvGraphicFramePr>
        <p:xfrm>
          <a:off x="648667" y="2111341"/>
          <a:ext cx="4429125" cy="4314825"/>
        </p:xfrm>
        <a:graphic>
          <a:graphicData uri="http://schemas.openxmlformats.org/presentationml/2006/ole">
            <mc:AlternateContent xmlns:mc="http://schemas.openxmlformats.org/markup-compatibility/2006">
              <mc:Choice xmlns:v="urn:schemas-microsoft-com:vml" Requires="v">
                <p:oleObj spid="_x0000_s6800" name="Worksheet" r:id="rId10" imgW="4428988" imgH="4314641" progId="Excel.Sheet.12">
                  <p:link updateAutomatic="1"/>
                </p:oleObj>
              </mc:Choice>
              <mc:Fallback>
                <p:oleObj name="Worksheet" r:id="rId10" imgW="4428988" imgH="4314641" progId="Excel.Sheet.12">
                  <p:link updateAutomatic="1"/>
                  <p:pic>
                    <p:nvPicPr>
                      <p:cNvPr id="0" name=""/>
                      <p:cNvPicPr/>
                      <p:nvPr/>
                    </p:nvPicPr>
                    <p:blipFill>
                      <a:blip r:embed="rId11"/>
                      <a:stretch>
                        <a:fillRect/>
                      </a:stretch>
                    </p:blipFill>
                    <p:spPr>
                      <a:xfrm>
                        <a:off x="648667" y="2111341"/>
                        <a:ext cx="4429125" cy="4314825"/>
                      </a:xfrm>
                      <a:prstGeom prst="rect">
                        <a:avLst/>
                      </a:prstGeom>
                    </p:spPr>
                  </p:pic>
                </p:oleObj>
              </mc:Fallback>
            </mc:AlternateContent>
          </a:graphicData>
        </a:graphic>
      </p:graphicFrame>
    </p:spTree>
    <p:extLst>
      <p:ext uri="{BB962C8B-B14F-4D97-AF65-F5344CB8AC3E}">
        <p14:creationId xmlns:p14="http://schemas.microsoft.com/office/powerpoint/2010/main" val="1895129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Chart 22"/>
          <p:cNvGraphicFramePr>
            <a:graphicFrameLocks/>
          </p:cNvGraphicFramePr>
          <p:nvPr>
            <p:extLst>
              <p:ext uri="{D42A27DB-BD31-4B8C-83A1-F6EECF244321}">
                <p14:modId xmlns:p14="http://schemas.microsoft.com/office/powerpoint/2010/main" val="3051637521"/>
              </p:ext>
            </p:extLst>
          </p:nvPr>
        </p:nvGraphicFramePr>
        <p:xfrm>
          <a:off x="449263" y="1911349"/>
          <a:ext cx="4409318" cy="476567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Object 7" hidden="1"/>
          <p:cNvGraphicFramePr>
            <a:graphicFrameLocks noChangeAspect="1"/>
          </p:cNvGraphicFramePr>
          <p:nvPr>
            <p:custDataLst>
              <p:tags r:id="rId2"/>
            </p:custDataLst>
            <p:extLst>
              <p:ext uri="{D42A27DB-BD31-4B8C-83A1-F6EECF244321}">
                <p14:modId xmlns:p14="http://schemas.microsoft.com/office/powerpoint/2010/main" val="1344400412"/>
              </p:ext>
            </p:ext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spid="_x0000_s7886"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90" y="1590"/>
                        <a:ext cx="1587" cy="1587"/>
                      </a:xfrm>
                      <a:prstGeom prst="rect">
                        <a:avLst/>
                      </a:prstGeom>
                    </p:spPr>
                  </p:pic>
                </p:oleObj>
              </mc:Fallback>
            </mc:AlternateContent>
          </a:graphicData>
        </a:graphic>
      </p:graphicFrame>
      <p:sp>
        <p:nvSpPr>
          <p:cNvPr id="2" name="Text Placeholder 1"/>
          <p:cNvSpPr>
            <a:spLocks noGrp="1"/>
          </p:cNvSpPr>
          <p:nvPr>
            <p:ph type="body" sz="quarter" idx="16"/>
          </p:nvPr>
        </p:nvSpPr>
        <p:spPr/>
        <p:txBody>
          <a:bodyPr/>
          <a:lstStyle/>
          <a:p>
            <a:r>
              <a:rPr lang="en-US" dirty="0" smtClean="0"/>
              <a:t>How we act</a:t>
            </a:r>
            <a:endParaRPr lang="en-US" dirty="0"/>
          </a:p>
        </p:txBody>
      </p:sp>
      <p:sp>
        <p:nvSpPr>
          <p:cNvPr id="3" name="Text Placeholder 2"/>
          <p:cNvSpPr>
            <a:spLocks noGrp="1"/>
          </p:cNvSpPr>
          <p:nvPr>
            <p:ph type="body" sz="quarter" idx="14"/>
          </p:nvPr>
        </p:nvSpPr>
        <p:spPr/>
        <p:txBody>
          <a:bodyPr/>
          <a:lstStyle/>
          <a:p>
            <a:r>
              <a:rPr lang="en-US" dirty="0" smtClean="0"/>
              <a:t>Nestlé and the franc shock</a:t>
            </a:r>
            <a:endParaRPr lang="en-US" dirty="0"/>
          </a:p>
        </p:txBody>
      </p:sp>
      <p:sp>
        <p:nvSpPr>
          <p:cNvPr id="4" name="Title 3"/>
          <p:cNvSpPr>
            <a:spLocks noGrp="1"/>
          </p:cNvSpPr>
          <p:nvPr>
            <p:ph type="title"/>
          </p:nvPr>
        </p:nvSpPr>
        <p:spPr/>
        <p:txBody>
          <a:bodyPr/>
          <a:lstStyle/>
          <a:p>
            <a:r>
              <a:rPr lang="en-US" dirty="0" smtClean="0"/>
              <a:t>Commercial risk view, not mere financial theory</a:t>
            </a:r>
            <a:endParaRPr lang="en-US" dirty="0"/>
          </a:p>
        </p:txBody>
      </p:sp>
      <p:sp>
        <p:nvSpPr>
          <p:cNvPr id="6" name="Content Placeholder 5"/>
          <p:cNvSpPr>
            <a:spLocks noGrp="1"/>
          </p:cNvSpPr>
          <p:nvPr>
            <p:ph sz="quarter" idx="18"/>
          </p:nvPr>
        </p:nvSpPr>
        <p:spPr/>
        <p:txBody>
          <a:bodyPr/>
          <a:lstStyle/>
          <a:p>
            <a:pPr>
              <a:spcAft>
                <a:spcPts val="600"/>
              </a:spcAft>
            </a:pPr>
            <a:r>
              <a:rPr lang="en-US" sz="1400" dirty="0"/>
              <a:t>In financial theory, the risk goes up when the price drops</a:t>
            </a:r>
          </a:p>
          <a:p>
            <a:pPr>
              <a:spcAft>
                <a:spcPts val="600"/>
              </a:spcAft>
            </a:pPr>
            <a:r>
              <a:rPr lang="en-US" sz="1400" dirty="0"/>
              <a:t>A financial theorist would regard the price drop of Nestlé as a risk increase and would sell the equity as </a:t>
            </a:r>
            <a:r>
              <a:rPr lang="en-US" sz="1400"/>
              <a:t>a </a:t>
            </a:r>
            <a:r>
              <a:rPr lang="en-US" sz="1400" smtClean="0"/>
              <a:t>“risk </a:t>
            </a:r>
            <a:r>
              <a:rPr lang="en-US" sz="1400"/>
              <a:t>management </a:t>
            </a:r>
            <a:r>
              <a:rPr lang="en-US" sz="1400" smtClean="0"/>
              <a:t>measure”</a:t>
            </a:r>
            <a:endParaRPr lang="en-US" sz="1400" dirty="0"/>
          </a:p>
          <a:p>
            <a:pPr>
              <a:spcAft>
                <a:spcPts val="600"/>
              </a:spcAft>
            </a:pPr>
            <a:r>
              <a:rPr lang="en-US" sz="1400" dirty="0"/>
              <a:t>Our risk understanding is business-oriented; thus, we also regard the price decline as a more attractive valuation</a:t>
            </a:r>
          </a:p>
          <a:p>
            <a:pPr>
              <a:spcAft>
                <a:spcPts val="600"/>
              </a:spcAft>
            </a:pPr>
            <a:r>
              <a:rPr lang="en-US" sz="1400" dirty="0"/>
              <a:t>A good enterprise analysis reveals the international orientation of Nestlé and the unchanged profit situation despite the franc shock; so we buy the equity in order to “make use of opportunities”</a:t>
            </a:r>
          </a:p>
        </p:txBody>
      </p:sp>
      <p:cxnSp>
        <p:nvCxnSpPr>
          <p:cNvPr id="11" name="Straight Arrow Connector 10"/>
          <p:cNvCxnSpPr/>
          <p:nvPr/>
        </p:nvCxnSpPr>
        <p:spPr>
          <a:xfrm flipH="1">
            <a:off x="1792876" y="2806455"/>
            <a:ext cx="171658" cy="360040"/>
          </a:xfrm>
          <a:prstGeom prst="straightConnector1">
            <a:avLst/>
          </a:prstGeom>
          <a:ln w="28575">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1737936" y="3210979"/>
            <a:ext cx="76147" cy="7900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en-US" dirty="0"/>
          </a:p>
        </p:txBody>
      </p:sp>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16512" y="1922463"/>
            <a:ext cx="684138" cy="684138"/>
          </a:xfrm>
          <a:prstGeom prst="rect">
            <a:avLst/>
          </a:prstGeom>
        </p:spPr>
      </p:pic>
      <p:cxnSp>
        <p:nvCxnSpPr>
          <p:cNvPr id="18" name="Straight Arrow Connector 17"/>
          <p:cNvCxnSpPr/>
          <p:nvPr/>
        </p:nvCxnSpPr>
        <p:spPr>
          <a:xfrm flipV="1">
            <a:off x="3734005" y="3289980"/>
            <a:ext cx="192511" cy="660562"/>
          </a:xfrm>
          <a:prstGeom prst="straightConnector1">
            <a:avLst/>
          </a:prstGeom>
          <a:ln w="28575">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1952502" y="4836221"/>
            <a:ext cx="209358" cy="302897"/>
          </a:xfrm>
          <a:prstGeom prst="straightConnector1">
            <a:avLst/>
          </a:prstGeom>
          <a:ln w="28575">
            <a:solidFill>
              <a:schemeClr val="accent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Content Placeholder 5"/>
          <p:cNvSpPr>
            <a:spLocks noGrp="1"/>
          </p:cNvSpPr>
          <p:nvPr>
            <p:ph sz="quarter" idx="18"/>
          </p:nvPr>
        </p:nvSpPr>
        <p:spPr>
          <a:xfrm>
            <a:off x="1276894" y="1944010"/>
            <a:ext cx="2822668" cy="775597"/>
          </a:xfrm>
        </p:spPr>
        <p:txBody>
          <a:bodyPr wrap="square">
            <a:spAutoFit/>
          </a:bodyPr>
          <a:lstStyle/>
          <a:p>
            <a:pPr marL="179989" indent="-179989">
              <a:spcBef>
                <a:spcPts val="600"/>
              </a:spcBef>
              <a:buFont typeface="+mj-lt"/>
              <a:buAutoNum type="arabicPeriod"/>
            </a:pPr>
            <a:r>
              <a:rPr lang="en-US" sz="1200" dirty="0" smtClean="0"/>
              <a:t>Franc shock</a:t>
            </a:r>
            <a:br>
              <a:rPr lang="en-US" sz="1200" dirty="0" smtClean="0"/>
            </a:br>
            <a:r>
              <a:rPr lang="en-US" sz="1200" dirty="0" smtClean="0"/>
              <a:t>(15 January 2015: The Swiss franc increases 15 to 20 percent over other currencies)</a:t>
            </a:r>
            <a:endParaRPr lang="en-US" sz="1200" dirty="0"/>
          </a:p>
        </p:txBody>
      </p:sp>
      <p:sp>
        <p:nvSpPr>
          <p:cNvPr id="21" name="Content Placeholder 5"/>
          <p:cNvSpPr>
            <a:spLocks noGrp="1"/>
          </p:cNvSpPr>
          <p:nvPr>
            <p:ph sz="quarter" idx="18"/>
          </p:nvPr>
        </p:nvSpPr>
        <p:spPr>
          <a:xfrm>
            <a:off x="2449247" y="4072860"/>
            <a:ext cx="2751405" cy="775597"/>
          </a:xfrm>
        </p:spPr>
        <p:txBody>
          <a:bodyPr wrap="square">
            <a:spAutoFit/>
          </a:bodyPr>
          <a:lstStyle/>
          <a:p>
            <a:pPr marL="179989" indent="-179989">
              <a:spcBef>
                <a:spcPts val="600"/>
              </a:spcBef>
              <a:buFont typeface="+mj-lt"/>
              <a:buAutoNum type="arabicPeriod" startAt="3"/>
            </a:pPr>
            <a:r>
              <a:rPr lang="en-US" sz="1200" dirty="0" smtClean="0"/>
              <a:t>The market adapts to the reality (Nestlé operates around the globe and only depends on the Swiss franc to a limited degree)</a:t>
            </a:r>
            <a:endParaRPr lang="en-US" sz="1200" dirty="0"/>
          </a:p>
        </p:txBody>
      </p:sp>
      <p:sp>
        <p:nvSpPr>
          <p:cNvPr id="22" name="Content Placeholder 5"/>
          <p:cNvSpPr>
            <a:spLocks noGrp="1"/>
          </p:cNvSpPr>
          <p:nvPr>
            <p:ph sz="quarter" idx="18"/>
          </p:nvPr>
        </p:nvSpPr>
        <p:spPr>
          <a:xfrm>
            <a:off x="1485417" y="5148207"/>
            <a:ext cx="3592904" cy="581698"/>
          </a:xfrm>
        </p:spPr>
        <p:txBody>
          <a:bodyPr wrap="square">
            <a:spAutoFit/>
          </a:bodyPr>
          <a:lstStyle/>
          <a:p>
            <a:pPr marL="179989" indent="-179989">
              <a:spcBef>
                <a:spcPts val="600"/>
              </a:spcBef>
              <a:buFont typeface="+mj-lt"/>
              <a:buAutoNum type="arabicPeriod" startAt="2"/>
            </a:pPr>
            <a:r>
              <a:rPr lang="en-US" sz="1200" dirty="0" smtClean="0"/>
              <a:t>The market makes Nestlé drop 13% percent</a:t>
            </a:r>
            <a:br>
              <a:rPr lang="en-US" sz="1200" dirty="0" smtClean="0"/>
            </a:br>
            <a:r>
              <a:rPr lang="en-US" sz="1200" dirty="0" smtClean="0"/>
              <a:t>(Products of Nestlé and all other Swiss companies </a:t>
            </a:r>
            <a:br>
              <a:rPr lang="en-US" sz="1200" dirty="0" smtClean="0"/>
            </a:br>
            <a:r>
              <a:rPr lang="en-US" sz="1200" dirty="0" smtClean="0"/>
              <a:t>are becoming too expensive)</a:t>
            </a:r>
            <a:endParaRPr lang="en-US" sz="1200" dirty="0"/>
          </a:p>
        </p:txBody>
      </p:sp>
      <p:sp>
        <p:nvSpPr>
          <p:cNvPr id="13" name="Oval 12"/>
          <p:cNvSpPr/>
          <p:nvPr/>
        </p:nvSpPr>
        <p:spPr>
          <a:xfrm>
            <a:off x="1816649" y="4769252"/>
            <a:ext cx="76147" cy="7900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en-US" dirty="0"/>
          </a:p>
        </p:txBody>
      </p:sp>
      <p:sp>
        <p:nvSpPr>
          <p:cNvPr id="14" name="Oval 13"/>
          <p:cNvSpPr/>
          <p:nvPr/>
        </p:nvSpPr>
        <p:spPr>
          <a:xfrm>
            <a:off x="3964589" y="2837396"/>
            <a:ext cx="76147" cy="7900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en-US" dirty="0"/>
          </a:p>
        </p:txBody>
      </p:sp>
    </p:spTree>
    <p:extLst>
      <p:ext uri="{BB962C8B-B14F-4D97-AF65-F5344CB8AC3E}">
        <p14:creationId xmlns:p14="http://schemas.microsoft.com/office/powerpoint/2010/main" val="1895129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r>
              <a:rPr lang="en-US" dirty="0" smtClean="0"/>
              <a:t>A sound, global business model that...</a:t>
            </a:r>
            <a:endParaRPr lang="en-US" dirty="0"/>
          </a:p>
        </p:txBody>
      </p:sp>
      <p:sp>
        <p:nvSpPr>
          <p:cNvPr id="4" name="Title 3"/>
          <p:cNvSpPr>
            <a:spLocks noGrp="1"/>
          </p:cNvSpPr>
          <p:nvPr>
            <p:ph type="title"/>
          </p:nvPr>
        </p:nvSpPr>
        <p:spPr>
          <a:xfrm>
            <a:off x="449361" y="440929"/>
            <a:ext cx="7508185" cy="674612"/>
          </a:xfrm>
        </p:spPr>
        <p:txBody>
          <a:bodyPr/>
          <a:lstStyle/>
          <a:p>
            <a:r>
              <a:rPr lang="en-US" dirty="0" smtClean="0"/>
              <a:t/>
            </a:r>
            <a:br>
              <a:rPr lang="en-US" dirty="0" smtClean="0"/>
            </a:br>
            <a:r>
              <a:rPr lang="en-US" dirty="0" smtClean="0"/>
              <a:t>Which companies do we want regarding business model?</a:t>
            </a:r>
            <a:endParaRPr lang="en-US" dirty="0"/>
          </a:p>
        </p:txBody>
      </p:sp>
      <p:sp>
        <p:nvSpPr>
          <p:cNvPr id="5" name="Content Placeholder 4"/>
          <p:cNvSpPr>
            <a:spLocks noGrp="1"/>
          </p:cNvSpPr>
          <p:nvPr>
            <p:ph sz="quarter" idx="17"/>
          </p:nvPr>
        </p:nvSpPr>
        <p:spPr/>
        <p:txBody>
          <a:bodyPr/>
          <a:lstStyle/>
          <a:p>
            <a:pPr>
              <a:spcAft>
                <a:spcPts val="1200"/>
              </a:spcAft>
            </a:pPr>
            <a:r>
              <a:rPr lang="en-US" sz="1400" dirty="0"/>
              <a:t>has </a:t>
            </a:r>
            <a:r>
              <a:rPr lang="en-US" sz="1400" b="1" i="1" dirty="0"/>
              <a:t>proved successful in practice</a:t>
            </a:r>
          </a:p>
          <a:p>
            <a:pPr>
              <a:spcAft>
                <a:spcPts val="1200"/>
              </a:spcAft>
            </a:pPr>
            <a:r>
              <a:rPr lang="en-US" sz="1400" dirty="0"/>
              <a:t>has high and/or rising </a:t>
            </a:r>
            <a:r>
              <a:rPr lang="en-US" sz="1400" b="1" i="1" dirty="0"/>
              <a:t>profit margins</a:t>
            </a:r>
          </a:p>
          <a:p>
            <a:pPr>
              <a:spcAft>
                <a:spcPts val="1200"/>
              </a:spcAft>
            </a:pPr>
            <a:r>
              <a:rPr lang="en-US" sz="1400" dirty="0"/>
              <a:t>continues to have a </a:t>
            </a:r>
            <a:r>
              <a:rPr lang="en-US" sz="1400" b="1" i="1" dirty="0"/>
              <a:t>predictable</a:t>
            </a:r>
            <a:r>
              <a:rPr lang="en-US" sz="1400" dirty="0"/>
              <a:t> and, most importantly, not unidirectional </a:t>
            </a:r>
            <a:r>
              <a:rPr lang="en-US" sz="1400" b="1" i="1" dirty="0"/>
              <a:t>success outlook</a:t>
            </a:r>
          </a:p>
          <a:p>
            <a:pPr>
              <a:spcAft>
                <a:spcPts val="1200"/>
              </a:spcAft>
            </a:pPr>
            <a:r>
              <a:rPr lang="en-US" sz="1400" dirty="0"/>
              <a:t>creates added value for the shareholder and focuses on a </a:t>
            </a:r>
            <a:r>
              <a:rPr lang="en-US" sz="1400" b="1" i="1" dirty="0"/>
              <a:t>sound balance sheet</a:t>
            </a:r>
          </a:p>
          <a:p>
            <a:pPr>
              <a:spcAft>
                <a:spcPts val="1200"/>
              </a:spcAft>
            </a:pPr>
            <a:r>
              <a:rPr lang="en-US" sz="1400" dirty="0"/>
              <a:t>delivers products and services that are able to compete, not only in Switzerland, but also </a:t>
            </a:r>
            <a:r>
              <a:rPr lang="en-US" sz="1400" b="1" i="1" dirty="0"/>
              <a:t>internationally</a:t>
            </a:r>
          </a:p>
        </p:txBody>
      </p:sp>
      <p:sp>
        <p:nvSpPr>
          <p:cNvPr id="6" name="Content Placeholder 5"/>
          <p:cNvSpPr>
            <a:spLocks noGrp="1"/>
          </p:cNvSpPr>
          <p:nvPr>
            <p:ph sz="quarter" idx="18"/>
          </p:nvPr>
        </p:nvSpPr>
        <p:spPr/>
        <p:txBody>
          <a:bodyPr/>
          <a:lstStyle/>
          <a:p>
            <a:pPr>
              <a:spcAft>
                <a:spcPts val="1200"/>
              </a:spcAft>
            </a:pPr>
            <a:r>
              <a:rPr lang="en-US" sz="1400" dirty="0" smtClean="0"/>
              <a:t>We buy companies like </a:t>
            </a:r>
            <a:r>
              <a:rPr lang="en-US" sz="1400" dirty="0" err="1" smtClean="0"/>
              <a:t>Komax</a:t>
            </a:r>
            <a:r>
              <a:rPr lang="en-US" sz="1400" dirty="0" smtClean="0"/>
              <a:t> or </a:t>
            </a:r>
            <a:r>
              <a:rPr lang="en-US" sz="1400" dirty="0" err="1" smtClean="0"/>
              <a:t>Interroll</a:t>
            </a:r>
            <a:r>
              <a:rPr lang="en-US" sz="1400" dirty="0" smtClean="0"/>
              <a:t>, which…</a:t>
            </a:r>
          </a:p>
          <a:p>
            <a:pPr lvl="1">
              <a:spcAft>
                <a:spcPts val="1200"/>
              </a:spcAft>
            </a:pPr>
            <a:r>
              <a:rPr lang="en-US" dirty="0" smtClean="0"/>
              <a:t>focus on their core competencies</a:t>
            </a:r>
          </a:p>
          <a:p>
            <a:pPr lvl="1">
              <a:spcAft>
                <a:spcPts val="1200"/>
              </a:spcAft>
            </a:pPr>
            <a:r>
              <a:rPr lang="en-US" dirty="0" smtClean="0"/>
              <a:t>pursue a simple and transparent strategy</a:t>
            </a:r>
          </a:p>
          <a:p>
            <a:pPr lvl="1">
              <a:spcAft>
                <a:spcPts val="1200"/>
              </a:spcAft>
            </a:pPr>
            <a:r>
              <a:rPr lang="en-US" dirty="0" smtClean="0"/>
              <a:t>produce tried and tested high-quality products</a:t>
            </a:r>
          </a:p>
          <a:p>
            <a:pPr lvl="1">
              <a:spcAft>
                <a:spcPts val="1200"/>
              </a:spcAft>
            </a:pPr>
            <a:r>
              <a:rPr lang="en-US" dirty="0" smtClean="0"/>
              <a:t>have a strong balance sheet and effectively distribute dividends</a:t>
            </a:r>
          </a:p>
          <a:p>
            <a:pPr>
              <a:spcBef>
                <a:spcPts val="600"/>
              </a:spcBef>
              <a:spcAft>
                <a:spcPts val="1200"/>
              </a:spcAft>
            </a:pPr>
            <a:r>
              <a:rPr lang="en-US" sz="1400" dirty="0" smtClean="0"/>
              <a:t>We do not buy companies like </a:t>
            </a:r>
            <a:r>
              <a:rPr lang="en-US" sz="1400" dirty="0" err="1" smtClean="0"/>
              <a:t>Evolva</a:t>
            </a:r>
            <a:r>
              <a:rPr lang="en-US" sz="1400" dirty="0" smtClean="0"/>
              <a:t> or </a:t>
            </a:r>
            <a:r>
              <a:rPr lang="en-US" sz="1400" dirty="0" err="1" smtClean="0"/>
              <a:t>Newron</a:t>
            </a:r>
            <a:r>
              <a:rPr lang="en-US" sz="1400" dirty="0" smtClean="0"/>
              <a:t> Pharmaceuticals, which...</a:t>
            </a:r>
          </a:p>
          <a:p>
            <a:pPr lvl="1">
              <a:spcAft>
                <a:spcPts val="1200"/>
              </a:spcAft>
            </a:pPr>
            <a:r>
              <a:rPr lang="en-US" dirty="0" smtClean="0"/>
              <a:t>depend greatly on individual products</a:t>
            </a:r>
          </a:p>
          <a:p>
            <a:pPr lvl="1">
              <a:spcAft>
                <a:spcPts val="1200"/>
              </a:spcAft>
            </a:pPr>
            <a:r>
              <a:rPr lang="en-US" dirty="0" smtClean="0"/>
              <a:t>still need to overcome major regulatory obstacles</a:t>
            </a:r>
          </a:p>
          <a:p>
            <a:pPr lvl="1">
              <a:spcAft>
                <a:spcPts val="1200"/>
              </a:spcAft>
            </a:pPr>
            <a:r>
              <a:rPr lang="en-US" dirty="0" smtClean="0"/>
              <a:t>do not have any profit history</a:t>
            </a:r>
          </a:p>
          <a:p>
            <a:pPr lvl="1">
              <a:spcAft>
                <a:spcPts val="1200"/>
              </a:spcAft>
            </a:pPr>
            <a:r>
              <a:rPr lang="en-US" dirty="0" smtClean="0"/>
              <a:t>burn a lot of money</a:t>
            </a:r>
            <a:endParaRPr lang="en-US" dirty="0"/>
          </a:p>
        </p:txBody>
      </p:sp>
    </p:spTree>
    <p:extLst>
      <p:ext uri="{BB962C8B-B14F-4D97-AF65-F5344CB8AC3E}">
        <p14:creationId xmlns:p14="http://schemas.microsoft.com/office/powerpoint/2010/main" val="6569819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r>
              <a:rPr lang="en-US" dirty="0" smtClean="0"/>
              <a:t>Robust management that ...</a:t>
            </a:r>
            <a:endParaRPr lang="en-US" dirty="0"/>
          </a:p>
        </p:txBody>
      </p:sp>
      <p:sp>
        <p:nvSpPr>
          <p:cNvPr id="4" name="Title 3"/>
          <p:cNvSpPr>
            <a:spLocks noGrp="1"/>
          </p:cNvSpPr>
          <p:nvPr>
            <p:ph type="title"/>
          </p:nvPr>
        </p:nvSpPr>
        <p:spPr/>
        <p:txBody>
          <a:bodyPr/>
          <a:lstStyle/>
          <a:p>
            <a:r>
              <a:rPr lang="en-US" dirty="0" smtClean="0"/>
              <a:t>Which companies do we want regarding management?</a:t>
            </a:r>
            <a:endParaRPr lang="en-US" dirty="0"/>
          </a:p>
        </p:txBody>
      </p:sp>
      <p:sp>
        <p:nvSpPr>
          <p:cNvPr id="5" name="Content Placeholder 4"/>
          <p:cNvSpPr>
            <a:spLocks noGrp="1"/>
          </p:cNvSpPr>
          <p:nvPr>
            <p:ph sz="quarter" idx="17"/>
          </p:nvPr>
        </p:nvSpPr>
        <p:spPr/>
        <p:txBody>
          <a:bodyPr/>
          <a:lstStyle/>
          <a:p>
            <a:pPr>
              <a:spcAft>
                <a:spcPts val="1200"/>
              </a:spcAft>
            </a:pPr>
            <a:r>
              <a:rPr lang="en-US" sz="1400" dirty="0" smtClean="0"/>
              <a:t>is connected to the owners or that operates with a </a:t>
            </a:r>
            <a:r>
              <a:rPr lang="en-US" sz="1400" b="1" i="1" dirty="0" smtClean="0"/>
              <a:t>entrepreneurial perspective </a:t>
            </a:r>
            <a:r>
              <a:rPr lang="en-US" sz="1400" dirty="0" smtClean="0"/>
              <a:t>with a view to cost-conscious capital allocation</a:t>
            </a:r>
          </a:p>
          <a:p>
            <a:pPr>
              <a:spcAft>
                <a:spcPts val="1200"/>
              </a:spcAft>
            </a:pPr>
            <a:r>
              <a:rPr lang="en-US" sz="1400" dirty="0" smtClean="0"/>
              <a:t>remains </a:t>
            </a:r>
            <a:r>
              <a:rPr lang="en-US" sz="1400" b="1" i="1" dirty="0" smtClean="0"/>
              <a:t>down to earth</a:t>
            </a:r>
          </a:p>
          <a:p>
            <a:pPr>
              <a:spcAft>
                <a:spcPts val="1200"/>
              </a:spcAft>
            </a:pPr>
            <a:r>
              <a:rPr lang="en-US" sz="1400" dirty="0" smtClean="0"/>
              <a:t>communicates </a:t>
            </a:r>
            <a:r>
              <a:rPr lang="en-US" sz="1400" b="1" i="1" dirty="0" smtClean="0"/>
              <a:t>openly and honestly</a:t>
            </a:r>
          </a:p>
          <a:p>
            <a:pPr>
              <a:spcAft>
                <a:spcPts val="1200"/>
              </a:spcAft>
            </a:pPr>
            <a:r>
              <a:rPr lang="en-US" sz="1400" dirty="0" smtClean="0"/>
              <a:t>plans on a </a:t>
            </a:r>
            <a:r>
              <a:rPr lang="en-US" sz="1400" b="1" i="1" dirty="0" smtClean="0"/>
              <a:t>long-term basis </a:t>
            </a:r>
            <a:r>
              <a:rPr lang="en-US" sz="1400" dirty="0" smtClean="0"/>
              <a:t>and is geared to the company</a:t>
            </a:r>
            <a:endParaRPr lang="en-US" sz="1400" dirty="0"/>
          </a:p>
        </p:txBody>
      </p:sp>
      <p:sp>
        <p:nvSpPr>
          <p:cNvPr id="6" name="Content Placeholder 5"/>
          <p:cNvSpPr>
            <a:spLocks noGrp="1"/>
          </p:cNvSpPr>
          <p:nvPr>
            <p:ph sz="quarter" idx="18"/>
          </p:nvPr>
        </p:nvSpPr>
        <p:spPr/>
        <p:txBody>
          <a:bodyPr/>
          <a:lstStyle/>
          <a:p>
            <a:pPr>
              <a:spcBef>
                <a:spcPts val="600"/>
              </a:spcBef>
              <a:spcAft>
                <a:spcPts val="1200"/>
              </a:spcAft>
            </a:pPr>
            <a:r>
              <a:rPr lang="en-US" sz="1400" dirty="0" smtClean="0"/>
              <a:t>We buy companies like </a:t>
            </a:r>
            <a:r>
              <a:rPr lang="en-US" sz="1400" dirty="0" err="1" smtClean="0"/>
              <a:t>Geberit</a:t>
            </a:r>
            <a:r>
              <a:rPr lang="en-US" sz="1400" dirty="0" smtClean="0"/>
              <a:t> or </a:t>
            </a:r>
            <a:r>
              <a:rPr lang="en-US" sz="1400" dirty="0" err="1" smtClean="0"/>
              <a:t>Forbo</a:t>
            </a:r>
            <a:r>
              <a:rPr lang="en-US" sz="1400" dirty="0" smtClean="0"/>
              <a:t>, which...</a:t>
            </a:r>
          </a:p>
          <a:p>
            <a:pPr lvl="1">
              <a:spcAft>
                <a:spcPts val="1200"/>
              </a:spcAft>
            </a:pPr>
            <a:r>
              <a:rPr lang="en-US" dirty="0" smtClean="0"/>
              <a:t>communicate transparently and openly</a:t>
            </a:r>
          </a:p>
          <a:p>
            <a:pPr lvl="1">
              <a:spcAft>
                <a:spcPts val="1200"/>
              </a:spcAft>
            </a:pPr>
            <a:r>
              <a:rPr lang="en-US" dirty="0" smtClean="0"/>
              <a:t>have a long-standing, tried and tested management</a:t>
            </a:r>
          </a:p>
          <a:p>
            <a:pPr lvl="1">
              <a:spcAft>
                <a:spcPts val="1200"/>
              </a:spcAft>
            </a:pPr>
            <a:r>
              <a:rPr lang="en-US" dirty="0" smtClean="0"/>
              <a:t>perform proactive succession planning</a:t>
            </a:r>
          </a:p>
          <a:p>
            <a:pPr lvl="1">
              <a:spcAft>
                <a:spcPts val="1200"/>
              </a:spcAft>
            </a:pPr>
            <a:r>
              <a:rPr lang="en-US" dirty="0" smtClean="0"/>
              <a:t>create added value for the shareholder through entrepreneurial governance</a:t>
            </a:r>
          </a:p>
          <a:p>
            <a:pPr>
              <a:spcBef>
                <a:spcPts val="600"/>
              </a:spcBef>
              <a:spcAft>
                <a:spcPts val="1200"/>
              </a:spcAft>
            </a:pPr>
            <a:r>
              <a:rPr lang="en-US" sz="1400" dirty="0" smtClean="0"/>
              <a:t>We do not buy companies like Aryzta or Credit Suisse, which...</a:t>
            </a:r>
          </a:p>
          <a:p>
            <a:pPr lvl="1">
              <a:spcAft>
                <a:spcPts val="1200"/>
              </a:spcAft>
            </a:pPr>
            <a:r>
              <a:rPr lang="en-US" dirty="0" smtClean="0"/>
              <a:t>apply an obscure compensation policy</a:t>
            </a:r>
          </a:p>
          <a:p>
            <a:pPr lvl="1">
              <a:spcAft>
                <a:spcPts val="1200"/>
              </a:spcAft>
            </a:pPr>
            <a:r>
              <a:rPr lang="en-US" dirty="0" smtClean="0"/>
              <a:t>absorb high management capacities due to company-specific problems</a:t>
            </a:r>
          </a:p>
          <a:p>
            <a:pPr lvl="1">
              <a:spcAft>
                <a:spcPts val="1200"/>
              </a:spcAft>
            </a:pPr>
            <a:r>
              <a:rPr lang="en-US" dirty="0" smtClean="0"/>
              <a:t>destroy shareholder value through incomprehensible decisions</a:t>
            </a:r>
            <a:endParaRPr lang="en-US" dirty="0"/>
          </a:p>
        </p:txBody>
      </p:sp>
    </p:spTree>
    <p:extLst>
      <p:ext uri="{BB962C8B-B14F-4D97-AF65-F5344CB8AC3E}">
        <p14:creationId xmlns:p14="http://schemas.microsoft.com/office/powerpoint/2010/main" val="38953335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5"/>
          <p:cNvSpPr txBox="1">
            <a:spLocks/>
          </p:cNvSpPr>
          <p:nvPr/>
        </p:nvSpPr>
        <p:spPr>
          <a:xfrm>
            <a:off x="449363" y="2987750"/>
            <a:ext cx="9793189" cy="1669364"/>
          </a:xfrm>
          <a:prstGeom prst="rect">
            <a:avLst/>
          </a:prstGeom>
        </p:spPr>
        <p:txBody>
          <a:bodyPr wrap="square" lIns="91436" tIns="45718" rIns="91436" bIns="45718">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1200"/>
              </a:spcAft>
            </a:pPr>
            <a:r>
              <a:rPr lang="en-US" sz="1400" dirty="0" smtClean="0"/>
              <a:t>The investment universe comprises the approximately 210 companies in the </a:t>
            </a:r>
            <a:r>
              <a:rPr lang="en-US" sz="1400" b="1" i="1" dirty="0" smtClean="0"/>
              <a:t>SPI® index</a:t>
            </a:r>
          </a:p>
          <a:p>
            <a:pPr>
              <a:spcAft>
                <a:spcPts val="1200"/>
              </a:spcAft>
            </a:pPr>
            <a:r>
              <a:rPr lang="en-US" sz="1400" dirty="0" smtClean="0"/>
              <a:t>Our </a:t>
            </a:r>
            <a:r>
              <a:rPr lang="en-US" sz="1400" b="1" i="1" dirty="0" err="1" smtClean="0"/>
              <a:t>Vontobel</a:t>
            </a:r>
            <a:r>
              <a:rPr lang="en-US" sz="1400" b="1" i="1" dirty="0" smtClean="0"/>
              <a:t> equity research </a:t>
            </a:r>
            <a:r>
              <a:rPr lang="en-US" sz="1400" dirty="0" smtClean="0"/>
              <a:t>covers about 120 Swiss companies</a:t>
            </a:r>
          </a:p>
          <a:p>
            <a:pPr>
              <a:spcAft>
                <a:spcPts val="1200"/>
              </a:spcAft>
            </a:pPr>
            <a:r>
              <a:rPr lang="en-US" sz="1400" dirty="0" smtClean="0"/>
              <a:t>Companies with a </a:t>
            </a:r>
            <a:r>
              <a:rPr lang="en-US" sz="1400" b="1" i="1" dirty="0" smtClean="0"/>
              <a:t>market cap </a:t>
            </a:r>
            <a:r>
              <a:rPr lang="en-US" sz="1400" dirty="0" smtClean="0"/>
              <a:t>of less than CHF 500 million are excluded from the investment universe, leaving about 100 securities</a:t>
            </a:r>
          </a:p>
          <a:p>
            <a:pPr>
              <a:spcAft>
                <a:spcPts val="1200"/>
              </a:spcAft>
            </a:pPr>
            <a:r>
              <a:rPr lang="en-US" sz="1400" dirty="0" smtClean="0"/>
              <a:t>The </a:t>
            </a:r>
            <a:r>
              <a:rPr lang="en-US" sz="1400" b="1" i="1" dirty="0" smtClean="0"/>
              <a:t>liquidity</a:t>
            </a:r>
            <a:r>
              <a:rPr lang="en-US" sz="1400" dirty="0" smtClean="0"/>
              <a:t> (traded volume) is another filter; this filter reduces the universe to approximately 80 securities</a:t>
            </a:r>
            <a:endParaRPr lang="en-US" sz="1400" dirty="0"/>
          </a:p>
        </p:txBody>
      </p:sp>
      <p:sp>
        <p:nvSpPr>
          <p:cNvPr id="2" name="Title 1"/>
          <p:cNvSpPr>
            <a:spLocks noGrp="1"/>
          </p:cNvSpPr>
          <p:nvPr>
            <p:ph type="title"/>
          </p:nvPr>
        </p:nvSpPr>
        <p:spPr/>
        <p:txBody>
          <a:bodyPr/>
          <a:lstStyle/>
          <a:p>
            <a:r>
              <a:rPr lang="en-US" dirty="0" smtClean="0"/>
              <a:t>Vontobel Specials Swiss Equities</a:t>
            </a:r>
            <a:br>
              <a:rPr lang="en-US" dirty="0" smtClean="0"/>
            </a:br>
            <a:r>
              <a:rPr lang="en-US" dirty="0" smtClean="0"/>
              <a:t>Structured three-stage investment process</a:t>
            </a:r>
            <a:endParaRPr lang="en-US" dirty="0"/>
          </a:p>
        </p:txBody>
      </p:sp>
      <p:sp>
        <p:nvSpPr>
          <p:cNvPr id="4" name="Pentagon 5"/>
          <p:cNvSpPr/>
          <p:nvPr/>
        </p:nvSpPr>
        <p:spPr bwMode="gray">
          <a:xfrm>
            <a:off x="449363" y="1835623"/>
            <a:ext cx="4320000" cy="579320"/>
          </a:xfrm>
          <a:prstGeom prst="homePlate">
            <a:avLst>
              <a:gd name="adj" fmla="val 26653"/>
            </a:avLst>
          </a:prstGeom>
          <a:solidFill>
            <a:schemeClr val="accent1"/>
          </a:solidFill>
          <a:ln w="3175" algn="ctr">
            <a:noFill/>
            <a:miter lim="800000"/>
            <a:headEnd type="none" w="sm" len="sm"/>
            <a:tailEnd type="none" w="sm" len="sm"/>
          </a:ln>
          <a:effectLst/>
          <a:extLst>
            <a:ext uri="{91240B29-F687-4F45-9708-019B960494DF}">
              <a14:hiddenLine xmlns:a14="http://schemas.microsoft.com/office/drawing/2010/main" w="3175" algn="ctr">
                <a:solidFill>
                  <a:schemeClr val="accent1"/>
                </a:solidFill>
                <a:miter lim="800000"/>
                <a:headEnd type="none" w="sm" len="sm"/>
                <a:tailEnd type="none" w="sm" len="sm"/>
              </a14:hiddenLine>
            </a:ext>
          </a:extLst>
        </p:spPr>
        <p:txBody>
          <a:bodyPr wrap="square" lIns="503970" tIns="35998" rIns="35998" bIns="35998" rtlCol="0" anchor="ctr" anchorCtr="0"/>
          <a:lstStyle/>
          <a:p>
            <a:pPr>
              <a:buClr>
                <a:srgbClr val="2D4B84"/>
              </a:buClr>
            </a:pPr>
            <a:r>
              <a:rPr lang="en-US" sz="1400" b="1" dirty="0" smtClean="0">
                <a:solidFill>
                  <a:schemeClr val="bg1"/>
                </a:solidFill>
              </a:rPr>
              <a:t> Investment universe</a:t>
            </a:r>
            <a:endParaRPr lang="en-US" sz="1400" b="1" dirty="0">
              <a:solidFill>
                <a:schemeClr val="bg1"/>
              </a:solidFill>
            </a:endParaRPr>
          </a:p>
        </p:txBody>
      </p:sp>
      <p:sp>
        <p:nvSpPr>
          <p:cNvPr id="8" name="Pentagon 5"/>
          <p:cNvSpPr/>
          <p:nvPr/>
        </p:nvSpPr>
        <p:spPr bwMode="gray">
          <a:xfrm>
            <a:off x="4723813" y="1835623"/>
            <a:ext cx="2772000" cy="579320"/>
          </a:xfrm>
          <a:prstGeom prst="chevron">
            <a:avLst>
              <a:gd name="adj" fmla="val 26982"/>
            </a:avLst>
          </a:prstGeom>
          <a:solidFill>
            <a:schemeClr val="accent2"/>
          </a:solidFill>
          <a:ln w="3175" algn="ctr">
            <a:noFill/>
            <a:miter lim="800000"/>
            <a:headEnd type="none" w="sm" len="sm"/>
            <a:tailEnd type="none" w="sm" len="sm"/>
          </a:ln>
          <a:effectLst/>
          <a:extLst>
            <a:ext uri="{91240B29-F687-4F45-9708-019B960494DF}">
              <a14:hiddenLine xmlns:a14="http://schemas.microsoft.com/office/drawing/2010/main" w="3175" algn="ctr">
                <a:solidFill>
                  <a:schemeClr val="accent1"/>
                </a:solidFill>
                <a:miter lim="800000"/>
                <a:headEnd type="none" w="sm" len="sm"/>
                <a:tailEnd type="none" w="sm" len="sm"/>
              </a14:hiddenLine>
            </a:ext>
          </a:extLst>
        </p:spPr>
        <p:txBody>
          <a:bodyPr wrap="square" lIns="503970" tIns="35998" rIns="35998" bIns="35998" rtlCol="0" anchor="ctr" anchorCtr="0"/>
          <a:lstStyle/>
          <a:p>
            <a:pPr>
              <a:buClr>
                <a:srgbClr val="2D4B84"/>
              </a:buClr>
            </a:pPr>
            <a:r>
              <a:rPr lang="en-US" sz="1400" b="1" dirty="0" smtClean="0"/>
              <a:t> Bottom-up analysis</a:t>
            </a:r>
            <a:endParaRPr lang="en-US" sz="1400" b="1" dirty="0"/>
          </a:p>
        </p:txBody>
      </p:sp>
      <p:sp>
        <p:nvSpPr>
          <p:cNvPr id="9" name="Pentagon 5"/>
          <p:cNvSpPr/>
          <p:nvPr/>
        </p:nvSpPr>
        <p:spPr bwMode="gray">
          <a:xfrm>
            <a:off x="7450263" y="1835623"/>
            <a:ext cx="2772000" cy="579320"/>
          </a:xfrm>
          <a:prstGeom prst="chevron">
            <a:avLst>
              <a:gd name="adj" fmla="val 26982"/>
            </a:avLst>
          </a:prstGeom>
          <a:solidFill>
            <a:schemeClr val="accent2"/>
          </a:solidFill>
          <a:ln w="3175" algn="ctr">
            <a:noFill/>
            <a:miter lim="800000"/>
            <a:headEnd type="none" w="sm" len="sm"/>
            <a:tailEnd type="none" w="sm" len="sm"/>
          </a:ln>
          <a:effectLst/>
          <a:extLst>
            <a:ext uri="{91240B29-F687-4F45-9708-019B960494DF}">
              <a14:hiddenLine xmlns:a14="http://schemas.microsoft.com/office/drawing/2010/main" w="3175" algn="ctr">
                <a:solidFill>
                  <a:schemeClr val="accent1"/>
                </a:solidFill>
                <a:miter lim="800000"/>
                <a:headEnd type="none" w="sm" len="sm"/>
                <a:tailEnd type="none" w="sm" len="sm"/>
              </a14:hiddenLine>
            </a:ext>
          </a:extLst>
        </p:spPr>
        <p:txBody>
          <a:bodyPr wrap="square" lIns="503970" tIns="35998" rIns="35998" bIns="35998" rtlCol="0" anchor="ctr" anchorCtr="0"/>
          <a:lstStyle/>
          <a:p>
            <a:pPr>
              <a:buClr>
                <a:srgbClr val="2D4B84"/>
              </a:buClr>
            </a:pPr>
            <a:r>
              <a:rPr lang="en-US" sz="1400" b="1" dirty="0" smtClean="0"/>
              <a:t> Portfolio construction</a:t>
            </a:r>
            <a:endParaRPr lang="en-US" sz="1400" b="1" dirty="0"/>
          </a:p>
        </p:txBody>
      </p:sp>
      <p:sp>
        <p:nvSpPr>
          <p:cNvPr id="13" name="Content Placeholder 5"/>
          <p:cNvSpPr txBox="1">
            <a:spLocks/>
          </p:cNvSpPr>
          <p:nvPr/>
        </p:nvSpPr>
        <p:spPr>
          <a:xfrm>
            <a:off x="449265" y="2568635"/>
            <a:ext cx="2490418" cy="318545"/>
          </a:xfrm>
          <a:prstGeom prst="rect">
            <a:avLst/>
          </a:prstGeom>
        </p:spPr>
        <p:txBody>
          <a:bodyPr wrap="square" lIns="91436" tIns="45718" rIns="91436" bIns="45718">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400" b="1" dirty="0" smtClean="0"/>
              <a:t>Number of securities: ~210</a:t>
            </a:r>
            <a:endParaRPr lang="en-US" sz="1400" b="1" dirty="0"/>
          </a:p>
        </p:txBody>
      </p:sp>
      <p:sp>
        <p:nvSpPr>
          <p:cNvPr id="14" name="Content Placeholder 5"/>
          <p:cNvSpPr txBox="1">
            <a:spLocks/>
          </p:cNvSpPr>
          <p:nvPr/>
        </p:nvSpPr>
        <p:spPr>
          <a:xfrm>
            <a:off x="9241052" y="2568635"/>
            <a:ext cx="538890" cy="318545"/>
          </a:xfrm>
          <a:prstGeom prst="rect">
            <a:avLst/>
          </a:prstGeom>
        </p:spPr>
        <p:txBody>
          <a:bodyPr wrap="square" lIns="91436" tIns="45718" rIns="91436" bIns="45718">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400" b="1" dirty="0" smtClean="0"/>
              <a:t>~30</a:t>
            </a:r>
            <a:endParaRPr lang="en-US" sz="1400" b="1" dirty="0"/>
          </a:p>
        </p:txBody>
      </p:sp>
      <p:cxnSp>
        <p:nvCxnSpPr>
          <p:cNvPr id="15" name="Straight Connector 14"/>
          <p:cNvCxnSpPr>
            <a:cxnSpLocks/>
            <a:stCxn id="14" idx="1"/>
            <a:endCxn id="13" idx="3"/>
          </p:cNvCxnSpPr>
          <p:nvPr/>
        </p:nvCxnSpPr>
        <p:spPr>
          <a:xfrm flipH="1">
            <a:off x="2939683" y="2727908"/>
            <a:ext cx="6301369" cy="0"/>
          </a:xfrm>
          <a:prstGeom prst="line">
            <a:avLst/>
          </a:prstGeom>
          <a:ln w="28575">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pic>
        <p:nvPicPr>
          <p:cNvPr id="16" name="Grafik 15">
            <a:extLst>
              <a:ext uri="{FF2B5EF4-FFF2-40B4-BE49-F238E27FC236}">
                <a16:creationId xmlns:a16="http://schemas.microsoft.com/office/drawing/2014/main" id="{7CB5C187-2689-4661-9341-CF6423E86D17}"/>
              </a:ext>
            </a:extLst>
          </p:cNvPr>
          <p:cNvPicPr>
            <a:picLocks noChangeAspect="1"/>
          </p:cNvPicPr>
          <p:nvPr>
            <p:custDataLst>
              <p:tags r:id="rId1"/>
            </p:custDataLst>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449364" y="1874264"/>
            <a:ext cx="507704" cy="504000"/>
          </a:xfrm>
          <a:prstGeom prst="rect">
            <a:avLst/>
          </a:prstGeom>
        </p:spPr>
      </p:pic>
      <p:pic>
        <p:nvPicPr>
          <p:cNvPr id="5" name="Grafik 4">
            <a:extLst>
              <a:ext uri="{FF2B5EF4-FFF2-40B4-BE49-F238E27FC236}">
                <a16:creationId xmlns:a16="http://schemas.microsoft.com/office/drawing/2014/main" id="{F51BBFB3-B5EF-4BF5-8C32-C814C2A91093}"/>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4906550" y="1874264"/>
            <a:ext cx="504364" cy="504000"/>
          </a:xfrm>
          <a:prstGeom prst="rect">
            <a:avLst/>
          </a:prstGeom>
        </p:spPr>
      </p:pic>
      <p:pic>
        <p:nvPicPr>
          <p:cNvPr id="7" name="Grafik 6">
            <a:extLst>
              <a:ext uri="{FF2B5EF4-FFF2-40B4-BE49-F238E27FC236}">
                <a16:creationId xmlns:a16="http://schemas.microsoft.com/office/drawing/2014/main" id="{2E8F64A0-5374-4784-8573-821A265F8712}"/>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7604196" y="1874264"/>
            <a:ext cx="507704" cy="504000"/>
          </a:xfrm>
          <a:prstGeom prst="rect">
            <a:avLst/>
          </a:prstGeom>
        </p:spPr>
      </p:pic>
    </p:spTree>
    <p:extLst>
      <p:ext uri="{BB962C8B-B14F-4D97-AF65-F5344CB8AC3E}">
        <p14:creationId xmlns:p14="http://schemas.microsoft.com/office/powerpoint/2010/main" val="7324973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Vontobel Specials Swiss Equities</a:t>
            </a:r>
            <a:br>
              <a:rPr lang="en-US" dirty="0" smtClean="0"/>
            </a:br>
            <a:r>
              <a:rPr lang="en-US" dirty="0" smtClean="0"/>
              <a:t>Structured three-stage investment process</a:t>
            </a:r>
            <a:endParaRPr lang="en-US" dirty="0"/>
          </a:p>
        </p:txBody>
      </p:sp>
      <p:sp>
        <p:nvSpPr>
          <p:cNvPr id="4" name="Pentagon 5"/>
          <p:cNvSpPr/>
          <p:nvPr/>
        </p:nvSpPr>
        <p:spPr bwMode="gray">
          <a:xfrm>
            <a:off x="449363" y="1835623"/>
            <a:ext cx="2772000" cy="579320"/>
          </a:xfrm>
          <a:prstGeom prst="homePlate">
            <a:avLst>
              <a:gd name="adj" fmla="val 25009"/>
            </a:avLst>
          </a:prstGeom>
          <a:solidFill>
            <a:schemeClr val="accent2"/>
          </a:solidFill>
          <a:ln w="3175" algn="ctr">
            <a:noFill/>
            <a:miter lim="800000"/>
            <a:headEnd type="none" w="sm" len="sm"/>
            <a:tailEnd type="none" w="sm" len="sm"/>
          </a:ln>
          <a:effectLst/>
          <a:extLst>
            <a:ext uri="{91240B29-F687-4F45-9708-019B960494DF}">
              <a14:hiddenLine xmlns:a14="http://schemas.microsoft.com/office/drawing/2010/main" w="3175" algn="ctr">
                <a:solidFill>
                  <a:schemeClr val="accent1"/>
                </a:solidFill>
                <a:miter lim="800000"/>
                <a:headEnd type="none" w="sm" len="sm"/>
                <a:tailEnd type="none" w="sm" len="sm"/>
              </a14:hiddenLine>
            </a:ext>
          </a:extLst>
        </p:spPr>
        <p:txBody>
          <a:bodyPr wrap="square" lIns="503970" tIns="35998" rIns="35998" bIns="35998" rtlCol="0" anchor="ctr" anchorCtr="0"/>
          <a:lstStyle/>
          <a:p>
            <a:pPr>
              <a:buClr>
                <a:srgbClr val="2D4B84"/>
              </a:buClr>
            </a:pPr>
            <a:r>
              <a:rPr lang="en-US" sz="1400" b="1" dirty="0" smtClean="0"/>
              <a:t> Investment universe</a:t>
            </a:r>
            <a:endParaRPr lang="en-US" sz="1400" b="1" dirty="0"/>
          </a:p>
        </p:txBody>
      </p:sp>
      <p:sp>
        <p:nvSpPr>
          <p:cNvPr id="8" name="Pentagon 5"/>
          <p:cNvSpPr/>
          <p:nvPr/>
        </p:nvSpPr>
        <p:spPr bwMode="gray">
          <a:xfrm>
            <a:off x="3175813" y="1835623"/>
            <a:ext cx="4320000" cy="579320"/>
          </a:xfrm>
          <a:prstGeom prst="chevron">
            <a:avLst>
              <a:gd name="adj" fmla="val 26982"/>
            </a:avLst>
          </a:prstGeom>
          <a:solidFill>
            <a:schemeClr val="accent1"/>
          </a:solidFill>
          <a:ln w="3175" algn="ctr">
            <a:noFill/>
            <a:miter lim="800000"/>
            <a:headEnd type="none" w="sm" len="sm"/>
            <a:tailEnd type="none" w="sm" len="sm"/>
          </a:ln>
          <a:effectLst/>
          <a:extLst>
            <a:ext uri="{91240B29-F687-4F45-9708-019B960494DF}">
              <a14:hiddenLine xmlns:a14="http://schemas.microsoft.com/office/drawing/2010/main" w="3175" algn="ctr">
                <a:solidFill>
                  <a:schemeClr val="accent1"/>
                </a:solidFill>
                <a:miter lim="800000"/>
                <a:headEnd type="none" w="sm" len="sm"/>
                <a:tailEnd type="none" w="sm" len="sm"/>
              </a14:hiddenLine>
            </a:ext>
          </a:extLst>
        </p:spPr>
        <p:txBody>
          <a:bodyPr wrap="square" lIns="503970" tIns="35998" rIns="35998" bIns="35998" rtlCol="0" anchor="ctr" anchorCtr="0"/>
          <a:lstStyle/>
          <a:p>
            <a:pPr>
              <a:buClr>
                <a:srgbClr val="2D4B84"/>
              </a:buClr>
            </a:pPr>
            <a:r>
              <a:rPr lang="en-US" sz="1400" b="1" dirty="0" smtClean="0">
                <a:solidFill>
                  <a:schemeClr val="bg1"/>
                </a:solidFill>
              </a:rPr>
              <a:t> </a:t>
            </a:r>
            <a:r>
              <a:rPr lang="en-US" sz="1400" b="1" dirty="0">
                <a:solidFill>
                  <a:schemeClr val="bg1"/>
                </a:solidFill>
              </a:rPr>
              <a:t>Bottom-up analysis</a:t>
            </a:r>
          </a:p>
        </p:txBody>
      </p:sp>
      <p:sp>
        <p:nvSpPr>
          <p:cNvPr id="9" name="Pentagon 5"/>
          <p:cNvSpPr/>
          <p:nvPr/>
        </p:nvSpPr>
        <p:spPr bwMode="gray">
          <a:xfrm>
            <a:off x="7450263" y="1835623"/>
            <a:ext cx="2772000" cy="579320"/>
          </a:xfrm>
          <a:prstGeom prst="chevron">
            <a:avLst>
              <a:gd name="adj" fmla="val 26982"/>
            </a:avLst>
          </a:prstGeom>
          <a:solidFill>
            <a:schemeClr val="accent2"/>
          </a:solidFill>
          <a:ln w="3175" algn="ctr">
            <a:noFill/>
            <a:miter lim="800000"/>
            <a:headEnd type="none" w="sm" len="sm"/>
            <a:tailEnd type="none" w="sm" len="sm"/>
          </a:ln>
          <a:effectLst/>
          <a:extLst>
            <a:ext uri="{91240B29-F687-4F45-9708-019B960494DF}">
              <a14:hiddenLine xmlns:a14="http://schemas.microsoft.com/office/drawing/2010/main" w="3175" algn="ctr">
                <a:solidFill>
                  <a:schemeClr val="accent1"/>
                </a:solidFill>
                <a:miter lim="800000"/>
                <a:headEnd type="none" w="sm" len="sm"/>
                <a:tailEnd type="none" w="sm" len="sm"/>
              </a14:hiddenLine>
            </a:ext>
          </a:extLst>
        </p:spPr>
        <p:txBody>
          <a:bodyPr wrap="square" lIns="503970" tIns="35998" rIns="35998" bIns="35998" rtlCol="0" anchor="ctr" anchorCtr="0"/>
          <a:lstStyle/>
          <a:p>
            <a:pPr>
              <a:buClr>
                <a:srgbClr val="2D4B84"/>
              </a:buClr>
            </a:pPr>
            <a:r>
              <a:rPr lang="en-US" sz="1400" b="1" dirty="0" smtClean="0"/>
              <a:t> Portfolio construction</a:t>
            </a:r>
            <a:endParaRPr lang="en-US" sz="1400" b="1" dirty="0"/>
          </a:p>
        </p:txBody>
      </p:sp>
      <p:sp>
        <p:nvSpPr>
          <p:cNvPr id="13" name="Content Placeholder 5"/>
          <p:cNvSpPr txBox="1">
            <a:spLocks/>
          </p:cNvSpPr>
          <p:nvPr/>
        </p:nvSpPr>
        <p:spPr>
          <a:xfrm>
            <a:off x="449265" y="2570059"/>
            <a:ext cx="2475304" cy="318545"/>
          </a:xfrm>
          <a:prstGeom prst="rect">
            <a:avLst/>
          </a:prstGeom>
        </p:spPr>
        <p:txBody>
          <a:bodyPr wrap="square" lIns="91436" tIns="45718" rIns="91436" bIns="45718">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400" b="1" dirty="0" smtClean="0"/>
              <a:t>Number of securities: ~210</a:t>
            </a:r>
            <a:endParaRPr lang="en-US" sz="1400" b="1" dirty="0"/>
          </a:p>
        </p:txBody>
      </p:sp>
      <p:sp>
        <p:nvSpPr>
          <p:cNvPr id="14" name="Content Placeholder 5"/>
          <p:cNvSpPr txBox="1">
            <a:spLocks/>
          </p:cNvSpPr>
          <p:nvPr/>
        </p:nvSpPr>
        <p:spPr>
          <a:xfrm>
            <a:off x="9234338" y="2570059"/>
            <a:ext cx="487626" cy="318545"/>
          </a:xfrm>
          <a:prstGeom prst="rect">
            <a:avLst/>
          </a:prstGeom>
        </p:spPr>
        <p:txBody>
          <a:bodyPr wrap="none" lIns="91436" tIns="45718" rIns="91436" bIns="45718">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400" b="1" dirty="0" smtClean="0"/>
              <a:t>~30</a:t>
            </a:r>
            <a:endParaRPr lang="en-US" sz="1400" b="1" dirty="0"/>
          </a:p>
        </p:txBody>
      </p:sp>
      <p:cxnSp>
        <p:nvCxnSpPr>
          <p:cNvPr id="15" name="Straight Connector 14"/>
          <p:cNvCxnSpPr>
            <a:cxnSpLocks/>
            <a:stCxn id="14" idx="1"/>
            <a:endCxn id="13" idx="3"/>
          </p:cNvCxnSpPr>
          <p:nvPr/>
        </p:nvCxnSpPr>
        <p:spPr>
          <a:xfrm flipH="1">
            <a:off x="2924569" y="2729332"/>
            <a:ext cx="6309769" cy="0"/>
          </a:xfrm>
          <a:prstGeom prst="line">
            <a:avLst/>
          </a:prstGeom>
          <a:ln w="28575">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Content Placeholder 4"/>
          <p:cNvSpPr txBox="1">
            <a:spLocks/>
          </p:cNvSpPr>
          <p:nvPr/>
        </p:nvSpPr>
        <p:spPr>
          <a:xfrm>
            <a:off x="449362" y="2987750"/>
            <a:ext cx="4752000" cy="3599806"/>
          </a:xfrm>
          <a:prstGeom prst="rect">
            <a:avLst/>
          </a:prstGeom>
        </p:spPr>
        <p:txBody>
          <a:bodyPr lIns="91436" tIns="45718" rIns="91436" bIns="45718"/>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1200"/>
              </a:spcAft>
            </a:pPr>
            <a:r>
              <a:rPr lang="en-US" sz="1400" b="1" dirty="0" smtClean="0"/>
              <a:t>Quantitative factors:</a:t>
            </a:r>
          </a:p>
          <a:p>
            <a:pPr lvl="1">
              <a:spcAft>
                <a:spcPts val="1200"/>
              </a:spcAft>
            </a:pPr>
            <a:r>
              <a:rPr lang="en-US" b="1" dirty="0" smtClean="0"/>
              <a:t>Balance sheet </a:t>
            </a:r>
            <a:br>
              <a:rPr lang="en-US" b="1" dirty="0" smtClean="0"/>
            </a:br>
            <a:r>
              <a:rPr lang="en-US" dirty="0" smtClean="0"/>
              <a:t>Sales, profit, debt, equity ratio</a:t>
            </a:r>
          </a:p>
          <a:p>
            <a:pPr lvl="1">
              <a:spcAft>
                <a:spcPts val="1200"/>
              </a:spcAft>
            </a:pPr>
            <a:r>
              <a:rPr lang="en-US" b="1" dirty="0" smtClean="0"/>
              <a:t>Valuation </a:t>
            </a:r>
            <a:br>
              <a:rPr lang="en-US" b="1" dirty="0" smtClean="0"/>
            </a:br>
            <a:r>
              <a:rPr lang="en-US" dirty="0"/>
              <a:t>P/E, EV/EBITDA, book value, dividend yield</a:t>
            </a:r>
          </a:p>
          <a:p>
            <a:pPr lvl="1">
              <a:spcAft>
                <a:spcPts val="1200"/>
              </a:spcAft>
            </a:pPr>
            <a:r>
              <a:rPr lang="en-US" b="1" dirty="0" smtClean="0"/>
              <a:t>Profitability</a:t>
            </a:r>
            <a:br>
              <a:rPr lang="en-US" b="1" dirty="0" smtClean="0"/>
            </a:br>
            <a:r>
              <a:rPr lang="en-US" dirty="0"/>
              <a:t>Cash flow, ROIC, ROE, ROA</a:t>
            </a:r>
          </a:p>
        </p:txBody>
      </p:sp>
      <p:sp>
        <p:nvSpPr>
          <p:cNvPr id="22" name="Content Placeholder 5"/>
          <p:cNvSpPr txBox="1">
            <a:spLocks/>
          </p:cNvSpPr>
          <p:nvPr/>
        </p:nvSpPr>
        <p:spPr>
          <a:xfrm>
            <a:off x="5490551" y="2987750"/>
            <a:ext cx="4752000" cy="3599806"/>
          </a:xfrm>
          <a:prstGeom prst="rect">
            <a:avLst/>
          </a:prstGeom>
        </p:spPr>
        <p:txBody>
          <a:bodyPr lIns="91436" tIns="45718" rIns="91436" bIns="45718"/>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1200"/>
              </a:spcAft>
            </a:pPr>
            <a:r>
              <a:rPr lang="en-US" sz="1400" b="1" dirty="0" smtClean="0"/>
              <a:t>Qualitative factors:</a:t>
            </a:r>
          </a:p>
          <a:p>
            <a:pPr lvl="1">
              <a:spcAft>
                <a:spcPts val="1200"/>
              </a:spcAft>
            </a:pPr>
            <a:r>
              <a:rPr lang="en-US" b="1" dirty="0"/>
              <a:t>Company </a:t>
            </a:r>
            <a:r>
              <a:rPr lang="en-US" b="1" dirty="0" smtClean="0"/>
              <a:t/>
            </a:r>
            <a:br>
              <a:rPr lang="en-US" b="1" dirty="0" smtClean="0"/>
            </a:br>
            <a:r>
              <a:rPr lang="en-US" dirty="0"/>
              <a:t>Management, strategy, corporate governance</a:t>
            </a:r>
          </a:p>
          <a:p>
            <a:pPr lvl="1">
              <a:spcAft>
                <a:spcPts val="1200"/>
              </a:spcAft>
            </a:pPr>
            <a:r>
              <a:rPr lang="en-US" b="1" dirty="0"/>
              <a:t>Environment </a:t>
            </a:r>
            <a:r>
              <a:rPr lang="en-US" b="1" dirty="0" smtClean="0"/>
              <a:t/>
            </a:r>
            <a:br>
              <a:rPr lang="en-US" b="1" dirty="0" smtClean="0"/>
            </a:br>
            <a:r>
              <a:rPr lang="en-US" dirty="0"/>
              <a:t>Competitors, market share, dependence</a:t>
            </a:r>
          </a:p>
          <a:p>
            <a:pPr lvl="1">
              <a:spcAft>
                <a:spcPts val="600"/>
              </a:spcAft>
            </a:pPr>
            <a:r>
              <a:rPr lang="en-US" b="1" dirty="0"/>
              <a:t>Perspectives </a:t>
            </a:r>
            <a:r>
              <a:rPr lang="en-US" b="1" dirty="0" smtClean="0"/>
              <a:t/>
            </a:r>
            <a:br>
              <a:rPr lang="en-US" b="1" dirty="0" smtClean="0"/>
            </a:br>
            <a:r>
              <a:rPr lang="en-US" dirty="0" smtClean="0"/>
              <a:t>Outlook</a:t>
            </a:r>
            <a:r>
              <a:rPr lang="en-US" dirty="0"/>
              <a:t>, reporting, margin development</a:t>
            </a:r>
            <a:endParaRPr lang="en-US" sz="1200" dirty="0"/>
          </a:p>
        </p:txBody>
      </p:sp>
      <p:pic>
        <p:nvPicPr>
          <p:cNvPr id="23" name="Grafik 22">
            <a:extLst>
              <a:ext uri="{FF2B5EF4-FFF2-40B4-BE49-F238E27FC236}">
                <a16:creationId xmlns:a16="http://schemas.microsoft.com/office/drawing/2014/main" id="{7485A77F-7563-4496-992B-73AB1AE671C9}"/>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49364" y="1874264"/>
            <a:ext cx="507704" cy="504000"/>
          </a:xfrm>
          <a:prstGeom prst="rect">
            <a:avLst/>
          </a:prstGeom>
        </p:spPr>
      </p:pic>
      <p:pic>
        <p:nvPicPr>
          <p:cNvPr id="24" name="Grafik 23">
            <a:extLst>
              <a:ext uri="{FF2B5EF4-FFF2-40B4-BE49-F238E27FC236}">
                <a16:creationId xmlns:a16="http://schemas.microsoft.com/office/drawing/2014/main" id="{6CA11867-BFF6-4C3E-9D99-1826969EAAF8}"/>
              </a:ext>
            </a:extLst>
          </p:cNvPr>
          <p:cNvPicPr>
            <a:picLocks noChangeAspect="1"/>
          </p:cNvPicPr>
          <p:nvPr>
            <p:custDataLst>
              <p:tags r:id="rId2"/>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3303018" y="1874264"/>
            <a:ext cx="504364" cy="504000"/>
          </a:xfrm>
          <a:prstGeom prst="rect">
            <a:avLst/>
          </a:prstGeom>
        </p:spPr>
      </p:pic>
      <p:pic>
        <p:nvPicPr>
          <p:cNvPr id="25" name="Grafik 24">
            <a:extLst>
              <a:ext uri="{FF2B5EF4-FFF2-40B4-BE49-F238E27FC236}">
                <a16:creationId xmlns:a16="http://schemas.microsoft.com/office/drawing/2014/main" id="{7B845A87-213B-47BD-86A4-C3CD86B85CA4}"/>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7604196" y="1874264"/>
            <a:ext cx="507704" cy="504000"/>
          </a:xfrm>
          <a:prstGeom prst="rect">
            <a:avLst/>
          </a:prstGeom>
        </p:spPr>
      </p:pic>
    </p:spTree>
    <p:extLst>
      <p:ext uri="{BB962C8B-B14F-4D97-AF65-F5344CB8AC3E}">
        <p14:creationId xmlns:p14="http://schemas.microsoft.com/office/powerpoint/2010/main" val="14464233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ext uri="{D42A27DB-BD31-4B8C-83A1-F6EECF244321}">
                <p14:modId xmlns:p14="http://schemas.microsoft.com/office/powerpoint/2010/main" val="3331442216"/>
              </p:ext>
            </p:ext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spid="_x0000_s16767"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1590" y="1590"/>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smtClean="0"/>
              <a:t>Vontobel Specials Swiss Equities</a:t>
            </a:r>
            <a:br>
              <a:rPr lang="en-US" dirty="0" smtClean="0"/>
            </a:br>
            <a:r>
              <a:rPr lang="en-US" dirty="0" smtClean="0"/>
              <a:t>Structured three-stage investment process</a:t>
            </a:r>
            <a:endParaRPr lang="en-US" dirty="0"/>
          </a:p>
        </p:txBody>
      </p:sp>
      <p:sp>
        <p:nvSpPr>
          <p:cNvPr id="4" name="Pentagon 5"/>
          <p:cNvSpPr/>
          <p:nvPr/>
        </p:nvSpPr>
        <p:spPr bwMode="gray">
          <a:xfrm>
            <a:off x="449363" y="1835623"/>
            <a:ext cx="2772000" cy="579320"/>
          </a:xfrm>
          <a:prstGeom prst="homePlate">
            <a:avLst>
              <a:gd name="adj" fmla="val 25009"/>
            </a:avLst>
          </a:prstGeom>
          <a:solidFill>
            <a:schemeClr val="accent2"/>
          </a:solidFill>
          <a:ln w="3175" algn="ctr">
            <a:noFill/>
            <a:miter lim="800000"/>
            <a:headEnd type="none" w="sm" len="sm"/>
            <a:tailEnd type="none" w="sm" len="sm"/>
          </a:ln>
          <a:effectLst/>
          <a:extLst>
            <a:ext uri="{91240B29-F687-4F45-9708-019B960494DF}">
              <a14:hiddenLine xmlns:a14="http://schemas.microsoft.com/office/drawing/2010/main" w="3175" algn="ctr">
                <a:solidFill>
                  <a:schemeClr val="accent1"/>
                </a:solidFill>
                <a:miter lim="800000"/>
                <a:headEnd type="none" w="sm" len="sm"/>
                <a:tailEnd type="none" w="sm" len="sm"/>
              </a14:hiddenLine>
            </a:ext>
          </a:extLst>
        </p:spPr>
        <p:txBody>
          <a:bodyPr wrap="square" lIns="503970" tIns="35998" rIns="35998" bIns="35998" rtlCol="0" anchor="ctr" anchorCtr="0"/>
          <a:lstStyle/>
          <a:p>
            <a:pPr>
              <a:buClr>
                <a:srgbClr val="2D4B84"/>
              </a:buClr>
            </a:pPr>
            <a:r>
              <a:rPr lang="en-US" sz="1400" b="1" dirty="0" smtClean="0"/>
              <a:t> Investment universe</a:t>
            </a:r>
            <a:endParaRPr lang="en-US" sz="1400" b="1" dirty="0"/>
          </a:p>
        </p:txBody>
      </p:sp>
      <p:sp>
        <p:nvSpPr>
          <p:cNvPr id="9" name="Pentagon 5"/>
          <p:cNvSpPr/>
          <p:nvPr/>
        </p:nvSpPr>
        <p:spPr bwMode="gray">
          <a:xfrm>
            <a:off x="5909663" y="1835623"/>
            <a:ext cx="4320000" cy="579320"/>
          </a:xfrm>
          <a:prstGeom prst="chevron">
            <a:avLst>
              <a:gd name="adj" fmla="val 26982"/>
            </a:avLst>
          </a:prstGeom>
          <a:solidFill>
            <a:schemeClr val="accent1"/>
          </a:solidFill>
          <a:ln w="3175" algn="ctr">
            <a:noFill/>
            <a:miter lim="800000"/>
            <a:headEnd type="none" w="sm" len="sm"/>
            <a:tailEnd type="none" w="sm" len="sm"/>
          </a:ln>
          <a:effectLst/>
          <a:extLst>
            <a:ext uri="{91240B29-F687-4F45-9708-019B960494DF}">
              <a14:hiddenLine xmlns:a14="http://schemas.microsoft.com/office/drawing/2010/main" w="3175" algn="ctr">
                <a:solidFill>
                  <a:schemeClr val="accent1"/>
                </a:solidFill>
                <a:miter lim="800000"/>
                <a:headEnd type="none" w="sm" len="sm"/>
                <a:tailEnd type="none" w="sm" len="sm"/>
              </a14:hiddenLine>
            </a:ext>
          </a:extLst>
        </p:spPr>
        <p:txBody>
          <a:bodyPr wrap="square" lIns="431974" tIns="35998" rIns="35998" bIns="35998" rtlCol="0" anchor="ctr" anchorCtr="0"/>
          <a:lstStyle/>
          <a:p>
            <a:pPr>
              <a:buClr>
                <a:srgbClr val="2D4B84"/>
              </a:buClr>
            </a:pPr>
            <a:r>
              <a:rPr lang="en-US" sz="1400" b="1" dirty="0" smtClean="0">
                <a:solidFill>
                  <a:schemeClr val="bg1"/>
                </a:solidFill>
              </a:rPr>
              <a:t> Portfolio construction</a:t>
            </a:r>
            <a:endParaRPr lang="en-US" sz="1400" b="1" dirty="0">
              <a:solidFill>
                <a:schemeClr val="bg1"/>
              </a:solidFill>
            </a:endParaRPr>
          </a:p>
        </p:txBody>
      </p:sp>
      <p:sp>
        <p:nvSpPr>
          <p:cNvPr id="13" name="Content Placeholder 5"/>
          <p:cNvSpPr txBox="1">
            <a:spLocks/>
          </p:cNvSpPr>
          <p:nvPr/>
        </p:nvSpPr>
        <p:spPr>
          <a:xfrm>
            <a:off x="449262" y="2570059"/>
            <a:ext cx="2505535" cy="318545"/>
          </a:xfrm>
          <a:prstGeom prst="rect">
            <a:avLst/>
          </a:prstGeom>
        </p:spPr>
        <p:txBody>
          <a:bodyPr wrap="square" lIns="91436" tIns="45718" rIns="91436" bIns="45718">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400" b="1" dirty="0" smtClean="0"/>
              <a:t>Number of securities: ~210</a:t>
            </a:r>
            <a:endParaRPr lang="en-US" sz="1400" b="1" dirty="0"/>
          </a:p>
        </p:txBody>
      </p:sp>
      <p:sp>
        <p:nvSpPr>
          <p:cNvPr id="14" name="Content Placeholder 5"/>
          <p:cNvSpPr txBox="1">
            <a:spLocks/>
          </p:cNvSpPr>
          <p:nvPr/>
        </p:nvSpPr>
        <p:spPr>
          <a:xfrm>
            <a:off x="9234338" y="2570059"/>
            <a:ext cx="487626" cy="318545"/>
          </a:xfrm>
          <a:prstGeom prst="rect">
            <a:avLst/>
          </a:prstGeom>
        </p:spPr>
        <p:txBody>
          <a:bodyPr wrap="none" lIns="91436" tIns="45718" rIns="91436" bIns="45718">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400" b="1" dirty="0" smtClean="0"/>
              <a:t>~30</a:t>
            </a:r>
            <a:endParaRPr lang="en-US" sz="1400" b="1" dirty="0"/>
          </a:p>
        </p:txBody>
      </p:sp>
      <p:cxnSp>
        <p:nvCxnSpPr>
          <p:cNvPr id="15" name="Straight Connector 14"/>
          <p:cNvCxnSpPr>
            <a:cxnSpLocks/>
            <a:stCxn id="14" idx="1"/>
            <a:endCxn id="13" idx="3"/>
          </p:cNvCxnSpPr>
          <p:nvPr/>
        </p:nvCxnSpPr>
        <p:spPr>
          <a:xfrm flipH="1">
            <a:off x="2954797" y="2729332"/>
            <a:ext cx="6279541" cy="0"/>
          </a:xfrm>
          <a:prstGeom prst="line">
            <a:avLst/>
          </a:prstGeom>
          <a:ln w="28575">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Pentagon 5"/>
          <p:cNvSpPr/>
          <p:nvPr/>
        </p:nvSpPr>
        <p:spPr bwMode="gray">
          <a:xfrm>
            <a:off x="3179513" y="1835623"/>
            <a:ext cx="2772000" cy="579320"/>
          </a:xfrm>
          <a:prstGeom prst="chevron">
            <a:avLst>
              <a:gd name="adj" fmla="val 26982"/>
            </a:avLst>
          </a:prstGeom>
          <a:solidFill>
            <a:schemeClr val="accent2"/>
          </a:solidFill>
          <a:ln w="3175" algn="ctr">
            <a:noFill/>
            <a:miter lim="800000"/>
            <a:headEnd type="none" w="sm" len="sm"/>
            <a:tailEnd type="none" w="sm" len="sm"/>
          </a:ln>
          <a:effectLst/>
          <a:extLst>
            <a:ext uri="{91240B29-F687-4F45-9708-019B960494DF}">
              <a14:hiddenLine xmlns:a14="http://schemas.microsoft.com/office/drawing/2010/main" w="3175" algn="ctr">
                <a:solidFill>
                  <a:schemeClr val="accent1"/>
                </a:solidFill>
                <a:miter lim="800000"/>
                <a:headEnd type="none" w="sm" len="sm"/>
                <a:tailEnd type="none" w="sm" len="sm"/>
              </a14:hiddenLine>
            </a:ext>
          </a:extLst>
        </p:spPr>
        <p:txBody>
          <a:bodyPr wrap="square" lIns="431974" tIns="35998" rIns="35998" bIns="35998" rtlCol="0" anchor="ctr" anchorCtr="0"/>
          <a:lstStyle/>
          <a:p>
            <a:pPr>
              <a:buClr>
                <a:srgbClr val="2D4B84"/>
              </a:buClr>
            </a:pPr>
            <a:r>
              <a:rPr lang="en-US" sz="1400" b="1" dirty="0" smtClean="0"/>
              <a:t> </a:t>
            </a:r>
            <a:r>
              <a:rPr lang="en-US" sz="1400" b="1" dirty="0"/>
              <a:t>Bottom-up analysis</a:t>
            </a:r>
          </a:p>
        </p:txBody>
      </p:sp>
      <p:sp>
        <p:nvSpPr>
          <p:cNvPr id="24" name="Content Placeholder 5"/>
          <p:cNvSpPr txBox="1">
            <a:spLocks/>
          </p:cNvSpPr>
          <p:nvPr/>
        </p:nvSpPr>
        <p:spPr>
          <a:xfrm>
            <a:off x="449265" y="2987751"/>
            <a:ext cx="9746928" cy="2203356"/>
          </a:xfrm>
          <a:prstGeom prst="rect">
            <a:avLst/>
          </a:prstGeom>
        </p:spPr>
        <p:txBody>
          <a:bodyPr wrap="square" lIns="91436" tIns="45718" rIns="91436" bIns="45718">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1200"/>
              </a:spcAft>
            </a:pPr>
            <a:r>
              <a:rPr lang="en-US" sz="1400" b="1" dirty="0" smtClean="0"/>
              <a:t>Time</a:t>
            </a:r>
          </a:p>
          <a:p>
            <a:pPr lvl="1">
              <a:spcAft>
                <a:spcPts val="1200"/>
              </a:spcAft>
            </a:pPr>
            <a:r>
              <a:rPr lang="en-US" dirty="0" smtClean="0"/>
              <a:t>Active decision to execute the transactions</a:t>
            </a:r>
          </a:p>
          <a:p>
            <a:pPr>
              <a:spcAft>
                <a:spcPts val="1200"/>
              </a:spcAft>
            </a:pPr>
            <a:r>
              <a:rPr lang="en-US" sz="1400" b="1" dirty="0" smtClean="0"/>
              <a:t>Position size</a:t>
            </a:r>
          </a:p>
          <a:p>
            <a:pPr lvl="1">
              <a:spcAft>
                <a:spcPts val="1200"/>
              </a:spcAft>
            </a:pPr>
            <a:r>
              <a:rPr lang="en-US" dirty="0" smtClean="0"/>
              <a:t>Portfolio position regardless of the benchmark weightings (at least 2 percent)</a:t>
            </a:r>
          </a:p>
          <a:p>
            <a:pPr>
              <a:spcAft>
                <a:spcPts val="1200"/>
              </a:spcAft>
            </a:pPr>
            <a:r>
              <a:rPr lang="en-US" sz="1400" b="1" dirty="0" smtClean="0"/>
              <a:t>Structuring</a:t>
            </a:r>
          </a:p>
          <a:p>
            <a:pPr lvl="1">
              <a:spcAft>
                <a:spcPts val="1200"/>
              </a:spcAft>
            </a:pPr>
            <a:r>
              <a:rPr lang="en-US" dirty="0" smtClean="0"/>
              <a:t>Concentrated portfolio with clear positioning</a:t>
            </a:r>
            <a:endParaRPr lang="en-US" dirty="0"/>
          </a:p>
        </p:txBody>
      </p:sp>
      <p:pic>
        <p:nvPicPr>
          <p:cNvPr id="17" name="Grafik 16">
            <a:extLst>
              <a:ext uri="{FF2B5EF4-FFF2-40B4-BE49-F238E27FC236}">
                <a16:creationId xmlns:a16="http://schemas.microsoft.com/office/drawing/2014/main" id="{5D629FB2-6519-47B9-A881-C959B561F0CB}"/>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449364" y="1874264"/>
            <a:ext cx="507704" cy="504000"/>
          </a:xfrm>
          <a:prstGeom prst="rect">
            <a:avLst/>
          </a:prstGeom>
        </p:spPr>
      </p:pic>
      <p:pic>
        <p:nvPicPr>
          <p:cNvPr id="22" name="Grafik 21">
            <a:extLst>
              <a:ext uri="{FF2B5EF4-FFF2-40B4-BE49-F238E27FC236}">
                <a16:creationId xmlns:a16="http://schemas.microsoft.com/office/drawing/2014/main" id="{F68635F0-26DF-4F6D-BD16-558C20461814}"/>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3294283" y="1874264"/>
            <a:ext cx="504364" cy="504000"/>
          </a:xfrm>
          <a:prstGeom prst="rect">
            <a:avLst/>
          </a:prstGeom>
        </p:spPr>
      </p:pic>
      <p:pic>
        <p:nvPicPr>
          <p:cNvPr id="23" name="Grafik 22">
            <a:extLst>
              <a:ext uri="{FF2B5EF4-FFF2-40B4-BE49-F238E27FC236}">
                <a16:creationId xmlns:a16="http://schemas.microsoft.com/office/drawing/2014/main" id="{0A22250A-CFAB-4A39-A629-00144F2C0D04}"/>
              </a:ext>
            </a:extLst>
          </p:cNvPr>
          <p:cNvPicPr>
            <a:picLocks noChangeAspect="1"/>
          </p:cNvPicPr>
          <p:nvPr>
            <p:custDataLst>
              <p:tags r:id="rId5"/>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6028539" y="1874264"/>
            <a:ext cx="507704" cy="504000"/>
          </a:xfrm>
          <a:prstGeom prst="rect">
            <a:avLst/>
          </a:prstGeom>
        </p:spPr>
      </p:pic>
    </p:spTree>
    <p:extLst>
      <p:ext uri="{BB962C8B-B14F-4D97-AF65-F5344CB8AC3E}">
        <p14:creationId xmlns:p14="http://schemas.microsoft.com/office/powerpoint/2010/main" val="14335207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0" name="Picture 8" descr="N:\80_PB_SI\20_PBSI_2\10_PBSI_21\01_Team\07_Vorlagen\20_CV's\Bilder\Team Halsig\Team Lattner\schnider_beat_rgb_1280x720px.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9362" y="4268314"/>
            <a:ext cx="957600" cy="538650"/>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descr="N:\80_PB_SI\20_PBSI_2\10_PBSI_21\01_Team\07_Vorlagen\20_CV's\Bilder\Team Halsig\bart_roland_rgb_1280x720px.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5762" y="1912518"/>
            <a:ext cx="957600" cy="5386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8" name="Object 17" hidden="1"/>
          <p:cNvGraphicFramePr>
            <a:graphicFrameLocks noChangeAspect="1"/>
          </p:cNvGraphicFramePr>
          <p:nvPr>
            <p:custDataLst>
              <p:tags r:id="rId2"/>
            </p:custDataLst>
            <p:extLst>
              <p:ext uri="{D42A27DB-BD31-4B8C-83A1-F6EECF244321}">
                <p14:modId xmlns:p14="http://schemas.microsoft.com/office/powerpoint/2010/main" val="3904447472"/>
              </p:ext>
            </p:ext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spid="_x0000_s18805" name="think-cell Slide" r:id="rId6" imgW="270" imgH="270" progId="TCLayout.ActiveDocument.1">
                  <p:embed/>
                </p:oleObj>
              </mc:Choice>
              <mc:Fallback>
                <p:oleObj name="think-cell Slide" r:id="rId6" imgW="270" imgH="270" progId="TCLayout.ActiveDocument.1">
                  <p:embed/>
                  <p:pic>
                    <p:nvPicPr>
                      <p:cNvPr id="0" name=""/>
                      <p:cNvPicPr/>
                      <p:nvPr/>
                    </p:nvPicPr>
                    <p:blipFill>
                      <a:blip r:embed="rId7"/>
                      <a:stretch>
                        <a:fillRect/>
                      </a:stretch>
                    </p:blipFill>
                    <p:spPr>
                      <a:xfrm>
                        <a:off x="1590" y="1590"/>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smtClean="0"/>
              <a:t/>
            </a:r>
            <a:br>
              <a:rPr lang="en-US" dirty="0" smtClean="0"/>
            </a:br>
            <a:r>
              <a:rPr lang="en-US" dirty="0" smtClean="0"/>
              <a:t>Our experienced team: Comprehensive competences and broad experience</a:t>
            </a:r>
            <a:endParaRPr lang="en-US" dirty="0"/>
          </a:p>
        </p:txBody>
      </p:sp>
      <p:sp>
        <p:nvSpPr>
          <p:cNvPr id="3" name="Text Placeholder 2"/>
          <p:cNvSpPr>
            <a:spLocks noGrp="1"/>
          </p:cNvSpPr>
          <p:nvPr>
            <p:ph type="body" sz="quarter" idx="16"/>
          </p:nvPr>
        </p:nvSpPr>
        <p:spPr>
          <a:xfrm>
            <a:off x="3732948" y="1476374"/>
            <a:ext cx="6408000" cy="258533"/>
          </a:xfrm>
        </p:spPr>
        <p:txBody>
          <a:bodyPr/>
          <a:lstStyle/>
          <a:p>
            <a:r>
              <a:rPr lang="en-US" dirty="0" smtClean="0"/>
              <a:t>Swiss Equity Research-Team</a:t>
            </a:r>
            <a:endParaRPr lang="en-US" dirty="0"/>
          </a:p>
        </p:txBody>
      </p:sp>
      <p:sp>
        <p:nvSpPr>
          <p:cNvPr id="4" name="Text Placeholder 3"/>
          <p:cNvSpPr>
            <a:spLocks noGrp="1"/>
          </p:cNvSpPr>
          <p:nvPr>
            <p:ph type="body" sz="quarter" idx="14"/>
          </p:nvPr>
        </p:nvSpPr>
        <p:spPr>
          <a:xfrm>
            <a:off x="449361" y="1476374"/>
            <a:ext cx="3096000" cy="258533"/>
          </a:xfrm>
        </p:spPr>
        <p:txBody>
          <a:bodyPr/>
          <a:lstStyle/>
          <a:p>
            <a:r>
              <a:rPr lang="en-US" dirty="0" smtClean="0"/>
              <a:t>Portfolio management</a:t>
            </a:r>
            <a:endParaRPr lang="en-US" dirty="0"/>
          </a:p>
        </p:txBody>
      </p:sp>
      <p:sp>
        <p:nvSpPr>
          <p:cNvPr id="5" name="Content Placeholder 4"/>
          <p:cNvSpPr>
            <a:spLocks noGrp="1"/>
          </p:cNvSpPr>
          <p:nvPr>
            <p:ph sz="quarter" idx="17"/>
          </p:nvPr>
        </p:nvSpPr>
        <p:spPr>
          <a:xfrm>
            <a:off x="449362" y="2466530"/>
            <a:ext cx="1378904" cy="323165"/>
          </a:xfrm>
        </p:spPr>
        <p:txBody>
          <a:bodyPr wrap="square">
            <a:spAutoFit/>
          </a:bodyPr>
          <a:lstStyle/>
          <a:p>
            <a:pPr marL="0" indent="0">
              <a:buNone/>
            </a:pPr>
            <a:r>
              <a:rPr lang="en-US" sz="1000" b="1" dirty="0" smtClean="0"/>
              <a:t>Roland Bart</a:t>
            </a:r>
          </a:p>
          <a:p>
            <a:pPr marL="0" indent="0">
              <a:buNone/>
            </a:pPr>
            <a:r>
              <a:rPr lang="en-US" sz="1000" dirty="0" smtClean="0"/>
              <a:t>Experience: 26 years</a:t>
            </a:r>
            <a:endParaRPr lang="en-US" sz="1000" dirty="0"/>
          </a:p>
        </p:txBody>
      </p:sp>
      <p:sp>
        <p:nvSpPr>
          <p:cNvPr id="16" name="Content Placeholder 4"/>
          <p:cNvSpPr txBox="1">
            <a:spLocks/>
          </p:cNvSpPr>
          <p:nvPr/>
        </p:nvSpPr>
        <p:spPr>
          <a:xfrm>
            <a:off x="449362" y="4821242"/>
            <a:ext cx="1378904" cy="323165"/>
          </a:xfrm>
          <a:prstGeom prst="rect">
            <a:avLst/>
          </a:prstGeom>
        </p:spPr>
        <p:txBody>
          <a:bodyPr vert="horz" wrap="square" lIns="0" tIns="0" rIns="0" bIns="0" rtlCol="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000" b="1" dirty="0" smtClean="0"/>
              <a:t>Beat </a:t>
            </a:r>
            <a:r>
              <a:rPr lang="en-US" sz="1000" b="1" dirty="0" err="1" smtClean="0"/>
              <a:t>Schnider</a:t>
            </a:r>
            <a:endParaRPr lang="en-US" sz="1000" b="1" dirty="0" smtClean="0"/>
          </a:p>
          <a:p>
            <a:pPr marL="0" indent="0">
              <a:buNone/>
            </a:pPr>
            <a:r>
              <a:rPr lang="en-US" sz="1000" dirty="0" smtClean="0"/>
              <a:t>Experience: 12 years</a:t>
            </a:r>
            <a:endParaRPr lang="en-US" sz="1000" dirty="0"/>
          </a:p>
        </p:txBody>
      </p:sp>
      <p:sp>
        <p:nvSpPr>
          <p:cNvPr id="17" name="Content Placeholder 4"/>
          <p:cNvSpPr txBox="1">
            <a:spLocks/>
          </p:cNvSpPr>
          <p:nvPr/>
        </p:nvSpPr>
        <p:spPr>
          <a:xfrm>
            <a:off x="449362" y="6104701"/>
            <a:ext cx="1706816" cy="323165"/>
          </a:xfrm>
          <a:prstGeom prst="rect">
            <a:avLst/>
          </a:prstGeom>
        </p:spPr>
        <p:txBody>
          <a:bodyPr vert="horz" wrap="square" lIns="0" tIns="0" rIns="0" bIns="0" rtlCol="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000" b="1" dirty="0" smtClean="0"/>
              <a:t>Massimiliano </a:t>
            </a:r>
            <a:r>
              <a:rPr lang="en-US" sz="1000" b="1" dirty="0" err="1" smtClean="0"/>
              <a:t>Balleriano</a:t>
            </a:r>
            <a:endParaRPr lang="en-US" sz="1000" b="1" dirty="0" smtClean="0"/>
          </a:p>
          <a:p>
            <a:pPr marL="0" indent="0">
              <a:buNone/>
            </a:pPr>
            <a:r>
              <a:rPr lang="en-US" sz="1000" dirty="0" smtClean="0"/>
              <a:t>Experience: 9 years</a:t>
            </a:r>
            <a:endParaRPr lang="en-US" sz="1000" dirty="0"/>
          </a:p>
        </p:txBody>
      </p:sp>
      <p:sp>
        <p:nvSpPr>
          <p:cNvPr id="23" name="Content Placeholder 5"/>
          <p:cNvSpPr txBox="1">
            <a:spLocks/>
          </p:cNvSpPr>
          <p:nvPr/>
        </p:nvSpPr>
        <p:spPr>
          <a:xfrm>
            <a:off x="1951566" y="1907630"/>
            <a:ext cx="1627662" cy="969496"/>
          </a:xfrm>
          <a:prstGeom prst="rect">
            <a:avLst/>
          </a:prstGeom>
        </p:spPr>
        <p:txBody>
          <a:bodyPr vert="horz" wrap="square" lIns="0" tIns="0" rIns="0" bIns="0" rtlCol="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000" dirty="0" smtClean="0"/>
              <a:t>Responsibility:</a:t>
            </a:r>
          </a:p>
          <a:p>
            <a:pPr marL="107994" indent="-107994"/>
            <a:r>
              <a:rPr lang="en-US" sz="1000" b="1" dirty="0" smtClean="0"/>
              <a:t>Overall performance</a:t>
            </a:r>
          </a:p>
          <a:p>
            <a:pPr marL="107994" indent="-107994"/>
            <a:r>
              <a:rPr lang="en-US" sz="1000" b="1" dirty="0" smtClean="0"/>
              <a:t>Investment decision</a:t>
            </a:r>
          </a:p>
          <a:p>
            <a:pPr marL="107994" indent="-107994"/>
            <a:r>
              <a:rPr lang="en-US" sz="1000" dirty="0" smtClean="0"/>
              <a:t>Asset allocation</a:t>
            </a:r>
          </a:p>
          <a:p>
            <a:pPr marL="107994" indent="-107994"/>
            <a:r>
              <a:rPr lang="en-US" sz="1000" dirty="0" smtClean="0"/>
              <a:t>Security selection</a:t>
            </a:r>
          </a:p>
          <a:p>
            <a:pPr marL="107994" indent="-107994"/>
            <a:r>
              <a:rPr lang="en-US" sz="1000" dirty="0" smtClean="0"/>
              <a:t>Monitoring</a:t>
            </a:r>
            <a:endParaRPr lang="en-US" sz="1000" dirty="0"/>
          </a:p>
        </p:txBody>
      </p:sp>
      <p:sp>
        <p:nvSpPr>
          <p:cNvPr id="25" name="Content Placeholder 5"/>
          <p:cNvSpPr txBox="1">
            <a:spLocks/>
          </p:cNvSpPr>
          <p:nvPr/>
        </p:nvSpPr>
        <p:spPr>
          <a:xfrm>
            <a:off x="1951566" y="4268314"/>
            <a:ext cx="1627662" cy="807913"/>
          </a:xfrm>
          <a:prstGeom prst="rect">
            <a:avLst/>
          </a:prstGeom>
        </p:spPr>
        <p:txBody>
          <a:bodyPr vert="horz" wrap="square" lIns="0" tIns="0" rIns="0" bIns="0" rtlCol="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000" dirty="0" smtClean="0"/>
              <a:t>Responsibility:</a:t>
            </a:r>
          </a:p>
          <a:p>
            <a:pPr marL="107994" indent="-107994"/>
            <a:r>
              <a:rPr lang="en-US" sz="1000" dirty="0" smtClean="0"/>
              <a:t>Implementation</a:t>
            </a:r>
          </a:p>
          <a:p>
            <a:pPr marL="107994" indent="-107994"/>
            <a:r>
              <a:rPr lang="en-US" sz="1000" dirty="0" smtClean="0"/>
              <a:t>Corporate Action</a:t>
            </a:r>
            <a:br>
              <a:rPr lang="en-US" sz="1000" dirty="0" smtClean="0"/>
            </a:br>
            <a:r>
              <a:rPr lang="en-US" sz="1000" dirty="0" smtClean="0"/>
              <a:t>monitoring</a:t>
            </a:r>
          </a:p>
          <a:p>
            <a:pPr marL="107994" indent="-107994"/>
            <a:r>
              <a:rPr lang="en-US" sz="1000" dirty="0" smtClean="0"/>
              <a:t>Cash Flow management</a:t>
            </a:r>
            <a:endParaRPr lang="en-US" sz="1000" dirty="0"/>
          </a:p>
        </p:txBody>
      </p:sp>
      <p:sp>
        <p:nvSpPr>
          <p:cNvPr id="26" name="Content Placeholder 5"/>
          <p:cNvSpPr txBox="1">
            <a:spLocks/>
          </p:cNvSpPr>
          <p:nvPr/>
        </p:nvSpPr>
        <p:spPr>
          <a:xfrm>
            <a:off x="1951566" y="5556884"/>
            <a:ext cx="1627662" cy="646331"/>
          </a:xfrm>
          <a:prstGeom prst="rect">
            <a:avLst/>
          </a:prstGeom>
        </p:spPr>
        <p:txBody>
          <a:bodyPr vert="horz" wrap="square" lIns="0" tIns="0" rIns="0" bIns="0" rtlCol="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Font typeface="Arial" panose="020B0604020202020204" pitchFamily="34" charset="0"/>
              <a:buNone/>
            </a:pPr>
            <a:r>
              <a:rPr lang="en-US" sz="1000" dirty="0"/>
              <a:t>Responsibility:</a:t>
            </a:r>
          </a:p>
          <a:p>
            <a:pPr marL="107994" indent="-107994"/>
            <a:r>
              <a:rPr lang="en-US" sz="1000" dirty="0"/>
              <a:t>Substitute for </a:t>
            </a:r>
            <a:br>
              <a:rPr lang="en-US" sz="1000" dirty="0"/>
            </a:br>
            <a:r>
              <a:rPr lang="en-US" sz="1000" dirty="0" smtClean="0"/>
              <a:t>Beat Schnider</a:t>
            </a:r>
            <a:endParaRPr lang="en-US" sz="1000" dirty="0"/>
          </a:p>
          <a:p>
            <a:pPr marL="0" indent="0">
              <a:buNone/>
            </a:pPr>
            <a:endParaRPr lang="en-US" sz="1000" dirty="0" smtClean="0"/>
          </a:p>
        </p:txBody>
      </p:sp>
      <p:sp>
        <p:nvSpPr>
          <p:cNvPr id="55" name="Text Placeholder 2"/>
          <p:cNvSpPr txBox="1">
            <a:spLocks/>
          </p:cNvSpPr>
          <p:nvPr/>
        </p:nvSpPr>
        <p:spPr>
          <a:xfrm>
            <a:off x="3732948" y="5222063"/>
            <a:ext cx="6408000" cy="258533"/>
          </a:xfrm>
          <a:prstGeom prst="rect">
            <a:avLst/>
          </a:prstGeom>
        </p:spPr>
        <p:txBody>
          <a:bodyPr vert="horz" lIns="0" tIns="0" rIns="0" bIns="0" rtlCol="0">
            <a:noAutofit/>
          </a:bodyPr>
          <a:lstStyle>
            <a:lvl1pPr marL="0" indent="0" algn="l" defTabSz="986912" rtl="0" eaLnBrk="1" latinLnBrk="0" hangingPunct="1">
              <a:lnSpc>
                <a:spcPct val="105000"/>
              </a:lnSpc>
              <a:spcBef>
                <a:spcPts val="0"/>
              </a:spcBef>
              <a:buClr>
                <a:srgbClr val="000000"/>
              </a:buClr>
              <a:buFont typeface="Arial" panose="020B0604020202020204" pitchFamily="34" charset="0"/>
              <a:buNone/>
              <a:defRPr sz="1600" b="1"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r>
              <a:rPr lang="en-US" dirty="0" smtClean="0"/>
              <a:t>Global Macroeconomic Research</a:t>
            </a:r>
            <a:endParaRPr lang="en-US" dirty="0"/>
          </a:p>
        </p:txBody>
      </p:sp>
      <p:sp>
        <p:nvSpPr>
          <p:cNvPr id="56" name="Content Placeholder 4"/>
          <p:cNvSpPr>
            <a:spLocks noGrp="1"/>
          </p:cNvSpPr>
          <p:nvPr>
            <p:ph sz="quarter" idx="17"/>
          </p:nvPr>
        </p:nvSpPr>
        <p:spPr>
          <a:xfrm>
            <a:off x="3732948" y="6163971"/>
            <a:ext cx="1468438" cy="323165"/>
          </a:xfrm>
        </p:spPr>
        <p:txBody>
          <a:bodyPr wrap="square">
            <a:spAutoFit/>
          </a:bodyPr>
          <a:lstStyle/>
          <a:p>
            <a:pPr marL="0" indent="0">
              <a:buNone/>
            </a:pPr>
            <a:r>
              <a:rPr lang="en-US" sz="1000" b="1" dirty="0" smtClean="0"/>
              <a:t>Dr. R. </a:t>
            </a:r>
            <a:r>
              <a:rPr lang="en-US" sz="1000" b="1" dirty="0" err="1" smtClean="0"/>
              <a:t>Wiedemann</a:t>
            </a:r>
            <a:endParaRPr lang="en-US" sz="1000" b="1" dirty="0" smtClean="0"/>
          </a:p>
          <a:p>
            <a:pPr marL="0" indent="0">
              <a:buNone/>
            </a:pPr>
            <a:r>
              <a:rPr lang="en-US" sz="1000" dirty="0" smtClean="0"/>
              <a:t>Head Economic Research</a:t>
            </a:r>
            <a:endParaRPr lang="en-US" sz="1000" dirty="0"/>
          </a:p>
        </p:txBody>
      </p:sp>
      <p:sp>
        <p:nvSpPr>
          <p:cNvPr id="57" name="Content Placeholder 4"/>
          <p:cNvSpPr>
            <a:spLocks noGrp="1"/>
          </p:cNvSpPr>
          <p:nvPr>
            <p:ph sz="quarter" idx="17"/>
          </p:nvPr>
        </p:nvSpPr>
        <p:spPr>
          <a:xfrm>
            <a:off x="5469005" y="6163971"/>
            <a:ext cx="1468438" cy="323165"/>
          </a:xfrm>
        </p:spPr>
        <p:txBody>
          <a:bodyPr wrap="square">
            <a:noAutofit/>
          </a:bodyPr>
          <a:lstStyle/>
          <a:p>
            <a:pPr marL="0" indent="0">
              <a:buNone/>
            </a:pPr>
            <a:r>
              <a:rPr lang="en-US" sz="1000" b="1" dirty="0" smtClean="0"/>
              <a:t>Dr. R. </a:t>
            </a:r>
            <a:r>
              <a:rPr lang="en-US" sz="1000" b="1" dirty="0" err="1" smtClean="0"/>
              <a:t>Cueni</a:t>
            </a:r>
            <a:endParaRPr lang="en-US" sz="1000" b="1" dirty="0" smtClean="0"/>
          </a:p>
          <a:p>
            <a:pPr marL="0" indent="0">
              <a:buNone/>
            </a:pPr>
            <a:r>
              <a:rPr lang="en-US" sz="1000" dirty="0" smtClean="0"/>
              <a:t>Senior Economist</a:t>
            </a:r>
            <a:endParaRPr lang="en-US" sz="1000" dirty="0"/>
          </a:p>
        </p:txBody>
      </p:sp>
      <p:pic>
        <p:nvPicPr>
          <p:cNvPr id="59" name="Picture 5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39828" y="1910244"/>
            <a:ext cx="950897" cy="597359"/>
          </a:xfrm>
          <a:prstGeom prst="rect">
            <a:avLst/>
          </a:prstGeom>
        </p:spPr>
      </p:pic>
      <p:pic>
        <p:nvPicPr>
          <p:cNvPr id="60" name="Picture 5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38839" y="1910244"/>
            <a:ext cx="956993" cy="597359"/>
          </a:xfrm>
          <a:prstGeom prst="rect">
            <a:avLst/>
          </a:prstGeom>
        </p:spPr>
      </p:pic>
      <p:pic>
        <p:nvPicPr>
          <p:cNvPr id="61" name="Picture 60"/>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46060" y="1910244"/>
            <a:ext cx="956993" cy="597359"/>
          </a:xfrm>
          <a:prstGeom prst="rect">
            <a:avLst/>
          </a:prstGeom>
        </p:spPr>
      </p:pic>
      <p:sp>
        <p:nvSpPr>
          <p:cNvPr id="64" name="Rectangle 30"/>
          <p:cNvSpPr>
            <a:spLocks noChangeArrowheads="1"/>
          </p:cNvSpPr>
          <p:nvPr/>
        </p:nvSpPr>
        <p:spPr bwMode="gray">
          <a:xfrm>
            <a:off x="7646060" y="2517332"/>
            <a:ext cx="156891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p>
            <a:pPr algn="l">
              <a:buClrTx/>
              <a:buFontTx/>
              <a:buNone/>
            </a:pPr>
            <a:r>
              <a:rPr lang="en-US" altLang="de-DE" sz="1000" b="1" dirty="0" smtClean="0">
                <a:sym typeface="ITC Officina Sans Book" pitchFamily="34" charset="0"/>
              </a:rPr>
              <a:t>Michael </a:t>
            </a:r>
            <a:r>
              <a:rPr lang="en-US" altLang="de-DE" sz="1000" b="1" dirty="0" err="1" smtClean="0">
                <a:sym typeface="ITC Officina Sans Book" pitchFamily="34" charset="0"/>
              </a:rPr>
              <a:t>Foeth</a:t>
            </a:r>
            <a:endParaRPr lang="en-US" altLang="de-DE" sz="1000" b="1" dirty="0" smtClean="0">
              <a:sym typeface="ITC Officina Sans Book" pitchFamily="34" charset="0"/>
            </a:endParaRPr>
          </a:p>
          <a:p>
            <a:pPr algn="l">
              <a:buClrTx/>
              <a:buFontTx/>
              <a:buNone/>
            </a:pPr>
            <a:r>
              <a:rPr lang="en-US" altLang="de-DE" sz="1000" dirty="0" smtClean="0">
                <a:sym typeface="ITC Officina Sans Book" pitchFamily="34" charset="0"/>
              </a:rPr>
              <a:t>Serv., Logistics, Tech.</a:t>
            </a:r>
            <a:endParaRPr lang="en-US" altLang="de-DE" sz="1000" dirty="0">
              <a:sym typeface="ITC Officina Sans Book" pitchFamily="34" charset="0"/>
            </a:endParaRPr>
          </a:p>
        </p:txBody>
      </p:sp>
      <p:sp>
        <p:nvSpPr>
          <p:cNvPr id="65" name="Rectangle 36"/>
          <p:cNvSpPr>
            <a:spLocks noChangeArrowheads="1"/>
          </p:cNvSpPr>
          <p:nvPr/>
        </p:nvSpPr>
        <p:spPr bwMode="gray">
          <a:xfrm>
            <a:off x="5061417" y="2517332"/>
            <a:ext cx="13680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buClr>
                <a:schemeClr val="accent1"/>
              </a:buClr>
              <a:buFont typeface="Wingdings" pitchFamily="2" charset="2"/>
              <a:buChar char="§"/>
              <a:defRPr sz="2000">
                <a:solidFill>
                  <a:schemeClr val="tx1"/>
                </a:solidFill>
                <a:latin typeface="ITC Officina Sans Book" pitchFamily="34" charset="0"/>
              </a:defRPr>
            </a:lvl1pPr>
            <a:lvl2pPr marL="742950" indent="-285750" eaLnBrk="0" hangingPunct="0">
              <a:buClr>
                <a:schemeClr val="accent1"/>
              </a:buClr>
              <a:buChar char="-"/>
              <a:defRPr sz="2000">
                <a:solidFill>
                  <a:schemeClr val="tx1"/>
                </a:solidFill>
                <a:latin typeface="ITC Officina Sans Book" pitchFamily="34" charset="0"/>
              </a:defRPr>
            </a:lvl2pPr>
            <a:lvl3pPr marL="1143000" indent="-228600" eaLnBrk="0" hangingPunct="0">
              <a:buClr>
                <a:schemeClr val="accent1"/>
              </a:buClr>
              <a:buChar char="-"/>
              <a:defRPr sz="2000">
                <a:solidFill>
                  <a:schemeClr val="tx1"/>
                </a:solidFill>
                <a:latin typeface="ITC Officina Sans Book" pitchFamily="34" charset="0"/>
              </a:defRPr>
            </a:lvl3pPr>
            <a:lvl4pPr marL="1600200" indent="-228600" eaLnBrk="0" hangingPunct="0">
              <a:buClr>
                <a:schemeClr val="accent1"/>
              </a:buClr>
              <a:buChar char="-"/>
              <a:defRPr sz="2000">
                <a:solidFill>
                  <a:schemeClr val="tx1"/>
                </a:solidFill>
                <a:latin typeface="ITC Officina Sans Book" pitchFamily="34" charset="0"/>
              </a:defRPr>
            </a:lvl4pPr>
            <a:lvl5pPr marL="2057400" indent="-228600" eaLnBrk="0" hangingPunct="0">
              <a:buClr>
                <a:schemeClr val="accent1"/>
              </a:buClr>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algn="l" eaLnBrk="1" hangingPunct="1">
              <a:buClrTx/>
              <a:buFontTx/>
              <a:buNone/>
            </a:pPr>
            <a:r>
              <a:rPr lang="en-US" altLang="de-DE" sz="1000" b="1" dirty="0" smtClean="0">
                <a:latin typeface="+mn-lt"/>
                <a:sym typeface="ITC Officina Sans Book" pitchFamily="34" charset="0"/>
              </a:rPr>
              <a:t>Dr. C. </a:t>
            </a:r>
            <a:r>
              <a:rPr lang="en-US" altLang="de-DE" sz="1000" b="1" dirty="0" err="1" smtClean="0">
                <a:latin typeface="+mn-lt"/>
                <a:sym typeface="ITC Officina Sans Book" pitchFamily="34" charset="0"/>
              </a:rPr>
              <a:t>Bänziger</a:t>
            </a:r>
            <a:r>
              <a:rPr lang="en-US" altLang="de-DE" sz="1000" b="1" dirty="0" smtClean="0">
                <a:latin typeface="+mn-lt"/>
                <a:sym typeface="ITC Officina Sans Book" pitchFamily="34" charset="0"/>
              </a:rPr>
              <a:t> </a:t>
            </a:r>
            <a:r>
              <a:rPr lang="en-US" altLang="de-DE" sz="1000" dirty="0" smtClean="0">
                <a:latin typeface="+mn-lt"/>
                <a:sym typeface="ITC Officina Sans Book" pitchFamily="34" charset="0"/>
              </a:rPr>
              <a:t>Medical Technology</a:t>
            </a:r>
          </a:p>
        </p:txBody>
      </p:sp>
      <p:sp>
        <p:nvSpPr>
          <p:cNvPr id="68" name="Rectangle 34"/>
          <p:cNvSpPr>
            <a:spLocks noChangeArrowheads="1"/>
          </p:cNvSpPr>
          <p:nvPr/>
        </p:nvSpPr>
        <p:spPr bwMode="gray">
          <a:xfrm>
            <a:off x="8951167" y="2517332"/>
            <a:ext cx="12872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buClr>
                <a:schemeClr val="accent1"/>
              </a:buClr>
              <a:buFont typeface="Wingdings" pitchFamily="2" charset="2"/>
              <a:buChar char="§"/>
              <a:defRPr sz="2000">
                <a:solidFill>
                  <a:schemeClr val="tx1"/>
                </a:solidFill>
                <a:latin typeface="ITC Officina Sans Book" pitchFamily="34" charset="0"/>
              </a:defRPr>
            </a:lvl1pPr>
            <a:lvl2pPr marL="742950" indent="-285750" eaLnBrk="0" hangingPunct="0">
              <a:buClr>
                <a:schemeClr val="accent1"/>
              </a:buClr>
              <a:buChar char="-"/>
              <a:defRPr sz="2000">
                <a:solidFill>
                  <a:schemeClr val="tx1"/>
                </a:solidFill>
                <a:latin typeface="ITC Officina Sans Book" pitchFamily="34" charset="0"/>
              </a:defRPr>
            </a:lvl2pPr>
            <a:lvl3pPr marL="1143000" indent="-228600" eaLnBrk="0" hangingPunct="0">
              <a:buClr>
                <a:schemeClr val="accent1"/>
              </a:buClr>
              <a:buChar char="-"/>
              <a:defRPr sz="2000">
                <a:solidFill>
                  <a:schemeClr val="tx1"/>
                </a:solidFill>
                <a:latin typeface="ITC Officina Sans Book" pitchFamily="34" charset="0"/>
              </a:defRPr>
            </a:lvl3pPr>
            <a:lvl4pPr marL="1600200" indent="-228600" eaLnBrk="0" hangingPunct="0">
              <a:buClr>
                <a:schemeClr val="accent1"/>
              </a:buClr>
              <a:buChar char="-"/>
              <a:defRPr sz="2000">
                <a:solidFill>
                  <a:schemeClr val="tx1"/>
                </a:solidFill>
                <a:latin typeface="ITC Officina Sans Book" pitchFamily="34" charset="0"/>
              </a:defRPr>
            </a:lvl4pPr>
            <a:lvl5pPr marL="2057400" indent="-228600" eaLnBrk="0" hangingPunct="0">
              <a:buClr>
                <a:schemeClr val="accent1"/>
              </a:buClr>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algn="l" eaLnBrk="1" hangingPunct="1">
              <a:buClrTx/>
              <a:buFontTx/>
              <a:buNone/>
            </a:pPr>
            <a:r>
              <a:rPr lang="en-US" altLang="de-DE" sz="1000" b="1" dirty="0" smtClean="0">
                <a:latin typeface="+mn-lt"/>
                <a:sym typeface="ITC Officina Sans Book" pitchFamily="34" charset="0"/>
              </a:rPr>
              <a:t>P. </a:t>
            </a:r>
            <a:r>
              <a:rPr lang="en-US" altLang="de-DE" sz="1000" b="1" dirty="0" err="1" smtClean="0">
                <a:latin typeface="+mn-lt"/>
                <a:sym typeface="ITC Officina Sans Book" pitchFamily="34" charset="0"/>
              </a:rPr>
              <a:t>Furger</a:t>
            </a:r>
            <a:endParaRPr lang="en-US" altLang="de-DE" sz="1000" b="1" dirty="0" smtClean="0">
              <a:latin typeface="+mn-lt"/>
              <a:sym typeface="ITC Officina Sans Book" pitchFamily="34" charset="0"/>
            </a:endParaRPr>
          </a:p>
          <a:p>
            <a:pPr algn="l" eaLnBrk="1" hangingPunct="1">
              <a:buClrTx/>
              <a:buFontTx/>
              <a:buNone/>
            </a:pPr>
            <a:r>
              <a:rPr lang="en-US" altLang="de-DE" sz="1000" dirty="0" err="1" smtClean="0">
                <a:latin typeface="+mn-lt"/>
                <a:sym typeface="ITC Officina Sans Book" pitchFamily="34" charset="0"/>
              </a:rPr>
              <a:t>Mec</a:t>
            </a:r>
            <a:r>
              <a:rPr lang="en-US" altLang="de-DE" sz="1000" dirty="0" smtClean="0">
                <a:latin typeface="+mn-lt"/>
                <a:sym typeface="ITC Officina Sans Book" pitchFamily="34" charset="0"/>
              </a:rPr>
              <a:t>. Engineering</a:t>
            </a:r>
            <a:endParaRPr lang="en-US" altLang="de-DE" sz="1000" dirty="0">
              <a:latin typeface="+mn-lt"/>
              <a:sym typeface="ITC Officina Sans Book" pitchFamily="34" charset="0"/>
            </a:endParaRPr>
          </a:p>
        </p:txBody>
      </p:sp>
      <p:sp>
        <p:nvSpPr>
          <p:cNvPr id="69" name="Rectangle 108"/>
          <p:cNvSpPr>
            <a:spLocks noChangeArrowheads="1"/>
          </p:cNvSpPr>
          <p:nvPr/>
        </p:nvSpPr>
        <p:spPr bwMode="gray">
          <a:xfrm>
            <a:off x="5061417" y="3738311"/>
            <a:ext cx="150826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buClr>
                <a:schemeClr val="accent1"/>
              </a:buClr>
              <a:buFont typeface="Wingdings" pitchFamily="2" charset="2"/>
              <a:buChar char="§"/>
              <a:tabLst>
                <a:tab pos="123825" algn="l"/>
              </a:tabLst>
              <a:defRPr sz="2000">
                <a:solidFill>
                  <a:schemeClr val="tx1"/>
                </a:solidFill>
                <a:latin typeface="ITC Officina Sans Book" pitchFamily="34" charset="0"/>
              </a:defRPr>
            </a:lvl1pPr>
            <a:lvl2pPr marL="742950" indent="-285750" eaLnBrk="0" hangingPunct="0">
              <a:buClr>
                <a:schemeClr val="accent1"/>
              </a:buClr>
              <a:buChar char="-"/>
              <a:tabLst>
                <a:tab pos="123825" algn="l"/>
              </a:tabLst>
              <a:defRPr sz="2000">
                <a:solidFill>
                  <a:schemeClr val="tx1"/>
                </a:solidFill>
                <a:latin typeface="ITC Officina Sans Book" pitchFamily="34" charset="0"/>
              </a:defRPr>
            </a:lvl2pPr>
            <a:lvl3pPr marL="1143000" indent="-228600" eaLnBrk="0" hangingPunct="0">
              <a:buClr>
                <a:schemeClr val="accent1"/>
              </a:buClr>
              <a:buChar char="-"/>
              <a:tabLst>
                <a:tab pos="123825" algn="l"/>
              </a:tabLst>
              <a:defRPr sz="2000">
                <a:solidFill>
                  <a:schemeClr val="tx1"/>
                </a:solidFill>
                <a:latin typeface="ITC Officina Sans Book" pitchFamily="34" charset="0"/>
              </a:defRPr>
            </a:lvl3pPr>
            <a:lvl4pPr marL="1600200" indent="-228600" eaLnBrk="0" hangingPunct="0">
              <a:buClr>
                <a:schemeClr val="accent1"/>
              </a:buClr>
              <a:buChar char="-"/>
              <a:tabLst>
                <a:tab pos="123825" algn="l"/>
              </a:tabLst>
              <a:defRPr sz="2000">
                <a:solidFill>
                  <a:schemeClr val="tx1"/>
                </a:solidFill>
                <a:latin typeface="ITC Officina Sans Book" pitchFamily="34" charset="0"/>
              </a:defRPr>
            </a:lvl4pPr>
            <a:lvl5pPr marL="2057400" indent="-228600" eaLnBrk="0" hangingPunct="0">
              <a:buClr>
                <a:schemeClr val="accent1"/>
              </a:buClr>
              <a:buChar char="-"/>
              <a:tabLst>
                <a:tab pos="123825" algn="l"/>
              </a:tabLst>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9pPr>
          </a:lstStyle>
          <a:p>
            <a:pPr eaLnBrk="1" fontAlgn="base" hangingPunct="1">
              <a:buClrTx/>
              <a:buNone/>
            </a:pPr>
            <a:r>
              <a:rPr lang="en-US" sz="1000" b="1" dirty="0" smtClean="0">
                <a:latin typeface="+mn-lt"/>
              </a:rPr>
              <a:t>M. </a:t>
            </a:r>
            <a:r>
              <a:rPr lang="en-US" sz="1000" b="1" dirty="0" err="1" smtClean="0">
                <a:latin typeface="+mn-lt"/>
              </a:rPr>
              <a:t>Lichvar</a:t>
            </a:r>
            <a:r>
              <a:rPr lang="en-US" sz="1000" dirty="0" smtClean="0">
                <a:latin typeface="+mn-lt"/>
              </a:rPr>
              <a:t/>
            </a:r>
            <a:br>
              <a:rPr lang="en-US" sz="1000" dirty="0" smtClean="0">
                <a:latin typeface="+mn-lt"/>
              </a:rPr>
            </a:br>
            <a:r>
              <a:rPr lang="en-US" altLang="de-DE" sz="1000" dirty="0" smtClean="0">
                <a:latin typeface="+mn-lt"/>
                <a:sym typeface="ITC Officina Sans Book" pitchFamily="34" charset="0"/>
              </a:rPr>
              <a:t>Industrials</a:t>
            </a:r>
            <a:endParaRPr kumimoji="1" lang="en-US" altLang="de-DE" sz="1000" dirty="0">
              <a:solidFill>
                <a:srgbClr val="000000"/>
              </a:solidFill>
              <a:latin typeface="+mn-lt"/>
              <a:cs typeface="Arial" charset="0"/>
              <a:sym typeface="ITC Officina Sans Book" pitchFamily="34" charset="0"/>
            </a:endParaRPr>
          </a:p>
        </p:txBody>
      </p:sp>
      <p:sp>
        <p:nvSpPr>
          <p:cNvPr id="70" name="Rectangle 36"/>
          <p:cNvSpPr>
            <a:spLocks noChangeArrowheads="1"/>
          </p:cNvSpPr>
          <p:nvPr/>
        </p:nvSpPr>
        <p:spPr bwMode="gray">
          <a:xfrm>
            <a:off x="6343946" y="2517332"/>
            <a:ext cx="12961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buClr>
                <a:schemeClr val="accent1"/>
              </a:buClr>
              <a:buFont typeface="Wingdings" pitchFamily="2" charset="2"/>
              <a:buChar char="§"/>
              <a:defRPr sz="2000">
                <a:solidFill>
                  <a:schemeClr val="tx1"/>
                </a:solidFill>
                <a:latin typeface="ITC Officina Sans Book" pitchFamily="34" charset="0"/>
              </a:defRPr>
            </a:lvl1pPr>
            <a:lvl2pPr marL="742950" indent="-285750" eaLnBrk="0" hangingPunct="0">
              <a:buClr>
                <a:schemeClr val="accent1"/>
              </a:buClr>
              <a:buChar char="-"/>
              <a:defRPr sz="2000">
                <a:solidFill>
                  <a:schemeClr val="tx1"/>
                </a:solidFill>
                <a:latin typeface="ITC Officina Sans Book" pitchFamily="34" charset="0"/>
              </a:defRPr>
            </a:lvl2pPr>
            <a:lvl3pPr marL="1143000" indent="-228600" eaLnBrk="0" hangingPunct="0">
              <a:buClr>
                <a:schemeClr val="accent1"/>
              </a:buClr>
              <a:buChar char="-"/>
              <a:defRPr sz="2000">
                <a:solidFill>
                  <a:schemeClr val="tx1"/>
                </a:solidFill>
                <a:latin typeface="ITC Officina Sans Book" pitchFamily="34" charset="0"/>
              </a:defRPr>
            </a:lvl3pPr>
            <a:lvl4pPr marL="1600200" indent="-228600" eaLnBrk="0" hangingPunct="0">
              <a:buClr>
                <a:schemeClr val="accent1"/>
              </a:buClr>
              <a:buChar char="-"/>
              <a:defRPr sz="2000">
                <a:solidFill>
                  <a:schemeClr val="tx1"/>
                </a:solidFill>
                <a:latin typeface="ITC Officina Sans Book" pitchFamily="34" charset="0"/>
              </a:defRPr>
            </a:lvl4pPr>
            <a:lvl5pPr marL="2057400" indent="-228600" eaLnBrk="0" hangingPunct="0">
              <a:buClr>
                <a:schemeClr val="accent1"/>
              </a:buClr>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algn="l" eaLnBrk="1" hangingPunct="1">
              <a:buClrTx/>
              <a:buFontTx/>
              <a:buNone/>
            </a:pPr>
            <a:r>
              <a:rPr lang="en-US" altLang="de-DE" sz="1000" b="1" dirty="0" smtClean="0">
                <a:latin typeface="+mn-lt"/>
                <a:sym typeface="ITC Officina Sans Book" pitchFamily="34" charset="0"/>
              </a:rPr>
              <a:t>J.-P. </a:t>
            </a:r>
            <a:r>
              <a:rPr lang="en-US" altLang="de-DE" sz="1000" b="1" dirty="0" err="1" smtClean="0">
                <a:latin typeface="+mn-lt"/>
                <a:sym typeface="ITC Officina Sans Book" pitchFamily="34" charset="0"/>
              </a:rPr>
              <a:t>Bertschy</a:t>
            </a:r>
            <a:r>
              <a:rPr lang="en-US" altLang="de-DE" sz="1000" b="1" dirty="0" smtClean="0">
                <a:latin typeface="+mn-lt"/>
                <a:sym typeface="ITC Officina Sans Book" pitchFamily="34" charset="0"/>
              </a:rPr>
              <a:t> </a:t>
            </a:r>
          </a:p>
          <a:p>
            <a:pPr algn="l" eaLnBrk="1" hangingPunct="1">
              <a:buClrTx/>
              <a:buFontTx/>
              <a:buNone/>
            </a:pPr>
            <a:r>
              <a:rPr lang="en-US" altLang="de-DE" sz="1000" dirty="0" smtClean="0">
                <a:latin typeface="+mn-lt"/>
                <a:sym typeface="ITC Officina Sans Book" pitchFamily="34" charset="0"/>
              </a:rPr>
              <a:t>Food, Services</a:t>
            </a:r>
          </a:p>
        </p:txBody>
      </p:sp>
      <p:sp>
        <p:nvSpPr>
          <p:cNvPr id="71" name="Rectangle 108"/>
          <p:cNvSpPr>
            <a:spLocks noChangeArrowheads="1"/>
          </p:cNvSpPr>
          <p:nvPr/>
        </p:nvSpPr>
        <p:spPr bwMode="gray">
          <a:xfrm>
            <a:off x="6343946" y="3738311"/>
            <a:ext cx="179629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buClr>
                <a:schemeClr val="accent1"/>
              </a:buClr>
              <a:buFont typeface="Wingdings" pitchFamily="2" charset="2"/>
              <a:buChar char="§"/>
              <a:tabLst>
                <a:tab pos="123825" algn="l"/>
              </a:tabLst>
              <a:defRPr sz="2000">
                <a:solidFill>
                  <a:schemeClr val="tx1"/>
                </a:solidFill>
                <a:latin typeface="ITC Officina Sans Book" pitchFamily="34" charset="0"/>
              </a:defRPr>
            </a:lvl1pPr>
            <a:lvl2pPr marL="742950" indent="-285750" eaLnBrk="0" hangingPunct="0">
              <a:buClr>
                <a:schemeClr val="accent1"/>
              </a:buClr>
              <a:buChar char="-"/>
              <a:tabLst>
                <a:tab pos="123825" algn="l"/>
              </a:tabLst>
              <a:defRPr sz="2000">
                <a:solidFill>
                  <a:schemeClr val="tx1"/>
                </a:solidFill>
                <a:latin typeface="ITC Officina Sans Book" pitchFamily="34" charset="0"/>
              </a:defRPr>
            </a:lvl2pPr>
            <a:lvl3pPr marL="1143000" indent="-228600" eaLnBrk="0" hangingPunct="0">
              <a:buClr>
                <a:schemeClr val="accent1"/>
              </a:buClr>
              <a:buChar char="-"/>
              <a:tabLst>
                <a:tab pos="123825" algn="l"/>
              </a:tabLst>
              <a:defRPr sz="2000">
                <a:solidFill>
                  <a:schemeClr val="tx1"/>
                </a:solidFill>
                <a:latin typeface="ITC Officina Sans Book" pitchFamily="34" charset="0"/>
              </a:defRPr>
            </a:lvl3pPr>
            <a:lvl4pPr marL="1600200" indent="-228600" eaLnBrk="0" hangingPunct="0">
              <a:buClr>
                <a:schemeClr val="accent1"/>
              </a:buClr>
              <a:buChar char="-"/>
              <a:tabLst>
                <a:tab pos="123825" algn="l"/>
              </a:tabLst>
              <a:defRPr sz="2000">
                <a:solidFill>
                  <a:schemeClr val="tx1"/>
                </a:solidFill>
                <a:latin typeface="ITC Officina Sans Book" pitchFamily="34" charset="0"/>
              </a:defRPr>
            </a:lvl4pPr>
            <a:lvl5pPr marL="2057400" indent="-228600" eaLnBrk="0" hangingPunct="0">
              <a:buClr>
                <a:schemeClr val="accent1"/>
              </a:buClr>
              <a:buChar char="-"/>
              <a:tabLst>
                <a:tab pos="123825" algn="l"/>
              </a:tabLst>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9pPr>
          </a:lstStyle>
          <a:p>
            <a:pPr eaLnBrk="1" fontAlgn="base" hangingPunct="1">
              <a:buClrTx/>
              <a:buNone/>
            </a:pPr>
            <a:r>
              <a:rPr lang="en-US" sz="1000" b="1" dirty="0" smtClean="0">
                <a:latin typeface="+mn-lt"/>
              </a:rPr>
              <a:t>Dr. M. Maldonado</a:t>
            </a:r>
          </a:p>
          <a:p>
            <a:pPr eaLnBrk="1" fontAlgn="base" hangingPunct="1">
              <a:buClrTx/>
              <a:buNone/>
            </a:pPr>
            <a:r>
              <a:rPr lang="en-US" altLang="de-DE" sz="1000" dirty="0" err="1" smtClean="0">
                <a:latin typeface="+mn-lt"/>
                <a:sym typeface="ITC Officina Sans Book" pitchFamily="34" charset="0"/>
              </a:rPr>
              <a:t>Pharma&amp;Biotechn</a:t>
            </a:r>
            <a:r>
              <a:rPr lang="en-US" altLang="de-DE" sz="1000" dirty="0" smtClean="0">
                <a:latin typeface="+mn-lt"/>
                <a:sym typeface="ITC Officina Sans Book" pitchFamily="34" charset="0"/>
              </a:rPr>
              <a:t>.</a:t>
            </a:r>
            <a:endParaRPr kumimoji="1" lang="en-US" altLang="de-DE" sz="1000" dirty="0">
              <a:solidFill>
                <a:srgbClr val="000000"/>
              </a:solidFill>
              <a:latin typeface="+mn-lt"/>
              <a:cs typeface="Arial" charset="0"/>
              <a:sym typeface="ITC Officina Sans Book" pitchFamily="34" charset="0"/>
            </a:endParaRPr>
          </a:p>
        </p:txBody>
      </p:sp>
      <p:sp>
        <p:nvSpPr>
          <p:cNvPr id="72" name="Rectangle 108"/>
          <p:cNvSpPr>
            <a:spLocks noChangeArrowheads="1"/>
          </p:cNvSpPr>
          <p:nvPr/>
        </p:nvSpPr>
        <p:spPr bwMode="gray">
          <a:xfrm>
            <a:off x="7646060" y="3738311"/>
            <a:ext cx="15082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buClr>
                <a:schemeClr val="accent1"/>
              </a:buClr>
              <a:buFont typeface="Wingdings" pitchFamily="2" charset="2"/>
              <a:buChar char="§"/>
              <a:tabLst>
                <a:tab pos="123825" algn="l"/>
              </a:tabLst>
              <a:defRPr sz="2000">
                <a:solidFill>
                  <a:schemeClr val="tx1"/>
                </a:solidFill>
                <a:latin typeface="ITC Officina Sans Book" pitchFamily="34" charset="0"/>
              </a:defRPr>
            </a:lvl1pPr>
            <a:lvl2pPr marL="742950" indent="-285750" eaLnBrk="0" hangingPunct="0">
              <a:buClr>
                <a:schemeClr val="accent1"/>
              </a:buClr>
              <a:buChar char="-"/>
              <a:tabLst>
                <a:tab pos="123825" algn="l"/>
              </a:tabLst>
              <a:defRPr sz="2000">
                <a:solidFill>
                  <a:schemeClr val="tx1"/>
                </a:solidFill>
                <a:latin typeface="ITC Officina Sans Book" pitchFamily="34" charset="0"/>
              </a:defRPr>
            </a:lvl2pPr>
            <a:lvl3pPr marL="1143000" indent="-228600" eaLnBrk="0" hangingPunct="0">
              <a:buClr>
                <a:schemeClr val="accent1"/>
              </a:buClr>
              <a:buChar char="-"/>
              <a:tabLst>
                <a:tab pos="123825" algn="l"/>
              </a:tabLst>
              <a:defRPr sz="2000">
                <a:solidFill>
                  <a:schemeClr val="tx1"/>
                </a:solidFill>
                <a:latin typeface="ITC Officina Sans Book" pitchFamily="34" charset="0"/>
              </a:defRPr>
            </a:lvl3pPr>
            <a:lvl4pPr marL="1600200" indent="-228600" eaLnBrk="0" hangingPunct="0">
              <a:buClr>
                <a:schemeClr val="accent1"/>
              </a:buClr>
              <a:buChar char="-"/>
              <a:tabLst>
                <a:tab pos="123825" algn="l"/>
              </a:tabLst>
              <a:defRPr sz="2000">
                <a:solidFill>
                  <a:schemeClr val="tx1"/>
                </a:solidFill>
                <a:latin typeface="ITC Officina Sans Book" pitchFamily="34" charset="0"/>
              </a:defRPr>
            </a:lvl4pPr>
            <a:lvl5pPr marL="2057400" indent="-228600" eaLnBrk="0" hangingPunct="0">
              <a:buClr>
                <a:schemeClr val="accent1"/>
              </a:buClr>
              <a:buChar char="-"/>
              <a:tabLst>
                <a:tab pos="123825" algn="l"/>
              </a:tabLst>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9pPr>
          </a:lstStyle>
          <a:p>
            <a:pPr eaLnBrk="1" fontAlgn="base" hangingPunct="1">
              <a:buClrTx/>
              <a:buNone/>
            </a:pPr>
            <a:r>
              <a:rPr lang="en-US" sz="1000" b="1" dirty="0" smtClean="0">
                <a:latin typeface="+mn-lt"/>
              </a:rPr>
              <a:t>B. </a:t>
            </a:r>
            <a:r>
              <a:rPr lang="en-US" sz="1000" b="1" dirty="0" err="1" smtClean="0">
                <a:latin typeface="+mn-lt"/>
              </a:rPr>
              <a:t>Pomrehn</a:t>
            </a:r>
            <a:r>
              <a:rPr lang="en-US" sz="1000" dirty="0" smtClean="0">
                <a:latin typeface="+mn-lt"/>
              </a:rPr>
              <a:t/>
            </a:r>
            <a:br>
              <a:rPr lang="en-US" sz="1000" dirty="0" smtClean="0">
                <a:latin typeface="+mn-lt"/>
              </a:rPr>
            </a:br>
            <a:r>
              <a:rPr lang="en-US" altLang="de-DE" sz="1000" dirty="0" smtClean="0">
                <a:latin typeface="+mn-lt"/>
                <a:sym typeface="ITC Officina Sans Book" pitchFamily="34" charset="0"/>
              </a:rPr>
              <a:t>Build. Suppl., </a:t>
            </a:r>
            <a:r>
              <a:rPr lang="en-US" altLang="de-DE" sz="1000" dirty="0" err="1" smtClean="0">
                <a:latin typeface="+mn-lt"/>
                <a:sym typeface="ITC Officina Sans Book" pitchFamily="34" charset="0"/>
              </a:rPr>
              <a:t>Packag</a:t>
            </a:r>
            <a:r>
              <a:rPr lang="en-US" altLang="de-DE" sz="1000" dirty="0" smtClean="0">
                <a:latin typeface="+mn-lt"/>
                <a:sym typeface="ITC Officina Sans Book" pitchFamily="34" charset="0"/>
              </a:rPr>
              <a:t>.</a:t>
            </a:r>
          </a:p>
          <a:p>
            <a:pPr eaLnBrk="1" fontAlgn="base" hangingPunct="1">
              <a:buClrTx/>
              <a:buNone/>
            </a:pPr>
            <a:endParaRPr kumimoji="1" lang="en-US" altLang="de-DE" sz="1000" dirty="0">
              <a:solidFill>
                <a:srgbClr val="000000"/>
              </a:solidFill>
              <a:latin typeface="+mn-lt"/>
              <a:cs typeface="Arial" charset="0"/>
              <a:sym typeface="ITC Officina Sans Book" pitchFamily="34" charset="0"/>
            </a:endParaRPr>
          </a:p>
        </p:txBody>
      </p:sp>
      <p:sp>
        <p:nvSpPr>
          <p:cNvPr id="73" name="Rectangle 34"/>
          <p:cNvSpPr>
            <a:spLocks noChangeArrowheads="1"/>
          </p:cNvSpPr>
          <p:nvPr/>
        </p:nvSpPr>
        <p:spPr bwMode="gray">
          <a:xfrm>
            <a:off x="3739828" y="2517332"/>
            <a:ext cx="15095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buClr>
                <a:schemeClr val="accent1"/>
              </a:buClr>
              <a:buFont typeface="Wingdings" pitchFamily="2" charset="2"/>
              <a:buChar char="§"/>
              <a:defRPr sz="2000">
                <a:solidFill>
                  <a:schemeClr val="tx1"/>
                </a:solidFill>
                <a:latin typeface="ITC Officina Sans Book" pitchFamily="34" charset="0"/>
              </a:defRPr>
            </a:lvl1pPr>
            <a:lvl2pPr marL="742950" indent="-285750" eaLnBrk="0" hangingPunct="0">
              <a:buClr>
                <a:schemeClr val="accent1"/>
              </a:buClr>
              <a:buChar char="-"/>
              <a:defRPr sz="2000">
                <a:solidFill>
                  <a:schemeClr val="tx1"/>
                </a:solidFill>
                <a:latin typeface="ITC Officina Sans Book" pitchFamily="34" charset="0"/>
              </a:defRPr>
            </a:lvl2pPr>
            <a:lvl3pPr marL="1143000" indent="-228600" eaLnBrk="0" hangingPunct="0">
              <a:buClr>
                <a:schemeClr val="accent1"/>
              </a:buClr>
              <a:buChar char="-"/>
              <a:defRPr sz="2000">
                <a:solidFill>
                  <a:schemeClr val="tx1"/>
                </a:solidFill>
                <a:latin typeface="ITC Officina Sans Book" pitchFamily="34" charset="0"/>
              </a:defRPr>
            </a:lvl3pPr>
            <a:lvl4pPr marL="1600200" indent="-228600" eaLnBrk="0" hangingPunct="0">
              <a:buClr>
                <a:schemeClr val="accent1"/>
              </a:buClr>
              <a:buChar char="-"/>
              <a:defRPr sz="2000">
                <a:solidFill>
                  <a:schemeClr val="tx1"/>
                </a:solidFill>
                <a:latin typeface="ITC Officina Sans Book" pitchFamily="34" charset="0"/>
              </a:defRPr>
            </a:lvl4pPr>
            <a:lvl5pPr marL="2057400" indent="-228600" eaLnBrk="0" hangingPunct="0">
              <a:buClr>
                <a:schemeClr val="accent1"/>
              </a:buClr>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algn="l" eaLnBrk="1" hangingPunct="1">
              <a:buClrTx/>
              <a:buFontTx/>
              <a:buNone/>
            </a:pPr>
            <a:r>
              <a:rPr lang="en-US" altLang="de-DE" sz="1000" b="1" dirty="0" smtClean="0">
                <a:latin typeface="+mn-lt"/>
                <a:sym typeface="ITC Officina Sans Book" pitchFamily="34" charset="0"/>
              </a:rPr>
              <a:t>P. </a:t>
            </a:r>
            <a:r>
              <a:rPr lang="en-US" altLang="de-DE" sz="1000" b="1" dirty="0" err="1" smtClean="0">
                <a:latin typeface="+mn-lt"/>
                <a:sym typeface="ITC Officina Sans Book" pitchFamily="34" charset="0"/>
              </a:rPr>
              <a:t>Spiliopoulos</a:t>
            </a:r>
            <a:r>
              <a:rPr lang="en-US" altLang="de-DE" sz="1000" b="1" dirty="0" smtClean="0">
                <a:latin typeface="+mn-lt"/>
                <a:sym typeface="ITC Officina Sans Book" pitchFamily="34" charset="0"/>
              </a:rPr>
              <a:t> </a:t>
            </a:r>
          </a:p>
          <a:p>
            <a:pPr algn="l" eaLnBrk="1" hangingPunct="1">
              <a:buClrTx/>
              <a:buFontTx/>
              <a:buNone/>
            </a:pPr>
            <a:r>
              <a:rPr lang="en-US" altLang="de-DE" sz="1000" dirty="0" smtClean="0">
                <a:latin typeface="+mn-lt"/>
                <a:sym typeface="ITC Officina Sans Book" pitchFamily="34" charset="0"/>
              </a:rPr>
              <a:t>Head of Research, </a:t>
            </a:r>
          </a:p>
          <a:p>
            <a:pPr algn="l" eaLnBrk="1" hangingPunct="1">
              <a:buClrTx/>
              <a:buFontTx/>
              <a:buNone/>
            </a:pPr>
            <a:r>
              <a:rPr lang="en-US" altLang="de-DE" sz="1000" dirty="0" err="1" smtClean="0">
                <a:latin typeface="+mn-lt"/>
                <a:sym typeface="ITC Officina Sans Book" pitchFamily="34" charset="0"/>
              </a:rPr>
              <a:t>Electr</a:t>
            </a:r>
            <a:r>
              <a:rPr lang="en-US" altLang="de-DE" sz="1000" dirty="0" smtClean="0">
                <a:latin typeface="+mn-lt"/>
                <a:sym typeface="ITC Officina Sans Book" pitchFamily="34" charset="0"/>
              </a:rPr>
              <a:t>., </a:t>
            </a:r>
            <a:r>
              <a:rPr lang="en-US" altLang="de-DE" sz="1000" dirty="0" err="1" smtClean="0">
                <a:latin typeface="+mn-lt"/>
                <a:sym typeface="ITC Officina Sans Book" pitchFamily="34" charset="0"/>
              </a:rPr>
              <a:t>Industr</a:t>
            </a:r>
            <a:r>
              <a:rPr lang="en-US" altLang="de-DE" sz="1000" dirty="0" smtClean="0">
                <a:latin typeface="+mn-lt"/>
                <a:sym typeface="ITC Officina Sans Book" pitchFamily="34" charset="0"/>
              </a:rPr>
              <a:t>., Telecom</a:t>
            </a:r>
            <a:endParaRPr lang="en-US" altLang="de-DE" sz="1000" dirty="0">
              <a:latin typeface="+mn-lt"/>
              <a:sym typeface="ITC Officina Sans Book" pitchFamily="34" charset="0"/>
            </a:endParaRPr>
          </a:p>
        </p:txBody>
      </p:sp>
      <p:sp>
        <p:nvSpPr>
          <p:cNvPr id="74" name="Rectangle 34"/>
          <p:cNvSpPr>
            <a:spLocks noChangeArrowheads="1"/>
          </p:cNvSpPr>
          <p:nvPr/>
        </p:nvSpPr>
        <p:spPr bwMode="gray">
          <a:xfrm>
            <a:off x="8951167" y="3742797"/>
            <a:ext cx="14395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buClr>
                <a:schemeClr val="accent1"/>
              </a:buClr>
              <a:buFont typeface="Wingdings" pitchFamily="2" charset="2"/>
              <a:buChar char="§"/>
              <a:defRPr sz="2000">
                <a:solidFill>
                  <a:schemeClr val="tx1"/>
                </a:solidFill>
                <a:latin typeface="ITC Officina Sans Book" pitchFamily="34" charset="0"/>
              </a:defRPr>
            </a:lvl1pPr>
            <a:lvl2pPr marL="742950" indent="-285750" eaLnBrk="0" hangingPunct="0">
              <a:buClr>
                <a:schemeClr val="accent1"/>
              </a:buClr>
              <a:buChar char="-"/>
              <a:defRPr sz="2000">
                <a:solidFill>
                  <a:schemeClr val="tx1"/>
                </a:solidFill>
                <a:latin typeface="ITC Officina Sans Book" pitchFamily="34" charset="0"/>
              </a:defRPr>
            </a:lvl2pPr>
            <a:lvl3pPr marL="1143000" indent="-228600" eaLnBrk="0" hangingPunct="0">
              <a:buClr>
                <a:schemeClr val="accent1"/>
              </a:buClr>
              <a:buChar char="-"/>
              <a:defRPr sz="2000">
                <a:solidFill>
                  <a:schemeClr val="tx1"/>
                </a:solidFill>
                <a:latin typeface="ITC Officina Sans Book" pitchFamily="34" charset="0"/>
              </a:defRPr>
            </a:lvl3pPr>
            <a:lvl4pPr marL="1600200" indent="-228600" eaLnBrk="0" hangingPunct="0">
              <a:buClr>
                <a:schemeClr val="accent1"/>
              </a:buClr>
              <a:buChar char="-"/>
              <a:defRPr sz="2000">
                <a:solidFill>
                  <a:schemeClr val="tx1"/>
                </a:solidFill>
                <a:latin typeface="ITC Officina Sans Book" pitchFamily="34" charset="0"/>
              </a:defRPr>
            </a:lvl4pPr>
            <a:lvl5pPr marL="2057400" indent="-228600" eaLnBrk="0" hangingPunct="0">
              <a:buClr>
                <a:schemeClr val="accent1"/>
              </a:buClr>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eaLnBrk="1" fontAlgn="base" hangingPunct="1">
              <a:buClrTx/>
              <a:buNone/>
            </a:pPr>
            <a:r>
              <a:rPr lang="en-US" sz="1000" b="1" dirty="0" smtClean="0">
                <a:latin typeface="+mn-lt"/>
              </a:rPr>
              <a:t>Dr. S. Schneider</a:t>
            </a:r>
          </a:p>
          <a:p>
            <a:pPr eaLnBrk="1" fontAlgn="base" hangingPunct="1">
              <a:buClrTx/>
              <a:buNone/>
            </a:pPr>
            <a:r>
              <a:rPr lang="en-US" altLang="de-DE" sz="1000" dirty="0" err="1" smtClean="0">
                <a:latin typeface="+mn-lt"/>
                <a:sym typeface="ITC Officina Sans Book" pitchFamily="34" charset="0"/>
              </a:rPr>
              <a:t>Pharma&amp;Biotechn</a:t>
            </a:r>
            <a:r>
              <a:rPr lang="en-US" altLang="de-DE" sz="1000" dirty="0" smtClean="0">
                <a:latin typeface="+mn-lt"/>
                <a:sym typeface="ITC Officina Sans Book" pitchFamily="34" charset="0"/>
              </a:rPr>
              <a:t>.</a:t>
            </a:r>
            <a:endParaRPr kumimoji="1" lang="en-US" altLang="de-DE" sz="1000" dirty="0">
              <a:solidFill>
                <a:srgbClr val="000000"/>
              </a:solidFill>
              <a:latin typeface="+mn-lt"/>
              <a:cs typeface="Arial" charset="0"/>
              <a:sym typeface="ITC Officina Sans Book" pitchFamily="34" charset="0"/>
            </a:endParaRPr>
          </a:p>
        </p:txBody>
      </p:sp>
      <p:sp>
        <p:nvSpPr>
          <p:cNvPr id="75" name="Rectangle 34"/>
          <p:cNvSpPr>
            <a:spLocks noChangeArrowheads="1"/>
          </p:cNvSpPr>
          <p:nvPr/>
        </p:nvSpPr>
        <p:spPr bwMode="gray">
          <a:xfrm>
            <a:off x="3724227" y="4708140"/>
            <a:ext cx="13950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buClr>
                <a:schemeClr val="accent1"/>
              </a:buClr>
              <a:buFont typeface="Wingdings" pitchFamily="2" charset="2"/>
              <a:buChar char="§"/>
              <a:defRPr sz="2000">
                <a:solidFill>
                  <a:schemeClr val="tx1"/>
                </a:solidFill>
                <a:latin typeface="ITC Officina Sans Book" pitchFamily="34" charset="0"/>
              </a:defRPr>
            </a:lvl1pPr>
            <a:lvl2pPr marL="742950" indent="-285750" eaLnBrk="0" hangingPunct="0">
              <a:buClr>
                <a:schemeClr val="accent1"/>
              </a:buClr>
              <a:buChar char="-"/>
              <a:defRPr sz="2000">
                <a:solidFill>
                  <a:schemeClr val="tx1"/>
                </a:solidFill>
                <a:latin typeface="ITC Officina Sans Book" pitchFamily="34" charset="0"/>
              </a:defRPr>
            </a:lvl2pPr>
            <a:lvl3pPr marL="1143000" indent="-228600" eaLnBrk="0" hangingPunct="0">
              <a:buClr>
                <a:schemeClr val="accent1"/>
              </a:buClr>
              <a:buChar char="-"/>
              <a:defRPr sz="2000">
                <a:solidFill>
                  <a:schemeClr val="tx1"/>
                </a:solidFill>
                <a:latin typeface="ITC Officina Sans Book" pitchFamily="34" charset="0"/>
              </a:defRPr>
            </a:lvl3pPr>
            <a:lvl4pPr marL="1600200" indent="-228600" eaLnBrk="0" hangingPunct="0">
              <a:buClr>
                <a:schemeClr val="accent1"/>
              </a:buClr>
              <a:buChar char="-"/>
              <a:defRPr sz="2000">
                <a:solidFill>
                  <a:schemeClr val="tx1"/>
                </a:solidFill>
                <a:latin typeface="ITC Officina Sans Book" pitchFamily="34" charset="0"/>
              </a:defRPr>
            </a:lvl4pPr>
            <a:lvl5pPr marL="2057400" indent="-228600" eaLnBrk="0" hangingPunct="0">
              <a:buClr>
                <a:schemeClr val="accent1"/>
              </a:buClr>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eaLnBrk="1" fontAlgn="base" hangingPunct="1">
              <a:buClrTx/>
              <a:buNone/>
            </a:pPr>
            <a:r>
              <a:rPr lang="en-US" sz="1000" b="1" dirty="0" smtClean="0">
                <a:latin typeface="+mn-lt"/>
              </a:rPr>
              <a:t>S. </a:t>
            </a:r>
            <a:r>
              <a:rPr lang="en-US" sz="1000" b="1" dirty="0" err="1" smtClean="0">
                <a:latin typeface="+mn-lt"/>
              </a:rPr>
              <a:t>Schürmann</a:t>
            </a:r>
            <a:r>
              <a:rPr lang="en-US" sz="1000" dirty="0" smtClean="0">
                <a:latin typeface="+mn-lt"/>
              </a:rPr>
              <a:t/>
            </a:r>
            <a:br>
              <a:rPr lang="en-US" sz="1000" dirty="0" smtClean="0">
                <a:latin typeface="+mn-lt"/>
              </a:rPr>
            </a:br>
            <a:r>
              <a:rPr lang="en-US" altLang="de-DE" sz="1000" dirty="0" smtClean="0">
                <a:latin typeface="+mn-lt"/>
                <a:sym typeface="ITC Officina Sans Book" pitchFamily="34" charset="0"/>
              </a:rPr>
              <a:t>Insurance&amp;</a:t>
            </a:r>
            <a:br>
              <a:rPr lang="en-US" altLang="de-DE" sz="1000" dirty="0" smtClean="0">
                <a:latin typeface="+mn-lt"/>
                <a:sym typeface="ITC Officina Sans Book" pitchFamily="34" charset="0"/>
              </a:rPr>
            </a:br>
            <a:r>
              <a:rPr lang="en-US" altLang="de-DE" sz="1000" dirty="0" smtClean="0">
                <a:latin typeface="+mn-lt"/>
                <a:sym typeface="ITC Officina Sans Book" pitchFamily="34" charset="0"/>
              </a:rPr>
              <a:t>Real Estate</a:t>
            </a:r>
            <a:endParaRPr kumimoji="1" lang="en-US" altLang="de-DE" sz="1000" dirty="0">
              <a:solidFill>
                <a:srgbClr val="000000"/>
              </a:solidFill>
              <a:latin typeface="+mn-lt"/>
              <a:cs typeface="Arial" charset="0"/>
              <a:sym typeface="ITC Officina Sans Book" pitchFamily="34" charset="0"/>
            </a:endParaRPr>
          </a:p>
        </p:txBody>
      </p:sp>
      <p:pic>
        <p:nvPicPr>
          <p:cNvPr id="77" name="Picture 76"/>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038839" y="3142020"/>
            <a:ext cx="956993" cy="597359"/>
          </a:xfrm>
          <a:prstGeom prst="rect">
            <a:avLst/>
          </a:prstGeom>
        </p:spPr>
      </p:pic>
      <p:sp>
        <p:nvSpPr>
          <p:cNvPr id="81" name="Rectangle 34"/>
          <p:cNvSpPr>
            <a:spLocks noChangeArrowheads="1"/>
          </p:cNvSpPr>
          <p:nvPr/>
        </p:nvSpPr>
        <p:spPr bwMode="gray">
          <a:xfrm>
            <a:off x="5061417" y="4708140"/>
            <a:ext cx="1072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buClr>
                <a:schemeClr val="accent1"/>
              </a:buClr>
              <a:buFont typeface="Wingdings" pitchFamily="2" charset="2"/>
              <a:buChar char="§"/>
              <a:defRPr sz="2000">
                <a:solidFill>
                  <a:schemeClr val="tx1"/>
                </a:solidFill>
                <a:latin typeface="ITC Officina Sans Book" pitchFamily="34" charset="0"/>
              </a:defRPr>
            </a:lvl1pPr>
            <a:lvl2pPr marL="742950" indent="-285750" eaLnBrk="0" hangingPunct="0">
              <a:buClr>
                <a:schemeClr val="accent1"/>
              </a:buClr>
              <a:buChar char="-"/>
              <a:defRPr sz="2000">
                <a:solidFill>
                  <a:schemeClr val="tx1"/>
                </a:solidFill>
                <a:latin typeface="ITC Officina Sans Book" pitchFamily="34" charset="0"/>
              </a:defRPr>
            </a:lvl2pPr>
            <a:lvl3pPr marL="1143000" indent="-228600" eaLnBrk="0" hangingPunct="0">
              <a:buClr>
                <a:schemeClr val="accent1"/>
              </a:buClr>
              <a:buChar char="-"/>
              <a:defRPr sz="2000">
                <a:solidFill>
                  <a:schemeClr val="tx1"/>
                </a:solidFill>
                <a:latin typeface="ITC Officina Sans Book" pitchFamily="34" charset="0"/>
              </a:defRPr>
            </a:lvl3pPr>
            <a:lvl4pPr marL="1600200" indent="-228600" eaLnBrk="0" hangingPunct="0">
              <a:buClr>
                <a:schemeClr val="accent1"/>
              </a:buClr>
              <a:buChar char="-"/>
              <a:defRPr sz="2000">
                <a:solidFill>
                  <a:schemeClr val="tx1"/>
                </a:solidFill>
                <a:latin typeface="ITC Officina Sans Book" pitchFamily="34" charset="0"/>
              </a:defRPr>
            </a:lvl4pPr>
            <a:lvl5pPr marL="2057400" indent="-228600" eaLnBrk="0" hangingPunct="0">
              <a:buClr>
                <a:schemeClr val="accent1"/>
              </a:buClr>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algn="l" eaLnBrk="1" hangingPunct="1">
              <a:buClrTx/>
              <a:buFontTx/>
              <a:buNone/>
            </a:pPr>
            <a:r>
              <a:rPr lang="en-US" altLang="de-DE" sz="1000" b="1" dirty="0" smtClean="0">
                <a:latin typeface="+mn-lt"/>
                <a:sym typeface="ITC Officina Sans Book" pitchFamily="34" charset="0"/>
              </a:rPr>
              <a:t>A. </a:t>
            </a:r>
            <a:r>
              <a:rPr lang="en-US" altLang="de-DE" sz="1000" b="1" dirty="0" err="1" smtClean="0">
                <a:latin typeface="+mn-lt"/>
                <a:sym typeface="ITC Officina Sans Book" pitchFamily="34" charset="0"/>
              </a:rPr>
              <a:t>Venditti</a:t>
            </a:r>
            <a:endParaRPr lang="en-US" altLang="de-DE" sz="1000" b="1" dirty="0" smtClean="0">
              <a:latin typeface="+mn-lt"/>
              <a:sym typeface="ITC Officina Sans Book" pitchFamily="34" charset="0"/>
            </a:endParaRPr>
          </a:p>
          <a:p>
            <a:pPr algn="l" eaLnBrk="1" hangingPunct="1">
              <a:buClrTx/>
              <a:buFontTx/>
              <a:buNone/>
            </a:pPr>
            <a:r>
              <a:rPr lang="en-US" altLang="de-DE" sz="1000" dirty="0" smtClean="0">
                <a:latin typeface="+mn-lt"/>
                <a:sym typeface="ITC Officina Sans Book" pitchFamily="34" charset="0"/>
              </a:rPr>
              <a:t>Banks</a:t>
            </a:r>
            <a:endParaRPr lang="en-US" altLang="de-DE" sz="1000" dirty="0">
              <a:latin typeface="+mn-lt"/>
              <a:sym typeface="ITC Officina Sans Book" pitchFamily="34" charset="0"/>
            </a:endParaRPr>
          </a:p>
        </p:txBody>
      </p:sp>
      <p:sp>
        <p:nvSpPr>
          <p:cNvPr id="82" name="Rectangle 34"/>
          <p:cNvSpPr>
            <a:spLocks noChangeArrowheads="1"/>
          </p:cNvSpPr>
          <p:nvPr/>
        </p:nvSpPr>
        <p:spPr bwMode="gray">
          <a:xfrm>
            <a:off x="6343946" y="4708140"/>
            <a:ext cx="1072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buClr>
                <a:schemeClr val="accent1"/>
              </a:buClr>
              <a:buFont typeface="Wingdings" pitchFamily="2" charset="2"/>
              <a:buChar char="§"/>
              <a:defRPr sz="2000">
                <a:solidFill>
                  <a:schemeClr val="tx1"/>
                </a:solidFill>
                <a:latin typeface="ITC Officina Sans Book" pitchFamily="34" charset="0"/>
              </a:defRPr>
            </a:lvl1pPr>
            <a:lvl2pPr marL="742950" indent="-285750" eaLnBrk="0" hangingPunct="0">
              <a:buClr>
                <a:schemeClr val="accent1"/>
              </a:buClr>
              <a:buChar char="-"/>
              <a:defRPr sz="2000">
                <a:solidFill>
                  <a:schemeClr val="tx1"/>
                </a:solidFill>
                <a:latin typeface="ITC Officina Sans Book" pitchFamily="34" charset="0"/>
              </a:defRPr>
            </a:lvl2pPr>
            <a:lvl3pPr marL="1143000" indent="-228600" eaLnBrk="0" hangingPunct="0">
              <a:buClr>
                <a:schemeClr val="accent1"/>
              </a:buClr>
              <a:buChar char="-"/>
              <a:defRPr sz="2000">
                <a:solidFill>
                  <a:schemeClr val="tx1"/>
                </a:solidFill>
                <a:latin typeface="ITC Officina Sans Book" pitchFamily="34" charset="0"/>
              </a:defRPr>
            </a:lvl3pPr>
            <a:lvl4pPr marL="1600200" indent="-228600" eaLnBrk="0" hangingPunct="0">
              <a:buClr>
                <a:schemeClr val="accent1"/>
              </a:buClr>
              <a:buChar char="-"/>
              <a:defRPr sz="2000">
                <a:solidFill>
                  <a:schemeClr val="tx1"/>
                </a:solidFill>
                <a:latin typeface="ITC Officina Sans Book" pitchFamily="34" charset="0"/>
              </a:defRPr>
            </a:lvl4pPr>
            <a:lvl5pPr marL="2057400" indent="-228600" eaLnBrk="0" hangingPunct="0">
              <a:buClr>
                <a:schemeClr val="accent1"/>
              </a:buClr>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algn="l" eaLnBrk="1" hangingPunct="1">
              <a:buClrTx/>
              <a:buFontTx/>
              <a:buNone/>
            </a:pPr>
            <a:r>
              <a:rPr lang="en-US" altLang="de-DE" sz="1000" b="1" dirty="0" smtClean="0">
                <a:latin typeface="+mn-lt"/>
                <a:sym typeface="ITC Officina Sans Book" pitchFamily="34" charset="0"/>
              </a:rPr>
              <a:t>R. Weber</a:t>
            </a:r>
          </a:p>
          <a:p>
            <a:pPr algn="l" eaLnBrk="1" hangingPunct="1">
              <a:buClrTx/>
              <a:buFontTx/>
              <a:buNone/>
            </a:pPr>
            <a:r>
              <a:rPr lang="en-US" altLang="de-DE" sz="1000" dirty="0" smtClean="0">
                <a:latin typeface="+mn-lt"/>
                <a:sym typeface="ITC Officina Sans Book" pitchFamily="34" charset="0"/>
              </a:rPr>
              <a:t>Luxury, Retail</a:t>
            </a:r>
            <a:endParaRPr lang="en-US" altLang="de-DE" sz="1000" dirty="0">
              <a:latin typeface="+mn-lt"/>
              <a:sym typeface="ITC Officina Sans Book" pitchFamily="34" charset="0"/>
            </a:endParaRPr>
          </a:p>
        </p:txBody>
      </p:sp>
      <p:pic>
        <p:nvPicPr>
          <p:cNvPr id="84" name="Picture 83"/>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724227" y="4108237"/>
            <a:ext cx="956993" cy="597359"/>
          </a:xfrm>
          <a:prstGeom prst="rect">
            <a:avLst/>
          </a:prstGeom>
        </p:spPr>
      </p:pic>
      <p:sp>
        <p:nvSpPr>
          <p:cNvPr id="85" name="Rectangle 108"/>
          <p:cNvSpPr>
            <a:spLocks noChangeArrowheads="1"/>
          </p:cNvSpPr>
          <p:nvPr/>
        </p:nvSpPr>
        <p:spPr bwMode="gray">
          <a:xfrm>
            <a:off x="3724227" y="3742590"/>
            <a:ext cx="17962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buClr>
                <a:schemeClr val="accent1"/>
              </a:buClr>
              <a:buFont typeface="Wingdings" pitchFamily="2" charset="2"/>
              <a:buChar char="§"/>
              <a:tabLst>
                <a:tab pos="123825" algn="l"/>
              </a:tabLst>
              <a:defRPr sz="2000">
                <a:solidFill>
                  <a:schemeClr val="tx1"/>
                </a:solidFill>
                <a:latin typeface="ITC Officina Sans Book" pitchFamily="34" charset="0"/>
              </a:defRPr>
            </a:lvl1pPr>
            <a:lvl2pPr marL="742950" indent="-285750" eaLnBrk="0" hangingPunct="0">
              <a:buClr>
                <a:schemeClr val="accent1"/>
              </a:buClr>
              <a:buChar char="-"/>
              <a:tabLst>
                <a:tab pos="123825" algn="l"/>
              </a:tabLst>
              <a:defRPr sz="2000">
                <a:solidFill>
                  <a:schemeClr val="tx1"/>
                </a:solidFill>
                <a:latin typeface="ITC Officina Sans Book" pitchFamily="34" charset="0"/>
              </a:defRPr>
            </a:lvl2pPr>
            <a:lvl3pPr marL="1143000" indent="-228600" eaLnBrk="0" hangingPunct="0">
              <a:buClr>
                <a:schemeClr val="accent1"/>
              </a:buClr>
              <a:buChar char="-"/>
              <a:tabLst>
                <a:tab pos="123825" algn="l"/>
              </a:tabLst>
              <a:defRPr sz="2000">
                <a:solidFill>
                  <a:schemeClr val="tx1"/>
                </a:solidFill>
                <a:latin typeface="ITC Officina Sans Book" pitchFamily="34" charset="0"/>
              </a:defRPr>
            </a:lvl3pPr>
            <a:lvl4pPr marL="1600200" indent="-228600" eaLnBrk="0" hangingPunct="0">
              <a:buClr>
                <a:schemeClr val="accent1"/>
              </a:buClr>
              <a:buChar char="-"/>
              <a:tabLst>
                <a:tab pos="123825" algn="l"/>
              </a:tabLst>
              <a:defRPr sz="2000">
                <a:solidFill>
                  <a:schemeClr val="tx1"/>
                </a:solidFill>
                <a:latin typeface="ITC Officina Sans Book" pitchFamily="34" charset="0"/>
              </a:defRPr>
            </a:lvl4pPr>
            <a:lvl5pPr marL="2057400" indent="-228600" eaLnBrk="0" hangingPunct="0">
              <a:buClr>
                <a:schemeClr val="accent1"/>
              </a:buClr>
              <a:buChar char="-"/>
              <a:tabLst>
                <a:tab pos="123825" algn="l"/>
              </a:tabLst>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tabLst>
                <a:tab pos="123825" algn="l"/>
              </a:tabLst>
              <a:defRPr sz="2000">
                <a:solidFill>
                  <a:schemeClr val="tx1"/>
                </a:solidFill>
                <a:latin typeface="ITC Officina Sans Book" pitchFamily="34" charset="0"/>
              </a:defRPr>
            </a:lvl9pPr>
          </a:lstStyle>
          <a:p>
            <a:pPr>
              <a:buNone/>
            </a:pPr>
            <a:r>
              <a:rPr lang="de-CH" sz="1000" b="1" dirty="0">
                <a:latin typeface="Arial (Body)"/>
              </a:rPr>
              <a:t>L. </a:t>
            </a:r>
            <a:r>
              <a:rPr lang="de-CH" sz="1000" b="1" dirty="0" err="1">
                <a:latin typeface="Arial (Body)"/>
              </a:rPr>
              <a:t>Zini</a:t>
            </a:r>
            <a:r>
              <a:rPr lang="de-CH" sz="1000" b="1" dirty="0">
                <a:latin typeface="Arial (Body)"/>
              </a:rPr>
              <a:t/>
            </a:r>
            <a:br>
              <a:rPr lang="de-CH" sz="1000" b="1" dirty="0">
                <a:latin typeface="Arial (Body)"/>
              </a:rPr>
            </a:br>
            <a:r>
              <a:rPr lang="de-CH" altLang="de-DE" sz="1000" dirty="0">
                <a:latin typeface="Arial (Body)"/>
                <a:sym typeface="ITC Officina Sans Book" pitchFamily="34" charset="0"/>
              </a:rPr>
              <a:t>Consumer</a:t>
            </a:r>
            <a:endParaRPr kumimoji="1" lang="de-CH" altLang="de-DE" sz="1000" dirty="0">
              <a:solidFill>
                <a:srgbClr val="000000"/>
              </a:solidFill>
              <a:latin typeface="Arial (Body)"/>
              <a:cs typeface="Arial" charset="0"/>
              <a:sym typeface="ITC Officina Sans Book" pitchFamily="34" charset="0"/>
            </a:endParaRPr>
          </a:p>
          <a:p>
            <a:pPr lvl="0">
              <a:buNone/>
            </a:pPr>
            <a:endParaRPr kumimoji="1" lang="en-US" altLang="de-DE" sz="1000" dirty="0">
              <a:solidFill>
                <a:srgbClr val="000000"/>
              </a:solidFill>
              <a:latin typeface="+mn-lt"/>
              <a:cs typeface="Arial" charset="0"/>
              <a:sym typeface="ITC Officina Sans Book" pitchFamily="34" charset="0"/>
            </a:endParaRPr>
          </a:p>
        </p:txBody>
      </p:sp>
      <p:pic>
        <p:nvPicPr>
          <p:cNvPr id="18441" name="Picture 9" descr="N:\80_PB_SI\20_PBSI_2\10_PBSI_21\01_Team\07_Vorlagen\20_CV's\Bilder\Team Halsig\Team Lattner\balleriano_massimiliano_rgb_1280x720px.jp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45762" y="5556884"/>
            <a:ext cx="957600" cy="538650"/>
          </a:xfrm>
          <a:prstGeom prst="rect">
            <a:avLst/>
          </a:prstGeom>
          <a:noFill/>
          <a:extLst>
            <a:ext uri="{909E8E84-426E-40DD-AFC4-6F175D3DCCD1}">
              <a14:hiddenFill xmlns:a14="http://schemas.microsoft.com/office/drawing/2010/main">
                <a:solidFill>
                  <a:srgbClr val="FFFFFF"/>
                </a:solidFill>
              </a14:hiddenFill>
            </a:ext>
          </a:extLst>
        </p:spPr>
      </p:pic>
      <p:pic>
        <p:nvPicPr>
          <p:cNvPr id="18442" name="Picture 10" descr="N:\80_PB_SI\20_PBSI_2\10_PBSI_21\01_Team\07_Vorlagen\20_CV's\Bilder\AM\cueni_reto_rgb_1280x720px.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468399" y="5556884"/>
            <a:ext cx="957600" cy="538650"/>
          </a:xfrm>
          <a:prstGeom prst="rect">
            <a:avLst/>
          </a:prstGeom>
          <a:noFill/>
          <a:extLst>
            <a:ext uri="{909E8E84-426E-40DD-AFC4-6F175D3DCCD1}">
              <a14:hiddenFill xmlns:a14="http://schemas.microsoft.com/office/drawing/2010/main">
                <a:solidFill>
                  <a:srgbClr val="FFFFFF"/>
                </a:solidFill>
              </a14:hiddenFill>
            </a:ext>
          </a:extLst>
        </p:spPr>
      </p:pic>
      <p:pic>
        <p:nvPicPr>
          <p:cNvPr id="18443" name="Picture 11" descr="N:\80_PB_SI\20_PBSI_2\10_PBSI_21\01_Team\07_Vorlagen\20_CV's\Bilder\IB Research\schneider_stefan_rgb_1280x720px.jp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950560" y="3145438"/>
            <a:ext cx="957600" cy="538650"/>
          </a:xfrm>
          <a:prstGeom prst="rect">
            <a:avLst/>
          </a:prstGeom>
          <a:noFill/>
          <a:extLst>
            <a:ext uri="{909E8E84-426E-40DD-AFC4-6F175D3DCCD1}">
              <a14:hiddenFill xmlns:a14="http://schemas.microsoft.com/office/drawing/2010/main">
                <a:solidFill>
                  <a:srgbClr val="FFFFFF"/>
                </a:solidFill>
              </a14:hiddenFill>
            </a:ext>
          </a:extLst>
        </p:spPr>
      </p:pic>
      <p:pic>
        <p:nvPicPr>
          <p:cNvPr id="18444" name="Picture 12" descr="N:\80_PB_SI\20_PBSI_2\10_PBSI_21\01_Team\07_Vorlagen\20_CV's\Bilder\IB Research\bertschy_jean-philippe_rgb_1280x720px.jp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6340346" y="1910244"/>
            <a:ext cx="957600" cy="538650"/>
          </a:xfrm>
          <a:prstGeom prst="rect">
            <a:avLst/>
          </a:prstGeom>
          <a:noFill/>
          <a:extLst>
            <a:ext uri="{909E8E84-426E-40DD-AFC4-6F175D3DCCD1}">
              <a14:hiddenFill xmlns:a14="http://schemas.microsoft.com/office/drawing/2010/main">
                <a:solidFill>
                  <a:srgbClr val="FFFFFF"/>
                </a:solidFill>
              </a14:hiddenFill>
            </a:ext>
          </a:extLst>
        </p:spPr>
      </p:pic>
      <p:pic>
        <p:nvPicPr>
          <p:cNvPr id="18445" name="Picture 13" descr="N:\80_PB_SI\20_PBSI_2\10_PBSI_21\01_Team\07_Vorlagen\20_CV's\Bilder\IB Research\furger_pascal_rgb_1280x720px.jpg"/>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950560" y="1910244"/>
            <a:ext cx="957600" cy="538650"/>
          </a:xfrm>
          <a:prstGeom prst="rect">
            <a:avLst/>
          </a:prstGeom>
          <a:noFill/>
          <a:extLst>
            <a:ext uri="{909E8E84-426E-40DD-AFC4-6F175D3DCCD1}">
              <a14:hiddenFill xmlns:a14="http://schemas.microsoft.com/office/drawing/2010/main">
                <a:solidFill>
                  <a:srgbClr val="FFFFFF"/>
                </a:solidFill>
              </a14:hiddenFill>
            </a:ext>
          </a:extLst>
        </p:spPr>
      </p:pic>
      <p:pic>
        <p:nvPicPr>
          <p:cNvPr id="18446" name="Picture 14" descr="N:\80_PB_SI\20_PBSI_2\10_PBSI_21\01_Team\07_Vorlagen\20_CV's\Bilder\IB Research\weber_rene_rgb_1280x720px.jpg"/>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6340346" y="4111596"/>
            <a:ext cx="957600" cy="538650"/>
          </a:xfrm>
          <a:prstGeom prst="rect">
            <a:avLst/>
          </a:prstGeom>
          <a:noFill/>
          <a:extLst>
            <a:ext uri="{909E8E84-426E-40DD-AFC4-6F175D3DCCD1}">
              <a14:hiddenFill xmlns:a14="http://schemas.microsoft.com/office/drawing/2010/main">
                <a:solidFill>
                  <a:srgbClr val="FFFFFF"/>
                </a:solidFill>
              </a14:hiddenFill>
            </a:ext>
          </a:extLst>
        </p:spPr>
      </p:pic>
      <p:pic>
        <p:nvPicPr>
          <p:cNvPr id="18447" name="Picture 15" descr="N:\80_PB_SI\20_PBSI_2\10_PBSI_21\01_Team\07_Vorlagen\20_CV's\Bilder\IB Research\venditti_andreas_rgb_1280x720px.jpg"/>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5038232" y="4114333"/>
            <a:ext cx="957600" cy="538650"/>
          </a:xfrm>
          <a:prstGeom prst="rect">
            <a:avLst/>
          </a:prstGeom>
          <a:noFill/>
          <a:extLst>
            <a:ext uri="{909E8E84-426E-40DD-AFC4-6F175D3DCCD1}">
              <a14:hiddenFill xmlns:a14="http://schemas.microsoft.com/office/drawing/2010/main">
                <a:solidFill>
                  <a:srgbClr val="FFFFFF"/>
                </a:solidFill>
              </a14:hiddenFill>
            </a:ext>
          </a:extLst>
        </p:spPr>
      </p:pic>
      <p:pic>
        <p:nvPicPr>
          <p:cNvPr id="18448" name="Picture 16" descr="N:\80_PB_SI\20_PBSI_2\10_PBSI_21\01_Team\07_Vorlagen\20_CV's\Bilder\IB Research\pomrehn_bernd_rgb_1280x720px.jpg"/>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7645453" y="3142020"/>
            <a:ext cx="957600" cy="538650"/>
          </a:xfrm>
          <a:prstGeom prst="rect">
            <a:avLst/>
          </a:prstGeom>
          <a:noFill/>
          <a:extLst>
            <a:ext uri="{909E8E84-426E-40DD-AFC4-6F175D3DCCD1}">
              <a14:hiddenFill xmlns:a14="http://schemas.microsoft.com/office/drawing/2010/main">
                <a:solidFill>
                  <a:srgbClr val="FFFFFF"/>
                </a:solidFill>
              </a14:hiddenFill>
            </a:ext>
          </a:extLst>
        </p:spPr>
      </p:pic>
      <p:pic>
        <p:nvPicPr>
          <p:cNvPr id="18449" name="Picture 17" descr="N:\80_PB_SI\20_PBSI_2\10_PBSI_21\01_Team\07_Vorlagen\20_CV's\Bilder\IB Research\maldonado_maria_rgb_1280x720px.jpg"/>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6340346" y="3140711"/>
            <a:ext cx="957600" cy="53865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p:cNvPicPr>
            <a:picLocks noChangeAspect="1"/>
          </p:cNvPicPr>
          <p:nvPr/>
        </p:nvPicPr>
        <p:blipFill rotWithShape="1">
          <a:blip r:embed="rId22" cstate="print">
            <a:extLst>
              <a:ext uri="{28A0092B-C50C-407E-A947-70E740481C1C}">
                <a14:useLocalDpi xmlns:a14="http://schemas.microsoft.com/office/drawing/2010/main" val="0"/>
              </a:ext>
            </a:extLst>
          </a:blip>
          <a:srcRect l="4554" r="6778"/>
          <a:stretch/>
        </p:blipFill>
        <p:spPr>
          <a:xfrm>
            <a:off x="3732948" y="5555534"/>
            <a:ext cx="957600" cy="540000"/>
          </a:xfrm>
          <a:prstGeom prst="rect">
            <a:avLst/>
          </a:prstGeom>
        </p:spPr>
      </p:pic>
      <p:pic>
        <p:nvPicPr>
          <p:cNvPr id="49" name="Picture 48"/>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3740964" y="3122362"/>
            <a:ext cx="584801" cy="584801"/>
          </a:xfrm>
          <a:prstGeom prst="rect">
            <a:avLst/>
          </a:prstGeom>
        </p:spPr>
      </p:pic>
      <p:pic>
        <p:nvPicPr>
          <p:cNvPr id="46" name="Picture 45"/>
          <p:cNvPicPr>
            <a:picLocks noChangeAspect="1"/>
          </p:cNvPicPr>
          <p:nvPr/>
        </p:nvPicPr>
        <p:blipFill>
          <a:blip r:embed="rId24"/>
          <a:stretch>
            <a:fillRect/>
          </a:stretch>
        </p:blipFill>
        <p:spPr>
          <a:xfrm>
            <a:off x="464867" y="2965228"/>
            <a:ext cx="692160" cy="714133"/>
          </a:xfrm>
          <a:prstGeom prst="rect">
            <a:avLst/>
          </a:prstGeom>
        </p:spPr>
      </p:pic>
      <p:sp>
        <p:nvSpPr>
          <p:cNvPr id="47" name="Content Placeholder 4"/>
          <p:cNvSpPr txBox="1">
            <a:spLocks/>
          </p:cNvSpPr>
          <p:nvPr/>
        </p:nvSpPr>
        <p:spPr>
          <a:xfrm>
            <a:off x="445762" y="3784749"/>
            <a:ext cx="1706816" cy="323165"/>
          </a:xfrm>
          <a:prstGeom prst="rect">
            <a:avLst/>
          </a:prstGeom>
        </p:spPr>
        <p:txBody>
          <a:bodyPr vert="horz" wrap="square" lIns="0" tIns="0" rIns="0" bIns="0" rtlCol="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000" b="1" dirty="0" smtClean="0"/>
              <a:t>Damla Üsküp</a:t>
            </a:r>
          </a:p>
          <a:p>
            <a:pPr marL="0" indent="0">
              <a:buNone/>
            </a:pPr>
            <a:r>
              <a:rPr lang="en-US" sz="1000" dirty="0" smtClean="0"/>
              <a:t>Experience: 7 years</a:t>
            </a:r>
            <a:endParaRPr lang="en-US" sz="1000" dirty="0"/>
          </a:p>
        </p:txBody>
      </p:sp>
      <p:sp>
        <p:nvSpPr>
          <p:cNvPr id="52" name="Content Placeholder 5"/>
          <p:cNvSpPr txBox="1">
            <a:spLocks/>
          </p:cNvSpPr>
          <p:nvPr/>
        </p:nvSpPr>
        <p:spPr>
          <a:xfrm>
            <a:off x="1951566" y="3048359"/>
            <a:ext cx="1623152" cy="807913"/>
          </a:xfrm>
          <a:prstGeom prst="rect">
            <a:avLst/>
          </a:prstGeom>
        </p:spPr>
        <p:txBody>
          <a:bodyPr vert="horz" wrap="square" lIns="0" tIns="0" rIns="0" bIns="0" rtlCol="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marL="0" indent="0">
              <a:buNone/>
            </a:pPr>
            <a:r>
              <a:rPr lang="en-US" sz="1000" dirty="0" smtClean="0"/>
              <a:t>Responsibility</a:t>
            </a:r>
            <a:r>
              <a:rPr lang="de-CH" sz="1000" dirty="0" smtClean="0"/>
              <a:t>:</a:t>
            </a:r>
          </a:p>
          <a:p>
            <a:pPr marL="107994" indent="-107994"/>
            <a:r>
              <a:rPr lang="de-CH" sz="1000" dirty="0" smtClean="0"/>
              <a:t>Substitute </a:t>
            </a:r>
            <a:r>
              <a:rPr lang="de-CH" sz="1000" dirty="0" err="1" smtClean="0"/>
              <a:t>for</a:t>
            </a:r>
            <a:r>
              <a:rPr lang="de-CH" sz="1000" dirty="0" smtClean="0"/>
              <a:t> Roland Bart</a:t>
            </a:r>
          </a:p>
          <a:p>
            <a:pPr marL="107994" indent="-107994"/>
            <a:r>
              <a:rPr lang="de-CH" sz="1000" dirty="0" smtClean="0"/>
              <a:t>Total Performance</a:t>
            </a:r>
          </a:p>
          <a:p>
            <a:pPr marL="107994" indent="-107994"/>
            <a:r>
              <a:rPr lang="en-US" sz="1000" dirty="0"/>
              <a:t>Security selection</a:t>
            </a:r>
          </a:p>
          <a:p>
            <a:pPr marL="107994" indent="-107994"/>
            <a:r>
              <a:rPr lang="en-US" sz="1000" dirty="0"/>
              <a:t>Monitoring</a:t>
            </a:r>
            <a:endParaRPr lang="de-CH" sz="1000" dirty="0"/>
          </a:p>
        </p:txBody>
      </p:sp>
    </p:spTree>
    <p:extLst>
      <p:ext uri="{BB962C8B-B14F-4D97-AF65-F5344CB8AC3E}">
        <p14:creationId xmlns:p14="http://schemas.microsoft.com/office/powerpoint/2010/main" val="30447947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0112392-1221-4001-8610-1EFDA1841F13}"/>
              </a:ext>
            </a:extLst>
          </p:cNvPr>
          <p:cNvSpPr>
            <a:spLocks noGrp="1"/>
          </p:cNvSpPr>
          <p:nvPr>
            <p:ph type="title"/>
          </p:nvPr>
        </p:nvSpPr>
        <p:spPr/>
        <p:txBody>
          <a:bodyPr vert="horz" lIns="0" tIns="0" rIns="0" bIns="0" rtlCol="0" anchor="b">
            <a:noAutofit/>
          </a:bodyPr>
          <a:lstStyle/>
          <a:p>
            <a:r>
              <a:rPr lang="de-CH" dirty="0" err="1" smtClean="0"/>
              <a:t>Vontobel</a:t>
            </a:r>
            <a:r>
              <a:rPr lang="de-CH" dirty="0" smtClean="0"/>
              <a:t> Equity </a:t>
            </a:r>
            <a:r>
              <a:rPr lang="de-CH" dirty="0" err="1" smtClean="0"/>
              <a:t>Brokerage</a:t>
            </a:r>
            <a:r>
              <a:rPr lang="de-CH" dirty="0" smtClean="0"/>
              <a:t/>
            </a:r>
            <a:br>
              <a:rPr lang="de-CH" dirty="0" smtClean="0"/>
            </a:br>
            <a:r>
              <a:rPr lang="de-CH" dirty="0" err="1" smtClean="0"/>
              <a:t>Leading</a:t>
            </a:r>
            <a:r>
              <a:rPr lang="de-CH" dirty="0" smtClean="0"/>
              <a:t> Broker </a:t>
            </a:r>
            <a:r>
              <a:rPr lang="de-CH" dirty="0" err="1" smtClean="0"/>
              <a:t>for</a:t>
            </a:r>
            <a:r>
              <a:rPr lang="de-CH" dirty="0" smtClean="0"/>
              <a:t> Swiss </a:t>
            </a:r>
            <a:r>
              <a:rPr lang="de-CH" dirty="0" err="1" smtClean="0"/>
              <a:t>equities</a:t>
            </a:r>
            <a:r>
              <a:rPr lang="de-CH" dirty="0" smtClean="0"/>
              <a:t> </a:t>
            </a:r>
            <a:r>
              <a:rPr lang="de-CH" dirty="0" err="1" smtClean="0"/>
              <a:t>for</a:t>
            </a:r>
            <a:r>
              <a:rPr lang="de-CH" dirty="0" smtClean="0"/>
              <a:t> </a:t>
            </a:r>
            <a:r>
              <a:rPr lang="de-CH" dirty="0" err="1" smtClean="0"/>
              <a:t>over</a:t>
            </a:r>
            <a:r>
              <a:rPr lang="de-CH" dirty="0" smtClean="0"/>
              <a:t> 10 </a:t>
            </a:r>
            <a:r>
              <a:rPr lang="de-CH" dirty="0" err="1" smtClean="0"/>
              <a:t>years</a:t>
            </a:r>
            <a:r>
              <a:rPr lang="de-CH" dirty="0" smtClean="0"/>
              <a:t> </a:t>
            </a:r>
            <a:endParaRPr lang="de-CH" dirty="0"/>
          </a:p>
        </p:txBody>
      </p:sp>
      <p:graphicFrame>
        <p:nvGraphicFramePr>
          <p:cNvPr id="25" name="Table 24"/>
          <p:cNvGraphicFramePr>
            <a:graphicFrameLocks noGrp="1" noChangeAspect="1"/>
          </p:cNvGraphicFramePr>
          <p:nvPr>
            <p:extLst/>
          </p:nvPr>
        </p:nvGraphicFramePr>
        <p:xfrm>
          <a:off x="2970449" y="1475581"/>
          <a:ext cx="7272001" cy="1577868"/>
        </p:xfrm>
        <a:graphic>
          <a:graphicData uri="http://schemas.openxmlformats.org/drawingml/2006/table">
            <a:tbl>
              <a:tblPr firstRow="1" bandRow="1">
                <a:tableStyleId>{5C22544A-7EE6-4342-B048-85BDC9FD1C3A}</a:tableStyleId>
              </a:tblPr>
              <a:tblGrid>
                <a:gridCol w="661091">
                  <a:extLst>
                    <a:ext uri="{9D8B030D-6E8A-4147-A177-3AD203B41FA5}">
                      <a16:colId xmlns:a16="http://schemas.microsoft.com/office/drawing/2014/main" val="20010"/>
                    </a:ext>
                  </a:extLst>
                </a:gridCol>
                <a:gridCol w="661091">
                  <a:extLst>
                    <a:ext uri="{9D8B030D-6E8A-4147-A177-3AD203B41FA5}">
                      <a16:colId xmlns:a16="http://schemas.microsoft.com/office/drawing/2014/main" val="20000"/>
                    </a:ext>
                  </a:extLst>
                </a:gridCol>
                <a:gridCol w="661091">
                  <a:extLst>
                    <a:ext uri="{9D8B030D-6E8A-4147-A177-3AD203B41FA5}">
                      <a16:colId xmlns:a16="http://schemas.microsoft.com/office/drawing/2014/main" val="20001"/>
                    </a:ext>
                  </a:extLst>
                </a:gridCol>
                <a:gridCol w="661091">
                  <a:extLst>
                    <a:ext uri="{9D8B030D-6E8A-4147-A177-3AD203B41FA5}">
                      <a16:colId xmlns:a16="http://schemas.microsoft.com/office/drawing/2014/main" val="20002"/>
                    </a:ext>
                  </a:extLst>
                </a:gridCol>
                <a:gridCol w="661091">
                  <a:extLst>
                    <a:ext uri="{9D8B030D-6E8A-4147-A177-3AD203B41FA5}">
                      <a16:colId xmlns:a16="http://schemas.microsoft.com/office/drawing/2014/main" val="20003"/>
                    </a:ext>
                  </a:extLst>
                </a:gridCol>
                <a:gridCol w="661091">
                  <a:extLst>
                    <a:ext uri="{9D8B030D-6E8A-4147-A177-3AD203B41FA5}">
                      <a16:colId xmlns:a16="http://schemas.microsoft.com/office/drawing/2014/main" val="20004"/>
                    </a:ext>
                  </a:extLst>
                </a:gridCol>
                <a:gridCol w="661091">
                  <a:extLst>
                    <a:ext uri="{9D8B030D-6E8A-4147-A177-3AD203B41FA5}">
                      <a16:colId xmlns:a16="http://schemas.microsoft.com/office/drawing/2014/main" val="20005"/>
                    </a:ext>
                  </a:extLst>
                </a:gridCol>
                <a:gridCol w="661091">
                  <a:extLst>
                    <a:ext uri="{9D8B030D-6E8A-4147-A177-3AD203B41FA5}">
                      <a16:colId xmlns:a16="http://schemas.microsoft.com/office/drawing/2014/main" val="20006"/>
                    </a:ext>
                  </a:extLst>
                </a:gridCol>
                <a:gridCol w="661091">
                  <a:extLst>
                    <a:ext uri="{9D8B030D-6E8A-4147-A177-3AD203B41FA5}">
                      <a16:colId xmlns:a16="http://schemas.microsoft.com/office/drawing/2014/main" val="20007"/>
                    </a:ext>
                  </a:extLst>
                </a:gridCol>
                <a:gridCol w="661091">
                  <a:extLst>
                    <a:ext uri="{9D8B030D-6E8A-4147-A177-3AD203B41FA5}">
                      <a16:colId xmlns:a16="http://schemas.microsoft.com/office/drawing/2014/main" val="20008"/>
                    </a:ext>
                  </a:extLst>
                </a:gridCol>
                <a:gridCol w="661091">
                  <a:extLst>
                    <a:ext uri="{9D8B030D-6E8A-4147-A177-3AD203B41FA5}">
                      <a16:colId xmlns:a16="http://schemas.microsoft.com/office/drawing/2014/main" val="20009"/>
                    </a:ext>
                  </a:extLst>
                </a:gridCol>
              </a:tblGrid>
              <a:tr h="317868">
                <a:tc>
                  <a:txBody>
                    <a:bodyPr/>
                    <a:lstStyle/>
                    <a:p>
                      <a:pPr marL="0" indent="0" algn="ctr" defTabSz="914400" rtl="0" eaLnBrk="1" latinLnBrk="0" hangingPunct="1">
                        <a:buFont typeface="Arial" pitchFamily="34" charset="0"/>
                        <a:buNone/>
                      </a:pPr>
                      <a:r>
                        <a:rPr lang="de-CH" sz="1000" b="1" kern="1200" noProof="0" dirty="0" smtClean="0">
                          <a:solidFill>
                            <a:schemeClr val="tx1"/>
                          </a:solidFill>
                          <a:latin typeface="+mn-lt"/>
                          <a:ea typeface="+mn-ea"/>
                          <a:cs typeface="+mn-cs"/>
                        </a:rPr>
                        <a:t>2018</a:t>
                      </a:r>
                      <a:endParaRPr lang="de-CH" sz="1000" b="1" kern="1200" noProof="0" dirty="0">
                        <a:solidFill>
                          <a:schemeClr val="tx1"/>
                        </a:solidFill>
                        <a:latin typeface="+mn-lt"/>
                        <a:ea typeface="+mn-ea"/>
                        <a:cs typeface="+mn-cs"/>
                      </a:endParaRPr>
                    </a:p>
                  </a:txBody>
                  <a:tcPr marL="0" marR="0" marT="38862" marB="3886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ctr" defTabSz="914400" rtl="0" eaLnBrk="1" latinLnBrk="0" hangingPunct="1">
                        <a:buFont typeface="Arial" pitchFamily="34" charset="0"/>
                        <a:buNone/>
                      </a:pPr>
                      <a:r>
                        <a:rPr lang="de-CH" sz="1000" b="1" kern="1200" noProof="0" dirty="0" smtClean="0">
                          <a:solidFill>
                            <a:schemeClr val="tx1"/>
                          </a:solidFill>
                          <a:latin typeface="+mn-lt"/>
                          <a:ea typeface="+mn-ea"/>
                          <a:cs typeface="+mn-cs"/>
                        </a:rPr>
                        <a:t>2017</a:t>
                      </a:r>
                      <a:endParaRPr lang="de-CH" sz="1000" b="1" kern="1200" noProof="0" dirty="0">
                        <a:solidFill>
                          <a:schemeClr val="tx1"/>
                        </a:solidFill>
                        <a:latin typeface="+mn-lt"/>
                        <a:ea typeface="+mn-ea"/>
                        <a:cs typeface="+mn-cs"/>
                      </a:endParaRPr>
                    </a:p>
                  </a:txBody>
                  <a:tcPr marL="0" marR="0" marT="38862" marB="3886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ctr" defTabSz="914400" rtl="0" eaLnBrk="1" latinLnBrk="0" hangingPunct="1">
                        <a:buFont typeface="Arial" pitchFamily="34" charset="0"/>
                        <a:buNone/>
                      </a:pPr>
                      <a:r>
                        <a:rPr lang="de-CH" sz="1000" b="1" kern="1200" noProof="0" dirty="0" smtClean="0">
                          <a:solidFill>
                            <a:schemeClr val="tx1"/>
                          </a:solidFill>
                          <a:latin typeface="+mn-lt"/>
                          <a:ea typeface="+mn-ea"/>
                          <a:cs typeface="+mn-cs"/>
                        </a:rPr>
                        <a:t>2016</a:t>
                      </a:r>
                      <a:endParaRPr lang="de-CH" sz="1000" b="1" kern="1200" noProof="0" dirty="0">
                        <a:solidFill>
                          <a:schemeClr val="tx1"/>
                        </a:solidFill>
                        <a:latin typeface="+mn-lt"/>
                        <a:ea typeface="+mn-ea"/>
                        <a:cs typeface="+mn-cs"/>
                      </a:endParaRPr>
                    </a:p>
                  </a:txBody>
                  <a:tcPr marL="0" marR="0" marT="38862" marB="3886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ctr" defTabSz="914400" rtl="0" eaLnBrk="1" latinLnBrk="0" hangingPunct="1">
                        <a:buFont typeface="Arial" pitchFamily="34" charset="0"/>
                        <a:buNone/>
                      </a:pPr>
                      <a:r>
                        <a:rPr lang="de-CH" sz="1000" b="1" kern="1200" noProof="0" dirty="0" smtClean="0">
                          <a:solidFill>
                            <a:schemeClr val="tx1"/>
                          </a:solidFill>
                          <a:latin typeface="+mn-lt"/>
                          <a:ea typeface="+mn-ea"/>
                          <a:cs typeface="+mn-cs"/>
                        </a:rPr>
                        <a:t>2015</a:t>
                      </a:r>
                      <a:endParaRPr lang="de-CH" sz="1000" b="1" kern="1200" noProof="0" dirty="0">
                        <a:solidFill>
                          <a:schemeClr val="tx1"/>
                        </a:solidFill>
                        <a:latin typeface="+mn-lt"/>
                        <a:ea typeface="+mn-ea"/>
                        <a:cs typeface="+mn-cs"/>
                      </a:endParaRPr>
                    </a:p>
                  </a:txBody>
                  <a:tcPr marL="0" marR="0" marT="38862" marB="3886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ctr" defTabSz="914400" rtl="0" eaLnBrk="1" latinLnBrk="0" hangingPunct="1">
                        <a:buFont typeface="Arial" pitchFamily="34" charset="0"/>
                        <a:buNone/>
                      </a:pPr>
                      <a:r>
                        <a:rPr lang="de-CH" sz="1000" b="1" kern="1200" noProof="0" dirty="0" smtClean="0">
                          <a:solidFill>
                            <a:schemeClr val="tx1"/>
                          </a:solidFill>
                          <a:latin typeface="+mn-lt"/>
                          <a:ea typeface="+mn-ea"/>
                          <a:cs typeface="+mn-cs"/>
                        </a:rPr>
                        <a:t>2014</a:t>
                      </a:r>
                      <a:endParaRPr lang="de-CH" sz="1000" b="1" kern="1200" noProof="0" dirty="0">
                        <a:solidFill>
                          <a:schemeClr val="tx1"/>
                        </a:solidFill>
                        <a:latin typeface="+mn-lt"/>
                        <a:ea typeface="+mn-ea"/>
                        <a:cs typeface="+mn-cs"/>
                      </a:endParaRPr>
                    </a:p>
                  </a:txBody>
                  <a:tcPr marL="0" marR="0" marT="38862" marB="3886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ctr" defTabSz="914400" rtl="0" eaLnBrk="1" latinLnBrk="0" hangingPunct="1">
                        <a:buFont typeface="Arial" pitchFamily="34" charset="0"/>
                        <a:buNone/>
                      </a:pPr>
                      <a:r>
                        <a:rPr lang="de-CH" sz="1000" b="1" kern="1200" noProof="0" dirty="0" smtClean="0">
                          <a:solidFill>
                            <a:schemeClr val="tx1"/>
                          </a:solidFill>
                          <a:latin typeface="+mn-lt"/>
                          <a:ea typeface="+mn-ea"/>
                          <a:cs typeface="+mn-cs"/>
                        </a:rPr>
                        <a:t>2013</a:t>
                      </a:r>
                      <a:endParaRPr lang="de-CH" sz="1000" b="1" kern="1200" noProof="0" dirty="0">
                        <a:solidFill>
                          <a:schemeClr val="tx1"/>
                        </a:solidFill>
                        <a:latin typeface="+mn-lt"/>
                        <a:ea typeface="+mn-ea"/>
                        <a:cs typeface="+mn-cs"/>
                      </a:endParaRPr>
                    </a:p>
                  </a:txBody>
                  <a:tcPr marL="0" marR="0" marT="38862" marB="3886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ctr" defTabSz="914400" rtl="0" eaLnBrk="1" latinLnBrk="0" hangingPunct="1">
                        <a:buFont typeface="Arial" pitchFamily="34" charset="0"/>
                        <a:buNone/>
                      </a:pPr>
                      <a:r>
                        <a:rPr lang="de-CH" sz="1000" b="1" kern="1200" noProof="0" dirty="0" smtClean="0">
                          <a:solidFill>
                            <a:schemeClr val="tx1"/>
                          </a:solidFill>
                          <a:latin typeface="+mn-lt"/>
                          <a:ea typeface="+mn-ea"/>
                          <a:cs typeface="+mn-cs"/>
                        </a:rPr>
                        <a:t>2012</a:t>
                      </a:r>
                      <a:endParaRPr lang="de-CH" sz="1000" b="1" kern="1200" noProof="0" dirty="0">
                        <a:solidFill>
                          <a:schemeClr val="tx1"/>
                        </a:solidFill>
                        <a:latin typeface="+mn-lt"/>
                        <a:ea typeface="+mn-ea"/>
                        <a:cs typeface="+mn-cs"/>
                      </a:endParaRPr>
                    </a:p>
                  </a:txBody>
                  <a:tcPr marL="0" marR="0" marT="38862" marB="3886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ctr" defTabSz="914400" rtl="0" eaLnBrk="1" latinLnBrk="0" hangingPunct="1">
                        <a:buFont typeface="Arial" pitchFamily="34" charset="0"/>
                        <a:buNone/>
                      </a:pPr>
                      <a:r>
                        <a:rPr lang="de-CH" sz="1000" b="1" kern="1200" noProof="0" dirty="0" smtClean="0">
                          <a:solidFill>
                            <a:schemeClr val="tx1"/>
                          </a:solidFill>
                          <a:latin typeface="+mn-lt"/>
                          <a:ea typeface="+mn-ea"/>
                          <a:cs typeface="+mn-cs"/>
                        </a:rPr>
                        <a:t>2011</a:t>
                      </a:r>
                      <a:endParaRPr lang="de-CH" sz="1000" b="1" kern="1200" noProof="0" dirty="0">
                        <a:solidFill>
                          <a:schemeClr val="tx1"/>
                        </a:solidFill>
                        <a:latin typeface="+mn-lt"/>
                        <a:ea typeface="+mn-ea"/>
                        <a:cs typeface="+mn-cs"/>
                      </a:endParaRPr>
                    </a:p>
                  </a:txBody>
                  <a:tcPr marL="0" marR="0" marT="38862" marB="3886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ctr" defTabSz="914400" rtl="0" eaLnBrk="1" latinLnBrk="0" hangingPunct="1">
                        <a:buFont typeface="Arial" pitchFamily="34" charset="0"/>
                        <a:buNone/>
                      </a:pPr>
                      <a:r>
                        <a:rPr lang="de-CH" sz="1000" b="1" kern="1200" noProof="0" dirty="0" smtClean="0">
                          <a:solidFill>
                            <a:schemeClr val="tx1"/>
                          </a:solidFill>
                          <a:latin typeface="+mn-lt"/>
                          <a:ea typeface="+mn-ea"/>
                          <a:cs typeface="+mn-cs"/>
                        </a:rPr>
                        <a:t>2010</a:t>
                      </a:r>
                      <a:endParaRPr lang="de-CH" sz="1000" b="1" kern="1200" noProof="0" dirty="0">
                        <a:solidFill>
                          <a:schemeClr val="tx1"/>
                        </a:solidFill>
                        <a:latin typeface="+mn-lt"/>
                        <a:ea typeface="+mn-ea"/>
                        <a:cs typeface="+mn-cs"/>
                      </a:endParaRPr>
                    </a:p>
                  </a:txBody>
                  <a:tcPr marL="0" marR="0" marT="38862" marB="3886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ctr" defTabSz="914400" rtl="0" eaLnBrk="1" latinLnBrk="0" hangingPunct="1">
                        <a:buFont typeface="Arial" pitchFamily="34" charset="0"/>
                        <a:buNone/>
                      </a:pPr>
                      <a:r>
                        <a:rPr lang="de-CH" sz="1000" b="1" kern="1200" noProof="0" dirty="0" smtClean="0">
                          <a:solidFill>
                            <a:schemeClr val="tx1"/>
                          </a:solidFill>
                          <a:latin typeface="+mn-lt"/>
                          <a:ea typeface="+mn-ea"/>
                          <a:cs typeface="+mn-cs"/>
                        </a:rPr>
                        <a:t>2009</a:t>
                      </a:r>
                      <a:endParaRPr lang="de-CH" sz="1000" b="1" kern="1200" noProof="0" dirty="0">
                        <a:solidFill>
                          <a:schemeClr val="tx1"/>
                        </a:solidFill>
                        <a:latin typeface="+mn-lt"/>
                        <a:ea typeface="+mn-ea"/>
                        <a:cs typeface="+mn-cs"/>
                      </a:endParaRPr>
                    </a:p>
                  </a:txBody>
                  <a:tcPr marL="0" marR="0" marT="38862" marB="3886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ctr" defTabSz="914400" rtl="0" eaLnBrk="1" latinLnBrk="0" hangingPunct="1">
                        <a:buFont typeface="Arial" pitchFamily="34" charset="0"/>
                        <a:buNone/>
                      </a:pPr>
                      <a:r>
                        <a:rPr lang="de-CH" sz="1000" b="1" kern="1200" noProof="0" dirty="0" smtClean="0">
                          <a:solidFill>
                            <a:schemeClr val="tx1"/>
                          </a:solidFill>
                          <a:latin typeface="+mn-lt"/>
                          <a:ea typeface="+mn-ea"/>
                          <a:cs typeface="+mn-cs"/>
                        </a:rPr>
                        <a:t>2008</a:t>
                      </a:r>
                      <a:endParaRPr lang="de-CH" sz="1000" b="1" kern="1200" noProof="0" dirty="0">
                        <a:solidFill>
                          <a:schemeClr val="tx1"/>
                        </a:solidFill>
                        <a:latin typeface="+mn-lt"/>
                        <a:ea typeface="+mn-ea"/>
                        <a:cs typeface="+mn-cs"/>
                      </a:endParaRPr>
                    </a:p>
                  </a:txBody>
                  <a:tcPr marL="0" marR="0" marT="38862" marB="3886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25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1" kern="1200" noProof="0" dirty="0" err="1" smtClean="0">
                          <a:solidFill>
                            <a:schemeClr val="tx1"/>
                          </a:solidFill>
                          <a:latin typeface="+mn-lt"/>
                          <a:ea typeface="ＭＳ Ｐゴシック" pitchFamily="34" charset="-128"/>
                          <a:cs typeface="Arial" charset="0"/>
                        </a:rPr>
                        <a:t>Vontobel</a:t>
                      </a:r>
                      <a:endParaRPr lang="de-CH" sz="900" b="1" kern="1200" noProof="0" dirty="0" smtClean="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1" kern="1200" noProof="0" dirty="0" err="1" smtClean="0">
                          <a:solidFill>
                            <a:schemeClr val="tx1"/>
                          </a:solidFill>
                          <a:latin typeface="+mn-lt"/>
                          <a:ea typeface="ＭＳ Ｐゴシック" pitchFamily="34" charset="-128"/>
                          <a:cs typeface="Arial" charset="0"/>
                        </a:rPr>
                        <a:t>Vontobel</a:t>
                      </a:r>
                      <a:endParaRPr lang="de-CH" sz="900" b="1" kern="1200" noProof="0" dirty="0" smtClean="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1" kern="1200" noProof="0" dirty="0" err="1" smtClean="0">
                          <a:solidFill>
                            <a:schemeClr val="tx1"/>
                          </a:solidFill>
                          <a:latin typeface="+mn-lt"/>
                          <a:ea typeface="ＭＳ Ｐゴシック" pitchFamily="34" charset="-128"/>
                          <a:cs typeface="Arial" charset="0"/>
                        </a:rPr>
                        <a:t>Vontobel</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2"/>
                    </a:solidFill>
                  </a:tcPr>
                </a:tc>
                <a:tc>
                  <a:txBody>
                    <a:bodyPr/>
                    <a:lstStyle/>
                    <a:p>
                      <a:pPr algn="ctr"/>
                      <a:r>
                        <a:rPr lang="de-CH" sz="900" b="1" kern="1200" noProof="0" dirty="0" err="1" smtClean="0">
                          <a:solidFill>
                            <a:schemeClr val="tx1"/>
                          </a:solidFill>
                          <a:latin typeface="+mn-lt"/>
                          <a:ea typeface="ＭＳ Ｐゴシック" pitchFamily="34" charset="-128"/>
                          <a:cs typeface="Arial" charset="0"/>
                        </a:rPr>
                        <a:t>Vontobel</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1DCCA"/>
                    </a:solidFill>
                  </a:tcPr>
                </a:tc>
                <a:tc>
                  <a:txBody>
                    <a:bodyPr/>
                    <a:lstStyle/>
                    <a:p>
                      <a:pPr algn="ctr"/>
                      <a:r>
                        <a:rPr lang="de-CH" sz="900" b="1" kern="1200" noProof="0" dirty="0" err="1" smtClean="0">
                          <a:solidFill>
                            <a:schemeClr val="tx1"/>
                          </a:solidFill>
                          <a:latin typeface="+mn-lt"/>
                          <a:ea typeface="ＭＳ Ｐゴシック" pitchFamily="34" charset="-128"/>
                          <a:cs typeface="Arial" charset="0"/>
                        </a:rPr>
                        <a:t>Vontobel</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2"/>
                    </a:solidFill>
                  </a:tcPr>
                </a:tc>
                <a:tc>
                  <a:txBody>
                    <a:bodyPr/>
                    <a:lstStyle/>
                    <a:p>
                      <a:pPr algn="ctr"/>
                      <a:r>
                        <a:rPr lang="de-CH" sz="900" b="1" kern="1200" noProof="0" dirty="0" err="1" smtClean="0">
                          <a:solidFill>
                            <a:schemeClr val="tx1"/>
                          </a:solidFill>
                          <a:latin typeface="+mn-lt"/>
                          <a:ea typeface="ＭＳ Ｐゴシック" pitchFamily="34" charset="-128"/>
                          <a:cs typeface="Arial" charset="0"/>
                        </a:rPr>
                        <a:t>Vontobel</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2"/>
                    </a:solidFill>
                  </a:tcPr>
                </a:tc>
                <a:tc>
                  <a:txBody>
                    <a:bodyPr/>
                    <a:lstStyle/>
                    <a:p>
                      <a:pPr marL="0" marR="0" indent="0" algn="ctr" defTabSz="914400" rtl="0" eaLnBrk="1" fontAlgn="auto" latinLnBrk="0" hangingPunct="1">
                        <a:lnSpc>
                          <a:spcPct val="100000"/>
                        </a:lnSpc>
                        <a:spcBef>
                          <a:spcPts val="0"/>
                        </a:spcBef>
                        <a:spcAft>
                          <a:spcPts val="400"/>
                        </a:spcAft>
                        <a:buClr>
                          <a:schemeClr val="accent1"/>
                        </a:buClr>
                        <a:buSzTx/>
                        <a:buFont typeface="Wingdings" pitchFamily="2" charset="2"/>
                        <a:buNone/>
                        <a:tabLst/>
                        <a:defRPr/>
                      </a:pPr>
                      <a:r>
                        <a:rPr lang="de-CH" sz="900" b="1" kern="1200" noProof="0" dirty="0" err="1" smtClean="0">
                          <a:solidFill>
                            <a:schemeClr val="tx1"/>
                          </a:solidFill>
                          <a:latin typeface="+mn-lt"/>
                          <a:ea typeface="ＭＳ Ｐゴシック" pitchFamily="34" charset="-128"/>
                          <a:cs typeface="Arial" charset="0"/>
                        </a:rPr>
                        <a:t>Vontobel</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2"/>
                    </a:solidFill>
                  </a:tcPr>
                </a:tc>
                <a:tc>
                  <a:txBody>
                    <a:bodyPr/>
                    <a:lstStyle/>
                    <a:p>
                      <a:pPr marL="0" marR="0" indent="0" algn="ctr" defTabSz="914400" rtl="0" eaLnBrk="1" fontAlgn="auto" latinLnBrk="0" hangingPunct="1">
                        <a:lnSpc>
                          <a:spcPct val="100000"/>
                        </a:lnSpc>
                        <a:spcBef>
                          <a:spcPts val="0"/>
                        </a:spcBef>
                        <a:spcAft>
                          <a:spcPts val="400"/>
                        </a:spcAft>
                        <a:buClr>
                          <a:schemeClr val="accent1"/>
                        </a:buClr>
                        <a:buSzTx/>
                        <a:buFont typeface="Wingdings" pitchFamily="2" charset="2"/>
                        <a:buNone/>
                        <a:tabLst/>
                        <a:defRPr/>
                      </a:pPr>
                      <a:r>
                        <a:rPr lang="de-CH" sz="900" b="1" kern="1200" noProof="0" dirty="0" err="1" smtClean="0">
                          <a:solidFill>
                            <a:schemeClr val="tx1"/>
                          </a:solidFill>
                          <a:latin typeface="+mn-lt"/>
                          <a:ea typeface="ＭＳ Ｐゴシック" pitchFamily="34" charset="-128"/>
                          <a:cs typeface="Arial" charset="0"/>
                        </a:rPr>
                        <a:t>Vontobel</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1DCCA"/>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Helvea</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UBS</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400"/>
                        </a:spcAft>
                        <a:buClr>
                          <a:schemeClr val="accent1"/>
                        </a:buClr>
                        <a:buSzTx/>
                        <a:buFont typeface="Wingdings" pitchFamily="2" charset="2"/>
                        <a:buNone/>
                        <a:tabLst/>
                        <a:defRPr/>
                      </a:pPr>
                      <a:r>
                        <a:rPr lang="de-CH" sz="900" b="1" kern="1200" noProof="0" dirty="0" err="1" smtClean="0">
                          <a:solidFill>
                            <a:schemeClr val="tx1"/>
                          </a:solidFill>
                          <a:latin typeface="+mn-lt"/>
                          <a:ea typeface="ＭＳ Ｐゴシック" pitchFamily="34" charset="-128"/>
                          <a:cs typeface="Arial" charset="0"/>
                        </a:rPr>
                        <a:t>Vontobel</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2"/>
                    </a:solidFill>
                  </a:tcPr>
                </a:tc>
                <a:extLst>
                  <a:ext uri="{0D108BD9-81ED-4DB2-BD59-A6C34878D82A}">
                    <a16:rowId xmlns:a16="http://schemas.microsoft.com/office/drawing/2014/main" val="10001"/>
                  </a:ext>
                </a:extLst>
              </a:tr>
              <a:tr h="25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err="1" smtClean="0">
                          <a:solidFill>
                            <a:schemeClr val="tx1"/>
                          </a:solidFill>
                          <a:latin typeface="+mn-lt"/>
                          <a:ea typeface="ＭＳ Ｐゴシック" pitchFamily="34" charset="-128"/>
                          <a:cs typeface="Arial" charset="0"/>
                        </a:rPr>
                        <a:t>MainFirst</a:t>
                      </a:r>
                      <a:endParaRPr lang="de-CH" sz="900" b="1" kern="1200" noProof="0" dirty="0" smtClean="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err="1" smtClean="0">
                          <a:solidFill>
                            <a:schemeClr val="tx1"/>
                          </a:solidFill>
                          <a:latin typeface="+mn-lt"/>
                          <a:ea typeface="ＭＳ Ｐゴシック" pitchFamily="34" charset="-128"/>
                          <a:cs typeface="Arial" charset="0"/>
                        </a:rPr>
                        <a:t>MainFirst</a:t>
                      </a:r>
                      <a:endParaRPr lang="de-CH" sz="900" b="1" kern="1200" noProof="0" dirty="0" smtClean="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smtClean="0">
                          <a:solidFill>
                            <a:schemeClr val="tx1"/>
                          </a:solidFill>
                          <a:latin typeface="+mn-lt"/>
                          <a:ea typeface="ＭＳ Ｐゴシック" pitchFamily="34" charset="-128"/>
                          <a:cs typeface="Arial" charset="0"/>
                        </a:rPr>
                        <a:t>Baader/</a:t>
                      </a:r>
                      <a:r>
                        <a:rPr lang="de-CH" sz="900" b="0" kern="1200" noProof="0" dirty="0" err="1" smtClean="0">
                          <a:solidFill>
                            <a:schemeClr val="tx1"/>
                          </a:solidFill>
                          <a:latin typeface="+mn-lt"/>
                          <a:ea typeface="ＭＳ Ｐゴシック" pitchFamily="34" charset="-128"/>
                          <a:cs typeface="Arial" charset="0"/>
                        </a:rPr>
                        <a:t>Hel</a:t>
                      </a:r>
                      <a:r>
                        <a:rPr lang="de-CH" sz="900" b="0" kern="1200" noProof="0" dirty="0" smtClean="0">
                          <a:solidFill>
                            <a:schemeClr val="tx1"/>
                          </a:solidFill>
                          <a:latin typeface="+mn-lt"/>
                          <a:ea typeface="ＭＳ Ｐゴシック" pitchFamily="34" charset="-128"/>
                          <a:cs typeface="Arial" charset="0"/>
                        </a:rPr>
                        <a:t>.</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smtClean="0">
                          <a:solidFill>
                            <a:schemeClr val="tx1"/>
                          </a:solidFill>
                          <a:latin typeface="+mn-lt"/>
                          <a:ea typeface="ＭＳ Ｐゴシック" pitchFamily="34" charset="-128"/>
                          <a:cs typeface="Arial" charset="0"/>
                        </a:rPr>
                        <a:t>Baader/</a:t>
                      </a:r>
                      <a:r>
                        <a:rPr lang="de-CH" sz="900" b="0" kern="1200" noProof="0" dirty="0" err="1" smtClean="0">
                          <a:solidFill>
                            <a:schemeClr val="tx1"/>
                          </a:solidFill>
                          <a:latin typeface="+mn-lt"/>
                          <a:ea typeface="ＭＳ Ｐゴシック" pitchFamily="34" charset="-128"/>
                          <a:cs typeface="Arial" charset="0"/>
                        </a:rPr>
                        <a:t>Hel</a:t>
                      </a:r>
                      <a:r>
                        <a:rPr lang="de-CH" sz="900" b="0" kern="1200" noProof="0" dirty="0" smtClean="0">
                          <a:solidFill>
                            <a:schemeClr val="tx1"/>
                          </a:solidFill>
                          <a:latin typeface="+mn-lt"/>
                          <a:ea typeface="ＭＳ Ｐゴシック" pitchFamily="34" charset="-128"/>
                          <a:cs typeface="Arial" charset="0"/>
                        </a:rPr>
                        <a:t>.</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UBS</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UBS</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UBS</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Helvea</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400"/>
                        </a:spcAft>
                        <a:buClr>
                          <a:schemeClr val="accent1"/>
                        </a:buClr>
                        <a:buSzTx/>
                        <a:buFont typeface="Wingdings" pitchFamily="2" charset="2"/>
                        <a:buNone/>
                        <a:tabLst/>
                        <a:defRPr/>
                      </a:pPr>
                      <a:r>
                        <a:rPr lang="de-CH" sz="900" b="1" kern="1200" noProof="0" dirty="0" err="1" smtClean="0">
                          <a:solidFill>
                            <a:schemeClr val="tx1"/>
                          </a:solidFill>
                          <a:latin typeface="+mn-lt"/>
                          <a:ea typeface="ＭＳ Ｐゴシック" pitchFamily="34" charset="-128"/>
                          <a:cs typeface="Arial" charset="0"/>
                        </a:rPr>
                        <a:t>Vontobel</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2"/>
                    </a:solidFill>
                  </a:tcPr>
                </a:tc>
                <a:tc>
                  <a:txBody>
                    <a:bodyPr/>
                    <a:lstStyle/>
                    <a:p>
                      <a:pPr marL="0" marR="0" indent="0" algn="ctr" defTabSz="914400" rtl="0" eaLnBrk="1" fontAlgn="auto" latinLnBrk="0" hangingPunct="1">
                        <a:lnSpc>
                          <a:spcPct val="100000"/>
                        </a:lnSpc>
                        <a:spcBef>
                          <a:spcPts val="0"/>
                        </a:spcBef>
                        <a:spcAft>
                          <a:spcPts val="400"/>
                        </a:spcAft>
                        <a:buClr>
                          <a:schemeClr val="accent1"/>
                        </a:buClr>
                        <a:buSzTx/>
                        <a:buFont typeface="Wingdings" pitchFamily="2" charset="2"/>
                        <a:buNone/>
                        <a:tabLst/>
                        <a:defRPr/>
                      </a:pPr>
                      <a:r>
                        <a:rPr lang="de-CH" sz="900" b="1" kern="1200" noProof="0" dirty="0" err="1" smtClean="0">
                          <a:solidFill>
                            <a:schemeClr val="tx1"/>
                          </a:solidFill>
                          <a:latin typeface="+mn-lt"/>
                          <a:ea typeface="ＭＳ Ｐゴシック" pitchFamily="34" charset="-128"/>
                          <a:cs typeface="Arial" charset="0"/>
                        </a:rPr>
                        <a:t>Vontobel</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ap="flat" cmpd="sng" algn="ctr">
                      <a:solidFill>
                        <a:schemeClr val="bg1"/>
                      </a:solid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1DCCA"/>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Kepler</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5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err="1" smtClean="0">
                          <a:solidFill>
                            <a:schemeClr val="tx1"/>
                          </a:solidFill>
                          <a:latin typeface="+mn-lt"/>
                          <a:ea typeface="ＭＳ Ｐゴシック" pitchFamily="34" charset="-128"/>
                          <a:cs typeface="Arial" charset="0"/>
                        </a:rPr>
                        <a:t>Kepl</a:t>
                      </a:r>
                      <a:r>
                        <a:rPr lang="de-CH" sz="900" b="0" kern="1200" noProof="0" dirty="0" smtClean="0">
                          <a:solidFill>
                            <a:schemeClr val="tx1"/>
                          </a:solidFill>
                          <a:latin typeface="+mn-lt"/>
                          <a:ea typeface="ＭＳ Ｐゴシック" pitchFamily="34" charset="-128"/>
                          <a:cs typeface="Arial" charset="0"/>
                        </a:rPr>
                        <a:t>.</a:t>
                      </a:r>
                      <a:r>
                        <a:rPr lang="de-CH" sz="900" b="0" kern="1200" baseline="0" noProof="0" dirty="0" smtClean="0">
                          <a:solidFill>
                            <a:schemeClr val="tx1"/>
                          </a:solidFill>
                          <a:latin typeface="+mn-lt"/>
                          <a:ea typeface="ＭＳ Ｐゴシック" pitchFamily="34" charset="-128"/>
                          <a:cs typeface="Arial" charset="0"/>
                        </a:rPr>
                        <a:t> </a:t>
                      </a:r>
                      <a:r>
                        <a:rPr lang="de-CH" sz="900" b="0" kern="1200" noProof="0" dirty="0" err="1" smtClean="0">
                          <a:solidFill>
                            <a:schemeClr val="tx1"/>
                          </a:solidFill>
                          <a:latin typeface="+mn-lt"/>
                          <a:ea typeface="ＭＳ Ｐゴシック" pitchFamily="34" charset="-128"/>
                          <a:cs typeface="Arial" charset="0"/>
                        </a:rPr>
                        <a:t>Cheuv</a:t>
                      </a:r>
                      <a:r>
                        <a:rPr lang="de-CH" sz="900" b="0" kern="1200" noProof="0" dirty="0" smtClean="0">
                          <a:solidFill>
                            <a:schemeClr val="tx1"/>
                          </a:solidFill>
                          <a:latin typeface="+mn-lt"/>
                          <a:ea typeface="ＭＳ Ｐゴシック" pitchFamily="34" charset="-128"/>
                          <a:cs typeface="Arial" charset="0"/>
                        </a:rPr>
                        <a:t>.</a:t>
                      </a:r>
                    </a:p>
                  </a:txBody>
                  <a:tcPr marL="0" marR="0" marT="0" marB="0" anchor="ctr">
                    <a:lnL w="12700" cap="flat" cmpd="sng" algn="ctr">
                      <a:solidFill>
                        <a:schemeClr val="bg1"/>
                      </a:solid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smtClean="0">
                          <a:solidFill>
                            <a:schemeClr val="tx1"/>
                          </a:solidFill>
                          <a:latin typeface="+mn-lt"/>
                          <a:ea typeface="ＭＳ Ｐゴシック" pitchFamily="34" charset="-128"/>
                          <a:cs typeface="Arial" charset="0"/>
                        </a:rPr>
                        <a:t>Baader/</a:t>
                      </a:r>
                      <a:r>
                        <a:rPr lang="de-CH" sz="900" b="0" kern="1200" noProof="0" dirty="0" err="1" smtClean="0">
                          <a:solidFill>
                            <a:schemeClr val="tx1"/>
                          </a:solidFill>
                          <a:latin typeface="+mn-lt"/>
                          <a:ea typeface="ＭＳ Ｐゴシック" pitchFamily="34" charset="-128"/>
                          <a:cs typeface="Arial" charset="0"/>
                        </a:rPr>
                        <a:t>Hel</a:t>
                      </a:r>
                      <a:r>
                        <a:rPr lang="de-CH" sz="900" b="0" kern="1200" noProof="0" dirty="0" smtClean="0">
                          <a:solidFill>
                            <a:schemeClr val="tx1"/>
                          </a:solidFill>
                          <a:latin typeface="+mn-lt"/>
                          <a:ea typeface="ＭＳ Ｐゴシック" pitchFamily="34" charset="-128"/>
                          <a:cs typeface="Arial" charset="0"/>
                        </a:rPr>
                        <a:t>.</a:t>
                      </a: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err="1" smtClean="0">
                          <a:solidFill>
                            <a:schemeClr val="tx1"/>
                          </a:solidFill>
                          <a:latin typeface="+mn-lt"/>
                          <a:ea typeface="ＭＳ Ｐゴシック" pitchFamily="34" charset="-128"/>
                          <a:cs typeface="Arial" charset="0"/>
                        </a:rPr>
                        <a:t>Kepl</a:t>
                      </a:r>
                      <a:r>
                        <a:rPr lang="de-CH" sz="900" b="0" kern="1200" noProof="0" dirty="0" smtClean="0">
                          <a:solidFill>
                            <a:schemeClr val="tx1"/>
                          </a:solidFill>
                          <a:latin typeface="+mn-lt"/>
                          <a:ea typeface="ＭＳ Ｐゴシック" pitchFamily="34" charset="-128"/>
                          <a:cs typeface="Arial" charset="0"/>
                        </a:rPr>
                        <a:t>.</a:t>
                      </a:r>
                      <a:r>
                        <a:rPr lang="de-CH" sz="900" b="0" kern="1200" baseline="0" noProof="0" dirty="0" smtClean="0">
                          <a:solidFill>
                            <a:schemeClr val="tx1"/>
                          </a:solidFill>
                          <a:latin typeface="+mn-lt"/>
                          <a:ea typeface="ＭＳ Ｐゴシック" pitchFamily="34" charset="-128"/>
                          <a:cs typeface="Arial" charset="0"/>
                        </a:rPr>
                        <a:t> </a:t>
                      </a:r>
                      <a:r>
                        <a:rPr lang="de-CH" sz="900" b="0" kern="1200" noProof="0" dirty="0" err="1" smtClean="0">
                          <a:solidFill>
                            <a:schemeClr val="tx1"/>
                          </a:solidFill>
                          <a:latin typeface="+mn-lt"/>
                          <a:ea typeface="ＭＳ Ｐゴシック" pitchFamily="34" charset="-128"/>
                          <a:cs typeface="Arial" charset="0"/>
                        </a:rPr>
                        <a:t>Cheuv</a:t>
                      </a:r>
                      <a:r>
                        <a:rPr lang="de-CH" sz="900" b="0" kern="1200" noProof="0" dirty="0" smtClean="0">
                          <a:solidFill>
                            <a:schemeClr val="tx1"/>
                          </a:solidFill>
                          <a:latin typeface="+mn-lt"/>
                          <a:ea typeface="ＭＳ Ｐゴシック" pitchFamily="34" charset="-128"/>
                          <a:cs typeface="Arial" charset="0"/>
                        </a:rPr>
                        <a:t>.</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err="1" smtClean="0">
                          <a:solidFill>
                            <a:schemeClr val="tx1"/>
                          </a:solidFill>
                          <a:latin typeface="+mn-lt"/>
                          <a:ea typeface="ＭＳ Ｐゴシック" pitchFamily="34" charset="-128"/>
                          <a:cs typeface="Arial" charset="0"/>
                        </a:rPr>
                        <a:t>MainFirst</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err="1" smtClean="0">
                          <a:solidFill>
                            <a:schemeClr val="tx1"/>
                          </a:solidFill>
                          <a:latin typeface="+mn-lt"/>
                          <a:ea typeface="ＭＳ Ｐゴシック" pitchFamily="34" charset="-128"/>
                          <a:cs typeface="Arial" charset="0"/>
                        </a:rPr>
                        <a:t>Kepl</a:t>
                      </a:r>
                      <a:r>
                        <a:rPr lang="de-CH" sz="900" b="0" kern="1200" noProof="0" dirty="0" smtClean="0">
                          <a:solidFill>
                            <a:schemeClr val="tx1"/>
                          </a:solidFill>
                          <a:latin typeface="+mn-lt"/>
                          <a:ea typeface="ＭＳ Ｐゴシック" pitchFamily="34" charset="-128"/>
                          <a:cs typeface="Arial" charset="0"/>
                        </a:rPr>
                        <a:t>.</a:t>
                      </a:r>
                      <a:r>
                        <a:rPr lang="de-CH" sz="900" b="0" kern="1200" baseline="0" noProof="0" dirty="0" smtClean="0">
                          <a:solidFill>
                            <a:schemeClr val="tx1"/>
                          </a:solidFill>
                          <a:latin typeface="+mn-lt"/>
                          <a:ea typeface="ＭＳ Ｐゴシック" pitchFamily="34" charset="-128"/>
                          <a:cs typeface="Arial" charset="0"/>
                        </a:rPr>
                        <a:t> </a:t>
                      </a:r>
                      <a:r>
                        <a:rPr lang="de-CH" sz="900" b="0" kern="1200" noProof="0" dirty="0" err="1" smtClean="0">
                          <a:solidFill>
                            <a:schemeClr val="tx1"/>
                          </a:solidFill>
                          <a:latin typeface="+mn-lt"/>
                          <a:ea typeface="ＭＳ Ｐゴシック" pitchFamily="34" charset="-128"/>
                          <a:cs typeface="Arial" charset="0"/>
                        </a:rPr>
                        <a:t>Cheuv</a:t>
                      </a:r>
                      <a:r>
                        <a:rPr lang="de-CH" sz="900" b="0" kern="1200" noProof="0" dirty="0" smtClean="0">
                          <a:solidFill>
                            <a:schemeClr val="tx1"/>
                          </a:solidFill>
                          <a:latin typeface="+mn-lt"/>
                          <a:ea typeface="ＭＳ Ｐゴシック" pitchFamily="34" charset="-128"/>
                          <a:cs typeface="Arial" charset="0"/>
                        </a:rPr>
                        <a:t>.</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de-CH" sz="900" b="0" kern="1200" noProof="0" dirty="0" err="1" smtClean="0">
                          <a:solidFill>
                            <a:schemeClr val="tx1"/>
                          </a:solidFill>
                          <a:latin typeface="+mn-lt"/>
                          <a:ea typeface="ＭＳ Ｐゴシック" pitchFamily="34" charset="-128"/>
                          <a:cs typeface="Arial" charset="0"/>
                        </a:rPr>
                        <a:t>Helvea</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Helvea</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UBS</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UBS</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Helvea</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Helvea</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5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smtClean="0">
                          <a:solidFill>
                            <a:schemeClr val="tx1"/>
                          </a:solidFill>
                          <a:latin typeface="+mn-lt"/>
                          <a:ea typeface="ＭＳ Ｐゴシック" pitchFamily="34" charset="-128"/>
                          <a:cs typeface="Arial" charset="0"/>
                        </a:rPr>
                        <a:t>UBS</a:t>
                      </a:r>
                    </a:p>
                  </a:txBody>
                  <a:tcPr marL="0" marR="0" marT="0" marB="0" anchor="ctr">
                    <a:lnL w="12700" cap="flat" cmpd="sng" algn="ctr">
                      <a:solidFill>
                        <a:schemeClr val="bg1"/>
                      </a:solid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err="1" smtClean="0">
                          <a:solidFill>
                            <a:schemeClr val="tx1"/>
                          </a:solidFill>
                          <a:latin typeface="+mn-lt"/>
                          <a:ea typeface="ＭＳ Ｐゴシック" pitchFamily="34" charset="-128"/>
                          <a:cs typeface="Arial" charset="0"/>
                        </a:rPr>
                        <a:t>Kepl</a:t>
                      </a:r>
                      <a:r>
                        <a:rPr lang="de-CH" sz="900" b="0" kern="1200" noProof="0" dirty="0" smtClean="0">
                          <a:solidFill>
                            <a:schemeClr val="tx1"/>
                          </a:solidFill>
                          <a:latin typeface="+mn-lt"/>
                          <a:ea typeface="ＭＳ Ｐゴシック" pitchFamily="34" charset="-128"/>
                          <a:cs typeface="Arial" charset="0"/>
                        </a:rPr>
                        <a:t>.</a:t>
                      </a:r>
                      <a:r>
                        <a:rPr lang="de-CH" sz="900" b="0" kern="1200" baseline="0" noProof="0" dirty="0" smtClean="0">
                          <a:solidFill>
                            <a:schemeClr val="tx1"/>
                          </a:solidFill>
                          <a:latin typeface="+mn-lt"/>
                          <a:ea typeface="ＭＳ Ｐゴシック" pitchFamily="34" charset="-128"/>
                          <a:cs typeface="Arial" charset="0"/>
                        </a:rPr>
                        <a:t> </a:t>
                      </a:r>
                      <a:r>
                        <a:rPr lang="de-CH" sz="900" b="0" kern="1200" noProof="0" dirty="0" err="1" smtClean="0">
                          <a:solidFill>
                            <a:schemeClr val="tx1"/>
                          </a:solidFill>
                          <a:latin typeface="+mn-lt"/>
                          <a:ea typeface="ＭＳ Ｐゴシック" pitchFamily="34" charset="-128"/>
                          <a:cs typeface="Arial" charset="0"/>
                        </a:rPr>
                        <a:t>Cheuv</a:t>
                      </a:r>
                      <a:r>
                        <a:rPr lang="de-CH" sz="900" b="0" kern="1200" noProof="0" dirty="0" smtClean="0">
                          <a:solidFill>
                            <a:schemeClr val="tx1"/>
                          </a:solidFill>
                          <a:latin typeface="+mn-lt"/>
                          <a:ea typeface="ＭＳ Ｐゴシック" pitchFamily="34" charset="-128"/>
                          <a:cs typeface="Arial" charset="0"/>
                        </a:rPr>
                        <a:t>.</a:t>
                      </a: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smtClean="0">
                          <a:solidFill>
                            <a:schemeClr val="tx1"/>
                          </a:solidFill>
                          <a:latin typeface="+mn-lt"/>
                          <a:ea typeface="ＭＳ Ｐゴシック" pitchFamily="34" charset="-128"/>
                          <a:cs typeface="Arial" charset="0"/>
                        </a:rPr>
                        <a:t>UBS</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smtClean="0">
                          <a:solidFill>
                            <a:schemeClr val="tx1"/>
                          </a:solidFill>
                          <a:latin typeface="+mn-lt"/>
                          <a:ea typeface="ＭＳ Ｐゴシック" pitchFamily="34" charset="-128"/>
                          <a:cs typeface="Arial" charset="0"/>
                        </a:rPr>
                        <a:t>UBS</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de-CH" sz="900" b="0" kern="1200" noProof="0" dirty="0" err="1" smtClean="0">
                          <a:solidFill>
                            <a:schemeClr val="tx1"/>
                          </a:solidFill>
                          <a:latin typeface="+mn-lt"/>
                          <a:ea typeface="ＭＳ Ｐゴシック" pitchFamily="34" charset="-128"/>
                          <a:cs typeface="Arial" charset="0"/>
                        </a:rPr>
                        <a:t>MainFirst</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de-CH" sz="900" b="0" kern="1200" noProof="0" dirty="0" err="1" smtClean="0">
                          <a:solidFill>
                            <a:schemeClr val="tx1"/>
                          </a:solidFill>
                          <a:latin typeface="+mn-lt"/>
                          <a:ea typeface="ＭＳ Ｐゴシック" pitchFamily="34" charset="-128"/>
                          <a:cs typeface="Arial" charset="0"/>
                        </a:rPr>
                        <a:t>Kepl</a:t>
                      </a:r>
                      <a:r>
                        <a:rPr lang="de-CH" sz="900" b="0" kern="1200" noProof="0" dirty="0" smtClean="0">
                          <a:solidFill>
                            <a:schemeClr val="tx1"/>
                          </a:solidFill>
                          <a:latin typeface="+mn-lt"/>
                          <a:ea typeface="ＭＳ Ｐゴシック" pitchFamily="34" charset="-128"/>
                          <a:cs typeface="Arial" charset="0"/>
                        </a:rPr>
                        <a:t>.</a:t>
                      </a:r>
                      <a:r>
                        <a:rPr lang="de-CH" sz="900" b="0" kern="1200" baseline="0" noProof="0" dirty="0" smtClean="0">
                          <a:solidFill>
                            <a:schemeClr val="tx1"/>
                          </a:solidFill>
                          <a:latin typeface="+mn-lt"/>
                          <a:ea typeface="ＭＳ Ｐゴシック" pitchFamily="34" charset="-128"/>
                          <a:cs typeface="Arial" charset="0"/>
                        </a:rPr>
                        <a:t> </a:t>
                      </a:r>
                      <a:r>
                        <a:rPr lang="de-CH" sz="900" b="0" kern="1200" noProof="0" dirty="0" err="1" smtClean="0">
                          <a:solidFill>
                            <a:schemeClr val="tx1"/>
                          </a:solidFill>
                          <a:latin typeface="+mn-lt"/>
                          <a:ea typeface="ＭＳ Ｐゴシック" pitchFamily="34" charset="-128"/>
                          <a:cs typeface="Arial" charset="0"/>
                        </a:rPr>
                        <a:t>Cheuv</a:t>
                      </a:r>
                      <a:r>
                        <a:rPr lang="de-CH" sz="900" b="0" kern="1200" noProof="0" dirty="0" smtClean="0">
                          <a:solidFill>
                            <a:schemeClr val="tx1"/>
                          </a:solidFill>
                          <a:latin typeface="+mn-lt"/>
                          <a:ea typeface="ＭＳ Ｐゴシック" pitchFamily="34" charset="-128"/>
                          <a:cs typeface="Arial" charset="0"/>
                        </a:rPr>
                        <a:t>.</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Kepler</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Kepler</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Kepler</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Berenberg</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Cheuvreux</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5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smtClean="0">
                          <a:solidFill>
                            <a:schemeClr val="tx1"/>
                          </a:solidFill>
                          <a:latin typeface="+mn-lt"/>
                          <a:ea typeface="ＭＳ Ｐゴシック" pitchFamily="34" charset="-128"/>
                          <a:cs typeface="Arial" charset="0"/>
                        </a:rPr>
                        <a:t>Baader/</a:t>
                      </a:r>
                      <a:r>
                        <a:rPr lang="de-CH" sz="900" b="0" kern="1200" noProof="0" dirty="0" err="1" smtClean="0">
                          <a:solidFill>
                            <a:schemeClr val="tx1"/>
                          </a:solidFill>
                          <a:latin typeface="+mn-lt"/>
                          <a:ea typeface="ＭＳ Ｐゴシック" pitchFamily="34" charset="-128"/>
                          <a:cs typeface="Arial" charset="0"/>
                        </a:rPr>
                        <a:t>Hel</a:t>
                      </a:r>
                      <a:r>
                        <a:rPr lang="de-CH" sz="900" b="0" kern="1200" noProof="0" dirty="0" smtClean="0">
                          <a:solidFill>
                            <a:schemeClr val="tx1"/>
                          </a:solidFill>
                          <a:latin typeface="+mn-lt"/>
                          <a:ea typeface="ＭＳ Ｐゴシック" pitchFamily="34" charset="-128"/>
                          <a:cs typeface="Arial" charset="0"/>
                        </a:rPr>
                        <a:t>.</a:t>
                      </a:r>
                    </a:p>
                  </a:txBody>
                  <a:tcPr marL="0" marR="0" marT="0" marB="0" anchor="ctr">
                    <a:lnL w="12700" cap="flat" cmpd="sng" algn="ctr">
                      <a:solidFill>
                        <a:schemeClr val="bg1"/>
                      </a:solid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smtClean="0">
                          <a:solidFill>
                            <a:schemeClr val="tx1"/>
                          </a:solidFill>
                          <a:latin typeface="+mn-lt"/>
                          <a:ea typeface="ＭＳ Ｐゴシック" pitchFamily="34" charset="-128"/>
                          <a:cs typeface="Arial" charset="0"/>
                        </a:rPr>
                        <a:t>UBS</a:t>
                      </a: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err="1" smtClean="0">
                          <a:solidFill>
                            <a:schemeClr val="tx1"/>
                          </a:solidFill>
                          <a:latin typeface="+mn-lt"/>
                          <a:ea typeface="ＭＳ Ｐゴシック" pitchFamily="34" charset="-128"/>
                          <a:cs typeface="Arial" charset="0"/>
                        </a:rPr>
                        <a:t>MainFirst</a:t>
                      </a:r>
                      <a:endParaRPr lang="de-CH" sz="900" b="1"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CH" sz="900" b="0" kern="1200" noProof="0" dirty="0" err="1" smtClean="0">
                          <a:solidFill>
                            <a:schemeClr val="tx1"/>
                          </a:solidFill>
                          <a:latin typeface="+mn-lt"/>
                          <a:ea typeface="ＭＳ Ｐゴシック" pitchFamily="34" charset="-128"/>
                          <a:cs typeface="Arial" charset="0"/>
                        </a:rPr>
                        <a:t>Kepl</a:t>
                      </a:r>
                      <a:r>
                        <a:rPr lang="de-CH" sz="900" b="0" kern="1200" noProof="0" dirty="0" smtClean="0">
                          <a:solidFill>
                            <a:schemeClr val="tx1"/>
                          </a:solidFill>
                          <a:latin typeface="+mn-lt"/>
                          <a:ea typeface="ＭＳ Ｐゴシック" pitchFamily="34" charset="-128"/>
                          <a:cs typeface="Arial" charset="0"/>
                        </a:rPr>
                        <a:t>.</a:t>
                      </a:r>
                      <a:r>
                        <a:rPr lang="de-CH" sz="900" b="0" kern="1200" baseline="0" noProof="0" dirty="0" smtClean="0">
                          <a:solidFill>
                            <a:schemeClr val="tx1"/>
                          </a:solidFill>
                          <a:latin typeface="+mn-lt"/>
                          <a:ea typeface="ＭＳ Ｐゴシック" pitchFamily="34" charset="-128"/>
                          <a:cs typeface="Arial" charset="0"/>
                        </a:rPr>
                        <a:t> </a:t>
                      </a:r>
                      <a:r>
                        <a:rPr lang="de-CH" sz="900" b="0" kern="1200" noProof="0" dirty="0" err="1" smtClean="0">
                          <a:solidFill>
                            <a:schemeClr val="tx1"/>
                          </a:solidFill>
                          <a:latin typeface="+mn-lt"/>
                          <a:ea typeface="ＭＳ Ｐゴシック" pitchFamily="34" charset="-128"/>
                          <a:cs typeface="Arial" charset="0"/>
                        </a:rPr>
                        <a:t>Cheuv</a:t>
                      </a:r>
                      <a:r>
                        <a:rPr lang="de-CH" sz="900" b="0" kern="1200" noProof="0" dirty="0" smtClean="0">
                          <a:solidFill>
                            <a:schemeClr val="tx1"/>
                          </a:solidFill>
                          <a:latin typeface="+mn-lt"/>
                          <a:ea typeface="ＭＳ Ｐゴシック" pitchFamily="34" charset="-128"/>
                          <a:cs typeface="Arial" charset="0"/>
                        </a:rPr>
                        <a:t>.</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Baader/</a:t>
                      </a:r>
                      <a:r>
                        <a:rPr lang="de-CH" sz="900" b="0" kern="1200" noProof="0" dirty="0" err="1" smtClean="0">
                          <a:solidFill>
                            <a:schemeClr val="tx1"/>
                          </a:solidFill>
                          <a:latin typeface="+mn-lt"/>
                          <a:ea typeface="ＭＳ Ｐゴシック" pitchFamily="34" charset="-128"/>
                          <a:cs typeface="Arial" charset="0"/>
                        </a:rPr>
                        <a:t>Hel</a:t>
                      </a:r>
                      <a:r>
                        <a:rPr lang="de-CH" sz="900" b="0" kern="1200" noProof="0" dirty="0" smtClean="0">
                          <a:solidFill>
                            <a:schemeClr val="tx1"/>
                          </a:solidFill>
                          <a:latin typeface="+mn-lt"/>
                          <a:ea typeface="ＭＳ Ｐゴシック" pitchFamily="34" charset="-128"/>
                          <a:cs typeface="Arial" charset="0"/>
                        </a:rPr>
                        <a:t>.</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de-CH" sz="900" b="0" kern="1200" noProof="0" dirty="0" err="1" smtClean="0">
                          <a:solidFill>
                            <a:schemeClr val="tx1"/>
                          </a:solidFill>
                          <a:latin typeface="+mn-lt"/>
                          <a:ea typeface="ＭＳ Ｐゴシック" pitchFamily="34" charset="-128"/>
                          <a:cs typeface="Arial" charset="0"/>
                        </a:rPr>
                        <a:t>MainFirst</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MainFirst</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MainFirst</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NZB</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Kepler</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NZB</a:t>
                      </a:r>
                      <a:endParaRPr lang="de-CH" sz="900" b="0" kern="1200" noProof="0" dirty="0">
                        <a:solidFill>
                          <a:schemeClr val="tx1"/>
                        </a:solidFill>
                        <a:latin typeface="+mn-lt"/>
                        <a:ea typeface="ＭＳ Ｐゴシック" pitchFamily="34" charset="-128"/>
                        <a:cs typeface="Arial" charset="0"/>
                      </a:endParaRPr>
                    </a:p>
                  </a:txBody>
                  <a:tcPr marL="0" marR="0" marT="0" marB="0" anchor="ctr">
                    <a:lnL w="12700" cmpd="sng">
                      <a:noFill/>
                    </a:lnL>
                    <a:lnR w="12700"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noChangeAspect="1"/>
          </p:cNvGraphicFramePr>
          <p:nvPr>
            <p:extLst/>
          </p:nvPr>
        </p:nvGraphicFramePr>
        <p:xfrm>
          <a:off x="2970443" y="3347789"/>
          <a:ext cx="7270519" cy="3348000"/>
        </p:xfrm>
        <a:graphic>
          <a:graphicData uri="http://schemas.openxmlformats.org/drawingml/2006/table">
            <a:tbl>
              <a:tblPr firstRow="1" bandRow="1">
                <a:tableStyleId>{5C22544A-7EE6-4342-B048-85BDC9FD1C3A}</a:tableStyleId>
              </a:tblPr>
              <a:tblGrid>
                <a:gridCol w="686743">
                  <a:extLst>
                    <a:ext uri="{9D8B030D-6E8A-4147-A177-3AD203B41FA5}">
                      <a16:colId xmlns:a16="http://schemas.microsoft.com/office/drawing/2014/main" val="20000"/>
                    </a:ext>
                  </a:extLst>
                </a:gridCol>
                <a:gridCol w="686743">
                  <a:extLst>
                    <a:ext uri="{9D8B030D-6E8A-4147-A177-3AD203B41FA5}">
                      <a16:colId xmlns:a16="http://schemas.microsoft.com/office/drawing/2014/main" val="20001"/>
                    </a:ext>
                  </a:extLst>
                </a:gridCol>
                <a:gridCol w="4523547">
                  <a:extLst>
                    <a:ext uri="{9D8B030D-6E8A-4147-A177-3AD203B41FA5}">
                      <a16:colId xmlns:a16="http://schemas.microsoft.com/office/drawing/2014/main" val="20002"/>
                    </a:ext>
                  </a:extLst>
                </a:gridCol>
                <a:gridCol w="686743">
                  <a:extLst>
                    <a:ext uri="{9D8B030D-6E8A-4147-A177-3AD203B41FA5}">
                      <a16:colId xmlns:a16="http://schemas.microsoft.com/office/drawing/2014/main" val="20003"/>
                    </a:ext>
                  </a:extLst>
                </a:gridCol>
                <a:gridCol w="686743">
                  <a:extLst>
                    <a:ext uri="{9D8B030D-6E8A-4147-A177-3AD203B41FA5}">
                      <a16:colId xmlns:a16="http://schemas.microsoft.com/office/drawing/2014/main" val="20004"/>
                    </a:ext>
                  </a:extLst>
                </a:gridCol>
              </a:tblGrid>
              <a:tr h="503430">
                <a:tc>
                  <a:txBody>
                    <a:bodyPr/>
                    <a:lstStyle/>
                    <a:p>
                      <a:pPr algn="ctr"/>
                      <a:r>
                        <a:rPr lang="de-CH" sz="1000" b="1" noProof="0" dirty="0" smtClean="0">
                          <a:solidFill>
                            <a:schemeClr val="tx1"/>
                          </a:solidFill>
                        </a:rPr>
                        <a:t>2018</a:t>
                      </a:r>
                      <a:endParaRPr lang="de-CH" sz="1000" b="1" noProof="0" dirty="0">
                        <a:solidFill>
                          <a:schemeClr val="tx1"/>
                        </a:solidFill>
                      </a:endParaRPr>
                    </a:p>
                  </a:txBody>
                  <a:tcPr marL="0" marR="0" marT="0" marB="0" anchor="ctr">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de-CH" sz="1000" b="1" baseline="0" noProof="0" dirty="0" smtClean="0">
                          <a:solidFill>
                            <a:schemeClr val="tx1"/>
                          </a:solidFill>
                        </a:rPr>
                        <a:t>2017</a:t>
                      </a:r>
                      <a:endParaRPr lang="de-CH" sz="1000" b="1" noProof="0" dirty="0">
                        <a:solidFill>
                          <a:schemeClr val="tx1"/>
                        </a:solidFill>
                      </a:endParaRPr>
                    </a:p>
                  </a:txBody>
                  <a:tcPr marL="0" marR="0" marT="0" marB="0" anchor="ctr">
                    <a:lnB w="12700" cap="flat" cmpd="sng" algn="ctr">
                      <a:solidFill>
                        <a:schemeClr val="tx1"/>
                      </a:solidFill>
                      <a:prstDash val="solid"/>
                      <a:round/>
                      <a:headEnd type="none" w="med" len="med"/>
                      <a:tailEnd type="none" w="med" len="med"/>
                    </a:lnB>
                    <a:solidFill>
                      <a:schemeClr val="accent2"/>
                    </a:solidFill>
                  </a:tcPr>
                </a:tc>
                <a:tc>
                  <a:txBody>
                    <a:bodyPr/>
                    <a:lstStyle/>
                    <a:p>
                      <a:pPr algn="l"/>
                      <a:r>
                        <a:rPr lang="de-CH" sz="1000" b="1" noProof="0" dirty="0" smtClean="0">
                          <a:solidFill>
                            <a:schemeClr val="tx1"/>
                          </a:solidFill>
                        </a:rPr>
                        <a:t>COMPANY</a:t>
                      </a:r>
                      <a:r>
                        <a:rPr lang="de-CH" sz="1000" b="1" baseline="0" noProof="0" dirty="0" smtClean="0">
                          <a:solidFill>
                            <a:schemeClr val="tx1"/>
                          </a:solidFill>
                        </a:rPr>
                        <a:t> NAME</a:t>
                      </a:r>
                      <a:endParaRPr lang="de-CH" sz="1000" b="1" noProof="0" dirty="0">
                        <a:solidFill>
                          <a:schemeClr val="tx1"/>
                        </a:solidFill>
                      </a:endParaRPr>
                    </a:p>
                  </a:txBody>
                  <a:tcPr marL="116567" marR="77712" marT="0" marB="0" anchor="ctr">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de-CH" sz="1000" b="1" noProof="0" dirty="0" smtClean="0">
                          <a:solidFill>
                            <a:schemeClr val="tx1"/>
                          </a:solidFill>
                        </a:rPr>
                        <a:t>POINTS</a:t>
                      </a:r>
                      <a:endParaRPr lang="de-CH" sz="1000" b="1" noProof="0" dirty="0">
                        <a:solidFill>
                          <a:schemeClr val="tx1"/>
                        </a:solidFill>
                      </a:endParaRPr>
                    </a:p>
                  </a:txBody>
                  <a:tcPr marL="0" marR="0" marT="0" marB="0" anchor="ctr">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de-CH" sz="1000" b="1" noProof="0" dirty="0" smtClean="0">
                          <a:solidFill>
                            <a:schemeClr val="tx1"/>
                          </a:solidFill>
                        </a:rPr>
                        <a:t>IN %</a:t>
                      </a:r>
                      <a:endParaRPr lang="de-CH" sz="1000" b="1" noProof="0" dirty="0">
                        <a:solidFill>
                          <a:schemeClr val="tx1"/>
                        </a:solidFill>
                      </a:endParaRPr>
                    </a:p>
                  </a:txBody>
                  <a:tcPr marL="0" marR="0" marT="0" marB="0" anchor="ctr">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89638">
                <a:tc>
                  <a:txBody>
                    <a:bodyPr/>
                    <a:lstStyle/>
                    <a:p>
                      <a:pPr algn="ctr"/>
                      <a:r>
                        <a:rPr lang="de-CH" sz="900" b="1" kern="1200" noProof="0" dirty="0" smtClean="0">
                          <a:solidFill>
                            <a:schemeClr val="tx1"/>
                          </a:solidFill>
                          <a:latin typeface="+mn-lt"/>
                          <a:ea typeface="ＭＳ Ｐゴシック" pitchFamily="34" charset="-128"/>
                          <a:cs typeface="Arial" charset="0"/>
                        </a:rPr>
                        <a:t>1</a:t>
                      </a:r>
                      <a:endParaRPr lang="de-CH" sz="900" b="1" kern="1200" noProof="0" dirty="0">
                        <a:solidFill>
                          <a:schemeClr val="tx1"/>
                        </a:solidFill>
                        <a:latin typeface="+mn-lt"/>
                        <a:ea typeface="ＭＳ Ｐゴシック" pitchFamily="34" charset="-128"/>
                        <a:cs typeface="Arial" charset="0"/>
                      </a:endParaRPr>
                    </a:p>
                  </a:txBody>
                  <a:tcPr marL="36000" marR="36003" marT="0"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lt2"/>
                    </a:solidFill>
                  </a:tcPr>
                </a:tc>
                <a:tc>
                  <a:txBody>
                    <a:bodyPr/>
                    <a:lstStyle/>
                    <a:p>
                      <a:pPr algn="ctr"/>
                      <a:r>
                        <a:rPr lang="de-CH" sz="900" b="1" kern="1200" noProof="0" dirty="0" smtClean="0">
                          <a:solidFill>
                            <a:schemeClr val="tx1"/>
                          </a:solidFill>
                          <a:latin typeface="+mn-lt"/>
                          <a:ea typeface="ＭＳ Ｐゴシック" pitchFamily="34" charset="-128"/>
                          <a:cs typeface="Arial" charset="0"/>
                        </a:rPr>
                        <a:t>1</a:t>
                      </a:r>
                      <a:endParaRPr lang="de-CH" sz="900" b="1" kern="1200" noProof="0" dirty="0">
                        <a:solidFill>
                          <a:schemeClr val="tx1"/>
                        </a:solidFill>
                        <a:latin typeface="+mn-lt"/>
                        <a:ea typeface="ＭＳ Ｐゴシック" pitchFamily="34" charset="-128"/>
                        <a:cs typeface="Arial" charset="0"/>
                      </a:endParaRPr>
                    </a:p>
                  </a:txBody>
                  <a:tcPr marL="36000" marR="36003" marT="0"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lt2"/>
                    </a:solidFill>
                  </a:tcPr>
                </a:tc>
                <a:tc>
                  <a:txBody>
                    <a:bodyPr/>
                    <a:lstStyle/>
                    <a:p>
                      <a:pPr marL="0" indent="0" algn="l" defTabSz="914400" rtl="0" eaLnBrk="1" latinLnBrk="0" hangingPunct="1">
                        <a:spcAft>
                          <a:spcPts val="400"/>
                        </a:spcAft>
                        <a:buClr>
                          <a:schemeClr val="accent1"/>
                        </a:buClr>
                        <a:buFont typeface="Wingdings" pitchFamily="2" charset="2"/>
                        <a:buNone/>
                      </a:pPr>
                      <a:r>
                        <a:rPr lang="de-CH" sz="900" b="1" kern="1200" noProof="0" dirty="0" err="1" smtClean="0">
                          <a:solidFill>
                            <a:schemeClr val="tx1"/>
                          </a:solidFill>
                          <a:latin typeface="+mn-lt"/>
                          <a:ea typeface="ＭＳ Ｐゴシック" pitchFamily="34" charset="-128"/>
                          <a:cs typeface="Arial" charset="0"/>
                        </a:rPr>
                        <a:t>Vontobel</a:t>
                      </a:r>
                      <a:endParaRPr lang="de-CH" sz="1000" b="1" kern="1200" noProof="0" dirty="0">
                        <a:solidFill>
                          <a:schemeClr val="tx1"/>
                        </a:solidFill>
                        <a:latin typeface="+mn-lt"/>
                        <a:ea typeface="ＭＳ Ｐゴシック" pitchFamily="34" charset="-128"/>
                        <a:cs typeface="Arial" charset="0"/>
                      </a:endParaRPr>
                    </a:p>
                  </a:txBody>
                  <a:tcPr marL="116567" marR="38859" marT="0"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lt2"/>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1" kern="1200" dirty="0" smtClean="0">
                          <a:solidFill>
                            <a:schemeClr val="tx1"/>
                          </a:solidFill>
                          <a:latin typeface="+mn-lt"/>
                          <a:ea typeface="ＭＳ Ｐゴシック" pitchFamily="34" charset="-128"/>
                          <a:cs typeface="Arial" charset="0"/>
                        </a:rPr>
                        <a:t>10’769</a:t>
                      </a:r>
                      <a:endParaRPr lang="de-CH" sz="900" b="1" kern="1200" dirty="0">
                        <a:solidFill>
                          <a:schemeClr val="tx1"/>
                        </a:solidFill>
                        <a:latin typeface="+mn-lt"/>
                        <a:ea typeface="ＭＳ Ｐゴシック" pitchFamily="34" charset="-128"/>
                        <a:cs typeface="Arial" charset="0"/>
                      </a:endParaRPr>
                    </a:p>
                  </a:txBody>
                  <a:tcPr marL="44450" marR="44450" marT="0"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lt2"/>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1" kern="1200" noProof="0" dirty="0" smtClean="0">
                          <a:solidFill>
                            <a:schemeClr val="tx1"/>
                          </a:solidFill>
                          <a:latin typeface="+mn-lt"/>
                          <a:ea typeface="ＭＳ Ｐゴシック" pitchFamily="34" charset="-128"/>
                          <a:cs typeface="Arial" charset="0"/>
                        </a:rPr>
                        <a:t>22.2</a:t>
                      </a:r>
                    </a:p>
                  </a:txBody>
                  <a:tcPr marL="43200" marR="43200" marT="0"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lt2"/>
                    </a:solidFill>
                  </a:tcPr>
                </a:tc>
                <a:extLst>
                  <a:ext uri="{0D108BD9-81ED-4DB2-BD59-A6C34878D82A}">
                    <a16:rowId xmlns:a16="http://schemas.microsoft.com/office/drawing/2014/main" val="10001"/>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2</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2</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l"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MainFirst</a:t>
                      </a:r>
                      <a:r>
                        <a:rPr lang="de-CH" sz="900" b="0" kern="1200" noProof="0" dirty="0" smtClean="0">
                          <a:solidFill>
                            <a:schemeClr val="tx1"/>
                          </a:solidFill>
                          <a:latin typeface="+mn-lt"/>
                          <a:ea typeface="ＭＳ Ｐゴシック" pitchFamily="34" charset="-128"/>
                          <a:cs typeface="Arial" charset="0"/>
                        </a:rPr>
                        <a:t> Bank</a:t>
                      </a: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8’189</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16.9</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3</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4</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l"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Kepler </a:t>
                      </a:r>
                      <a:r>
                        <a:rPr lang="de-CH" sz="900" b="0" kern="1200" noProof="0" dirty="0" err="1" smtClean="0">
                          <a:solidFill>
                            <a:schemeClr val="tx1"/>
                          </a:solidFill>
                          <a:latin typeface="+mn-lt"/>
                          <a:ea typeface="ＭＳ Ｐゴシック" pitchFamily="34" charset="-128"/>
                          <a:cs typeface="Arial" charset="0"/>
                        </a:rPr>
                        <a:t>Cheuvreux</a:t>
                      </a:r>
                      <a:endParaRPr lang="de-CH" sz="900" b="0" kern="1200" noProof="0" dirty="0" smtClean="0">
                        <a:solidFill>
                          <a:schemeClr val="tx1"/>
                        </a:solidFill>
                        <a:latin typeface="+mn-lt"/>
                        <a:ea typeface="ＭＳ Ｐゴシック" pitchFamily="34" charset="-128"/>
                        <a:cs typeface="Arial" charset="0"/>
                      </a:endParaRP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6’416</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13.2</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9638">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4</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5</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l"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UBS</a:t>
                      </a: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6’355</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13.1</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89638">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5</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ctr"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2</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l"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Baader / </a:t>
                      </a:r>
                      <a:r>
                        <a:rPr lang="de-CH" sz="900" b="0" kern="1200" noProof="0" dirty="0" err="1" smtClean="0">
                          <a:solidFill>
                            <a:schemeClr val="tx1"/>
                          </a:solidFill>
                          <a:latin typeface="+mn-lt"/>
                          <a:ea typeface="ＭＳ Ｐゴシック" pitchFamily="34" charset="-128"/>
                          <a:cs typeface="Arial" charset="0"/>
                        </a:rPr>
                        <a:t>Helvea</a:t>
                      </a:r>
                      <a:endParaRPr lang="de-CH" sz="900" b="0" kern="1200" noProof="0" dirty="0" smtClean="0">
                        <a:solidFill>
                          <a:schemeClr val="tx1"/>
                        </a:solidFill>
                        <a:latin typeface="+mn-lt"/>
                        <a:ea typeface="ＭＳ Ｐゴシック" pitchFamily="34" charset="-128"/>
                        <a:cs typeface="Arial" charset="0"/>
                      </a:endParaRP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5’741</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11.8</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6</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6</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l"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Credit</a:t>
                      </a:r>
                      <a:r>
                        <a:rPr lang="de-CH" sz="900" b="0" kern="1200" noProof="0" dirty="0" smtClean="0">
                          <a:solidFill>
                            <a:schemeClr val="tx1"/>
                          </a:solidFill>
                          <a:latin typeface="+mn-lt"/>
                          <a:ea typeface="ＭＳ Ｐゴシック" pitchFamily="34" charset="-128"/>
                          <a:cs typeface="Arial" charset="0"/>
                        </a:rPr>
                        <a:t> Suisse</a:t>
                      </a: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3’567</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7.4</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7</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8</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l"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Zürcher Kantonalbank</a:t>
                      </a: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2’515</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5.2</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8</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10</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indent="0" algn="l" defTabSz="914400" rtl="0" eaLnBrk="1" fontAlgn="auto" latinLnBrk="0" hangingPunct="1">
                        <a:lnSpc>
                          <a:spcPct val="100000"/>
                        </a:lnSpc>
                        <a:spcBef>
                          <a:spcPts val="0"/>
                        </a:spcBef>
                        <a:spcAft>
                          <a:spcPts val="400"/>
                        </a:spcAft>
                        <a:buClr>
                          <a:schemeClr val="accent1"/>
                        </a:buClr>
                        <a:buSzTx/>
                        <a:buFont typeface="Wingdings" pitchFamily="2" charset="2"/>
                        <a:buNone/>
                        <a:tabLst/>
                        <a:defRPr/>
                      </a:pPr>
                      <a:r>
                        <a:rPr lang="de-CH" sz="900" b="0" kern="1200" noProof="0" dirty="0" err="1" smtClean="0">
                          <a:solidFill>
                            <a:schemeClr val="tx1"/>
                          </a:solidFill>
                          <a:latin typeface="+mn-lt"/>
                          <a:ea typeface="ＭＳ Ｐゴシック" pitchFamily="34" charset="-128"/>
                          <a:cs typeface="Arial" charset="0"/>
                        </a:rPr>
                        <a:t>Exane</a:t>
                      </a:r>
                      <a:r>
                        <a:rPr lang="de-CH" sz="900" b="0" kern="1200" noProof="0" dirty="0" smtClean="0">
                          <a:solidFill>
                            <a:schemeClr val="tx1"/>
                          </a:solidFill>
                          <a:latin typeface="+mn-lt"/>
                          <a:ea typeface="ＭＳ Ｐゴシック" pitchFamily="34" charset="-128"/>
                          <a:cs typeface="Arial" charset="0"/>
                        </a:rPr>
                        <a:t> BNP Paribas</a:t>
                      </a: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982</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2.0</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9</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11</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indent="0" algn="l" defTabSz="914400" rtl="0" eaLnBrk="1" fontAlgn="auto" latinLnBrk="0" hangingPunct="1">
                        <a:lnSpc>
                          <a:spcPct val="100000"/>
                        </a:lnSpc>
                        <a:spcBef>
                          <a:spcPts val="0"/>
                        </a:spcBef>
                        <a:spcAft>
                          <a:spcPts val="400"/>
                        </a:spcAft>
                        <a:buClr>
                          <a:schemeClr val="accent1"/>
                        </a:buClr>
                        <a:buSzTx/>
                        <a:buFont typeface="Wingdings" pitchFamily="2" charset="2"/>
                        <a:buNone/>
                        <a:tabLst/>
                        <a:defRPr/>
                      </a:pPr>
                      <a:r>
                        <a:rPr lang="de-CH" sz="900" b="0" kern="1200" noProof="0" dirty="0" err="1" smtClean="0">
                          <a:solidFill>
                            <a:schemeClr val="tx1"/>
                          </a:solidFill>
                          <a:latin typeface="+mn-lt"/>
                          <a:ea typeface="ＭＳ Ｐゴシック" pitchFamily="34" charset="-128"/>
                          <a:cs typeface="Arial" charset="0"/>
                        </a:rPr>
                        <a:t>Mirabaud</a:t>
                      </a:r>
                      <a:r>
                        <a:rPr lang="de-CH" sz="900" b="0" kern="1200" noProof="0" dirty="0" smtClean="0">
                          <a:solidFill>
                            <a:schemeClr val="tx1"/>
                          </a:solidFill>
                          <a:latin typeface="+mn-lt"/>
                          <a:ea typeface="ＭＳ Ｐゴシック" pitchFamily="34" charset="-128"/>
                          <a:cs typeface="Arial" charset="0"/>
                        </a:rPr>
                        <a:t> Securities</a:t>
                      </a: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596</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1.2</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10</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9</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indent="0" algn="l" defTabSz="914400" rtl="0" eaLnBrk="1" fontAlgn="auto" latinLnBrk="0" hangingPunct="1">
                        <a:lnSpc>
                          <a:spcPct val="100000"/>
                        </a:lnSpc>
                        <a:spcBef>
                          <a:spcPts val="0"/>
                        </a:spcBef>
                        <a:spcAft>
                          <a:spcPts val="400"/>
                        </a:spcAft>
                        <a:buClr>
                          <a:schemeClr val="accent1"/>
                        </a:buClr>
                        <a:buSzTx/>
                        <a:buFont typeface="Wingdings" pitchFamily="2" charset="2"/>
                        <a:buNone/>
                        <a:tabLst/>
                        <a:defRPr/>
                      </a:pPr>
                      <a:r>
                        <a:rPr lang="de-CH" sz="900" b="0" kern="1200" noProof="0" dirty="0" err="1" smtClean="0">
                          <a:solidFill>
                            <a:schemeClr val="tx1"/>
                          </a:solidFill>
                          <a:latin typeface="+mn-lt"/>
                          <a:ea typeface="ＭＳ Ｐゴシック" pitchFamily="34" charset="-128"/>
                          <a:cs typeface="Arial" charset="0"/>
                        </a:rPr>
                        <a:t>Berenberg</a:t>
                      </a:r>
                      <a:endParaRPr lang="de-CH" sz="900" b="0" kern="1200" noProof="0" dirty="0" smtClean="0">
                        <a:solidFill>
                          <a:schemeClr val="tx1"/>
                        </a:solidFill>
                        <a:latin typeface="+mn-lt"/>
                        <a:ea typeface="ＭＳ Ｐゴシック" pitchFamily="34" charset="-128"/>
                        <a:cs typeface="Arial" charset="0"/>
                      </a:endParaRP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523</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1.1</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11</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12</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indent="0" algn="l" defTabSz="914400" rtl="0" eaLnBrk="1" fontAlgn="auto" latinLnBrk="0" hangingPunct="1">
                        <a:lnSpc>
                          <a:spcPct val="100000"/>
                        </a:lnSpc>
                        <a:spcBef>
                          <a:spcPts val="0"/>
                        </a:spcBef>
                        <a:spcAft>
                          <a:spcPts val="400"/>
                        </a:spcAft>
                        <a:buClr>
                          <a:schemeClr val="accent1"/>
                        </a:buClr>
                        <a:buSzTx/>
                        <a:buFont typeface="Wingdings" pitchFamily="2" charset="2"/>
                        <a:buNone/>
                        <a:tabLst/>
                        <a:defRPr/>
                      </a:pPr>
                      <a:r>
                        <a:rPr lang="de-CH" sz="900" b="0" kern="1200" noProof="0" dirty="0" smtClean="0">
                          <a:solidFill>
                            <a:schemeClr val="tx1"/>
                          </a:solidFill>
                          <a:latin typeface="+mn-lt"/>
                          <a:ea typeface="ＭＳ Ｐゴシック" pitchFamily="34" charset="-128"/>
                          <a:cs typeface="Arial" charset="0"/>
                        </a:rPr>
                        <a:t>Goldman Sachs</a:t>
                      </a: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365</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0.8</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12</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n/a</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indent="0" algn="l" defTabSz="914400" rtl="0" eaLnBrk="1" fontAlgn="auto" latinLnBrk="0" hangingPunct="1">
                        <a:lnSpc>
                          <a:spcPct val="100000"/>
                        </a:lnSpc>
                        <a:spcBef>
                          <a:spcPts val="0"/>
                        </a:spcBef>
                        <a:spcAft>
                          <a:spcPts val="400"/>
                        </a:spcAft>
                        <a:buClr>
                          <a:schemeClr val="accent1"/>
                        </a:buClr>
                        <a:buSzTx/>
                        <a:buFont typeface="Wingdings" pitchFamily="2" charset="2"/>
                        <a:buNone/>
                        <a:tabLst/>
                        <a:defRPr/>
                      </a:pPr>
                      <a:r>
                        <a:rPr lang="de-CH" sz="900" b="0" kern="1200" noProof="0" dirty="0" smtClean="0">
                          <a:solidFill>
                            <a:schemeClr val="tx1"/>
                          </a:solidFill>
                          <a:latin typeface="+mn-lt"/>
                          <a:ea typeface="ＭＳ Ｐゴシック" pitchFamily="34" charset="-128"/>
                          <a:cs typeface="Arial" charset="0"/>
                        </a:rPr>
                        <a:t>Morgan</a:t>
                      </a:r>
                      <a:r>
                        <a:rPr lang="de-CH" sz="900" b="0" kern="1200" baseline="0" noProof="0" dirty="0" smtClean="0">
                          <a:solidFill>
                            <a:schemeClr val="tx1"/>
                          </a:solidFill>
                          <a:latin typeface="+mn-lt"/>
                          <a:ea typeface="ＭＳ Ｐゴシック" pitchFamily="34" charset="-128"/>
                          <a:cs typeface="Arial" charset="0"/>
                        </a:rPr>
                        <a:t> Stanley</a:t>
                      </a:r>
                      <a:endParaRPr lang="de-CH" sz="900" b="0" kern="1200" noProof="0" dirty="0" smtClean="0">
                        <a:solidFill>
                          <a:schemeClr val="tx1"/>
                        </a:solidFill>
                        <a:latin typeface="+mn-lt"/>
                        <a:ea typeface="ＭＳ Ｐゴシック" pitchFamily="34" charset="-128"/>
                        <a:cs typeface="Arial" charset="0"/>
                      </a:endParaRP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356</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0.7</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13</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n/a</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l" defTabSz="914400" rtl="0" eaLnBrk="1" latinLnBrk="0" hangingPunct="1">
                        <a:spcAft>
                          <a:spcPts val="400"/>
                        </a:spcAft>
                        <a:buClr>
                          <a:schemeClr val="accent1"/>
                        </a:buClr>
                        <a:buFont typeface="Wingdings" pitchFamily="2" charset="2"/>
                        <a:buNone/>
                      </a:pPr>
                      <a:r>
                        <a:rPr lang="de-CH" sz="900" b="0" kern="1200" noProof="0" dirty="0" err="1" smtClean="0">
                          <a:solidFill>
                            <a:schemeClr val="tx1"/>
                          </a:solidFill>
                          <a:latin typeface="+mn-lt"/>
                          <a:ea typeface="ＭＳ Ｐゴシック" pitchFamily="34" charset="-128"/>
                          <a:cs typeface="Arial" charset="0"/>
                        </a:rPr>
                        <a:t>Oddo</a:t>
                      </a:r>
                      <a:r>
                        <a:rPr lang="de-CH" sz="900" b="0" kern="1200" noProof="0" dirty="0" smtClean="0">
                          <a:solidFill>
                            <a:schemeClr val="tx1"/>
                          </a:solidFill>
                          <a:latin typeface="+mn-lt"/>
                          <a:ea typeface="ＭＳ Ｐゴシック" pitchFamily="34" charset="-128"/>
                          <a:cs typeface="Arial" charset="0"/>
                        </a:rPr>
                        <a:t> BHF / </a:t>
                      </a:r>
                      <a:r>
                        <a:rPr lang="de-CH" sz="900" b="0" kern="1200" noProof="0" dirty="0" err="1" smtClean="0">
                          <a:solidFill>
                            <a:schemeClr val="tx1"/>
                          </a:solidFill>
                          <a:latin typeface="+mn-lt"/>
                          <a:ea typeface="ＭＳ Ｐゴシック" pitchFamily="34" charset="-128"/>
                          <a:cs typeface="Arial" charset="0"/>
                        </a:rPr>
                        <a:t>Natixis</a:t>
                      </a:r>
                      <a:endParaRPr lang="de-CH" sz="900" b="0" kern="1200" noProof="0" dirty="0" smtClean="0">
                        <a:solidFill>
                          <a:schemeClr val="tx1"/>
                        </a:solidFill>
                        <a:latin typeface="+mn-lt"/>
                        <a:ea typeface="ＭＳ Ｐゴシック" pitchFamily="34" charset="-128"/>
                        <a:cs typeface="Arial" charset="0"/>
                      </a:endParaRP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350</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0.7</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14</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14</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l" defTabSz="914400" rtl="0" eaLnBrk="1" latinLnBrk="0" hangingPunct="1">
                        <a:spcAft>
                          <a:spcPts val="400"/>
                        </a:spcAft>
                        <a:buClr>
                          <a:schemeClr val="accent1"/>
                        </a:buClr>
                        <a:buFont typeface="Wingdings" pitchFamily="2" charset="2"/>
                        <a:buNone/>
                      </a:pPr>
                      <a:r>
                        <a:rPr lang="de-CH" sz="900" b="0" kern="1200" noProof="0" dirty="0" smtClean="0">
                          <a:solidFill>
                            <a:schemeClr val="tx1"/>
                          </a:solidFill>
                          <a:latin typeface="+mn-lt"/>
                          <a:ea typeface="ＭＳ Ｐゴシック" pitchFamily="34" charset="-128"/>
                          <a:cs typeface="Arial" charset="0"/>
                        </a:rPr>
                        <a:t>Bank </a:t>
                      </a:r>
                      <a:r>
                        <a:rPr lang="de-CH" sz="900" b="0" kern="1200" noProof="0" dirty="0" err="1" smtClean="0">
                          <a:solidFill>
                            <a:schemeClr val="tx1"/>
                          </a:solidFill>
                          <a:latin typeface="+mn-lt"/>
                          <a:ea typeface="ＭＳ Ｐゴシック" pitchFamily="34" charset="-128"/>
                          <a:cs typeface="Arial" charset="0"/>
                        </a:rPr>
                        <a:t>of</a:t>
                      </a:r>
                      <a:r>
                        <a:rPr lang="de-CH" sz="900" b="0" kern="1200" noProof="0" dirty="0" smtClean="0">
                          <a:solidFill>
                            <a:schemeClr val="tx1"/>
                          </a:solidFill>
                          <a:latin typeface="+mn-lt"/>
                          <a:ea typeface="ＭＳ Ｐゴシック" pitchFamily="34" charset="-128"/>
                          <a:cs typeface="Arial" charset="0"/>
                        </a:rPr>
                        <a:t> </a:t>
                      </a:r>
                      <a:r>
                        <a:rPr lang="de-CH" sz="900" b="0" kern="1200" noProof="0" dirty="0" err="1" smtClean="0">
                          <a:solidFill>
                            <a:schemeClr val="tx1"/>
                          </a:solidFill>
                          <a:latin typeface="+mn-lt"/>
                          <a:ea typeface="ＭＳ Ｐゴシック" pitchFamily="34" charset="-128"/>
                          <a:cs typeface="Arial" charset="0"/>
                        </a:rPr>
                        <a:t>America</a:t>
                      </a:r>
                      <a:r>
                        <a:rPr lang="de-CH" sz="900" b="0" kern="1200" noProof="0" dirty="0" smtClean="0">
                          <a:solidFill>
                            <a:schemeClr val="tx1"/>
                          </a:solidFill>
                          <a:latin typeface="+mn-lt"/>
                          <a:ea typeface="ＭＳ Ｐゴシック" pitchFamily="34" charset="-128"/>
                          <a:cs typeface="Arial" charset="0"/>
                        </a:rPr>
                        <a:t> Merrill Lynch</a:t>
                      </a: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332</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0.7</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189638">
                <a:tc>
                  <a:txBody>
                    <a:bodyPr/>
                    <a:lstStyle/>
                    <a:p>
                      <a:pPr algn="ctr"/>
                      <a:r>
                        <a:rPr lang="de-CH" sz="900" b="0" kern="1200" noProof="0" dirty="0" smtClean="0">
                          <a:solidFill>
                            <a:schemeClr val="tx1"/>
                          </a:solidFill>
                          <a:latin typeface="+mn-lt"/>
                          <a:ea typeface="ＭＳ Ｐゴシック" pitchFamily="34" charset="-128"/>
                          <a:cs typeface="Arial" charset="0"/>
                        </a:rPr>
                        <a:t>15</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de-CH" sz="900" b="0" kern="1200" noProof="0" dirty="0" smtClean="0">
                          <a:solidFill>
                            <a:schemeClr val="tx1"/>
                          </a:solidFill>
                          <a:latin typeface="+mn-lt"/>
                          <a:ea typeface="ＭＳ Ｐゴシック" pitchFamily="34" charset="-128"/>
                          <a:cs typeface="Arial" charset="0"/>
                        </a:rPr>
                        <a:t>n/a</a:t>
                      </a:r>
                      <a:endParaRPr lang="de-CH" sz="900" b="0" kern="1200" noProof="0" dirty="0">
                        <a:solidFill>
                          <a:schemeClr val="tx1"/>
                        </a:solidFill>
                        <a:latin typeface="+mn-lt"/>
                        <a:ea typeface="ＭＳ Ｐゴシック" pitchFamily="34" charset="-128"/>
                        <a:cs typeface="Arial" charset="0"/>
                      </a:endParaRPr>
                    </a:p>
                  </a:txBody>
                  <a:tcPr marL="36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indent="0" algn="l" defTabSz="914400" rtl="0" eaLnBrk="1" fontAlgn="auto" latinLnBrk="0" hangingPunct="1">
                        <a:lnSpc>
                          <a:spcPct val="100000"/>
                        </a:lnSpc>
                        <a:spcBef>
                          <a:spcPts val="0"/>
                        </a:spcBef>
                        <a:spcAft>
                          <a:spcPts val="400"/>
                        </a:spcAft>
                        <a:buClr>
                          <a:schemeClr val="accent1"/>
                        </a:buClr>
                        <a:buSzTx/>
                        <a:buFont typeface="Wingdings" pitchFamily="2" charset="2"/>
                        <a:buNone/>
                        <a:tabLst/>
                        <a:defRPr/>
                      </a:pPr>
                      <a:r>
                        <a:rPr lang="de-CH" sz="900" b="0" kern="1200" noProof="0" dirty="0" err="1" smtClean="0">
                          <a:solidFill>
                            <a:schemeClr val="tx1"/>
                          </a:solidFill>
                          <a:latin typeface="+mn-lt"/>
                          <a:ea typeface="ＭＳ Ｐゴシック" pitchFamily="34" charset="-128"/>
                          <a:cs typeface="Arial" charset="0"/>
                        </a:rPr>
                        <a:t>Citi</a:t>
                      </a:r>
                      <a:endParaRPr lang="de-CH" sz="900" b="0" kern="1200" noProof="0" dirty="0" smtClean="0">
                        <a:solidFill>
                          <a:schemeClr val="tx1"/>
                        </a:solidFill>
                        <a:latin typeface="+mn-lt"/>
                        <a:ea typeface="ＭＳ Ｐゴシック" pitchFamily="34" charset="-128"/>
                        <a:cs typeface="Arial" charset="0"/>
                      </a:endParaRPr>
                    </a:p>
                  </a:txBody>
                  <a:tcPr marL="108000" marR="36003"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321</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indent="0" algn="r" defTabSz="914400" rtl="0" eaLnBrk="1" latinLnBrk="0" hangingPunct="1">
                        <a:spcAft>
                          <a:spcPts val="400"/>
                        </a:spcAft>
                        <a:buClr>
                          <a:schemeClr val="accent1"/>
                        </a:buClr>
                        <a:buFont typeface="Wingdings" pitchFamily="2" charset="2"/>
                        <a:buNone/>
                      </a:pPr>
                      <a:r>
                        <a:rPr lang="de-CH" sz="900" b="0" kern="1200" dirty="0" smtClean="0">
                          <a:solidFill>
                            <a:schemeClr val="tx1"/>
                          </a:solidFill>
                          <a:latin typeface="+mn-lt"/>
                          <a:ea typeface="ＭＳ Ｐゴシック" pitchFamily="34" charset="-128"/>
                          <a:cs typeface="Arial" charset="0"/>
                        </a:rPr>
                        <a:t>0.7</a:t>
                      </a:r>
                      <a:endParaRPr lang="de-CH" sz="900" b="0" kern="1200" dirty="0">
                        <a:solidFill>
                          <a:schemeClr val="tx1"/>
                        </a:solidFill>
                        <a:latin typeface="+mn-lt"/>
                        <a:ea typeface="ＭＳ Ｐゴシック" pitchFamily="34" charset="-128"/>
                        <a:cs typeface="Arial" charset="0"/>
                      </a:endParaRPr>
                    </a:p>
                  </a:txBody>
                  <a:tcPr marL="44450" marR="44450" marT="0" marB="0"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2" name="TextBox 1"/>
          <p:cNvSpPr txBox="1"/>
          <p:nvPr>
            <p:custDataLst>
              <p:tags r:id="rId1"/>
            </p:custDataLst>
          </p:nvPr>
        </p:nvSpPr>
        <p:spPr bwMode="gray">
          <a:xfrm>
            <a:off x="449263" y="7185117"/>
            <a:ext cx="7272905" cy="1231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eaLnBrk="0" hangingPunct="0">
              <a:buClr>
                <a:schemeClr val="tx1"/>
              </a:buClr>
            </a:pPr>
            <a:r>
              <a:rPr lang="de-CH" sz="800" dirty="0" smtClean="0"/>
              <a:t>Source: </a:t>
            </a:r>
            <a:r>
              <a:rPr lang="de-CH" sz="800" dirty="0" err="1" smtClean="0"/>
              <a:t>Extel</a:t>
            </a:r>
            <a:r>
              <a:rPr lang="de-CH" sz="800" dirty="0" smtClean="0"/>
              <a:t> Survey</a:t>
            </a:r>
            <a:endParaRPr lang="de-CH" sz="800" dirty="0"/>
          </a:p>
        </p:txBody>
      </p:sp>
      <p:grpSp>
        <p:nvGrpSpPr>
          <p:cNvPr id="6" name="Group 5"/>
          <p:cNvGrpSpPr/>
          <p:nvPr/>
        </p:nvGrpSpPr>
        <p:grpSpPr>
          <a:xfrm>
            <a:off x="449358" y="3995861"/>
            <a:ext cx="2376000" cy="720080"/>
            <a:chOff x="449358" y="1475581"/>
            <a:chExt cx="2376000" cy="720080"/>
          </a:xfrm>
        </p:grpSpPr>
        <p:sp>
          <p:nvSpPr>
            <p:cNvPr id="43" name="Rectangle 21"/>
            <p:cNvSpPr>
              <a:spLocks noChangeArrowheads="1"/>
            </p:cNvSpPr>
            <p:nvPr/>
          </p:nvSpPr>
          <p:spPr bwMode="auto">
            <a:xfrm>
              <a:off x="449358" y="1475581"/>
              <a:ext cx="2376000" cy="72008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9050" algn="ctr">
                  <a:solidFill>
                    <a:srgbClr val="969696"/>
                  </a:solidFill>
                  <a:miter lim="800000"/>
                  <a:headEnd/>
                  <a:tailEnd/>
                </a14:hiddenLine>
              </a:ext>
              <a:ext uri="{AF507438-7753-43E0-B8FC-AC1667EBCBE1}">
                <a14:hiddenEffects xmlns:a14="http://schemas.microsoft.com/office/drawing/2010/main">
                  <a:effectLst>
                    <a:outerShdw dist="17961" dir="2700000" algn="ctr" rotWithShape="0">
                      <a:srgbClr val="999999"/>
                    </a:outerShdw>
                  </a:effectLst>
                </a14:hiddenEffects>
              </a:ext>
            </a:extLst>
          </p:spPr>
          <p:txBody>
            <a:bodyPr lIns="432000" tIns="0" rIns="36000" bIns="0"/>
            <a:lstStyle>
              <a:lvl1pPr marL="327025" indent="-327025" algn="l" defTabSz="871538">
                <a:tabLst>
                  <a:tab pos="361950" algn="l"/>
                </a:tabLst>
                <a:defRPr>
                  <a:solidFill>
                    <a:schemeClr val="tx1"/>
                  </a:solidFill>
                  <a:latin typeface="ITC Officina Sans Book" pitchFamily="34" charset="0"/>
                </a:defRPr>
              </a:lvl1pPr>
              <a:lvl2pPr marL="708025" indent="-273050" algn="l" defTabSz="871538">
                <a:tabLst>
                  <a:tab pos="361950" algn="l"/>
                </a:tabLst>
                <a:defRPr>
                  <a:solidFill>
                    <a:schemeClr val="tx1"/>
                  </a:solidFill>
                  <a:latin typeface="ITC Officina Sans Book" pitchFamily="34" charset="0"/>
                </a:defRPr>
              </a:lvl2pPr>
              <a:lvl3pPr marL="217488" indent="-214313" algn="l" defTabSz="871538">
                <a:tabLst>
                  <a:tab pos="361950" algn="l"/>
                </a:tabLst>
                <a:defRPr>
                  <a:solidFill>
                    <a:schemeClr val="tx1"/>
                  </a:solidFill>
                  <a:latin typeface="ITC Officina Sans Book" pitchFamily="34" charset="0"/>
                </a:defRPr>
              </a:lvl3pPr>
              <a:lvl4pPr marL="1524000" indent="-217488" algn="l" defTabSz="871538">
                <a:tabLst>
                  <a:tab pos="361950" algn="l"/>
                </a:tabLst>
                <a:defRPr>
                  <a:solidFill>
                    <a:schemeClr val="tx1"/>
                  </a:solidFill>
                  <a:latin typeface="ITC Officina Sans Book" pitchFamily="34" charset="0"/>
                </a:defRPr>
              </a:lvl4pPr>
              <a:lvl5pPr marL="1958975" indent="-217488" algn="l" defTabSz="871538">
                <a:tabLst>
                  <a:tab pos="361950" algn="l"/>
                </a:tabLst>
                <a:defRPr>
                  <a:solidFill>
                    <a:schemeClr val="tx1"/>
                  </a:solidFill>
                  <a:latin typeface="ITC Officina Sans Book" pitchFamily="34" charset="0"/>
                </a:defRPr>
              </a:lvl5pPr>
              <a:lvl6pPr marL="2416175" indent="-217488" defTabSz="871538" fontAlgn="base">
                <a:spcBef>
                  <a:spcPct val="0"/>
                </a:spcBef>
                <a:spcAft>
                  <a:spcPct val="0"/>
                </a:spcAft>
                <a:tabLst>
                  <a:tab pos="361950" algn="l"/>
                </a:tabLst>
                <a:defRPr>
                  <a:solidFill>
                    <a:schemeClr val="tx1"/>
                  </a:solidFill>
                  <a:latin typeface="ITC Officina Sans Book" pitchFamily="34" charset="0"/>
                </a:defRPr>
              </a:lvl6pPr>
              <a:lvl7pPr marL="2873375" indent="-217488" defTabSz="871538" fontAlgn="base">
                <a:spcBef>
                  <a:spcPct val="0"/>
                </a:spcBef>
                <a:spcAft>
                  <a:spcPct val="0"/>
                </a:spcAft>
                <a:tabLst>
                  <a:tab pos="361950" algn="l"/>
                </a:tabLst>
                <a:defRPr>
                  <a:solidFill>
                    <a:schemeClr val="tx1"/>
                  </a:solidFill>
                  <a:latin typeface="ITC Officina Sans Book" pitchFamily="34" charset="0"/>
                </a:defRPr>
              </a:lvl7pPr>
              <a:lvl8pPr marL="3330575" indent="-217488" defTabSz="871538" fontAlgn="base">
                <a:spcBef>
                  <a:spcPct val="0"/>
                </a:spcBef>
                <a:spcAft>
                  <a:spcPct val="0"/>
                </a:spcAft>
                <a:tabLst>
                  <a:tab pos="361950" algn="l"/>
                </a:tabLst>
                <a:defRPr>
                  <a:solidFill>
                    <a:schemeClr val="tx1"/>
                  </a:solidFill>
                  <a:latin typeface="ITC Officina Sans Book" pitchFamily="34" charset="0"/>
                </a:defRPr>
              </a:lvl8pPr>
              <a:lvl9pPr marL="3787775" indent="-217488" defTabSz="871538" fontAlgn="base">
                <a:spcBef>
                  <a:spcPct val="0"/>
                </a:spcBef>
                <a:spcAft>
                  <a:spcPct val="0"/>
                </a:spcAft>
                <a:tabLst>
                  <a:tab pos="361950" algn="l"/>
                </a:tabLst>
                <a:defRPr>
                  <a:solidFill>
                    <a:schemeClr val="tx1"/>
                  </a:solidFill>
                  <a:latin typeface="ITC Officina Sans Book" pitchFamily="34" charset="0"/>
                </a:defRPr>
              </a:lvl9pPr>
            </a:lstStyle>
            <a:p>
              <a:pPr marL="3175" lvl="2" indent="0">
                <a:spcBef>
                  <a:spcPct val="15000"/>
                </a:spcBef>
                <a:buSzPct val="110000"/>
              </a:pPr>
              <a:r>
                <a:rPr lang="de-CH" altLang="ja-JP" sz="1187" b="1" dirty="0" err="1" smtClean="0">
                  <a:latin typeface="Arial" panose="020B0604020202020204" pitchFamily="34" charset="0"/>
                </a:rPr>
                <a:t>Vontobel</a:t>
              </a:r>
              <a:r>
                <a:rPr lang="de-CH" altLang="ja-JP" sz="1187" b="1" dirty="0" smtClean="0">
                  <a:latin typeface="Arial" panose="020B0604020202020204" pitchFamily="34" charset="0"/>
                </a:rPr>
                <a:t> </a:t>
              </a:r>
              <a:r>
                <a:rPr lang="de-CH" altLang="ja-JP" sz="1187" b="1" dirty="0" err="1" smtClean="0">
                  <a:latin typeface="Arial" panose="020B0604020202020204" pitchFamily="34" charset="0"/>
                </a:rPr>
                <a:t>again</a:t>
              </a:r>
              <a:r>
                <a:rPr lang="de-CH" altLang="ja-JP" sz="1187" b="1" dirty="0" smtClean="0">
                  <a:latin typeface="Arial" panose="020B0604020202020204" pitchFamily="34" charset="0"/>
                </a:rPr>
                <a:t> </a:t>
              </a:r>
              <a:r>
                <a:rPr lang="de-CH" altLang="ja-JP" sz="1187" b="1" dirty="0" err="1" smtClean="0">
                  <a:latin typeface="Arial" panose="020B0604020202020204" pitchFamily="34" charset="0"/>
                </a:rPr>
                <a:t>ranked</a:t>
              </a:r>
              <a:r>
                <a:rPr lang="de-CH" altLang="ja-JP" sz="1187" b="1" dirty="0" smtClean="0">
                  <a:latin typeface="Arial" panose="020B0604020202020204" pitchFamily="34" charset="0"/>
                </a:rPr>
                <a:t> #1 </a:t>
              </a:r>
              <a:r>
                <a:rPr lang="de-CH" altLang="ja-JP" sz="1187" b="1" dirty="0" err="1" smtClean="0">
                  <a:latin typeface="Arial" panose="020B0604020202020204" pitchFamily="34" charset="0"/>
                </a:rPr>
                <a:t>brokerage</a:t>
              </a:r>
              <a:r>
                <a:rPr lang="de-CH" altLang="ja-JP" sz="1187" b="1" dirty="0" smtClean="0">
                  <a:latin typeface="Arial" panose="020B0604020202020204" pitchFamily="34" charset="0"/>
                </a:rPr>
                <a:t> firm</a:t>
              </a:r>
              <a:r>
                <a:rPr lang="de-CH" altLang="ja-JP" sz="1187" dirty="0" smtClean="0">
                  <a:latin typeface="Arial" panose="020B0604020202020204" pitchFamily="34" charset="0"/>
                </a:rPr>
                <a:t> </a:t>
              </a:r>
              <a:r>
                <a:rPr lang="de-CH" altLang="ja-JP" sz="1187" dirty="0" err="1" smtClean="0">
                  <a:latin typeface="Arial" panose="020B0604020202020204" pitchFamily="34" charset="0"/>
                </a:rPr>
                <a:t>for</a:t>
              </a:r>
              <a:r>
                <a:rPr lang="de-CH" altLang="ja-JP" sz="1187" dirty="0" smtClean="0">
                  <a:latin typeface="Arial" panose="020B0604020202020204" pitchFamily="34" charset="0"/>
                </a:rPr>
                <a:t> Swiss </a:t>
              </a:r>
              <a:r>
                <a:rPr lang="de-CH" altLang="ja-JP" sz="1187" dirty="0" err="1" smtClean="0">
                  <a:latin typeface="Arial" panose="020B0604020202020204" pitchFamily="34" charset="0"/>
                </a:rPr>
                <a:t>equities</a:t>
              </a:r>
              <a:r>
                <a:rPr lang="de-CH" altLang="ja-JP" sz="1187" dirty="0" smtClean="0">
                  <a:latin typeface="Arial" panose="020B0604020202020204" pitchFamily="34" charset="0"/>
                </a:rPr>
                <a:t> </a:t>
              </a:r>
              <a:r>
                <a:rPr lang="de-CH" altLang="ja-JP" sz="1187" dirty="0" err="1" smtClean="0">
                  <a:latin typeface="Arial" panose="020B0604020202020204" pitchFamily="34" charset="0"/>
                </a:rPr>
                <a:t>by</a:t>
              </a:r>
              <a:r>
                <a:rPr lang="de-CH" altLang="ja-JP" sz="1187" dirty="0" smtClean="0">
                  <a:latin typeface="Arial" panose="020B0604020202020204" pitchFamily="34" charset="0"/>
                </a:rPr>
                <a:t> </a:t>
              </a:r>
              <a:r>
                <a:rPr lang="de-CH" altLang="ja-JP" sz="1187" dirty="0" err="1" smtClean="0">
                  <a:latin typeface="Arial" panose="020B0604020202020204" pitchFamily="34" charset="0"/>
                </a:rPr>
                <a:t>Extel</a:t>
              </a:r>
              <a:r>
                <a:rPr lang="de-CH" altLang="ja-JP" sz="1187" dirty="0" smtClean="0">
                  <a:latin typeface="Arial" panose="020B0604020202020204" pitchFamily="34" charset="0"/>
                </a:rPr>
                <a:t> Survey in 2018</a:t>
              </a:r>
              <a:endParaRPr lang="de-CH" altLang="ja-JP" sz="1187" dirty="0">
                <a:latin typeface="Arial" panose="020B0604020202020204" pitchFamily="34" charset="0"/>
              </a:endParaRPr>
            </a:p>
          </p:txBody>
        </p:sp>
        <p:pic>
          <p:nvPicPr>
            <p:cNvPr id="3" name="Picture 2"/>
            <p:cNvPicPr>
              <a:picLocks noChangeAspect="1"/>
            </p:cNvPicPr>
            <p:nvPr>
              <p:custDataLst>
                <p:tags r:id="rId6"/>
              </p:custDataLst>
            </p:nvPr>
          </p:nvPicPr>
          <p:blipFill>
            <a:blip r:embed="rId8">
              <a:extLst>
                <a:ext uri="{28A0092B-C50C-407E-A947-70E740481C1C}">
                  <a14:useLocalDpi xmlns:a14="http://schemas.microsoft.com/office/drawing/2010/main" val="0"/>
                </a:ext>
              </a:extLst>
            </a:blip>
            <a:stretch>
              <a:fillRect/>
            </a:stretch>
          </p:blipFill>
          <p:spPr>
            <a:xfrm>
              <a:off x="449362" y="1475581"/>
              <a:ext cx="360000" cy="360000"/>
            </a:xfrm>
            <a:prstGeom prst="rect">
              <a:avLst/>
            </a:prstGeom>
          </p:spPr>
        </p:pic>
      </p:grpSp>
      <p:grpSp>
        <p:nvGrpSpPr>
          <p:cNvPr id="12" name="Group 11"/>
          <p:cNvGrpSpPr/>
          <p:nvPr/>
        </p:nvGrpSpPr>
        <p:grpSpPr>
          <a:xfrm>
            <a:off x="449357" y="4932005"/>
            <a:ext cx="2376000" cy="432048"/>
            <a:chOff x="449357" y="2411725"/>
            <a:chExt cx="2376000" cy="432048"/>
          </a:xfrm>
        </p:grpSpPr>
        <p:sp>
          <p:nvSpPr>
            <p:cNvPr id="9" name="Rectangle 21"/>
            <p:cNvSpPr>
              <a:spLocks noChangeArrowheads="1"/>
            </p:cNvSpPr>
            <p:nvPr/>
          </p:nvSpPr>
          <p:spPr bwMode="auto">
            <a:xfrm>
              <a:off x="449357" y="2411725"/>
              <a:ext cx="2376000" cy="432048"/>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9050" algn="ctr">
                  <a:solidFill>
                    <a:srgbClr val="969696"/>
                  </a:solidFill>
                  <a:miter lim="800000"/>
                  <a:headEnd/>
                  <a:tailEnd/>
                </a14:hiddenLine>
              </a:ext>
              <a:ext uri="{AF507438-7753-43E0-B8FC-AC1667EBCBE1}">
                <a14:hiddenEffects xmlns:a14="http://schemas.microsoft.com/office/drawing/2010/main">
                  <a:effectLst>
                    <a:outerShdw dist="17961" dir="2700000" algn="ctr" rotWithShape="0">
                      <a:srgbClr val="999999"/>
                    </a:outerShdw>
                  </a:effectLst>
                </a14:hiddenEffects>
              </a:ext>
            </a:extLst>
          </p:spPr>
          <p:txBody>
            <a:bodyPr lIns="432000" tIns="0" rIns="36000" bIns="0"/>
            <a:lstStyle>
              <a:lvl1pPr marL="327025" indent="-327025" algn="l" defTabSz="871538">
                <a:tabLst>
                  <a:tab pos="361950" algn="l"/>
                </a:tabLst>
                <a:defRPr>
                  <a:solidFill>
                    <a:schemeClr val="tx1"/>
                  </a:solidFill>
                  <a:latin typeface="ITC Officina Sans Book" pitchFamily="34" charset="0"/>
                </a:defRPr>
              </a:lvl1pPr>
              <a:lvl2pPr marL="708025" indent="-273050" algn="l" defTabSz="871538">
                <a:tabLst>
                  <a:tab pos="361950" algn="l"/>
                </a:tabLst>
                <a:defRPr>
                  <a:solidFill>
                    <a:schemeClr val="tx1"/>
                  </a:solidFill>
                  <a:latin typeface="ITC Officina Sans Book" pitchFamily="34" charset="0"/>
                </a:defRPr>
              </a:lvl2pPr>
              <a:lvl3pPr marL="217488" indent="-214313" algn="l" defTabSz="871538">
                <a:tabLst>
                  <a:tab pos="361950" algn="l"/>
                </a:tabLst>
                <a:defRPr>
                  <a:solidFill>
                    <a:schemeClr val="tx1"/>
                  </a:solidFill>
                  <a:latin typeface="ITC Officina Sans Book" pitchFamily="34" charset="0"/>
                </a:defRPr>
              </a:lvl3pPr>
              <a:lvl4pPr marL="1524000" indent="-217488" algn="l" defTabSz="871538">
                <a:tabLst>
                  <a:tab pos="361950" algn="l"/>
                </a:tabLst>
                <a:defRPr>
                  <a:solidFill>
                    <a:schemeClr val="tx1"/>
                  </a:solidFill>
                  <a:latin typeface="ITC Officina Sans Book" pitchFamily="34" charset="0"/>
                </a:defRPr>
              </a:lvl4pPr>
              <a:lvl5pPr marL="1958975" indent="-217488" algn="l" defTabSz="871538">
                <a:tabLst>
                  <a:tab pos="361950" algn="l"/>
                </a:tabLst>
                <a:defRPr>
                  <a:solidFill>
                    <a:schemeClr val="tx1"/>
                  </a:solidFill>
                  <a:latin typeface="ITC Officina Sans Book" pitchFamily="34" charset="0"/>
                </a:defRPr>
              </a:lvl5pPr>
              <a:lvl6pPr marL="2416175" indent="-217488" defTabSz="871538" fontAlgn="base">
                <a:spcBef>
                  <a:spcPct val="0"/>
                </a:spcBef>
                <a:spcAft>
                  <a:spcPct val="0"/>
                </a:spcAft>
                <a:tabLst>
                  <a:tab pos="361950" algn="l"/>
                </a:tabLst>
                <a:defRPr>
                  <a:solidFill>
                    <a:schemeClr val="tx1"/>
                  </a:solidFill>
                  <a:latin typeface="ITC Officina Sans Book" pitchFamily="34" charset="0"/>
                </a:defRPr>
              </a:lvl6pPr>
              <a:lvl7pPr marL="2873375" indent="-217488" defTabSz="871538" fontAlgn="base">
                <a:spcBef>
                  <a:spcPct val="0"/>
                </a:spcBef>
                <a:spcAft>
                  <a:spcPct val="0"/>
                </a:spcAft>
                <a:tabLst>
                  <a:tab pos="361950" algn="l"/>
                </a:tabLst>
                <a:defRPr>
                  <a:solidFill>
                    <a:schemeClr val="tx1"/>
                  </a:solidFill>
                  <a:latin typeface="ITC Officina Sans Book" pitchFamily="34" charset="0"/>
                </a:defRPr>
              </a:lvl7pPr>
              <a:lvl8pPr marL="3330575" indent="-217488" defTabSz="871538" fontAlgn="base">
                <a:spcBef>
                  <a:spcPct val="0"/>
                </a:spcBef>
                <a:spcAft>
                  <a:spcPct val="0"/>
                </a:spcAft>
                <a:tabLst>
                  <a:tab pos="361950" algn="l"/>
                </a:tabLst>
                <a:defRPr>
                  <a:solidFill>
                    <a:schemeClr val="tx1"/>
                  </a:solidFill>
                  <a:latin typeface="ITC Officina Sans Book" pitchFamily="34" charset="0"/>
                </a:defRPr>
              </a:lvl8pPr>
              <a:lvl9pPr marL="3787775" indent="-217488" defTabSz="871538" fontAlgn="base">
                <a:spcBef>
                  <a:spcPct val="0"/>
                </a:spcBef>
                <a:spcAft>
                  <a:spcPct val="0"/>
                </a:spcAft>
                <a:tabLst>
                  <a:tab pos="361950" algn="l"/>
                </a:tabLst>
                <a:defRPr>
                  <a:solidFill>
                    <a:schemeClr val="tx1"/>
                  </a:solidFill>
                  <a:latin typeface="ITC Officina Sans Book" pitchFamily="34" charset="0"/>
                </a:defRPr>
              </a:lvl9pPr>
            </a:lstStyle>
            <a:p>
              <a:pPr marL="3175" lvl="2" indent="0">
                <a:spcBef>
                  <a:spcPct val="15000"/>
                </a:spcBef>
                <a:buSzPct val="110000"/>
              </a:pPr>
              <a:r>
                <a:rPr lang="de-CH" altLang="ja-JP" sz="1187" dirty="0" err="1" smtClean="0">
                  <a:latin typeface="Arial" panose="020B0604020202020204" pitchFamily="34" charset="0"/>
                </a:rPr>
                <a:t>Vontobel</a:t>
              </a:r>
              <a:r>
                <a:rPr lang="de-CH" altLang="ja-JP" sz="1187" dirty="0" smtClean="0">
                  <a:latin typeface="Arial" panose="020B0604020202020204" pitchFamily="34" charset="0"/>
                </a:rPr>
                <a:t> </a:t>
              </a:r>
              <a:r>
                <a:rPr lang="de-CH" altLang="ja-JP" sz="1187" dirty="0" err="1" smtClean="0">
                  <a:latin typeface="Arial" panose="020B0604020202020204" pitchFamily="34" charset="0"/>
                </a:rPr>
                <a:t>is</a:t>
              </a:r>
              <a:r>
                <a:rPr lang="de-CH" altLang="ja-JP" sz="1187" dirty="0" smtClean="0">
                  <a:latin typeface="Arial" panose="020B0604020202020204" pitchFamily="34" charset="0"/>
                </a:rPr>
                <a:t> </a:t>
              </a:r>
              <a:r>
                <a:rPr lang="de-CH" altLang="ja-JP" sz="1187" dirty="0" err="1" smtClean="0">
                  <a:latin typeface="Arial" panose="020B0604020202020204" pitchFamily="34" charset="0"/>
                </a:rPr>
                <a:t>well</a:t>
              </a:r>
              <a:r>
                <a:rPr lang="de-CH" altLang="ja-JP" sz="1187" dirty="0" smtClean="0">
                  <a:latin typeface="Arial" panose="020B0604020202020204" pitchFamily="34" charset="0"/>
                </a:rPr>
                <a:t> </a:t>
              </a:r>
              <a:r>
                <a:rPr lang="de-CH" altLang="ja-JP" sz="1187" dirty="0" err="1" smtClean="0">
                  <a:latin typeface="Arial" panose="020B0604020202020204" pitchFamily="34" charset="0"/>
                </a:rPr>
                <a:t>ahead</a:t>
              </a:r>
              <a:r>
                <a:rPr lang="de-CH" altLang="ja-JP" sz="1187" dirty="0" smtClean="0">
                  <a:latin typeface="Arial" panose="020B0604020202020204" pitchFamily="34" charset="0"/>
                </a:rPr>
                <a:t> </a:t>
              </a:r>
              <a:r>
                <a:rPr lang="de-CH" altLang="ja-JP" sz="1187" dirty="0" err="1" smtClean="0">
                  <a:latin typeface="Arial" panose="020B0604020202020204" pitchFamily="34" charset="0"/>
                </a:rPr>
                <a:t>of</a:t>
              </a:r>
              <a:r>
                <a:rPr lang="de-CH" altLang="ja-JP" sz="1187" dirty="0" smtClean="0">
                  <a:latin typeface="Arial" panose="020B0604020202020204" pitchFamily="34" charset="0"/>
                </a:rPr>
                <a:t> </a:t>
              </a:r>
              <a:r>
                <a:rPr lang="de-CH" altLang="ja-JP" sz="1187" dirty="0" err="1" smtClean="0">
                  <a:latin typeface="Arial" panose="020B0604020202020204" pitchFamily="34" charset="0"/>
                </a:rPr>
                <a:t>its</a:t>
              </a:r>
              <a:r>
                <a:rPr lang="de-CH" altLang="ja-JP" sz="1187" dirty="0" smtClean="0">
                  <a:latin typeface="Arial" panose="020B0604020202020204" pitchFamily="34" charset="0"/>
                </a:rPr>
                <a:t> </a:t>
              </a:r>
              <a:r>
                <a:rPr lang="de-CH" altLang="ja-JP" sz="1187" dirty="0" err="1" smtClean="0">
                  <a:latin typeface="Arial" panose="020B0604020202020204" pitchFamily="34" charset="0"/>
                </a:rPr>
                <a:t>closest</a:t>
              </a:r>
              <a:r>
                <a:rPr lang="de-CH" altLang="ja-JP" sz="1187" dirty="0" smtClean="0">
                  <a:latin typeface="Arial" panose="020B0604020202020204" pitchFamily="34" charset="0"/>
                </a:rPr>
                <a:t> </a:t>
              </a:r>
              <a:r>
                <a:rPr lang="de-CH" altLang="ja-JP" sz="1187" dirty="0" err="1" smtClean="0">
                  <a:latin typeface="Arial" panose="020B0604020202020204" pitchFamily="34" charset="0"/>
                </a:rPr>
                <a:t>peers</a:t>
              </a:r>
              <a:endParaRPr lang="de-CH" altLang="ja-JP" sz="1187" dirty="0">
                <a:latin typeface="Arial" panose="020B0604020202020204" pitchFamily="34" charset="0"/>
              </a:endParaRPr>
            </a:p>
          </p:txBody>
        </p:sp>
        <p:pic>
          <p:nvPicPr>
            <p:cNvPr id="4" name="Picture 3"/>
            <p:cNvPicPr>
              <a:picLocks noChangeAspect="1"/>
            </p:cNvPicPr>
            <p:nvPr>
              <p:custDataLst>
                <p:tags r:id="rId5"/>
              </p:custDataLst>
            </p:nvPr>
          </p:nvPicPr>
          <p:blipFill>
            <a:blip r:embed="rId9">
              <a:extLst>
                <a:ext uri="{28A0092B-C50C-407E-A947-70E740481C1C}">
                  <a14:useLocalDpi xmlns:a14="http://schemas.microsoft.com/office/drawing/2010/main" val="0"/>
                </a:ext>
              </a:extLst>
            </a:blip>
            <a:stretch>
              <a:fillRect/>
            </a:stretch>
          </p:blipFill>
          <p:spPr>
            <a:xfrm>
              <a:off x="449362" y="2411725"/>
              <a:ext cx="360000" cy="360000"/>
            </a:xfrm>
            <a:prstGeom prst="rect">
              <a:avLst/>
            </a:prstGeom>
          </p:spPr>
        </p:pic>
      </p:grpSp>
      <p:grpSp>
        <p:nvGrpSpPr>
          <p:cNvPr id="18" name="Group 17"/>
          <p:cNvGrpSpPr/>
          <p:nvPr/>
        </p:nvGrpSpPr>
        <p:grpSpPr>
          <a:xfrm>
            <a:off x="449359" y="2290465"/>
            <a:ext cx="2376000" cy="360000"/>
            <a:chOff x="449359" y="4211885"/>
            <a:chExt cx="2376000" cy="360000"/>
          </a:xfrm>
        </p:grpSpPr>
        <p:sp>
          <p:nvSpPr>
            <p:cNvPr id="13" name="Rectangle 21"/>
            <p:cNvSpPr>
              <a:spLocks noChangeArrowheads="1"/>
            </p:cNvSpPr>
            <p:nvPr/>
          </p:nvSpPr>
          <p:spPr bwMode="auto">
            <a:xfrm>
              <a:off x="449359" y="4300546"/>
              <a:ext cx="2376000" cy="1826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9050" algn="ctr">
                  <a:solidFill>
                    <a:srgbClr val="969696"/>
                  </a:solidFill>
                  <a:miter lim="800000"/>
                  <a:headEnd/>
                  <a:tailEnd/>
                </a14:hiddenLine>
              </a:ext>
              <a:ext uri="{AF507438-7753-43E0-B8FC-AC1667EBCBE1}">
                <a14:hiddenEffects xmlns:a14="http://schemas.microsoft.com/office/drawing/2010/main">
                  <a:effectLst>
                    <a:outerShdw dist="17961" dir="2700000" algn="ctr" rotWithShape="0">
                      <a:srgbClr val="999999"/>
                    </a:outerShdw>
                  </a:effectLst>
                </a14:hiddenEffects>
              </a:ext>
            </a:extLst>
          </p:spPr>
          <p:txBody>
            <a:bodyPr lIns="432000" tIns="0" rIns="36000" bIns="0">
              <a:spAutoFit/>
            </a:bodyPr>
            <a:lstStyle>
              <a:lvl1pPr marL="327025" indent="-327025" algn="l" defTabSz="871538">
                <a:tabLst>
                  <a:tab pos="361950" algn="l"/>
                </a:tabLst>
                <a:defRPr>
                  <a:solidFill>
                    <a:schemeClr val="tx1"/>
                  </a:solidFill>
                  <a:latin typeface="ITC Officina Sans Book" pitchFamily="34" charset="0"/>
                </a:defRPr>
              </a:lvl1pPr>
              <a:lvl2pPr marL="708025" indent="-273050" algn="l" defTabSz="871538">
                <a:tabLst>
                  <a:tab pos="361950" algn="l"/>
                </a:tabLst>
                <a:defRPr>
                  <a:solidFill>
                    <a:schemeClr val="tx1"/>
                  </a:solidFill>
                  <a:latin typeface="ITC Officina Sans Book" pitchFamily="34" charset="0"/>
                </a:defRPr>
              </a:lvl2pPr>
              <a:lvl3pPr marL="217488" indent="-214313" algn="l" defTabSz="871538">
                <a:tabLst>
                  <a:tab pos="361950" algn="l"/>
                </a:tabLst>
                <a:defRPr>
                  <a:solidFill>
                    <a:schemeClr val="tx1"/>
                  </a:solidFill>
                  <a:latin typeface="ITC Officina Sans Book" pitchFamily="34" charset="0"/>
                </a:defRPr>
              </a:lvl3pPr>
              <a:lvl4pPr marL="1524000" indent="-217488" algn="l" defTabSz="871538">
                <a:tabLst>
                  <a:tab pos="361950" algn="l"/>
                </a:tabLst>
                <a:defRPr>
                  <a:solidFill>
                    <a:schemeClr val="tx1"/>
                  </a:solidFill>
                  <a:latin typeface="ITC Officina Sans Book" pitchFamily="34" charset="0"/>
                </a:defRPr>
              </a:lvl4pPr>
              <a:lvl5pPr marL="1958975" indent="-217488" algn="l" defTabSz="871538">
                <a:tabLst>
                  <a:tab pos="361950" algn="l"/>
                </a:tabLst>
                <a:defRPr>
                  <a:solidFill>
                    <a:schemeClr val="tx1"/>
                  </a:solidFill>
                  <a:latin typeface="ITC Officina Sans Book" pitchFamily="34" charset="0"/>
                </a:defRPr>
              </a:lvl5pPr>
              <a:lvl6pPr marL="2416175" indent="-217488" defTabSz="871538" fontAlgn="base">
                <a:spcBef>
                  <a:spcPct val="0"/>
                </a:spcBef>
                <a:spcAft>
                  <a:spcPct val="0"/>
                </a:spcAft>
                <a:tabLst>
                  <a:tab pos="361950" algn="l"/>
                </a:tabLst>
                <a:defRPr>
                  <a:solidFill>
                    <a:schemeClr val="tx1"/>
                  </a:solidFill>
                  <a:latin typeface="ITC Officina Sans Book" pitchFamily="34" charset="0"/>
                </a:defRPr>
              </a:lvl6pPr>
              <a:lvl7pPr marL="2873375" indent="-217488" defTabSz="871538" fontAlgn="base">
                <a:spcBef>
                  <a:spcPct val="0"/>
                </a:spcBef>
                <a:spcAft>
                  <a:spcPct val="0"/>
                </a:spcAft>
                <a:tabLst>
                  <a:tab pos="361950" algn="l"/>
                </a:tabLst>
                <a:defRPr>
                  <a:solidFill>
                    <a:schemeClr val="tx1"/>
                  </a:solidFill>
                  <a:latin typeface="ITC Officina Sans Book" pitchFamily="34" charset="0"/>
                </a:defRPr>
              </a:lvl7pPr>
              <a:lvl8pPr marL="3330575" indent="-217488" defTabSz="871538" fontAlgn="base">
                <a:spcBef>
                  <a:spcPct val="0"/>
                </a:spcBef>
                <a:spcAft>
                  <a:spcPct val="0"/>
                </a:spcAft>
                <a:tabLst>
                  <a:tab pos="361950" algn="l"/>
                </a:tabLst>
                <a:defRPr>
                  <a:solidFill>
                    <a:schemeClr val="tx1"/>
                  </a:solidFill>
                  <a:latin typeface="ITC Officina Sans Book" pitchFamily="34" charset="0"/>
                </a:defRPr>
              </a:lvl8pPr>
              <a:lvl9pPr marL="3787775" indent="-217488" defTabSz="871538" fontAlgn="base">
                <a:spcBef>
                  <a:spcPct val="0"/>
                </a:spcBef>
                <a:spcAft>
                  <a:spcPct val="0"/>
                </a:spcAft>
                <a:tabLst>
                  <a:tab pos="361950" algn="l"/>
                </a:tabLst>
                <a:defRPr>
                  <a:solidFill>
                    <a:schemeClr val="tx1"/>
                  </a:solidFill>
                  <a:latin typeface="ITC Officina Sans Book" pitchFamily="34" charset="0"/>
                </a:defRPr>
              </a:lvl9pPr>
            </a:lstStyle>
            <a:p>
              <a:pPr marL="3175" lvl="2" indent="0">
                <a:spcBef>
                  <a:spcPct val="15000"/>
                </a:spcBef>
                <a:buSzPct val="110000"/>
              </a:pPr>
              <a:r>
                <a:rPr lang="de-CH" altLang="de-DE" sz="1187" dirty="0" smtClean="0">
                  <a:latin typeface="Arial" panose="020B0604020202020204" pitchFamily="34" charset="0"/>
                  <a:ea typeface="Arial Unicode MS" pitchFamily="34" charset="-128"/>
                  <a:cs typeface="Arial Unicode MS" pitchFamily="34" charset="-128"/>
                </a:rPr>
                <a:t>19,000 </a:t>
              </a:r>
              <a:r>
                <a:rPr lang="de-CH" altLang="de-DE" sz="1187" dirty="0" err="1" smtClean="0">
                  <a:latin typeface="Arial" panose="020B0604020202020204" pitchFamily="34" charset="0"/>
                  <a:ea typeface="Arial Unicode MS" pitchFamily="34" charset="-128"/>
                  <a:cs typeface="Arial Unicode MS" pitchFamily="34" charset="-128"/>
                </a:rPr>
                <a:t>investor</a:t>
              </a:r>
              <a:r>
                <a:rPr lang="de-CH" altLang="de-DE" sz="1187" dirty="0" smtClean="0">
                  <a:latin typeface="Arial" panose="020B0604020202020204" pitchFamily="34" charset="0"/>
                  <a:ea typeface="Arial Unicode MS" pitchFamily="34" charset="-128"/>
                  <a:cs typeface="Arial Unicode MS" pitchFamily="34" charset="-128"/>
                </a:rPr>
                <a:t> </a:t>
              </a:r>
              <a:r>
                <a:rPr lang="de-CH" altLang="de-DE" sz="1187" dirty="0" err="1" smtClean="0">
                  <a:latin typeface="Arial" panose="020B0604020202020204" pitchFamily="34" charset="0"/>
                  <a:ea typeface="Arial Unicode MS" pitchFamily="34" charset="-128"/>
                  <a:cs typeface="Arial Unicode MS" pitchFamily="34" charset="-128"/>
                </a:rPr>
                <a:t>participants</a:t>
              </a:r>
              <a:endParaRPr lang="de-CH" altLang="de-DE" sz="1187" dirty="0">
                <a:latin typeface="Arial" panose="020B0604020202020204" pitchFamily="34" charset="0"/>
                <a:ea typeface="Arial Unicode MS" pitchFamily="34" charset="-128"/>
                <a:cs typeface="Arial Unicode MS" pitchFamily="34" charset="-128"/>
              </a:endParaRPr>
            </a:p>
          </p:txBody>
        </p:sp>
        <p:pic>
          <p:nvPicPr>
            <p:cNvPr id="5" name="Picture 4"/>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449402" y="4211885"/>
              <a:ext cx="360000" cy="360000"/>
            </a:xfrm>
            <a:prstGeom prst="rect">
              <a:avLst/>
            </a:prstGeom>
          </p:spPr>
        </p:pic>
      </p:grpSp>
      <p:grpSp>
        <p:nvGrpSpPr>
          <p:cNvPr id="11" name="Group 10"/>
          <p:cNvGrpSpPr/>
          <p:nvPr/>
        </p:nvGrpSpPr>
        <p:grpSpPr>
          <a:xfrm>
            <a:off x="449362" y="3277590"/>
            <a:ext cx="2376000" cy="360000"/>
            <a:chOff x="449362" y="5148029"/>
            <a:chExt cx="2376000" cy="360000"/>
          </a:xfrm>
        </p:grpSpPr>
        <p:sp>
          <p:nvSpPr>
            <p:cNvPr id="15" name="Rectangle 21"/>
            <p:cNvSpPr>
              <a:spLocks noChangeArrowheads="1"/>
            </p:cNvSpPr>
            <p:nvPr/>
          </p:nvSpPr>
          <p:spPr bwMode="auto">
            <a:xfrm>
              <a:off x="449362" y="5236690"/>
              <a:ext cx="2376000" cy="1826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9050" algn="ctr">
                  <a:solidFill>
                    <a:srgbClr val="969696"/>
                  </a:solidFill>
                  <a:miter lim="800000"/>
                  <a:headEnd/>
                  <a:tailEnd/>
                </a14:hiddenLine>
              </a:ext>
              <a:ext uri="{AF507438-7753-43E0-B8FC-AC1667EBCBE1}">
                <a14:hiddenEffects xmlns:a14="http://schemas.microsoft.com/office/drawing/2010/main">
                  <a:effectLst>
                    <a:outerShdw dist="17961" dir="2700000" algn="ctr" rotWithShape="0">
                      <a:srgbClr val="999999"/>
                    </a:outerShdw>
                  </a:effectLst>
                </a14:hiddenEffects>
              </a:ext>
            </a:extLst>
          </p:spPr>
          <p:txBody>
            <a:bodyPr lIns="432000" tIns="0" rIns="36000" bIns="0">
              <a:spAutoFit/>
            </a:bodyPr>
            <a:lstStyle>
              <a:lvl1pPr marL="327025" indent="-327025" algn="l" defTabSz="871538">
                <a:tabLst>
                  <a:tab pos="361950" algn="l"/>
                </a:tabLst>
                <a:defRPr>
                  <a:solidFill>
                    <a:schemeClr val="tx1"/>
                  </a:solidFill>
                  <a:latin typeface="ITC Officina Sans Book" pitchFamily="34" charset="0"/>
                </a:defRPr>
              </a:lvl1pPr>
              <a:lvl2pPr marL="708025" indent="-273050" algn="l" defTabSz="871538">
                <a:tabLst>
                  <a:tab pos="361950" algn="l"/>
                </a:tabLst>
                <a:defRPr>
                  <a:solidFill>
                    <a:schemeClr val="tx1"/>
                  </a:solidFill>
                  <a:latin typeface="ITC Officina Sans Book" pitchFamily="34" charset="0"/>
                </a:defRPr>
              </a:lvl2pPr>
              <a:lvl3pPr marL="217488" indent="-214313" algn="l" defTabSz="871538">
                <a:tabLst>
                  <a:tab pos="361950" algn="l"/>
                </a:tabLst>
                <a:defRPr>
                  <a:solidFill>
                    <a:schemeClr val="tx1"/>
                  </a:solidFill>
                  <a:latin typeface="ITC Officina Sans Book" pitchFamily="34" charset="0"/>
                </a:defRPr>
              </a:lvl3pPr>
              <a:lvl4pPr marL="1524000" indent="-217488" algn="l" defTabSz="871538">
                <a:tabLst>
                  <a:tab pos="361950" algn="l"/>
                </a:tabLst>
                <a:defRPr>
                  <a:solidFill>
                    <a:schemeClr val="tx1"/>
                  </a:solidFill>
                  <a:latin typeface="ITC Officina Sans Book" pitchFamily="34" charset="0"/>
                </a:defRPr>
              </a:lvl4pPr>
              <a:lvl5pPr marL="1958975" indent="-217488" algn="l" defTabSz="871538">
                <a:tabLst>
                  <a:tab pos="361950" algn="l"/>
                </a:tabLst>
                <a:defRPr>
                  <a:solidFill>
                    <a:schemeClr val="tx1"/>
                  </a:solidFill>
                  <a:latin typeface="ITC Officina Sans Book" pitchFamily="34" charset="0"/>
                </a:defRPr>
              </a:lvl5pPr>
              <a:lvl6pPr marL="2416175" indent="-217488" defTabSz="871538" fontAlgn="base">
                <a:spcBef>
                  <a:spcPct val="0"/>
                </a:spcBef>
                <a:spcAft>
                  <a:spcPct val="0"/>
                </a:spcAft>
                <a:tabLst>
                  <a:tab pos="361950" algn="l"/>
                </a:tabLst>
                <a:defRPr>
                  <a:solidFill>
                    <a:schemeClr val="tx1"/>
                  </a:solidFill>
                  <a:latin typeface="ITC Officina Sans Book" pitchFamily="34" charset="0"/>
                </a:defRPr>
              </a:lvl6pPr>
              <a:lvl7pPr marL="2873375" indent="-217488" defTabSz="871538" fontAlgn="base">
                <a:spcBef>
                  <a:spcPct val="0"/>
                </a:spcBef>
                <a:spcAft>
                  <a:spcPct val="0"/>
                </a:spcAft>
                <a:tabLst>
                  <a:tab pos="361950" algn="l"/>
                </a:tabLst>
                <a:defRPr>
                  <a:solidFill>
                    <a:schemeClr val="tx1"/>
                  </a:solidFill>
                  <a:latin typeface="ITC Officina Sans Book" pitchFamily="34" charset="0"/>
                </a:defRPr>
              </a:lvl7pPr>
              <a:lvl8pPr marL="3330575" indent="-217488" defTabSz="871538" fontAlgn="base">
                <a:spcBef>
                  <a:spcPct val="0"/>
                </a:spcBef>
                <a:spcAft>
                  <a:spcPct val="0"/>
                </a:spcAft>
                <a:tabLst>
                  <a:tab pos="361950" algn="l"/>
                </a:tabLst>
                <a:defRPr>
                  <a:solidFill>
                    <a:schemeClr val="tx1"/>
                  </a:solidFill>
                  <a:latin typeface="ITC Officina Sans Book" pitchFamily="34" charset="0"/>
                </a:defRPr>
              </a:lvl8pPr>
              <a:lvl9pPr marL="3787775" indent="-217488" defTabSz="871538" fontAlgn="base">
                <a:spcBef>
                  <a:spcPct val="0"/>
                </a:spcBef>
                <a:spcAft>
                  <a:spcPct val="0"/>
                </a:spcAft>
                <a:tabLst>
                  <a:tab pos="361950" algn="l"/>
                </a:tabLst>
                <a:defRPr>
                  <a:solidFill>
                    <a:schemeClr val="tx1"/>
                  </a:solidFill>
                  <a:latin typeface="ITC Officina Sans Book" pitchFamily="34" charset="0"/>
                </a:defRPr>
              </a:lvl9pPr>
            </a:lstStyle>
            <a:p>
              <a:pPr marL="3175" lvl="2" indent="0">
                <a:spcBef>
                  <a:spcPct val="15000"/>
                </a:spcBef>
                <a:buSzPct val="110000"/>
              </a:pPr>
              <a:r>
                <a:rPr lang="de-CH" altLang="de-DE" sz="1187" dirty="0" smtClean="0">
                  <a:latin typeface="Arial" panose="020B0604020202020204" pitchFamily="34" charset="0"/>
                  <a:ea typeface="Arial Unicode MS" pitchFamily="34" charset="-128"/>
                  <a:cs typeface="Arial Unicode MS" pitchFamily="34" charset="-128"/>
                </a:rPr>
                <a:t>74 countries</a:t>
              </a:r>
              <a:endParaRPr lang="de-CH" altLang="de-DE" sz="1187" dirty="0">
                <a:latin typeface="Arial" panose="020B0604020202020204" pitchFamily="34" charset="0"/>
                <a:ea typeface="Arial Unicode MS" pitchFamily="34" charset="-128"/>
                <a:cs typeface="Arial Unicode MS" pitchFamily="34" charset="-128"/>
              </a:endParaRPr>
            </a:p>
          </p:txBody>
        </p:sp>
        <p:pic>
          <p:nvPicPr>
            <p:cNvPr id="8" name="Picture 7"/>
            <p:cNvPicPr>
              <a:picLocks noChangeAspect="1"/>
            </p:cNvPicPr>
            <p:nvPr>
              <p:custDataLst>
                <p:tags r:id="rId3"/>
              </p:custDataLst>
            </p:nvPr>
          </p:nvPicPr>
          <p:blipFill>
            <a:blip r:embed="rId11">
              <a:extLst>
                <a:ext uri="{28A0092B-C50C-407E-A947-70E740481C1C}">
                  <a14:useLocalDpi xmlns:a14="http://schemas.microsoft.com/office/drawing/2010/main" val="0"/>
                </a:ext>
              </a:extLst>
            </a:blip>
            <a:stretch>
              <a:fillRect/>
            </a:stretch>
          </p:blipFill>
          <p:spPr>
            <a:xfrm>
              <a:off x="449402" y="5148029"/>
              <a:ext cx="360000" cy="360000"/>
            </a:xfrm>
            <a:prstGeom prst="rect">
              <a:avLst/>
            </a:prstGeom>
          </p:spPr>
        </p:pic>
      </p:grpSp>
      <p:grpSp>
        <p:nvGrpSpPr>
          <p:cNvPr id="16" name="Group 15"/>
          <p:cNvGrpSpPr/>
          <p:nvPr/>
        </p:nvGrpSpPr>
        <p:grpSpPr>
          <a:xfrm>
            <a:off x="449359" y="2781349"/>
            <a:ext cx="2376000" cy="365356"/>
            <a:chOff x="449359" y="4638617"/>
            <a:chExt cx="2376000" cy="365356"/>
          </a:xfrm>
        </p:grpSpPr>
        <p:sp>
          <p:nvSpPr>
            <p:cNvPr id="14" name="Rectangle 21"/>
            <p:cNvSpPr>
              <a:spLocks noChangeArrowheads="1"/>
            </p:cNvSpPr>
            <p:nvPr/>
          </p:nvSpPr>
          <p:spPr bwMode="auto">
            <a:xfrm>
              <a:off x="449359" y="4638617"/>
              <a:ext cx="2376000" cy="365356"/>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9050" algn="ctr">
                  <a:solidFill>
                    <a:srgbClr val="969696"/>
                  </a:solidFill>
                  <a:miter lim="800000"/>
                  <a:headEnd/>
                  <a:tailEnd/>
                </a14:hiddenLine>
              </a:ext>
              <a:ext uri="{AF507438-7753-43E0-B8FC-AC1667EBCBE1}">
                <a14:hiddenEffects xmlns:a14="http://schemas.microsoft.com/office/drawing/2010/main">
                  <a:effectLst>
                    <a:outerShdw dist="17961" dir="2700000" algn="ctr" rotWithShape="0">
                      <a:srgbClr val="999999"/>
                    </a:outerShdw>
                  </a:effectLst>
                </a14:hiddenEffects>
              </a:ext>
            </a:extLst>
          </p:spPr>
          <p:txBody>
            <a:bodyPr lIns="432000" tIns="0" rIns="36000" bIns="0">
              <a:spAutoFit/>
            </a:bodyPr>
            <a:lstStyle>
              <a:lvl1pPr marL="327025" indent="-327025" algn="l" defTabSz="871538">
                <a:tabLst>
                  <a:tab pos="361950" algn="l"/>
                </a:tabLst>
                <a:defRPr>
                  <a:solidFill>
                    <a:schemeClr val="tx1"/>
                  </a:solidFill>
                  <a:latin typeface="ITC Officina Sans Book" pitchFamily="34" charset="0"/>
                </a:defRPr>
              </a:lvl1pPr>
              <a:lvl2pPr marL="708025" indent="-273050" algn="l" defTabSz="871538">
                <a:tabLst>
                  <a:tab pos="361950" algn="l"/>
                </a:tabLst>
                <a:defRPr>
                  <a:solidFill>
                    <a:schemeClr val="tx1"/>
                  </a:solidFill>
                  <a:latin typeface="ITC Officina Sans Book" pitchFamily="34" charset="0"/>
                </a:defRPr>
              </a:lvl2pPr>
              <a:lvl3pPr marL="217488" indent="-214313" algn="l" defTabSz="871538">
                <a:tabLst>
                  <a:tab pos="361950" algn="l"/>
                </a:tabLst>
                <a:defRPr>
                  <a:solidFill>
                    <a:schemeClr val="tx1"/>
                  </a:solidFill>
                  <a:latin typeface="ITC Officina Sans Book" pitchFamily="34" charset="0"/>
                </a:defRPr>
              </a:lvl3pPr>
              <a:lvl4pPr marL="1524000" indent="-217488" algn="l" defTabSz="871538">
                <a:tabLst>
                  <a:tab pos="361950" algn="l"/>
                </a:tabLst>
                <a:defRPr>
                  <a:solidFill>
                    <a:schemeClr val="tx1"/>
                  </a:solidFill>
                  <a:latin typeface="ITC Officina Sans Book" pitchFamily="34" charset="0"/>
                </a:defRPr>
              </a:lvl4pPr>
              <a:lvl5pPr marL="1958975" indent="-217488" algn="l" defTabSz="871538">
                <a:tabLst>
                  <a:tab pos="361950" algn="l"/>
                </a:tabLst>
                <a:defRPr>
                  <a:solidFill>
                    <a:schemeClr val="tx1"/>
                  </a:solidFill>
                  <a:latin typeface="ITC Officina Sans Book" pitchFamily="34" charset="0"/>
                </a:defRPr>
              </a:lvl5pPr>
              <a:lvl6pPr marL="2416175" indent="-217488" defTabSz="871538" fontAlgn="base">
                <a:spcBef>
                  <a:spcPct val="0"/>
                </a:spcBef>
                <a:spcAft>
                  <a:spcPct val="0"/>
                </a:spcAft>
                <a:tabLst>
                  <a:tab pos="361950" algn="l"/>
                </a:tabLst>
                <a:defRPr>
                  <a:solidFill>
                    <a:schemeClr val="tx1"/>
                  </a:solidFill>
                  <a:latin typeface="ITC Officina Sans Book" pitchFamily="34" charset="0"/>
                </a:defRPr>
              </a:lvl6pPr>
              <a:lvl7pPr marL="2873375" indent="-217488" defTabSz="871538" fontAlgn="base">
                <a:spcBef>
                  <a:spcPct val="0"/>
                </a:spcBef>
                <a:spcAft>
                  <a:spcPct val="0"/>
                </a:spcAft>
                <a:tabLst>
                  <a:tab pos="361950" algn="l"/>
                </a:tabLst>
                <a:defRPr>
                  <a:solidFill>
                    <a:schemeClr val="tx1"/>
                  </a:solidFill>
                  <a:latin typeface="ITC Officina Sans Book" pitchFamily="34" charset="0"/>
                </a:defRPr>
              </a:lvl7pPr>
              <a:lvl8pPr marL="3330575" indent="-217488" defTabSz="871538" fontAlgn="base">
                <a:spcBef>
                  <a:spcPct val="0"/>
                </a:spcBef>
                <a:spcAft>
                  <a:spcPct val="0"/>
                </a:spcAft>
                <a:tabLst>
                  <a:tab pos="361950" algn="l"/>
                </a:tabLst>
                <a:defRPr>
                  <a:solidFill>
                    <a:schemeClr val="tx1"/>
                  </a:solidFill>
                  <a:latin typeface="ITC Officina Sans Book" pitchFamily="34" charset="0"/>
                </a:defRPr>
              </a:lvl8pPr>
              <a:lvl9pPr marL="3787775" indent="-217488" defTabSz="871538" fontAlgn="base">
                <a:spcBef>
                  <a:spcPct val="0"/>
                </a:spcBef>
                <a:spcAft>
                  <a:spcPct val="0"/>
                </a:spcAft>
                <a:tabLst>
                  <a:tab pos="361950" algn="l"/>
                </a:tabLst>
                <a:defRPr>
                  <a:solidFill>
                    <a:schemeClr val="tx1"/>
                  </a:solidFill>
                  <a:latin typeface="ITC Officina Sans Book" pitchFamily="34" charset="0"/>
                </a:defRPr>
              </a:lvl9pPr>
            </a:lstStyle>
            <a:p>
              <a:pPr marL="3175" lvl="2" indent="0">
                <a:spcBef>
                  <a:spcPct val="15000"/>
                </a:spcBef>
                <a:buSzPct val="110000"/>
              </a:pPr>
              <a:r>
                <a:rPr lang="de-CH" altLang="de-DE" sz="1187" dirty="0" smtClean="0">
                  <a:latin typeface="Arial" panose="020B0604020202020204" pitchFamily="34" charset="0"/>
                  <a:ea typeface="Arial Unicode MS" pitchFamily="34" charset="-128"/>
                  <a:cs typeface="Arial Unicode MS" pitchFamily="34" charset="-128"/>
                </a:rPr>
                <a:t>1.1 </a:t>
              </a:r>
              <a:r>
                <a:rPr lang="de-CH" altLang="de-DE" sz="1187" dirty="0" err="1" smtClean="0">
                  <a:latin typeface="Arial" panose="020B0604020202020204" pitchFamily="34" charset="0"/>
                  <a:ea typeface="Arial Unicode MS" pitchFamily="34" charset="-128"/>
                  <a:cs typeface="Arial Unicode MS" pitchFamily="34" charset="-128"/>
                </a:rPr>
                <a:t>million</a:t>
              </a:r>
              <a:r>
                <a:rPr lang="de-CH" altLang="de-DE" sz="1187" dirty="0" smtClean="0">
                  <a:latin typeface="Arial" panose="020B0604020202020204" pitchFamily="34" charset="0"/>
                  <a:ea typeface="Arial Unicode MS" pitchFamily="34" charset="-128"/>
                  <a:cs typeface="Arial Unicode MS" pitchFamily="34" charset="-128"/>
                </a:rPr>
                <a:t> individual </a:t>
              </a:r>
              <a:r>
                <a:rPr lang="de-CH" altLang="de-DE" sz="1187" dirty="0" err="1" smtClean="0">
                  <a:latin typeface="Arial" panose="020B0604020202020204" pitchFamily="34" charset="0"/>
                  <a:ea typeface="Arial Unicode MS" pitchFamily="34" charset="-128"/>
                  <a:cs typeface="Arial Unicode MS" pitchFamily="34" charset="-128"/>
                </a:rPr>
                <a:t>investor</a:t>
              </a:r>
              <a:r>
                <a:rPr lang="de-CH" altLang="de-DE" sz="1187" dirty="0" smtClean="0">
                  <a:latin typeface="Arial" panose="020B0604020202020204" pitchFamily="34" charset="0"/>
                  <a:ea typeface="Arial Unicode MS" pitchFamily="34" charset="-128"/>
                  <a:cs typeface="Arial Unicode MS" pitchFamily="34" charset="-128"/>
                </a:rPr>
                <a:t> </a:t>
              </a:r>
              <a:r>
                <a:rPr lang="de-CH" altLang="de-DE" sz="1187" dirty="0" err="1" smtClean="0">
                  <a:latin typeface="Arial" panose="020B0604020202020204" pitchFamily="34" charset="0"/>
                  <a:ea typeface="Arial Unicode MS" pitchFamily="34" charset="-128"/>
                  <a:cs typeface="Arial Unicode MS" pitchFamily="34" charset="-128"/>
                </a:rPr>
                <a:t>votes</a:t>
              </a:r>
              <a:endParaRPr lang="de-CH" altLang="de-DE" sz="1187" dirty="0">
                <a:latin typeface="Arial" panose="020B0604020202020204" pitchFamily="34" charset="0"/>
                <a:ea typeface="Arial Unicode MS" pitchFamily="34" charset="-128"/>
                <a:cs typeface="Arial Unicode MS" pitchFamily="34" charset="-128"/>
              </a:endParaRPr>
            </a:p>
          </p:txBody>
        </p:sp>
        <p:pic>
          <p:nvPicPr>
            <p:cNvPr id="10" name="Picture 9"/>
            <p:cNvPicPr>
              <a:picLocks noChangeAspect="1"/>
            </p:cNvPicPr>
            <p:nvPr>
              <p:custDataLst>
                <p:tags r:id="rId2"/>
              </p:custDataLst>
            </p:nvPr>
          </p:nvPicPr>
          <p:blipFill>
            <a:blip r:embed="rId12">
              <a:extLst>
                <a:ext uri="{28A0092B-C50C-407E-A947-70E740481C1C}">
                  <a14:useLocalDpi xmlns:a14="http://schemas.microsoft.com/office/drawing/2010/main" val="0"/>
                </a:ext>
              </a:extLst>
            </a:blip>
            <a:stretch>
              <a:fillRect/>
            </a:stretch>
          </p:blipFill>
          <p:spPr>
            <a:xfrm>
              <a:off x="449402" y="4641295"/>
              <a:ext cx="360000" cy="360000"/>
            </a:xfrm>
            <a:prstGeom prst="rect">
              <a:avLst/>
            </a:prstGeom>
          </p:spPr>
        </p:pic>
      </p:grpSp>
      <p:pic>
        <p:nvPicPr>
          <p:cNvPr id="1026" name="Picture 2" descr="Bildergebnis für extel survey logo">
            <a:hlinkClick r:id="rId13"/>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49362" y="1475581"/>
            <a:ext cx="1799086" cy="604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9023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Table of contents</a:t>
            </a:r>
            <a:endParaRPr lang="en-US" dirty="0"/>
          </a:p>
        </p:txBody>
      </p:sp>
      <p:sp>
        <p:nvSpPr>
          <p:cNvPr id="4" name="TocEntry1">
            <a:hlinkClick r:id="" action="ppaction://noaction"/>
          </p:cNvPr>
          <p:cNvSpPr txBox="1"/>
          <p:nvPr>
            <p:custDataLst>
              <p:tags r:id="rId1"/>
            </p:custDataLst>
          </p:nvPr>
        </p:nvSpPr>
        <p:spPr>
          <a:xfrm>
            <a:off x="952500" y="2051050"/>
            <a:ext cx="9289131" cy="415498"/>
          </a:xfrm>
          <a:prstGeom prst="rect">
            <a:avLst/>
          </a:prstGeom>
          <a:noFill/>
        </p:spPr>
        <p:txBody>
          <a:bodyPr vert="horz" wrap="square" lIns="0" tIns="0" rIns="0" bIns="0" rtlCol="0">
            <a:spAutoFit/>
          </a:bodyPr>
          <a:lstStyle/>
          <a:p>
            <a:pPr>
              <a:lnSpc>
                <a:spcPct val="90000"/>
              </a:lnSpc>
            </a:pPr>
            <a:r>
              <a:rPr lang="de-CH" sz="3000" dirty="0" smtClean="0">
                <a:latin typeface="Arial"/>
              </a:rPr>
              <a:t>Summary</a:t>
            </a:r>
            <a:endParaRPr lang="de-CH" sz="3000" dirty="0">
              <a:latin typeface="Arial"/>
            </a:endParaRPr>
          </a:p>
        </p:txBody>
      </p:sp>
      <p:sp>
        <p:nvSpPr>
          <p:cNvPr id="5" name="TocEntry2">
            <a:hlinkClick r:id="" action="ppaction://noaction"/>
          </p:cNvPr>
          <p:cNvSpPr txBox="1"/>
          <p:nvPr>
            <p:custDataLst>
              <p:tags r:id="rId2"/>
            </p:custDataLst>
          </p:nvPr>
        </p:nvSpPr>
        <p:spPr>
          <a:xfrm>
            <a:off x="952500" y="2542748"/>
            <a:ext cx="9289131" cy="415498"/>
          </a:xfrm>
          <a:prstGeom prst="rect">
            <a:avLst/>
          </a:prstGeom>
          <a:noFill/>
        </p:spPr>
        <p:txBody>
          <a:bodyPr vert="horz" wrap="square" lIns="0" tIns="0" rIns="0" bIns="0" rtlCol="0">
            <a:spAutoFit/>
          </a:bodyPr>
          <a:lstStyle/>
          <a:p>
            <a:pPr>
              <a:lnSpc>
                <a:spcPct val="90000"/>
              </a:lnSpc>
            </a:pPr>
            <a:r>
              <a:rPr lang="de-CH" sz="3000" dirty="0" smtClean="0">
                <a:solidFill>
                  <a:srgbClr val="000000"/>
                </a:solidFill>
                <a:latin typeface="Arial"/>
              </a:rPr>
              <a:t>Swiss </a:t>
            </a:r>
            <a:r>
              <a:rPr lang="de-CH" sz="3000" dirty="0" err="1" smtClean="0">
                <a:solidFill>
                  <a:srgbClr val="000000"/>
                </a:solidFill>
                <a:latin typeface="Arial"/>
              </a:rPr>
              <a:t>equities</a:t>
            </a:r>
            <a:endParaRPr lang="de-CH" sz="3000" dirty="0">
              <a:solidFill>
                <a:srgbClr val="000000"/>
              </a:solidFill>
              <a:latin typeface="Arial"/>
            </a:endParaRPr>
          </a:p>
        </p:txBody>
      </p:sp>
      <p:sp>
        <p:nvSpPr>
          <p:cNvPr id="6" name="TocEntry3">
            <a:hlinkClick r:id="" action="ppaction://noaction"/>
          </p:cNvPr>
          <p:cNvSpPr txBox="1"/>
          <p:nvPr>
            <p:custDataLst>
              <p:tags r:id="rId3"/>
            </p:custDataLst>
          </p:nvPr>
        </p:nvSpPr>
        <p:spPr>
          <a:xfrm>
            <a:off x="952500" y="3034446"/>
            <a:ext cx="9289131" cy="415498"/>
          </a:xfrm>
          <a:prstGeom prst="rect">
            <a:avLst/>
          </a:prstGeom>
          <a:noFill/>
        </p:spPr>
        <p:txBody>
          <a:bodyPr vert="horz" wrap="square" lIns="0" tIns="0" rIns="0" bIns="0" rtlCol="0">
            <a:spAutoFit/>
          </a:bodyPr>
          <a:lstStyle/>
          <a:p>
            <a:pPr>
              <a:lnSpc>
                <a:spcPct val="90000"/>
              </a:lnSpc>
            </a:pPr>
            <a:r>
              <a:rPr lang="de-CH" sz="3000" dirty="0" err="1" smtClean="0">
                <a:solidFill>
                  <a:srgbClr val="000000"/>
                </a:solidFill>
                <a:latin typeface="Arial"/>
              </a:rPr>
              <a:t>Our</a:t>
            </a:r>
            <a:r>
              <a:rPr lang="de-CH" sz="3000" dirty="0" smtClean="0">
                <a:solidFill>
                  <a:srgbClr val="000000"/>
                </a:solidFill>
                <a:latin typeface="Arial"/>
              </a:rPr>
              <a:t> </a:t>
            </a:r>
            <a:r>
              <a:rPr lang="de-CH" sz="3000" dirty="0" err="1" smtClean="0">
                <a:solidFill>
                  <a:srgbClr val="000000"/>
                </a:solidFill>
                <a:latin typeface="Arial"/>
              </a:rPr>
              <a:t>investment</a:t>
            </a:r>
            <a:r>
              <a:rPr lang="de-CH" sz="3000" dirty="0" smtClean="0">
                <a:solidFill>
                  <a:srgbClr val="000000"/>
                </a:solidFill>
                <a:latin typeface="Arial"/>
              </a:rPr>
              <a:t> </a:t>
            </a:r>
            <a:r>
              <a:rPr lang="de-CH" sz="3000" dirty="0" err="1" smtClean="0">
                <a:solidFill>
                  <a:srgbClr val="000000"/>
                </a:solidFill>
                <a:latin typeface="Arial"/>
              </a:rPr>
              <a:t>approach</a:t>
            </a:r>
            <a:endParaRPr lang="de-CH" sz="3000" dirty="0">
              <a:solidFill>
                <a:srgbClr val="000000"/>
              </a:solidFill>
              <a:latin typeface="Arial"/>
            </a:endParaRPr>
          </a:p>
        </p:txBody>
      </p:sp>
      <p:sp>
        <p:nvSpPr>
          <p:cNvPr id="7" name="TocEntry4">
            <a:hlinkClick r:id="" action="ppaction://noaction"/>
          </p:cNvPr>
          <p:cNvSpPr txBox="1"/>
          <p:nvPr>
            <p:custDataLst>
              <p:tags r:id="rId4"/>
            </p:custDataLst>
          </p:nvPr>
        </p:nvSpPr>
        <p:spPr>
          <a:xfrm>
            <a:off x="952500" y="3526144"/>
            <a:ext cx="9289131" cy="415498"/>
          </a:xfrm>
          <a:prstGeom prst="rect">
            <a:avLst/>
          </a:prstGeom>
          <a:noFill/>
        </p:spPr>
        <p:txBody>
          <a:bodyPr vert="horz" wrap="square" lIns="0" tIns="0" rIns="0" bIns="0" rtlCol="0">
            <a:spAutoFit/>
          </a:bodyPr>
          <a:lstStyle/>
          <a:p>
            <a:pPr>
              <a:lnSpc>
                <a:spcPct val="90000"/>
              </a:lnSpc>
            </a:pPr>
            <a:r>
              <a:rPr lang="de-CH" sz="3000" b="1" dirty="0" smtClean="0">
                <a:solidFill>
                  <a:srgbClr val="000000"/>
                </a:solidFill>
                <a:latin typeface="Arial"/>
              </a:rPr>
              <a:t>Vontobel Specials Swiss </a:t>
            </a:r>
            <a:r>
              <a:rPr lang="de-CH" sz="3000" b="1" dirty="0" err="1" smtClean="0">
                <a:solidFill>
                  <a:srgbClr val="000000"/>
                </a:solidFill>
                <a:latin typeface="Arial"/>
              </a:rPr>
              <a:t>Equities</a:t>
            </a:r>
            <a:endParaRPr lang="de-CH" sz="3000" b="1" dirty="0">
              <a:solidFill>
                <a:srgbClr val="000000"/>
              </a:solidFill>
              <a:latin typeface="Arial"/>
            </a:endParaRPr>
          </a:p>
        </p:txBody>
      </p:sp>
      <p:sp>
        <p:nvSpPr>
          <p:cNvPr id="8" name="TocEntry5">
            <a:hlinkClick r:id="" action="ppaction://noaction"/>
          </p:cNvPr>
          <p:cNvSpPr txBox="1"/>
          <p:nvPr>
            <p:custDataLst>
              <p:tags r:id="rId5"/>
            </p:custDataLst>
          </p:nvPr>
        </p:nvSpPr>
        <p:spPr>
          <a:xfrm>
            <a:off x="952500" y="4017842"/>
            <a:ext cx="9289131" cy="415498"/>
          </a:xfrm>
          <a:prstGeom prst="rect">
            <a:avLst/>
          </a:prstGeom>
          <a:noFill/>
        </p:spPr>
        <p:txBody>
          <a:bodyPr vert="horz" wrap="square" lIns="0" tIns="0" rIns="0" bIns="0" rtlCol="0">
            <a:spAutoFit/>
          </a:bodyPr>
          <a:lstStyle/>
          <a:p>
            <a:pPr>
              <a:lnSpc>
                <a:spcPct val="90000"/>
              </a:lnSpc>
            </a:pPr>
            <a:r>
              <a:rPr lang="de-CH" sz="3000" smtClean="0">
                <a:solidFill>
                  <a:srgbClr val="000000"/>
                </a:solidFill>
                <a:latin typeface="Arial"/>
              </a:rPr>
              <a:t>Appendix</a:t>
            </a:r>
            <a:endParaRPr lang="de-CH" sz="3000" dirty="0">
              <a:solidFill>
                <a:srgbClr val="000000"/>
              </a:solidFill>
              <a:latin typeface="Arial"/>
            </a:endParaRPr>
          </a:p>
        </p:txBody>
      </p:sp>
    </p:spTree>
    <p:extLst>
      <p:ext uri="{BB962C8B-B14F-4D97-AF65-F5344CB8AC3E}">
        <p14:creationId xmlns:p14="http://schemas.microsoft.com/office/powerpoint/2010/main" val="28722465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p:cNvGraphicFramePr>
            <a:graphicFrameLocks noChangeAspect="1"/>
          </p:cNvGraphicFramePr>
          <p:nvPr>
            <p:custDataLst>
              <p:tags r:id="rId2"/>
            </p:custDataLst>
            <p:extLst>
              <p:ext uri="{D42A27DB-BD31-4B8C-83A1-F6EECF244321}">
                <p14:modId xmlns:p14="http://schemas.microsoft.com/office/powerpoint/2010/main" val="11393634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840" name="think-cell Slide" r:id="rId4" imgW="360" imgH="360" progId="TCLayout.ActiveDocument.1">
                  <p:embed/>
                </p:oleObj>
              </mc:Choice>
              <mc:Fallback>
                <p:oleObj name="think-cell Slide" r:id="rId4" imgW="360" imgH="360" progId="TCLayout.ActiveDocument.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449362" y="440929"/>
            <a:ext cx="7272808" cy="674612"/>
          </a:xfrm>
        </p:spPr>
        <p:txBody>
          <a:bodyPr/>
          <a:lstStyle/>
          <a:p>
            <a:r>
              <a:rPr lang="en-US" dirty="0" smtClean="0"/>
              <a:t/>
            </a:r>
            <a:br>
              <a:rPr lang="en-US" dirty="0" smtClean="0"/>
            </a:br>
            <a:r>
              <a:rPr lang="en-US" dirty="0" smtClean="0"/>
              <a:t>Product information </a:t>
            </a:r>
            <a:endParaRPr lang="en-US" dirty="0"/>
          </a:p>
        </p:txBody>
      </p:sp>
      <p:sp>
        <p:nvSpPr>
          <p:cNvPr id="6" name="Rectangle 5"/>
          <p:cNvSpPr/>
          <p:nvPr/>
        </p:nvSpPr>
        <p:spPr bwMode="gray">
          <a:xfrm>
            <a:off x="449998" y="1482775"/>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pPr>
              <a:buClr>
                <a:srgbClr val="2D4B84"/>
              </a:buClr>
            </a:pPr>
            <a:r>
              <a:rPr lang="en-US" sz="1400" b="1" dirty="0" smtClean="0"/>
              <a:t>Product</a:t>
            </a:r>
            <a:endParaRPr lang="en-US" sz="1400" b="1" dirty="0"/>
          </a:p>
        </p:txBody>
      </p:sp>
      <p:sp>
        <p:nvSpPr>
          <p:cNvPr id="7" name="Rectangle 6"/>
          <p:cNvSpPr/>
          <p:nvPr/>
        </p:nvSpPr>
        <p:spPr bwMode="gray">
          <a:xfrm>
            <a:off x="449998" y="2001355"/>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pPr>
              <a:buClr>
                <a:srgbClr val="2D4B84"/>
              </a:buClr>
            </a:pPr>
            <a:r>
              <a:rPr lang="en-US" sz="1400" b="1" dirty="0" smtClean="0"/>
              <a:t>Investment strategy</a:t>
            </a:r>
            <a:endParaRPr lang="en-US" sz="1400" b="1" dirty="0"/>
          </a:p>
        </p:txBody>
      </p:sp>
      <p:sp>
        <p:nvSpPr>
          <p:cNvPr id="8" name="Rectangle 7"/>
          <p:cNvSpPr/>
          <p:nvPr/>
        </p:nvSpPr>
        <p:spPr bwMode="gray">
          <a:xfrm>
            <a:off x="449998" y="2519935"/>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r>
              <a:rPr lang="en-US" sz="1400" b="1" dirty="0" smtClean="0">
                <a:solidFill>
                  <a:srgbClr val="FFFFFF"/>
                </a:solidFill>
              </a:rPr>
              <a:t>Investment strategy</a:t>
            </a:r>
            <a:endParaRPr lang="en-US" sz="1400" b="1" dirty="0">
              <a:solidFill>
                <a:srgbClr val="FFFFFF"/>
              </a:solidFill>
            </a:endParaRPr>
          </a:p>
        </p:txBody>
      </p:sp>
      <p:sp>
        <p:nvSpPr>
          <p:cNvPr id="9" name="Rectangle 8"/>
          <p:cNvSpPr/>
          <p:nvPr/>
        </p:nvSpPr>
        <p:spPr bwMode="gray">
          <a:xfrm>
            <a:off x="449998" y="3038515"/>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r>
              <a:rPr lang="en-US" sz="1400" b="1" dirty="0" smtClean="0">
                <a:solidFill>
                  <a:srgbClr val="FFFFFF"/>
                </a:solidFill>
              </a:rPr>
              <a:t>Investment instructions</a:t>
            </a:r>
            <a:endParaRPr lang="en-US" sz="1400" b="1" dirty="0">
              <a:solidFill>
                <a:srgbClr val="FFFFFF"/>
              </a:solidFill>
            </a:endParaRPr>
          </a:p>
        </p:txBody>
      </p:sp>
      <p:sp>
        <p:nvSpPr>
          <p:cNvPr id="18" name="Rectangle 17"/>
          <p:cNvSpPr/>
          <p:nvPr/>
        </p:nvSpPr>
        <p:spPr bwMode="gray">
          <a:xfrm>
            <a:off x="449998" y="3557095"/>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pPr>
              <a:buClr>
                <a:srgbClr val="2D4B84"/>
              </a:buClr>
            </a:pPr>
            <a:r>
              <a:rPr lang="en-US" sz="1400" b="1" dirty="0" smtClean="0">
                <a:solidFill>
                  <a:srgbClr val="FFFFFF"/>
                </a:solidFill>
              </a:rPr>
              <a:t>Investment universe</a:t>
            </a:r>
            <a:endParaRPr lang="en-US" sz="1400" b="1" dirty="0">
              <a:solidFill>
                <a:srgbClr val="FFFFFF"/>
              </a:solidFill>
            </a:endParaRPr>
          </a:p>
        </p:txBody>
      </p:sp>
      <p:sp>
        <p:nvSpPr>
          <p:cNvPr id="19" name="Rectangle 18"/>
          <p:cNvSpPr/>
          <p:nvPr/>
        </p:nvSpPr>
        <p:spPr bwMode="gray">
          <a:xfrm>
            <a:off x="449998" y="4075675"/>
            <a:ext cx="2519363" cy="504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r>
              <a:rPr lang="en-US" sz="1400" b="1" dirty="0" smtClean="0">
                <a:solidFill>
                  <a:srgbClr val="FFFFFF"/>
                </a:solidFill>
              </a:rPr>
              <a:t>Benchmark</a:t>
            </a:r>
            <a:endParaRPr lang="en-US" sz="1400" b="1" dirty="0">
              <a:solidFill>
                <a:srgbClr val="FFFFFF"/>
              </a:solidFill>
            </a:endParaRPr>
          </a:p>
        </p:txBody>
      </p:sp>
      <p:sp>
        <p:nvSpPr>
          <p:cNvPr id="20" name="Rectangle 19"/>
          <p:cNvSpPr/>
          <p:nvPr/>
        </p:nvSpPr>
        <p:spPr bwMode="gray">
          <a:xfrm>
            <a:off x="449998" y="4630255"/>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pPr>
              <a:buClr>
                <a:srgbClr val="2D4B84"/>
              </a:buClr>
            </a:pPr>
            <a:r>
              <a:rPr lang="en-US" sz="1400" b="1" dirty="0" smtClean="0">
                <a:solidFill>
                  <a:srgbClr val="FFFFFF"/>
                </a:solidFill>
              </a:rPr>
              <a:t>Fee model</a:t>
            </a:r>
            <a:endParaRPr lang="en-US" sz="1400" b="1" dirty="0">
              <a:solidFill>
                <a:srgbClr val="FFFFFF"/>
              </a:solidFill>
            </a:endParaRPr>
          </a:p>
        </p:txBody>
      </p:sp>
      <p:sp>
        <p:nvSpPr>
          <p:cNvPr id="11" name="Content Placeholder 4"/>
          <p:cNvSpPr txBox="1">
            <a:spLocks/>
          </p:cNvSpPr>
          <p:nvPr/>
        </p:nvSpPr>
        <p:spPr>
          <a:xfrm>
            <a:off x="3060700" y="1495426"/>
            <a:ext cx="7180363" cy="430887"/>
          </a:xfrm>
          <a:prstGeom prst="rect">
            <a:avLst/>
          </a:prstGeom>
        </p:spPr>
        <p:txBody>
          <a:bodyPr wrap="square" lIns="0" tIns="0" rIns="0" bIns="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lnSpc>
                <a:spcPct val="100000"/>
              </a:lnSpc>
            </a:pPr>
            <a:r>
              <a:rPr lang="en-US" sz="1400" dirty="0"/>
              <a:t>Discretionary, focused mandate solution, which invests in Swiss equities. Stock selection is based on an active investment approach</a:t>
            </a:r>
          </a:p>
        </p:txBody>
      </p:sp>
      <p:sp>
        <p:nvSpPr>
          <p:cNvPr id="12" name="Content Placeholder 4"/>
          <p:cNvSpPr txBox="1">
            <a:spLocks/>
          </p:cNvSpPr>
          <p:nvPr/>
        </p:nvSpPr>
        <p:spPr>
          <a:xfrm>
            <a:off x="3060700" y="2127633"/>
            <a:ext cx="7180363" cy="215444"/>
          </a:xfrm>
          <a:prstGeom prst="rect">
            <a:avLst/>
          </a:prstGeom>
        </p:spPr>
        <p:txBody>
          <a:bodyPr wrap="square" lIns="0" tIns="0" rIns="0" bIns="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lnSpc>
                <a:spcPct val="100000"/>
              </a:lnSpc>
            </a:pPr>
            <a:r>
              <a:rPr lang="en-US" sz="1400" dirty="0"/>
              <a:t>Single asset class strategy, Swiss equities (growth)</a:t>
            </a:r>
          </a:p>
        </p:txBody>
      </p:sp>
      <p:sp>
        <p:nvSpPr>
          <p:cNvPr id="13" name="Content Placeholder 4"/>
          <p:cNvSpPr txBox="1">
            <a:spLocks/>
          </p:cNvSpPr>
          <p:nvPr/>
        </p:nvSpPr>
        <p:spPr>
          <a:xfrm>
            <a:off x="3060700" y="2648682"/>
            <a:ext cx="7180363" cy="226216"/>
          </a:xfrm>
          <a:prstGeom prst="rect">
            <a:avLst/>
          </a:prstGeom>
        </p:spPr>
        <p:txBody>
          <a:bodyPr wrap="square" lIns="0" tIns="0" rIns="0" bIns="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600"/>
              </a:spcAft>
            </a:pPr>
            <a:r>
              <a:rPr lang="en-US" sz="1400" dirty="0" smtClean="0"/>
              <a:t>CHF</a:t>
            </a:r>
            <a:endParaRPr lang="en-US" sz="1400" dirty="0"/>
          </a:p>
        </p:txBody>
      </p:sp>
      <p:sp>
        <p:nvSpPr>
          <p:cNvPr id="23" name="Content Placeholder 4"/>
          <p:cNvSpPr txBox="1">
            <a:spLocks/>
          </p:cNvSpPr>
          <p:nvPr/>
        </p:nvSpPr>
        <p:spPr>
          <a:xfrm>
            <a:off x="3060700" y="3167262"/>
            <a:ext cx="7180363" cy="226216"/>
          </a:xfrm>
          <a:prstGeom prst="rect">
            <a:avLst/>
          </a:prstGeom>
        </p:spPr>
        <p:txBody>
          <a:bodyPr wrap="square" lIns="0" tIns="0" rIns="0" bIns="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600"/>
              </a:spcAft>
            </a:pPr>
            <a:r>
              <a:rPr lang="en-US" sz="1400" dirty="0" smtClean="0"/>
              <a:t>Investment instructions are possible for amounts starting at CHF 3,000,000</a:t>
            </a:r>
            <a:endParaRPr lang="en-US" sz="1400" dirty="0"/>
          </a:p>
        </p:txBody>
      </p:sp>
      <p:sp>
        <p:nvSpPr>
          <p:cNvPr id="26" name="Content Placeholder 4"/>
          <p:cNvSpPr txBox="1">
            <a:spLocks/>
          </p:cNvSpPr>
          <p:nvPr/>
        </p:nvSpPr>
        <p:spPr>
          <a:xfrm>
            <a:off x="3060700" y="3557095"/>
            <a:ext cx="7180363" cy="452432"/>
          </a:xfrm>
          <a:prstGeom prst="rect">
            <a:avLst/>
          </a:prstGeom>
        </p:spPr>
        <p:txBody>
          <a:bodyPr wrap="square" lIns="0" tIns="0" rIns="0" bIns="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600"/>
              </a:spcAft>
            </a:pPr>
            <a:r>
              <a:rPr lang="en-US" sz="1400" dirty="0"/>
              <a:t>Direct investments in shares. Investment funds/ETFs, structured products and derivatives are only used in exceptional cases</a:t>
            </a:r>
          </a:p>
        </p:txBody>
      </p:sp>
      <p:sp>
        <p:nvSpPr>
          <p:cNvPr id="27" name="Content Placeholder 4"/>
          <p:cNvSpPr txBox="1">
            <a:spLocks/>
          </p:cNvSpPr>
          <p:nvPr/>
        </p:nvSpPr>
        <p:spPr>
          <a:xfrm>
            <a:off x="3060700" y="4219953"/>
            <a:ext cx="7180363" cy="215444"/>
          </a:xfrm>
          <a:prstGeom prst="rect">
            <a:avLst/>
          </a:prstGeom>
        </p:spPr>
        <p:txBody>
          <a:bodyPr wrap="square" lIns="0" tIns="0" rIns="0" bIns="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lnSpc>
                <a:spcPct val="100000"/>
              </a:lnSpc>
            </a:pPr>
            <a:r>
              <a:rPr lang="en-US" sz="1400" dirty="0" smtClean="0"/>
              <a:t>Swiss Performance Index (SPI)</a:t>
            </a:r>
            <a:endParaRPr lang="en-US" sz="1400" dirty="0"/>
          </a:p>
        </p:txBody>
      </p:sp>
      <p:sp>
        <p:nvSpPr>
          <p:cNvPr id="28" name="Content Placeholder 4"/>
          <p:cNvSpPr txBox="1">
            <a:spLocks/>
          </p:cNvSpPr>
          <p:nvPr/>
        </p:nvSpPr>
        <p:spPr>
          <a:xfrm>
            <a:off x="3060700" y="4751147"/>
            <a:ext cx="7180363" cy="226216"/>
          </a:xfrm>
          <a:prstGeom prst="rect">
            <a:avLst/>
          </a:prstGeom>
        </p:spPr>
        <p:txBody>
          <a:bodyPr wrap="square" lIns="0" tIns="0" rIns="0" bIns="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600"/>
              </a:spcAft>
            </a:pPr>
            <a:r>
              <a:rPr lang="en-US" sz="1400" dirty="0" smtClean="0"/>
              <a:t>All-in fee model</a:t>
            </a:r>
            <a:endParaRPr lang="en-US" sz="1400" dirty="0"/>
          </a:p>
        </p:txBody>
      </p:sp>
      <p:sp>
        <p:nvSpPr>
          <p:cNvPr id="29" name="Rectangle 28"/>
          <p:cNvSpPr/>
          <p:nvPr/>
        </p:nvSpPr>
        <p:spPr bwMode="gray">
          <a:xfrm>
            <a:off x="449998" y="5667414"/>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pPr>
              <a:buClr>
                <a:srgbClr val="2D4B84"/>
              </a:buClr>
            </a:pPr>
            <a:r>
              <a:rPr lang="en-US" sz="1400" b="1" dirty="0" smtClean="0"/>
              <a:t>Minimum investment</a:t>
            </a:r>
            <a:endParaRPr lang="en-US" sz="1400" b="1" dirty="0"/>
          </a:p>
        </p:txBody>
      </p:sp>
      <p:sp>
        <p:nvSpPr>
          <p:cNvPr id="30" name="Rectangle 29"/>
          <p:cNvSpPr/>
          <p:nvPr/>
        </p:nvSpPr>
        <p:spPr bwMode="gray">
          <a:xfrm>
            <a:off x="449263" y="6185995"/>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pPr>
              <a:buClr>
                <a:srgbClr val="2D4B84"/>
              </a:buClr>
            </a:pPr>
            <a:r>
              <a:rPr lang="en-US" sz="1400" b="1" dirty="0" smtClean="0"/>
              <a:t>Structure</a:t>
            </a:r>
            <a:endParaRPr lang="en-US" sz="1400" b="1" dirty="0"/>
          </a:p>
        </p:txBody>
      </p:sp>
      <p:sp>
        <p:nvSpPr>
          <p:cNvPr id="31" name="Content Placeholder 4"/>
          <p:cNvSpPr txBox="1">
            <a:spLocks/>
          </p:cNvSpPr>
          <p:nvPr/>
        </p:nvSpPr>
        <p:spPr>
          <a:xfrm>
            <a:off x="3060700" y="5667414"/>
            <a:ext cx="3600000" cy="452432"/>
          </a:xfrm>
          <a:prstGeom prst="rect">
            <a:avLst/>
          </a:prstGeom>
        </p:spPr>
        <p:txBody>
          <a:bodyPr wrap="square" lIns="0" tIns="0" rIns="0" bIns="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600"/>
              </a:spcAft>
            </a:pPr>
            <a:r>
              <a:rPr lang="en-US" sz="1400" dirty="0" smtClean="0"/>
              <a:t>CHF 250,000 or equivalent in foreign currency</a:t>
            </a:r>
            <a:endParaRPr lang="en-US" sz="1400" dirty="0"/>
          </a:p>
        </p:txBody>
      </p:sp>
      <p:sp>
        <p:nvSpPr>
          <p:cNvPr id="32" name="Content Placeholder 4"/>
          <p:cNvSpPr txBox="1">
            <a:spLocks/>
          </p:cNvSpPr>
          <p:nvPr/>
        </p:nvSpPr>
        <p:spPr>
          <a:xfrm>
            <a:off x="3060700" y="6185995"/>
            <a:ext cx="3600000" cy="452432"/>
          </a:xfrm>
          <a:prstGeom prst="rect">
            <a:avLst/>
          </a:prstGeom>
        </p:spPr>
        <p:txBody>
          <a:bodyPr wrap="square" lIns="0" tIns="0" rIns="0" bIns="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600"/>
              </a:spcAft>
            </a:pPr>
            <a:r>
              <a:rPr lang="en-US" sz="1400" dirty="0"/>
              <a:t>10-15 individual shares, </a:t>
            </a:r>
            <a:br>
              <a:rPr lang="en-US" sz="1400" dirty="0"/>
            </a:br>
            <a:r>
              <a:rPr lang="en-US" sz="1400" dirty="0"/>
              <a:t>combined with investment funds/ ETFs</a:t>
            </a:r>
          </a:p>
        </p:txBody>
      </p:sp>
      <p:sp>
        <p:nvSpPr>
          <p:cNvPr id="33" name="Rectangle 32"/>
          <p:cNvSpPr/>
          <p:nvPr/>
        </p:nvSpPr>
        <p:spPr bwMode="gray">
          <a:xfrm>
            <a:off x="6807290" y="5156835"/>
            <a:ext cx="3420000" cy="468000"/>
          </a:xfrm>
          <a:prstGeom prst="rect">
            <a:avLst/>
          </a:prstGeom>
          <a:solidFill>
            <a:schemeClr val="accent1"/>
          </a:solidFill>
          <a:ln w="3175" algn="ctr">
            <a:noFill/>
            <a:miter lim="800000"/>
            <a:headEnd type="none" w="sm" len="sm"/>
            <a:tailEnd type="none" w="sm" len="sm"/>
          </a:ln>
          <a:effectLst/>
          <a:extLst/>
        </p:spPr>
        <p:txBody>
          <a:bodyPr wrap="square" lIns="108000" tIns="108000" rIns="108000" bIns="108000" rtlCol="0" anchor="ctr" anchorCtr="0"/>
          <a:lstStyle/>
          <a:p>
            <a:pPr>
              <a:buClr>
                <a:srgbClr val="2D4B84"/>
              </a:buClr>
            </a:pPr>
            <a:r>
              <a:rPr lang="en-US" sz="1400" b="1" smtClean="0">
                <a:solidFill>
                  <a:srgbClr val="FFFFFF"/>
                </a:solidFill>
              </a:rPr>
              <a:t>“Large”</a:t>
            </a:r>
            <a:endParaRPr lang="en-US" sz="1400" b="1" dirty="0">
              <a:solidFill>
                <a:srgbClr val="FFFFFF"/>
              </a:solidFill>
            </a:endParaRPr>
          </a:p>
        </p:txBody>
      </p:sp>
      <p:sp>
        <p:nvSpPr>
          <p:cNvPr id="34" name="Rectangle 33"/>
          <p:cNvSpPr/>
          <p:nvPr/>
        </p:nvSpPr>
        <p:spPr bwMode="gray">
          <a:xfrm>
            <a:off x="3060700" y="5148835"/>
            <a:ext cx="3420000" cy="468000"/>
          </a:xfrm>
          <a:prstGeom prst="rect">
            <a:avLst/>
          </a:prstGeom>
          <a:solidFill>
            <a:schemeClr val="accent1"/>
          </a:solidFill>
          <a:ln w="3175" algn="ctr">
            <a:noFill/>
            <a:miter lim="800000"/>
            <a:headEnd type="none" w="sm" len="sm"/>
            <a:tailEnd type="none" w="sm" len="sm"/>
          </a:ln>
          <a:effectLst/>
          <a:extLst/>
        </p:spPr>
        <p:txBody>
          <a:bodyPr wrap="square" lIns="108000" tIns="108000" rIns="108000" bIns="108000" rtlCol="0" anchor="ctr" anchorCtr="0"/>
          <a:lstStyle/>
          <a:p>
            <a:pPr>
              <a:buClr>
                <a:srgbClr val="2D4B84"/>
              </a:buClr>
            </a:pPr>
            <a:r>
              <a:rPr lang="en-US" sz="1400" b="1" smtClean="0">
                <a:solidFill>
                  <a:srgbClr val="FFFFFF"/>
                </a:solidFill>
              </a:rPr>
              <a:t>“Small”</a:t>
            </a:r>
            <a:endParaRPr lang="en-US" sz="1400" b="1" dirty="0">
              <a:solidFill>
                <a:srgbClr val="FFFFFF"/>
              </a:solidFill>
            </a:endParaRPr>
          </a:p>
        </p:txBody>
      </p:sp>
      <p:sp>
        <p:nvSpPr>
          <p:cNvPr id="35" name="Content Placeholder 4"/>
          <p:cNvSpPr txBox="1">
            <a:spLocks/>
          </p:cNvSpPr>
          <p:nvPr/>
        </p:nvSpPr>
        <p:spPr>
          <a:xfrm>
            <a:off x="6807290" y="5667414"/>
            <a:ext cx="3600000" cy="452432"/>
          </a:xfrm>
          <a:prstGeom prst="rect">
            <a:avLst/>
          </a:prstGeom>
        </p:spPr>
        <p:txBody>
          <a:bodyPr wrap="square" lIns="0" tIns="0" rIns="0" bIns="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600"/>
              </a:spcAft>
            </a:pPr>
            <a:r>
              <a:rPr lang="en-US" sz="1400" dirty="0" smtClean="0"/>
              <a:t>CHF 500,000 or equivalent in foreign currency</a:t>
            </a:r>
            <a:endParaRPr lang="en-US" sz="1400" dirty="0"/>
          </a:p>
        </p:txBody>
      </p:sp>
      <p:sp>
        <p:nvSpPr>
          <p:cNvPr id="36" name="Content Placeholder 4"/>
          <p:cNvSpPr txBox="1">
            <a:spLocks/>
          </p:cNvSpPr>
          <p:nvPr/>
        </p:nvSpPr>
        <p:spPr>
          <a:xfrm>
            <a:off x="6807290" y="6298885"/>
            <a:ext cx="3600000" cy="226216"/>
          </a:xfrm>
          <a:prstGeom prst="rect">
            <a:avLst/>
          </a:prstGeom>
        </p:spPr>
        <p:txBody>
          <a:bodyPr wrap="square" lIns="0" tIns="0" rIns="0" bIns="0">
            <a:spAutoFit/>
          </a:bodyPr>
          <a:lstStyle>
            <a:lvl1pPr marL="179388" indent="-179388" algn="l" defTabSz="986912" rtl="0" eaLnBrk="1" latinLnBrk="0" hangingPunct="1">
              <a:lnSpc>
                <a:spcPct val="105000"/>
              </a:lnSpc>
              <a:spcBef>
                <a:spcPts val="0"/>
              </a:spcBef>
              <a:buClr>
                <a:srgbClr val="000000"/>
              </a:buClr>
              <a:buFont typeface="Arial" panose="020B0604020202020204" pitchFamily="34" charset="0"/>
              <a:buChar char="–"/>
              <a:defRPr sz="1600" b="0" kern="1200">
                <a:solidFill>
                  <a:schemeClr val="tx1"/>
                </a:solidFill>
                <a:latin typeface="+mn-lt"/>
                <a:ea typeface="+mn-ea"/>
                <a:cs typeface="+mn-cs"/>
              </a:defRPr>
            </a:lvl1pPr>
            <a:lvl2pPr marL="358775" indent="-179388" algn="l" defTabSz="986912" rtl="0" eaLnBrk="1" latinLnBrk="0" hangingPunct="1">
              <a:lnSpc>
                <a:spcPct val="105000"/>
              </a:lnSpc>
              <a:spcBef>
                <a:spcPts val="0"/>
              </a:spcBef>
              <a:buClr>
                <a:srgbClr val="000000"/>
              </a:buClr>
              <a:buFont typeface="Arial" panose="020B0604020202020204" pitchFamily="34" charset="0"/>
              <a:buChar char="–"/>
              <a:defRPr sz="1400" kern="1200">
                <a:solidFill>
                  <a:schemeClr val="tx1"/>
                </a:solidFill>
                <a:latin typeface="+mn-lt"/>
                <a:ea typeface="+mn-ea"/>
                <a:cs typeface="+mn-cs"/>
              </a:defRPr>
            </a:lvl2pPr>
            <a:lvl3pPr marL="538163" indent="-179388" algn="l" defTabSz="986912" rtl="0" eaLnBrk="1" latinLnBrk="0" hangingPunct="1">
              <a:lnSpc>
                <a:spcPct val="105000"/>
              </a:lnSpc>
              <a:spcBef>
                <a:spcPts val="0"/>
              </a:spcBef>
              <a:buClr>
                <a:srgbClr val="000000"/>
              </a:buClr>
              <a:buFont typeface="Arial" panose="020B0604020202020204" pitchFamily="34" charset="0"/>
              <a:buChar char="–"/>
              <a:defRPr sz="1200" kern="1200">
                <a:solidFill>
                  <a:schemeClr val="tx1"/>
                </a:solidFill>
                <a:latin typeface="+mn-lt"/>
                <a:ea typeface="+mn-ea"/>
                <a:cs typeface="+mn-cs"/>
              </a:defRPr>
            </a:lvl3pPr>
            <a:lvl4pPr marL="719138" indent="-180975"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4pPr>
            <a:lvl5pPr marL="898525" indent="-179388" algn="l" defTabSz="986912" rtl="0" eaLnBrk="1" latinLnBrk="0" hangingPunct="1">
              <a:lnSpc>
                <a:spcPct val="105000"/>
              </a:lnSpc>
              <a:spcBef>
                <a:spcPts val="0"/>
              </a:spcBef>
              <a:buClr>
                <a:srgbClr val="000000"/>
              </a:buClr>
              <a:buFont typeface="Arial" panose="020B0604020202020204" pitchFamily="34" charset="0"/>
              <a:buChar char="–"/>
              <a:defRPr sz="1000" kern="1200">
                <a:solidFill>
                  <a:schemeClr val="tx1"/>
                </a:solidFill>
                <a:latin typeface="+mn-lt"/>
                <a:ea typeface="+mn-ea"/>
                <a:cs typeface="+mn-cs"/>
              </a:defRPr>
            </a:lvl5pPr>
            <a:lvl6pPr marL="1077913"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6pPr>
            <a:lvl7pPr marL="1257300"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7pPr>
            <a:lvl8pPr marL="1436688"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8pPr>
            <a:lvl9pPr marL="1616075" indent="-179388" algn="l" defTabSz="986912" rtl="0" eaLnBrk="1" latinLnBrk="0" hangingPunct="1">
              <a:lnSpc>
                <a:spcPct val="105000"/>
              </a:lnSpc>
              <a:spcBef>
                <a:spcPts val="0"/>
              </a:spcBef>
              <a:buFont typeface="Arial" panose="020B0604020202020204" pitchFamily="34" charset="0"/>
              <a:buChar char="–"/>
              <a:defRPr sz="1000" kern="1200">
                <a:solidFill>
                  <a:schemeClr val="tx1"/>
                </a:solidFill>
                <a:latin typeface="+mn-lt"/>
                <a:ea typeface="+mn-ea"/>
                <a:cs typeface="+mn-cs"/>
              </a:defRPr>
            </a:lvl9pPr>
          </a:lstStyle>
          <a:p>
            <a:pPr>
              <a:spcAft>
                <a:spcPts val="600"/>
              </a:spcAft>
            </a:pPr>
            <a:r>
              <a:rPr lang="en-US" sz="1400" dirty="0" smtClean="0"/>
              <a:t>25-30 individual shares</a:t>
            </a:r>
            <a:endParaRPr lang="en-US" sz="1400" dirty="0"/>
          </a:p>
        </p:txBody>
      </p:sp>
      <p:sp>
        <p:nvSpPr>
          <p:cNvPr id="37" name="Rectangle 36"/>
          <p:cNvSpPr/>
          <p:nvPr/>
        </p:nvSpPr>
        <p:spPr bwMode="gray">
          <a:xfrm>
            <a:off x="449998" y="2499898"/>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r>
              <a:rPr lang="en-US" sz="1400" b="1" dirty="0" smtClean="0"/>
              <a:t>Investment strategy</a:t>
            </a:r>
            <a:endParaRPr lang="en-US" sz="1400" b="1" dirty="0"/>
          </a:p>
        </p:txBody>
      </p:sp>
      <p:sp>
        <p:nvSpPr>
          <p:cNvPr id="38" name="Rectangle 37"/>
          <p:cNvSpPr/>
          <p:nvPr/>
        </p:nvSpPr>
        <p:spPr bwMode="gray">
          <a:xfrm>
            <a:off x="449998" y="3018478"/>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r>
              <a:rPr lang="en-US" sz="1400" b="1" dirty="0" smtClean="0"/>
              <a:t>Investment instructions</a:t>
            </a:r>
            <a:endParaRPr lang="en-US" sz="1400" b="1" dirty="0"/>
          </a:p>
        </p:txBody>
      </p:sp>
      <p:sp>
        <p:nvSpPr>
          <p:cNvPr id="39" name="Rectangle 38"/>
          <p:cNvSpPr/>
          <p:nvPr/>
        </p:nvSpPr>
        <p:spPr bwMode="gray">
          <a:xfrm>
            <a:off x="449998" y="3537058"/>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pPr>
              <a:buClr>
                <a:srgbClr val="2D4B84"/>
              </a:buClr>
            </a:pPr>
            <a:r>
              <a:rPr lang="en-US" sz="1400" b="1" dirty="0" smtClean="0"/>
              <a:t>Investment universe</a:t>
            </a:r>
            <a:endParaRPr lang="en-US" sz="1400" b="1" dirty="0"/>
          </a:p>
        </p:txBody>
      </p:sp>
      <p:sp>
        <p:nvSpPr>
          <p:cNvPr id="40" name="Rectangle 39"/>
          <p:cNvSpPr/>
          <p:nvPr/>
        </p:nvSpPr>
        <p:spPr bwMode="gray">
          <a:xfrm>
            <a:off x="449998" y="4055638"/>
            <a:ext cx="2519363" cy="504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r>
              <a:rPr lang="en-US" sz="1400" b="1" dirty="0" smtClean="0"/>
              <a:t>Benchmark</a:t>
            </a:r>
            <a:endParaRPr lang="en-US" sz="1400" b="1" dirty="0"/>
          </a:p>
        </p:txBody>
      </p:sp>
      <p:sp>
        <p:nvSpPr>
          <p:cNvPr id="41" name="Rectangle 40"/>
          <p:cNvSpPr/>
          <p:nvPr/>
        </p:nvSpPr>
        <p:spPr bwMode="gray">
          <a:xfrm>
            <a:off x="449998" y="4610218"/>
            <a:ext cx="2519363" cy="468000"/>
          </a:xfrm>
          <a:prstGeom prst="rect">
            <a:avLst/>
          </a:prstGeom>
          <a:solidFill>
            <a:schemeClr val="lt2"/>
          </a:solidFill>
          <a:ln w="3175" algn="ctr">
            <a:noFill/>
            <a:miter lim="800000"/>
            <a:headEnd type="none" w="sm" len="sm"/>
            <a:tailEnd type="none" w="sm" len="sm"/>
          </a:ln>
          <a:effectLst/>
          <a:extLst/>
        </p:spPr>
        <p:txBody>
          <a:bodyPr wrap="square" lIns="108000" tIns="108000" rIns="108000" bIns="108000" rtlCol="0" anchor="ctr" anchorCtr="0"/>
          <a:lstStyle/>
          <a:p>
            <a:pPr>
              <a:buClr>
                <a:srgbClr val="2D4B84"/>
              </a:buClr>
            </a:pPr>
            <a:r>
              <a:rPr lang="en-US" sz="1400" b="1" dirty="0" smtClean="0"/>
              <a:t>Fee model</a:t>
            </a:r>
            <a:endParaRPr lang="en-US" sz="1400" b="1" dirty="0"/>
          </a:p>
        </p:txBody>
      </p:sp>
    </p:spTree>
    <p:extLst>
      <p:ext uri="{BB962C8B-B14F-4D97-AF65-F5344CB8AC3E}">
        <p14:creationId xmlns:p14="http://schemas.microsoft.com/office/powerpoint/2010/main" val="35015076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2"/>
            </p:custDataLst>
          </p:nvPr>
        </p:nvSpPr>
        <p:spPr bwMode="gray">
          <a:xfrm>
            <a:off x="0" y="6810300"/>
            <a:ext cx="10691813" cy="127000"/>
          </a:xfrm>
          <a:prstGeom prst="rect">
            <a:avLst/>
          </a:prstGeom>
          <a:solidFill>
            <a:srgbClr val="FFFFFF"/>
          </a:solidFill>
          <a:ln w="3175" algn="ctr">
            <a:noFill/>
            <a:miter lim="800000"/>
            <a:headEnd type="none" w="sm" len="sm"/>
            <a:tailEnd type="none" w="sm" len="sm"/>
          </a:ln>
          <a:effectLst/>
          <a:extLst/>
        </p:spPr>
        <p:txBody>
          <a:bodyPr wrap="square" lIns="36000" tIns="36000" rIns="36000" bIns="36000" rtlCol="0" anchor="t" anchorCtr="0"/>
          <a:lstStyle/>
          <a:p>
            <a:pPr algn="ctr" eaLnBrk="1" fontAlgn="auto" hangingPunct="1">
              <a:spcBef>
                <a:spcPts val="0"/>
              </a:spcBef>
              <a:spcAft>
                <a:spcPts val="0"/>
              </a:spcAft>
              <a:buClr>
                <a:srgbClr val="2D4B84"/>
              </a:buClr>
            </a:pPr>
            <a:endParaRPr lang="en-US" sz="1400" dirty="0" smtClean="0">
              <a:solidFill>
                <a:srgbClr val="000000"/>
              </a:solidFill>
              <a:latin typeface="Arial"/>
            </a:endParaRPr>
          </a:p>
        </p:txBody>
      </p:sp>
      <p:sp>
        <p:nvSpPr>
          <p:cNvPr id="2" name="Title 1"/>
          <p:cNvSpPr>
            <a:spLocks noGrp="1"/>
          </p:cNvSpPr>
          <p:nvPr>
            <p:ph type="title"/>
          </p:nvPr>
        </p:nvSpPr>
        <p:spPr/>
        <p:txBody>
          <a:bodyPr/>
          <a:lstStyle/>
          <a:p>
            <a:r>
              <a:rPr lang="en-US" altLang="en-US" dirty="0" smtClean="0"/>
              <a:t>Achieved added value</a:t>
            </a:r>
            <a:endParaRPr lang="en-US" dirty="0"/>
          </a:p>
        </p:txBody>
      </p:sp>
      <p:sp>
        <p:nvSpPr>
          <p:cNvPr id="3" name="Text Placeholder 2"/>
          <p:cNvSpPr>
            <a:spLocks noGrp="1"/>
          </p:cNvSpPr>
          <p:nvPr>
            <p:ph type="body" sz="quarter" idx="14"/>
            <p:custDataLst>
              <p:tags r:id="rId3"/>
            </p:custDataLst>
          </p:nvPr>
        </p:nvSpPr>
        <p:spPr>
          <a:xfrm>
            <a:off x="449362" y="1476375"/>
            <a:ext cx="9793188" cy="258532"/>
          </a:xfrm>
        </p:spPr>
        <p:txBody>
          <a:bodyPr/>
          <a:lstStyle/>
          <a:p>
            <a:r>
              <a:rPr lang="en-US" altLang="de-DE" dirty="0" smtClean="0">
                <a:solidFill>
                  <a:srgbClr val="000000"/>
                </a:solidFill>
              </a:rPr>
              <a:t>Performance (01.01.2012 – 28.02.2019, gross)</a:t>
            </a:r>
            <a:endParaRPr lang="en-US" dirty="0">
              <a:solidFill>
                <a:srgbClr val="000000"/>
              </a:solidFill>
            </a:endParaRPr>
          </a:p>
        </p:txBody>
      </p:sp>
      <p:sp>
        <p:nvSpPr>
          <p:cNvPr id="5" name="TextBox 4"/>
          <p:cNvSpPr txBox="1"/>
          <p:nvPr>
            <p:custDataLst>
              <p:tags r:id="rId4"/>
            </p:custDataLst>
          </p:nvPr>
        </p:nvSpPr>
        <p:spPr bwMode="gray">
          <a:xfrm>
            <a:off x="449263" y="6938897"/>
            <a:ext cx="9793287"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400">
              <a:tabLst>
                <a:tab pos="2852772" algn="l"/>
                <a:tab pos="2852937" algn="l"/>
              </a:tabLst>
            </a:pPr>
            <a:r>
              <a:rPr lang="en-US" sz="800" dirty="0" smtClean="0">
                <a:solidFill>
                  <a:srgbClr val="000000"/>
                </a:solidFill>
                <a:latin typeface="Arial"/>
              </a:rPr>
              <a:t>Performance figures are gross of fees and costs and based on individual client portfolios. Swiss Equities Benchmark consists of 95% Swiss Performance Index (SPI®) and </a:t>
            </a:r>
            <a:r>
              <a:rPr lang="de-CH" sz="800" dirty="0">
                <a:solidFill>
                  <a:srgbClr val="000000"/>
                </a:solidFill>
              </a:rPr>
              <a:t>5% JP. Morgan Cash 1 </a:t>
            </a:r>
            <a:r>
              <a:rPr lang="de-CH" sz="800" dirty="0" err="1">
                <a:solidFill>
                  <a:srgbClr val="000000"/>
                </a:solidFill>
              </a:rPr>
              <a:t>Month</a:t>
            </a:r>
            <a:r>
              <a:rPr lang="de-CH" sz="800" dirty="0">
                <a:solidFill>
                  <a:srgbClr val="000000"/>
                </a:solidFill>
              </a:rPr>
              <a:t> CHF </a:t>
            </a:r>
            <a:r>
              <a:rPr lang="de-CH" sz="800" dirty="0" smtClean="0">
                <a:solidFill>
                  <a:srgbClr val="000000"/>
                </a:solidFill>
              </a:rPr>
              <a:t>(</a:t>
            </a:r>
            <a:r>
              <a:rPr lang="de-CH" sz="800" dirty="0" err="1" smtClean="0">
                <a:solidFill>
                  <a:srgbClr val="000000"/>
                </a:solidFill>
              </a:rPr>
              <a:t>Until</a:t>
            </a:r>
            <a:r>
              <a:rPr lang="de-CH" sz="800" dirty="0" smtClean="0">
                <a:solidFill>
                  <a:srgbClr val="000000"/>
                </a:solidFill>
              </a:rPr>
              <a:t> </a:t>
            </a:r>
            <a:r>
              <a:rPr lang="de-CH" sz="800" dirty="0">
                <a:solidFill>
                  <a:srgbClr val="000000"/>
                </a:solidFill>
              </a:rPr>
              <a:t>June </a:t>
            </a:r>
            <a:r>
              <a:rPr lang="de-CH" sz="800" dirty="0" smtClean="0">
                <a:solidFill>
                  <a:srgbClr val="000000"/>
                </a:solidFill>
              </a:rPr>
              <a:t>30, </a:t>
            </a:r>
            <a:r>
              <a:rPr lang="de-CH" sz="800" dirty="0">
                <a:solidFill>
                  <a:srgbClr val="000000"/>
                </a:solidFill>
              </a:rPr>
              <a:t>2018: </a:t>
            </a:r>
            <a:r>
              <a:rPr lang="de-CH" sz="800" dirty="0" err="1" smtClean="0">
                <a:solidFill>
                  <a:srgbClr val="000000"/>
                </a:solidFill>
              </a:rPr>
              <a:t>Citigroup</a:t>
            </a:r>
            <a:r>
              <a:rPr lang="de-CH" sz="800" dirty="0" smtClean="0">
                <a:solidFill>
                  <a:srgbClr val="000000"/>
                </a:solidFill>
              </a:rPr>
              <a:t> </a:t>
            </a:r>
            <a:r>
              <a:rPr lang="de-CH" sz="800" dirty="0" err="1">
                <a:solidFill>
                  <a:srgbClr val="000000"/>
                </a:solidFill>
              </a:rPr>
              <a:t>Eurodeposit</a:t>
            </a:r>
            <a:r>
              <a:rPr lang="de-CH" sz="800" dirty="0">
                <a:solidFill>
                  <a:srgbClr val="000000"/>
                </a:solidFill>
              </a:rPr>
              <a:t> 1 </a:t>
            </a:r>
            <a:r>
              <a:rPr lang="de-CH" sz="800" dirty="0" err="1">
                <a:solidFill>
                  <a:srgbClr val="000000"/>
                </a:solidFill>
              </a:rPr>
              <a:t>Month</a:t>
            </a:r>
            <a:r>
              <a:rPr lang="de-CH" sz="800" dirty="0">
                <a:solidFill>
                  <a:srgbClr val="000000"/>
                </a:solidFill>
              </a:rPr>
              <a:t> CHF</a:t>
            </a:r>
            <a:r>
              <a:rPr lang="de-CH" sz="800" dirty="0" smtClean="0">
                <a:solidFill>
                  <a:srgbClr val="000000"/>
                </a:solidFill>
              </a:rPr>
              <a:t>).</a:t>
            </a:r>
            <a:r>
              <a:rPr lang="en-US" sz="800" dirty="0" smtClean="0">
                <a:solidFill>
                  <a:srgbClr val="000000"/>
                </a:solidFill>
              </a:rPr>
              <a:t> </a:t>
            </a:r>
            <a:r>
              <a:rPr lang="en-US" sz="800" dirty="0" smtClean="0">
                <a:solidFill>
                  <a:srgbClr val="000000"/>
                </a:solidFill>
                <a:latin typeface="Arial"/>
              </a:rPr>
              <a:t>Actual performance may deviate from this significantly. Past or simulated performance is no guarantee of future results and in no way constitutes an assurance on the part of Bank </a:t>
            </a:r>
            <a:r>
              <a:rPr lang="en-US" sz="800" dirty="0" err="1" smtClean="0">
                <a:solidFill>
                  <a:srgbClr val="000000"/>
                </a:solidFill>
                <a:latin typeface="Arial"/>
              </a:rPr>
              <a:t>Vontobel</a:t>
            </a:r>
            <a:r>
              <a:rPr lang="en-US" sz="800" dirty="0" smtClean="0">
                <a:solidFill>
                  <a:srgbClr val="000000"/>
                </a:solidFill>
                <a:latin typeface="Arial"/>
              </a:rPr>
              <a:t> AG with regard to returns or risks in the future. Reference currency CHF, as at February 2019.</a:t>
            </a:r>
            <a:endParaRPr lang="en-US" sz="800" dirty="0">
              <a:solidFill>
                <a:srgbClr val="000000"/>
              </a:solidFill>
              <a:latin typeface="Arial"/>
            </a:endParaRPr>
          </a:p>
        </p:txBody>
      </p:sp>
      <p:cxnSp>
        <p:nvCxnSpPr>
          <p:cNvPr id="4" name="Straight Connector 3"/>
          <p:cNvCxnSpPr/>
          <p:nvPr>
            <p:custDataLst>
              <p:tags r:id="rId5"/>
            </p:custDataLst>
          </p:nvPr>
        </p:nvCxnSpPr>
        <p:spPr bwMode="gray">
          <a:xfrm>
            <a:off x="449264" y="6621128"/>
            <a:ext cx="9793286"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8" name="Object 7"/>
          <p:cNvGraphicFramePr>
            <a:graphicFrameLocks noChangeAspect="1"/>
          </p:cNvGraphicFramePr>
          <p:nvPr>
            <p:extLst/>
          </p:nvPr>
        </p:nvGraphicFramePr>
        <p:xfrm>
          <a:off x="450934" y="2016125"/>
          <a:ext cx="9277952" cy="4513683"/>
        </p:xfrm>
        <a:graphic>
          <a:graphicData uri="http://schemas.openxmlformats.org/presentationml/2006/ole">
            <mc:AlternateContent xmlns:mc="http://schemas.openxmlformats.org/markup-compatibility/2006">
              <mc:Choice xmlns:v="urn:schemas-microsoft-com:vml" Requires="v">
                <p:oleObj spid="_x0000_s40978" name="Worksheet" r:id="rId7" imgW="9772741" imgH="4753036" progId="Excel.Sheet.12">
                  <p:link updateAutomatic="1"/>
                </p:oleObj>
              </mc:Choice>
              <mc:Fallback>
                <p:oleObj name="Worksheet" r:id="rId7" imgW="9772741" imgH="4753036" progId="Excel.Sheet.12">
                  <p:link updateAutomatic="1"/>
                  <p:pic>
                    <p:nvPicPr>
                      <p:cNvPr id="8" name="Object 7"/>
                      <p:cNvPicPr/>
                      <p:nvPr/>
                    </p:nvPicPr>
                    <p:blipFill>
                      <a:blip r:embed="rId8"/>
                      <a:stretch>
                        <a:fillRect/>
                      </a:stretch>
                    </p:blipFill>
                    <p:spPr>
                      <a:xfrm>
                        <a:off x="450934" y="2016125"/>
                        <a:ext cx="9277952" cy="4513683"/>
                      </a:xfrm>
                      <a:prstGeom prst="rect">
                        <a:avLst/>
                      </a:prstGeom>
                    </p:spPr>
                  </p:pic>
                </p:oleObj>
              </mc:Fallback>
            </mc:AlternateContent>
          </a:graphicData>
        </a:graphic>
      </p:graphicFrame>
      <p:graphicFrame>
        <p:nvGraphicFramePr>
          <p:cNvPr id="7" name="Object 6"/>
          <p:cNvGraphicFramePr>
            <a:graphicFrameLocks noChangeAspect="1"/>
          </p:cNvGraphicFramePr>
          <p:nvPr>
            <p:extLst/>
          </p:nvPr>
        </p:nvGraphicFramePr>
        <p:xfrm>
          <a:off x="9302106" y="2737561"/>
          <a:ext cx="933450" cy="1800225"/>
        </p:xfrm>
        <a:graphic>
          <a:graphicData uri="http://schemas.openxmlformats.org/presentationml/2006/ole">
            <mc:AlternateContent xmlns:mc="http://schemas.openxmlformats.org/markup-compatibility/2006">
              <mc:Choice xmlns:v="urn:schemas-microsoft-com:vml" Requires="v">
                <p:oleObj spid="_x0000_s40979" name="Worksheet" r:id="rId9" imgW="933420" imgH="1800409" progId="Excel.Sheet.12">
                  <p:link updateAutomatic="1"/>
                </p:oleObj>
              </mc:Choice>
              <mc:Fallback>
                <p:oleObj name="Worksheet" r:id="rId9" imgW="933420" imgH="1800409" progId="Excel.Sheet.12">
                  <p:link updateAutomatic="1"/>
                  <p:pic>
                    <p:nvPicPr>
                      <p:cNvPr id="7" name="Object 6"/>
                      <p:cNvPicPr/>
                      <p:nvPr/>
                    </p:nvPicPr>
                    <p:blipFill>
                      <a:blip r:embed="rId10"/>
                      <a:stretch>
                        <a:fillRect/>
                      </a:stretch>
                    </p:blipFill>
                    <p:spPr>
                      <a:xfrm>
                        <a:off x="9302106" y="2737561"/>
                        <a:ext cx="933450" cy="1800225"/>
                      </a:xfrm>
                      <a:prstGeom prst="rect">
                        <a:avLst/>
                      </a:prstGeom>
                    </p:spPr>
                  </p:pic>
                </p:oleObj>
              </mc:Fallback>
            </mc:AlternateContent>
          </a:graphicData>
        </a:graphic>
      </p:graphicFrame>
      <p:sp>
        <p:nvSpPr>
          <p:cNvPr id="9" name="Rectangle 8"/>
          <p:cNvSpPr/>
          <p:nvPr/>
        </p:nvSpPr>
        <p:spPr bwMode="gray">
          <a:xfrm>
            <a:off x="9374659" y="4184822"/>
            <a:ext cx="947352" cy="387178"/>
          </a:xfrm>
          <a:prstGeom prst="rect">
            <a:avLst/>
          </a:prstGeom>
          <a:noFill/>
          <a:ln w="19050" algn="ctr">
            <a:solidFill>
              <a:schemeClr val="accent3"/>
            </a:solidFill>
            <a:miter lim="800000"/>
            <a:headEnd type="none" w="sm" len="sm"/>
            <a:tailEnd type="none" w="sm" len="sm"/>
          </a:ln>
          <a:effectLst/>
          <a:extLst/>
        </p:spPr>
        <p:txBody>
          <a:bodyPr wrap="square" lIns="36000" tIns="36000" rIns="36000" bIns="36000" rtlCol="0" anchor="t" anchorCtr="0"/>
          <a:lstStyle/>
          <a:p>
            <a:pPr algn="ctr" eaLnBrk="1" fontAlgn="auto" hangingPunct="1">
              <a:spcBef>
                <a:spcPts val="0"/>
              </a:spcBef>
              <a:spcAft>
                <a:spcPts val="0"/>
              </a:spcAft>
              <a:buClr>
                <a:srgbClr val="2D4B84"/>
              </a:buClr>
            </a:pPr>
            <a:endParaRPr lang="en-US" sz="1400" dirty="0" err="1" smtClean="0">
              <a:solidFill>
                <a:srgbClr val="000000"/>
              </a:solidFill>
              <a:latin typeface="Arial"/>
            </a:endParaRPr>
          </a:p>
        </p:txBody>
      </p:sp>
      <p:sp>
        <p:nvSpPr>
          <p:cNvPr id="10" name="TextBox 9"/>
          <p:cNvSpPr txBox="1"/>
          <p:nvPr/>
        </p:nvSpPr>
        <p:spPr>
          <a:xfrm>
            <a:off x="9275978" y="4592679"/>
            <a:ext cx="1210789" cy="184967"/>
          </a:xfrm>
          <a:prstGeom prst="rect">
            <a:avLst/>
          </a:prstGeom>
          <a:noFill/>
          <a:ln>
            <a:solidFill>
              <a:schemeClr val="accent3"/>
            </a:solidFill>
          </a:ln>
        </p:spPr>
        <p:txBody>
          <a:bodyPr wrap="square" lIns="0" tIns="0" rIns="0" bIns="0" rtlCol="0">
            <a:spAutoFit/>
          </a:bodyPr>
          <a:lstStyle/>
          <a:p>
            <a:pPr algn="l"/>
            <a:r>
              <a:rPr lang="en-US" sz="1200" dirty="0" smtClean="0">
                <a:solidFill>
                  <a:srgbClr val="000000"/>
                </a:solidFill>
                <a:latin typeface="Arial" panose="020B0506040000020003" pitchFamily="34" charset="0"/>
              </a:rPr>
              <a:t> Outperformance</a:t>
            </a:r>
            <a:endParaRPr lang="en-US" sz="1200" dirty="0">
              <a:solidFill>
                <a:srgbClr val="000000"/>
              </a:solidFill>
              <a:latin typeface="Arial" panose="020B0506040000020003" pitchFamily="34" charset="0"/>
            </a:endParaRPr>
          </a:p>
        </p:txBody>
      </p:sp>
    </p:spTree>
    <p:extLst>
      <p:ext uri="{BB962C8B-B14F-4D97-AF65-F5344CB8AC3E}">
        <p14:creationId xmlns:p14="http://schemas.microsoft.com/office/powerpoint/2010/main" val="12951388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custDataLst>
              <p:tags r:id="rId2"/>
            </p:custDataLst>
          </p:nvPr>
        </p:nvSpPr>
        <p:spPr bwMode="gray">
          <a:xfrm>
            <a:off x="0" y="6810300"/>
            <a:ext cx="10691813" cy="127000"/>
          </a:xfrm>
          <a:prstGeom prst="rect">
            <a:avLst/>
          </a:prstGeom>
          <a:solidFill>
            <a:srgbClr val="FFFFFF"/>
          </a:solidFill>
          <a:ln w="3175" algn="ctr">
            <a:noFill/>
            <a:miter lim="800000"/>
            <a:headEnd type="none" w="sm" len="sm"/>
            <a:tailEnd type="none" w="sm" len="sm"/>
          </a:ln>
          <a:effectLst/>
          <a:extLst/>
        </p:spPr>
        <p:txBody>
          <a:bodyPr wrap="square" lIns="36000" tIns="36000" rIns="36000" bIns="36000" rtlCol="0" anchor="t" anchorCtr="0"/>
          <a:lstStyle/>
          <a:p>
            <a:pPr algn="ctr" eaLnBrk="1" fontAlgn="auto" hangingPunct="1">
              <a:spcBef>
                <a:spcPts val="0"/>
              </a:spcBef>
              <a:spcAft>
                <a:spcPts val="0"/>
              </a:spcAft>
              <a:buClr>
                <a:srgbClr val="2D4B84"/>
              </a:buClr>
            </a:pPr>
            <a:endParaRPr lang="en-US" sz="1400" dirty="0" smtClean="0">
              <a:solidFill>
                <a:srgbClr val="000000"/>
              </a:solidFill>
              <a:latin typeface="Arial"/>
            </a:endParaRPr>
          </a:p>
        </p:txBody>
      </p:sp>
      <p:sp>
        <p:nvSpPr>
          <p:cNvPr id="2" name="Title 1"/>
          <p:cNvSpPr>
            <a:spLocks noGrp="1"/>
          </p:cNvSpPr>
          <p:nvPr>
            <p:ph type="title"/>
          </p:nvPr>
        </p:nvSpPr>
        <p:spPr/>
        <p:txBody>
          <a:bodyPr/>
          <a:lstStyle/>
          <a:p>
            <a:r>
              <a:rPr lang="en-US" dirty="0" smtClean="0"/>
              <a:t>Performance and risk measures</a:t>
            </a:r>
            <a:endParaRPr lang="en-US" dirty="0"/>
          </a:p>
        </p:txBody>
      </p:sp>
      <p:sp>
        <p:nvSpPr>
          <p:cNvPr id="3" name="Text Placeholder 2"/>
          <p:cNvSpPr>
            <a:spLocks noGrp="1"/>
          </p:cNvSpPr>
          <p:nvPr>
            <p:ph type="body" sz="quarter" idx="14"/>
          </p:nvPr>
        </p:nvSpPr>
        <p:spPr>
          <a:xfrm>
            <a:off x="449362" y="1476376"/>
            <a:ext cx="9793188" cy="258532"/>
          </a:xfrm>
        </p:spPr>
        <p:txBody>
          <a:bodyPr/>
          <a:lstStyle/>
          <a:p>
            <a:r>
              <a:rPr lang="en-US" altLang="de-DE" dirty="0" smtClean="0"/>
              <a:t>Performance and risk measures (01.01.2012 – 28.02.2019, gross)</a:t>
            </a:r>
            <a:endParaRPr lang="en-US" dirty="0"/>
          </a:p>
        </p:txBody>
      </p:sp>
      <p:sp>
        <p:nvSpPr>
          <p:cNvPr id="4" name="TextBox 3"/>
          <p:cNvSpPr txBox="1"/>
          <p:nvPr>
            <p:custDataLst>
              <p:tags r:id="rId3"/>
            </p:custDataLst>
          </p:nvPr>
        </p:nvSpPr>
        <p:spPr bwMode="gray">
          <a:xfrm>
            <a:off x="449263" y="6938897"/>
            <a:ext cx="9793287" cy="3693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347">
              <a:tabLst>
                <a:tab pos="2852772" algn="l"/>
                <a:tab pos="2852937" algn="l"/>
              </a:tabLst>
            </a:pPr>
            <a:r>
              <a:rPr lang="en-US" sz="800" dirty="0">
                <a:solidFill>
                  <a:srgbClr val="000000"/>
                </a:solidFill>
              </a:rPr>
              <a:t>Performance figures are gross of fees and costs and based on individual client portfolios. Swiss Equities Benchmark consists of 95% Swiss Performance Index (SPI®) and </a:t>
            </a:r>
            <a:r>
              <a:rPr lang="de-CH" sz="800" dirty="0">
                <a:solidFill>
                  <a:srgbClr val="000000"/>
                </a:solidFill>
              </a:rPr>
              <a:t>5% JP. Morgan Cash 1 </a:t>
            </a:r>
            <a:r>
              <a:rPr lang="de-CH" sz="800" dirty="0" err="1">
                <a:solidFill>
                  <a:srgbClr val="000000"/>
                </a:solidFill>
              </a:rPr>
              <a:t>Month</a:t>
            </a:r>
            <a:r>
              <a:rPr lang="de-CH" sz="800" dirty="0">
                <a:solidFill>
                  <a:srgbClr val="000000"/>
                </a:solidFill>
              </a:rPr>
              <a:t> CHF (</a:t>
            </a:r>
            <a:r>
              <a:rPr lang="de-CH" sz="800" dirty="0" err="1">
                <a:solidFill>
                  <a:srgbClr val="000000"/>
                </a:solidFill>
              </a:rPr>
              <a:t>Until</a:t>
            </a:r>
            <a:r>
              <a:rPr lang="de-CH" sz="800" dirty="0">
                <a:solidFill>
                  <a:srgbClr val="000000"/>
                </a:solidFill>
              </a:rPr>
              <a:t> June 30, 2018: </a:t>
            </a:r>
            <a:r>
              <a:rPr lang="de-CH" sz="800" dirty="0" err="1">
                <a:solidFill>
                  <a:srgbClr val="000000"/>
                </a:solidFill>
              </a:rPr>
              <a:t>Citigroup</a:t>
            </a:r>
            <a:r>
              <a:rPr lang="de-CH" sz="800" dirty="0">
                <a:solidFill>
                  <a:srgbClr val="000000"/>
                </a:solidFill>
              </a:rPr>
              <a:t> </a:t>
            </a:r>
            <a:r>
              <a:rPr lang="de-CH" sz="800" dirty="0" err="1">
                <a:solidFill>
                  <a:srgbClr val="000000"/>
                </a:solidFill>
              </a:rPr>
              <a:t>Eurodeposit</a:t>
            </a:r>
            <a:r>
              <a:rPr lang="de-CH" sz="800" dirty="0">
                <a:solidFill>
                  <a:srgbClr val="000000"/>
                </a:solidFill>
              </a:rPr>
              <a:t> 1 </a:t>
            </a:r>
            <a:r>
              <a:rPr lang="de-CH" sz="800" dirty="0" err="1">
                <a:solidFill>
                  <a:srgbClr val="000000"/>
                </a:solidFill>
              </a:rPr>
              <a:t>Month</a:t>
            </a:r>
            <a:r>
              <a:rPr lang="de-CH" sz="800" dirty="0">
                <a:solidFill>
                  <a:srgbClr val="000000"/>
                </a:solidFill>
              </a:rPr>
              <a:t> CHF</a:t>
            </a:r>
            <a:r>
              <a:rPr lang="de-CH" sz="800" dirty="0" smtClean="0">
                <a:solidFill>
                  <a:srgbClr val="000000"/>
                </a:solidFill>
              </a:rPr>
              <a:t>).</a:t>
            </a:r>
            <a:r>
              <a:rPr lang="en-US" sz="800" dirty="0" smtClean="0">
                <a:solidFill>
                  <a:srgbClr val="000000"/>
                </a:solidFill>
              </a:rPr>
              <a:t> </a:t>
            </a:r>
            <a:r>
              <a:rPr lang="en-US" sz="800" dirty="0" smtClean="0">
                <a:solidFill>
                  <a:srgbClr val="000000"/>
                </a:solidFill>
                <a:latin typeface="Arial"/>
              </a:rPr>
              <a:t>Actual performance may deviate from this significantly. Past or simulated performance is no guarantee of future results and in no way constitutes an assurance on the part of Bank </a:t>
            </a:r>
            <a:r>
              <a:rPr lang="en-US" sz="800" dirty="0" err="1" smtClean="0">
                <a:solidFill>
                  <a:srgbClr val="000000"/>
                </a:solidFill>
                <a:latin typeface="Arial"/>
              </a:rPr>
              <a:t>Vontobel</a:t>
            </a:r>
            <a:r>
              <a:rPr lang="en-US" sz="800" dirty="0" smtClean="0">
                <a:solidFill>
                  <a:srgbClr val="000000"/>
                </a:solidFill>
                <a:latin typeface="Arial"/>
              </a:rPr>
              <a:t> AG with regard to returns or risks in the future. Reference currency CHF, as at February 2019.</a:t>
            </a:r>
            <a:endParaRPr lang="en-US" sz="800" dirty="0">
              <a:solidFill>
                <a:srgbClr val="000000"/>
              </a:solidFill>
              <a:latin typeface="Arial"/>
            </a:endParaRPr>
          </a:p>
        </p:txBody>
      </p:sp>
      <p:cxnSp>
        <p:nvCxnSpPr>
          <p:cNvPr id="6" name="Straight Connector 5"/>
          <p:cNvCxnSpPr/>
          <p:nvPr>
            <p:custDataLst>
              <p:tags r:id="rId4"/>
            </p:custDataLst>
          </p:nvPr>
        </p:nvCxnSpPr>
        <p:spPr bwMode="gray">
          <a:xfrm>
            <a:off x="449264" y="6621128"/>
            <a:ext cx="9793286"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5" name="Object 4"/>
          <p:cNvGraphicFramePr>
            <a:graphicFrameLocks noChangeAspect="1"/>
          </p:cNvGraphicFramePr>
          <p:nvPr>
            <p:extLst/>
          </p:nvPr>
        </p:nvGraphicFramePr>
        <p:xfrm>
          <a:off x="448812" y="1924079"/>
          <a:ext cx="9793738" cy="4321131"/>
        </p:xfrm>
        <a:graphic>
          <a:graphicData uri="http://schemas.openxmlformats.org/presentationml/2006/ole">
            <mc:AlternateContent xmlns:mc="http://schemas.openxmlformats.org/markup-compatibility/2006">
              <mc:Choice xmlns:v="urn:schemas-microsoft-com:vml" Requires="v">
                <p:oleObj spid="_x0000_s41994" name="Worksheet" r:id="rId6" imgW="7534290" imgH="3324286" progId="Excel.Sheet.12">
                  <p:link updateAutomatic="1"/>
                </p:oleObj>
              </mc:Choice>
              <mc:Fallback>
                <p:oleObj name="Worksheet" r:id="rId6" imgW="7534290" imgH="3324286" progId="Excel.Sheet.12">
                  <p:link updateAutomatic="1"/>
                  <p:pic>
                    <p:nvPicPr>
                      <p:cNvPr id="5" name="Object 4"/>
                      <p:cNvPicPr/>
                      <p:nvPr/>
                    </p:nvPicPr>
                    <p:blipFill>
                      <a:blip r:embed="rId7"/>
                      <a:stretch>
                        <a:fillRect/>
                      </a:stretch>
                    </p:blipFill>
                    <p:spPr>
                      <a:xfrm>
                        <a:off x="448812" y="1924079"/>
                        <a:ext cx="9793738" cy="4321131"/>
                      </a:xfrm>
                      <a:prstGeom prst="rect">
                        <a:avLst/>
                      </a:prstGeom>
                    </p:spPr>
                  </p:pic>
                </p:oleObj>
              </mc:Fallback>
            </mc:AlternateContent>
          </a:graphicData>
        </a:graphic>
      </p:graphicFrame>
    </p:spTree>
    <p:extLst>
      <p:ext uri="{BB962C8B-B14F-4D97-AF65-F5344CB8AC3E}">
        <p14:creationId xmlns:p14="http://schemas.microsoft.com/office/powerpoint/2010/main" val="42591080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p:cNvGraphicFramePr>
            <a:graphicFrameLocks noChangeAspect="1"/>
          </p:cNvGraphicFramePr>
          <p:nvPr>
            <p:extLst>
              <p:ext uri="{D42A27DB-BD31-4B8C-83A1-F6EECF244321}">
                <p14:modId xmlns:p14="http://schemas.microsoft.com/office/powerpoint/2010/main" val="3990556443"/>
              </p:ext>
            </p:extLst>
          </p:nvPr>
        </p:nvGraphicFramePr>
        <p:xfrm>
          <a:off x="-134938" y="1944688"/>
          <a:ext cx="6724651" cy="4314825"/>
        </p:xfrm>
        <a:graphic>
          <a:graphicData uri="http://schemas.openxmlformats.org/presentationml/2006/ole">
            <mc:AlternateContent xmlns:mc="http://schemas.openxmlformats.org/markup-compatibility/2006">
              <mc:Choice xmlns:v="urn:schemas-microsoft-com:vml" Requires="v">
                <p:oleObj spid="_x0000_s21934" name="Worksheet" r:id="rId7" imgW="6724498" imgH="4314641" progId="Excel.Sheet.12">
                  <p:link updateAutomatic="1"/>
                </p:oleObj>
              </mc:Choice>
              <mc:Fallback>
                <p:oleObj name="Worksheet" r:id="rId7" imgW="6724498" imgH="4314641" progId="Excel.Sheet.12">
                  <p:link updateAutomatic="1"/>
                  <p:pic>
                    <p:nvPicPr>
                      <p:cNvPr id="0" name=""/>
                      <p:cNvPicPr/>
                      <p:nvPr/>
                    </p:nvPicPr>
                    <p:blipFill>
                      <a:blip r:embed="rId8"/>
                      <a:stretch>
                        <a:fillRect/>
                      </a:stretch>
                    </p:blipFill>
                    <p:spPr>
                      <a:xfrm>
                        <a:off x="-134938" y="1944688"/>
                        <a:ext cx="6724651" cy="4314825"/>
                      </a:xfrm>
                      <a:prstGeom prst="rect">
                        <a:avLst/>
                      </a:prstGeom>
                    </p:spPr>
                  </p:pic>
                </p:oleObj>
              </mc:Fallback>
            </mc:AlternateContent>
          </a:graphicData>
        </a:graphic>
      </p:graphicFrame>
      <p:sp>
        <p:nvSpPr>
          <p:cNvPr id="16" name="Rectangle 15"/>
          <p:cNvSpPr/>
          <p:nvPr>
            <p:custDataLst>
              <p:tags r:id="rId2"/>
            </p:custDataLst>
          </p:nvPr>
        </p:nvSpPr>
        <p:spPr bwMode="gray">
          <a:xfrm>
            <a:off x="0" y="6810300"/>
            <a:ext cx="10691813" cy="127000"/>
          </a:xfrm>
          <a:prstGeom prst="rect">
            <a:avLst/>
          </a:prstGeom>
          <a:solidFill>
            <a:srgbClr val="FFFFFF"/>
          </a:solidFill>
          <a:ln w="3175" algn="ctr">
            <a:noFill/>
            <a:miter lim="800000"/>
            <a:headEnd type="none" w="sm" len="sm"/>
            <a:tailEnd type="none" w="sm" len="sm"/>
          </a:ln>
          <a:effectLst/>
          <a:extLst/>
        </p:spPr>
        <p:txBody>
          <a:bodyPr wrap="square" lIns="35998" tIns="35998" rIns="35998" bIns="35998" rtlCol="0" anchor="t" anchorCtr="0"/>
          <a:lstStyle/>
          <a:p>
            <a:pPr algn="ctr">
              <a:buClr>
                <a:srgbClr val="2D4B84"/>
              </a:buClr>
            </a:pPr>
            <a:endParaRPr lang="en-US" sz="1400" dirty="0">
              <a:solidFill>
                <a:srgbClr val="000000"/>
              </a:solidFill>
              <a:latin typeface="Arial"/>
            </a:endParaRPr>
          </a:p>
        </p:txBody>
      </p:sp>
      <p:graphicFrame>
        <p:nvGraphicFramePr>
          <p:cNvPr id="14" name="Object 13" hidden="1"/>
          <p:cNvGraphicFramePr>
            <a:graphicFrameLocks noChangeAspect="1"/>
          </p:cNvGraphicFramePr>
          <p:nvPr>
            <p:custDataLst>
              <p:tags r:id="rId3"/>
            </p:custDataLst>
            <p:extLst>
              <p:ext uri="{D42A27DB-BD31-4B8C-83A1-F6EECF244321}">
                <p14:modId xmlns:p14="http://schemas.microsoft.com/office/powerpoint/2010/main" val="520749950"/>
              </p:ext>
            </p:ext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spid="_x0000_s21935" name="think-cell Slide" r:id="rId9" imgW="270" imgH="270" progId="TCLayout.ActiveDocument.1">
                  <p:embed/>
                </p:oleObj>
              </mc:Choice>
              <mc:Fallback>
                <p:oleObj name="think-cell Slide" r:id="rId9" imgW="270" imgH="270" progId="TCLayout.ActiveDocument.1">
                  <p:embed/>
                  <p:pic>
                    <p:nvPicPr>
                      <p:cNvPr id="0" name=""/>
                      <p:cNvPicPr/>
                      <p:nvPr/>
                    </p:nvPicPr>
                    <p:blipFill>
                      <a:blip r:embed="rId10"/>
                      <a:stretch>
                        <a:fillRect/>
                      </a:stretch>
                    </p:blipFill>
                    <p:spPr>
                      <a:xfrm>
                        <a:off x="1590" y="1590"/>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smtClean="0"/>
              <a:t>Vontobel Specials Swiss Equities</a:t>
            </a:r>
            <a:br>
              <a:rPr lang="en-US" dirty="0" smtClean="0"/>
            </a:br>
            <a:r>
              <a:rPr lang="en-US" dirty="0" smtClean="0"/>
              <a:t>Comparison of sector weightings</a:t>
            </a:r>
            <a:endParaRPr lang="en-US" dirty="0"/>
          </a:p>
        </p:txBody>
      </p:sp>
      <p:sp>
        <p:nvSpPr>
          <p:cNvPr id="4" name="Text Placeholder 3"/>
          <p:cNvSpPr>
            <a:spLocks noGrp="1"/>
          </p:cNvSpPr>
          <p:nvPr>
            <p:ph type="body" sz="quarter" idx="14"/>
          </p:nvPr>
        </p:nvSpPr>
        <p:spPr/>
        <p:txBody>
          <a:bodyPr/>
          <a:lstStyle/>
          <a:p>
            <a:endParaRPr lang="de-CH" dirty="0"/>
          </a:p>
        </p:txBody>
      </p:sp>
      <p:sp>
        <p:nvSpPr>
          <p:cNvPr id="6" name="TextBox 5"/>
          <p:cNvSpPr txBox="1"/>
          <p:nvPr>
            <p:custDataLst>
              <p:tags r:id="rId4"/>
            </p:custDataLst>
          </p:nvPr>
        </p:nvSpPr>
        <p:spPr bwMode="gray">
          <a:xfrm>
            <a:off x="449263" y="7186309"/>
            <a:ext cx="7272905" cy="1219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400">
              <a:tabLst>
                <a:tab pos="2852937" algn="l"/>
              </a:tabLst>
            </a:pPr>
            <a:r>
              <a:rPr lang="en-US" sz="800" dirty="0" smtClean="0">
                <a:solidFill>
                  <a:srgbClr val="000000"/>
                </a:solidFill>
                <a:latin typeface="Arial"/>
              </a:rPr>
              <a:t>as of 28.02.2019</a:t>
            </a:r>
            <a:endParaRPr lang="en-US" sz="800" dirty="0">
              <a:solidFill>
                <a:srgbClr val="000000"/>
              </a:solidFill>
              <a:latin typeface="Arial"/>
            </a:endParaRPr>
          </a:p>
        </p:txBody>
      </p:sp>
      <p:cxnSp>
        <p:nvCxnSpPr>
          <p:cNvPr id="15" name="Straight Connector 14"/>
          <p:cNvCxnSpPr/>
          <p:nvPr>
            <p:custDataLst>
              <p:tags r:id="rId5"/>
            </p:custDataLst>
          </p:nvPr>
        </p:nvCxnSpPr>
        <p:spPr bwMode="gray">
          <a:xfrm>
            <a:off x="449264" y="6873800"/>
            <a:ext cx="9793286"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6" name="Rectangle 12"/>
          <p:cNvSpPr>
            <a:spLocks noChangeArrowheads="1"/>
          </p:cNvSpPr>
          <p:nvPr/>
        </p:nvSpPr>
        <p:spPr bwMode="auto">
          <a:xfrm>
            <a:off x="5793400" y="2556537"/>
            <a:ext cx="4428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Aft>
                <a:spcPct val="0"/>
              </a:spcAft>
              <a:buChar char="§"/>
              <a:defRPr sz="2000">
                <a:solidFill>
                  <a:schemeClr val="tx1"/>
                </a:solidFill>
                <a:latin typeface="ITC Officina Sans Book" pitchFamily="34" charset="0"/>
              </a:defRPr>
            </a:lvl1pPr>
            <a:lvl2pPr marL="742950" indent="-285750" eaLnBrk="0" hangingPunct="0">
              <a:spcAft>
                <a:spcPct val="0"/>
              </a:spcAft>
              <a:buChar char="-"/>
              <a:defRPr sz="2000">
                <a:solidFill>
                  <a:schemeClr val="tx1"/>
                </a:solidFill>
                <a:latin typeface="ITC Officina Sans Book" pitchFamily="34" charset="0"/>
              </a:defRPr>
            </a:lvl2pPr>
            <a:lvl3pPr marL="1143000" indent="-228600" eaLnBrk="0" hangingPunct="0">
              <a:spcAft>
                <a:spcPct val="0"/>
              </a:spcAft>
              <a:buChar char="-"/>
              <a:defRPr sz="2000">
                <a:solidFill>
                  <a:schemeClr val="tx1"/>
                </a:solidFill>
                <a:latin typeface="ITC Officina Sans Book" pitchFamily="34" charset="0"/>
              </a:defRPr>
            </a:lvl3pPr>
            <a:lvl4pPr marL="1600200" indent="-228600" eaLnBrk="0" hangingPunct="0">
              <a:spcAft>
                <a:spcPct val="0"/>
              </a:spcAft>
              <a:buChar char="-"/>
              <a:defRPr sz="2000">
                <a:solidFill>
                  <a:schemeClr val="tx1"/>
                </a:solidFill>
                <a:latin typeface="ITC Officina Sans Book" pitchFamily="34" charset="0"/>
              </a:defRPr>
            </a:lvl4pPr>
            <a:lvl5pPr marL="2057400" indent="-228600" eaLnBrk="0" hangingPunct="0">
              <a:spcAft>
                <a:spcPct val="0"/>
              </a:spcAft>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eaLnBrk="1" hangingPunct="1">
              <a:spcAft>
                <a:spcPct val="25000"/>
              </a:spcAft>
              <a:buFont typeface="Wingdings" pitchFamily="2" charset="2"/>
              <a:buNone/>
            </a:pPr>
            <a:r>
              <a:rPr lang="en-US" altLang="de-DE" sz="1200" dirty="0">
                <a:latin typeface="+mn-lt"/>
              </a:rPr>
              <a:t>Zürich, Swiss Life, Partners Group</a:t>
            </a:r>
          </a:p>
        </p:txBody>
      </p:sp>
      <p:sp>
        <p:nvSpPr>
          <p:cNvPr id="27" name="Rectangle 15"/>
          <p:cNvSpPr>
            <a:spLocks noChangeArrowheads="1"/>
          </p:cNvSpPr>
          <p:nvPr/>
        </p:nvSpPr>
        <p:spPr bwMode="auto">
          <a:xfrm>
            <a:off x="5793400" y="4125568"/>
            <a:ext cx="4428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Aft>
                <a:spcPct val="0"/>
              </a:spcAft>
              <a:buChar char="§"/>
              <a:defRPr sz="2000">
                <a:solidFill>
                  <a:schemeClr val="tx1"/>
                </a:solidFill>
                <a:latin typeface="ITC Officina Sans Book" pitchFamily="34" charset="0"/>
              </a:defRPr>
            </a:lvl1pPr>
            <a:lvl2pPr marL="742950" indent="-285750" eaLnBrk="0" hangingPunct="0">
              <a:spcAft>
                <a:spcPct val="0"/>
              </a:spcAft>
              <a:buChar char="-"/>
              <a:defRPr sz="2000">
                <a:solidFill>
                  <a:schemeClr val="tx1"/>
                </a:solidFill>
                <a:latin typeface="ITC Officina Sans Book" pitchFamily="34" charset="0"/>
              </a:defRPr>
            </a:lvl2pPr>
            <a:lvl3pPr marL="1143000" indent="-228600" eaLnBrk="0" hangingPunct="0">
              <a:spcAft>
                <a:spcPct val="0"/>
              </a:spcAft>
              <a:buChar char="-"/>
              <a:defRPr sz="2000">
                <a:solidFill>
                  <a:schemeClr val="tx1"/>
                </a:solidFill>
                <a:latin typeface="ITC Officina Sans Book" pitchFamily="34" charset="0"/>
              </a:defRPr>
            </a:lvl3pPr>
            <a:lvl4pPr marL="1600200" indent="-228600" eaLnBrk="0" hangingPunct="0">
              <a:spcAft>
                <a:spcPct val="0"/>
              </a:spcAft>
              <a:buChar char="-"/>
              <a:defRPr sz="2000">
                <a:solidFill>
                  <a:schemeClr val="tx1"/>
                </a:solidFill>
                <a:latin typeface="ITC Officina Sans Book" pitchFamily="34" charset="0"/>
              </a:defRPr>
            </a:lvl4pPr>
            <a:lvl5pPr marL="2057400" indent="-228600" eaLnBrk="0" hangingPunct="0">
              <a:spcAft>
                <a:spcPct val="0"/>
              </a:spcAft>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eaLnBrk="1" hangingPunct="1">
              <a:spcAft>
                <a:spcPct val="25000"/>
              </a:spcAft>
              <a:buFont typeface="Wingdings" pitchFamily="2" charset="2"/>
              <a:buNone/>
            </a:pPr>
            <a:r>
              <a:rPr lang="en-US" altLang="de-DE" sz="1200" dirty="0">
                <a:latin typeface="+mn-lt"/>
              </a:rPr>
              <a:t>ALSO</a:t>
            </a:r>
            <a:r>
              <a:rPr lang="en-US" altLang="de-DE" sz="1200" dirty="0" smtClean="0">
                <a:latin typeface="+mn-lt"/>
              </a:rPr>
              <a:t>, </a:t>
            </a:r>
            <a:r>
              <a:rPr lang="en-US" altLang="de-DE" sz="1200" dirty="0">
                <a:latin typeface="+mn-lt"/>
              </a:rPr>
              <a:t>Logitech</a:t>
            </a:r>
          </a:p>
        </p:txBody>
      </p:sp>
      <p:sp>
        <p:nvSpPr>
          <p:cNvPr id="28" name="Rectangle 16"/>
          <p:cNvSpPr>
            <a:spLocks noChangeArrowheads="1"/>
          </p:cNvSpPr>
          <p:nvPr/>
        </p:nvSpPr>
        <p:spPr bwMode="auto">
          <a:xfrm>
            <a:off x="5793400" y="3825644"/>
            <a:ext cx="4428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Aft>
                <a:spcPct val="0"/>
              </a:spcAft>
              <a:buChar char="§"/>
              <a:defRPr sz="2000">
                <a:solidFill>
                  <a:schemeClr val="tx1"/>
                </a:solidFill>
                <a:latin typeface="ITC Officina Sans Book" pitchFamily="34" charset="0"/>
              </a:defRPr>
            </a:lvl1pPr>
            <a:lvl2pPr marL="742950" indent="-285750" eaLnBrk="0" hangingPunct="0">
              <a:spcAft>
                <a:spcPct val="0"/>
              </a:spcAft>
              <a:buChar char="-"/>
              <a:defRPr sz="2000">
                <a:solidFill>
                  <a:schemeClr val="tx1"/>
                </a:solidFill>
                <a:latin typeface="ITC Officina Sans Book" pitchFamily="34" charset="0"/>
              </a:defRPr>
            </a:lvl2pPr>
            <a:lvl3pPr marL="1143000" indent="-228600" eaLnBrk="0" hangingPunct="0">
              <a:spcAft>
                <a:spcPct val="0"/>
              </a:spcAft>
              <a:buChar char="-"/>
              <a:defRPr sz="2000">
                <a:solidFill>
                  <a:schemeClr val="tx1"/>
                </a:solidFill>
                <a:latin typeface="ITC Officina Sans Book" pitchFamily="34" charset="0"/>
              </a:defRPr>
            </a:lvl3pPr>
            <a:lvl4pPr marL="1600200" indent="-228600" eaLnBrk="0" hangingPunct="0">
              <a:spcAft>
                <a:spcPct val="0"/>
              </a:spcAft>
              <a:buChar char="-"/>
              <a:defRPr sz="2000">
                <a:solidFill>
                  <a:schemeClr val="tx1"/>
                </a:solidFill>
                <a:latin typeface="ITC Officina Sans Book" pitchFamily="34" charset="0"/>
              </a:defRPr>
            </a:lvl4pPr>
            <a:lvl5pPr marL="2057400" indent="-228600" eaLnBrk="0" hangingPunct="0">
              <a:spcAft>
                <a:spcPct val="0"/>
              </a:spcAft>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eaLnBrk="1" hangingPunct="1">
              <a:spcAft>
                <a:spcPct val="25000"/>
              </a:spcAft>
              <a:buFont typeface="Wingdings" pitchFamily="2" charset="2"/>
              <a:buNone/>
            </a:pPr>
            <a:r>
              <a:rPr lang="en-US" altLang="de-DE" sz="1200" dirty="0" smtClean="0">
                <a:latin typeface="+mn-lt"/>
              </a:rPr>
              <a:t>Swatch, </a:t>
            </a:r>
            <a:r>
              <a:rPr lang="en-US" altLang="de-DE" sz="1200" dirty="0" err="1" smtClean="0">
                <a:latin typeface="+mn-lt"/>
              </a:rPr>
              <a:t>Forbo</a:t>
            </a:r>
            <a:r>
              <a:rPr lang="en-US" altLang="de-DE" sz="1200" dirty="0" smtClean="0">
                <a:latin typeface="+mn-lt"/>
              </a:rPr>
              <a:t>, KTM Industries, </a:t>
            </a:r>
            <a:r>
              <a:rPr lang="en-US" altLang="de-DE" sz="1200" dirty="0" err="1" smtClean="0">
                <a:latin typeface="+mn-lt"/>
              </a:rPr>
              <a:t>Metall</a:t>
            </a:r>
            <a:r>
              <a:rPr lang="en-US" altLang="de-DE" sz="1200" dirty="0" smtClean="0">
                <a:latin typeface="+mn-lt"/>
              </a:rPr>
              <a:t> Zug</a:t>
            </a:r>
            <a:endParaRPr lang="en-US" altLang="de-DE" sz="1200" dirty="0">
              <a:latin typeface="+mn-lt"/>
            </a:endParaRPr>
          </a:p>
        </p:txBody>
      </p:sp>
      <p:sp>
        <p:nvSpPr>
          <p:cNvPr id="29" name="Rectangle 1"/>
          <p:cNvSpPr>
            <a:spLocks noChangeArrowheads="1"/>
          </p:cNvSpPr>
          <p:nvPr/>
        </p:nvSpPr>
        <p:spPr bwMode="auto">
          <a:xfrm>
            <a:off x="5793400" y="1956687"/>
            <a:ext cx="4428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Aft>
                <a:spcPct val="0"/>
              </a:spcAft>
              <a:buChar char="§"/>
              <a:defRPr sz="2000">
                <a:solidFill>
                  <a:schemeClr val="tx1"/>
                </a:solidFill>
                <a:latin typeface="ITC Officina Sans Book" pitchFamily="34" charset="0"/>
              </a:defRPr>
            </a:lvl1pPr>
            <a:lvl2pPr marL="742950" indent="-285750" eaLnBrk="0" hangingPunct="0">
              <a:spcAft>
                <a:spcPct val="0"/>
              </a:spcAft>
              <a:buChar char="-"/>
              <a:defRPr sz="2000">
                <a:solidFill>
                  <a:schemeClr val="tx1"/>
                </a:solidFill>
                <a:latin typeface="ITC Officina Sans Book" pitchFamily="34" charset="0"/>
              </a:defRPr>
            </a:lvl2pPr>
            <a:lvl3pPr marL="1143000" indent="-228600" eaLnBrk="0" hangingPunct="0">
              <a:spcAft>
                <a:spcPct val="0"/>
              </a:spcAft>
              <a:buChar char="-"/>
              <a:defRPr sz="2000">
                <a:solidFill>
                  <a:schemeClr val="tx1"/>
                </a:solidFill>
                <a:latin typeface="ITC Officina Sans Book" pitchFamily="34" charset="0"/>
              </a:defRPr>
            </a:lvl3pPr>
            <a:lvl4pPr marL="1600200" indent="-228600" eaLnBrk="0" hangingPunct="0">
              <a:spcAft>
                <a:spcPct val="0"/>
              </a:spcAft>
              <a:buChar char="-"/>
              <a:defRPr sz="2000">
                <a:solidFill>
                  <a:schemeClr val="tx1"/>
                </a:solidFill>
                <a:latin typeface="ITC Officina Sans Book" pitchFamily="34" charset="0"/>
              </a:defRPr>
            </a:lvl4pPr>
            <a:lvl5pPr marL="2057400" indent="-228600" eaLnBrk="0" hangingPunct="0">
              <a:spcAft>
                <a:spcPct val="0"/>
              </a:spcAft>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eaLnBrk="1" hangingPunct="1">
              <a:spcAft>
                <a:spcPct val="25000"/>
              </a:spcAft>
              <a:buFont typeface="Wingdings" pitchFamily="2" charset="2"/>
              <a:buNone/>
            </a:pPr>
            <a:r>
              <a:rPr lang="en-US" altLang="de-DE" sz="1200" dirty="0" smtClean="0">
                <a:latin typeface="+mn-lt"/>
              </a:rPr>
              <a:t>Novartis, Roche, </a:t>
            </a:r>
            <a:r>
              <a:rPr lang="en-US" altLang="de-DE" sz="1200" dirty="0" err="1" smtClean="0">
                <a:latin typeface="+mn-lt"/>
              </a:rPr>
              <a:t>Galenica</a:t>
            </a:r>
            <a:r>
              <a:rPr lang="en-US" altLang="de-DE" sz="1200" dirty="0" smtClean="0">
                <a:latin typeface="+mn-lt"/>
              </a:rPr>
              <a:t>, </a:t>
            </a:r>
            <a:r>
              <a:rPr lang="en-US" altLang="de-DE" sz="1200" dirty="0" err="1" smtClean="0">
                <a:latin typeface="+mn-lt"/>
              </a:rPr>
              <a:t>Ascom</a:t>
            </a:r>
            <a:endParaRPr lang="en-US" altLang="de-DE" sz="1200" dirty="0">
              <a:latin typeface="+mn-lt"/>
            </a:endParaRPr>
          </a:p>
        </p:txBody>
      </p:sp>
      <p:sp>
        <p:nvSpPr>
          <p:cNvPr id="30" name="Rectangle 9"/>
          <p:cNvSpPr>
            <a:spLocks noChangeArrowheads="1"/>
          </p:cNvSpPr>
          <p:nvPr/>
        </p:nvSpPr>
        <p:spPr bwMode="auto">
          <a:xfrm>
            <a:off x="5793400" y="2256612"/>
            <a:ext cx="4428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Aft>
                <a:spcPct val="0"/>
              </a:spcAft>
              <a:buChar char="§"/>
              <a:defRPr sz="2000">
                <a:solidFill>
                  <a:schemeClr val="tx1"/>
                </a:solidFill>
                <a:latin typeface="ITC Officina Sans Book" pitchFamily="34" charset="0"/>
              </a:defRPr>
            </a:lvl1pPr>
            <a:lvl2pPr marL="742950" indent="-285750" eaLnBrk="0" hangingPunct="0">
              <a:spcAft>
                <a:spcPct val="0"/>
              </a:spcAft>
              <a:buChar char="-"/>
              <a:defRPr sz="2000">
                <a:solidFill>
                  <a:schemeClr val="tx1"/>
                </a:solidFill>
                <a:latin typeface="ITC Officina Sans Book" pitchFamily="34" charset="0"/>
              </a:defRPr>
            </a:lvl2pPr>
            <a:lvl3pPr marL="1143000" indent="-228600" eaLnBrk="0" hangingPunct="0">
              <a:spcAft>
                <a:spcPct val="0"/>
              </a:spcAft>
              <a:buChar char="-"/>
              <a:defRPr sz="2000">
                <a:solidFill>
                  <a:schemeClr val="tx1"/>
                </a:solidFill>
                <a:latin typeface="ITC Officina Sans Book" pitchFamily="34" charset="0"/>
              </a:defRPr>
            </a:lvl3pPr>
            <a:lvl4pPr marL="1600200" indent="-228600" eaLnBrk="0" hangingPunct="0">
              <a:spcAft>
                <a:spcPct val="0"/>
              </a:spcAft>
              <a:buChar char="-"/>
              <a:defRPr sz="2000">
                <a:solidFill>
                  <a:schemeClr val="tx1"/>
                </a:solidFill>
                <a:latin typeface="ITC Officina Sans Book" pitchFamily="34" charset="0"/>
              </a:defRPr>
            </a:lvl4pPr>
            <a:lvl5pPr marL="2057400" indent="-228600" eaLnBrk="0" hangingPunct="0">
              <a:spcAft>
                <a:spcPct val="0"/>
              </a:spcAft>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eaLnBrk="1" hangingPunct="1">
              <a:spcAft>
                <a:spcPct val="25000"/>
              </a:spcAft>
              <a:buFont typeface="Wingdings" pitchFamily="2" charset="2"/>
              <a:buNone/>
            </a:pPr>
            <a:r>
              <a:rPr lang="en-US" altLang="de-DE" sz="1200" dirty="0" smtClean="0">
                <a:latin typeface="+mn-lt"/>
              </a:rPr>
              <a:t>Nestlé</a:t>
            </a:r>
            <a:endParaRPr lang="en-US" altLang="de-DE" sz="1200" dirty="0">
              <a:latin typeface="+mn-lt"/>
            </a:endParaRPr>
          </a:p>
        </p:txBody>
      </p:sp>
      <p:sp>
        <p:nvSpPr>
          <p:cNvPr id="31" name="Rectangle 10"/>
          <p:cNvSpPr>
            <a:spLocks noChangeArrowheads="1"/>
          </p:cNvSpPr>
          <p:nvPr/>
        </p:nvSpPr>
        <p:spPr bwMode="auto">
          <a:xfrm>
            <a:off x="5793400" y="3525719"/>
            <a:ext cx="4428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Aft>
                <a:spcPct val="0"/>
              </a:spcAft>
              <a:buChar char="§"/>
              <a:defRPr sz="2000">
                <a:solidFill>
                  <a:schemeClr val="tx1"/>
                </a:solidFill>
                <a:latin typeface="ITC Officina Sans Book" pitchFamily="34" charset="0"/>
              </a:defRPr>
            </a:lvl1pPr>
            <a:lvl2pPr marL="742950" indent="-285750" eaLnBrk="0" hangingPunct="0">
              <a:spcAft>
                <a:spcPct val="0"/>
              </a:spcAft>
              <a:buChar char="-"/>
              <a:defRPr sz="2000">
                <a:solidFill>
                  <a:schemeClr val="tx1"/>
                </a:solidFill>
                <a:latin typeface="ITC Officina Sans Book" pitchFamily="34" charset="0"/>
              </a:defRPr>
            </a:lvl2pPr>
            <a:lvl3pPr marL="1143000" indent="-228600" eaLnBrk="0" hangingPunct="0">
              <a:spcAft>
                <a:spcPct val="0"/>
              </a:spcAft>
              <a:buChar char="-"/>
              <a:defRPr sz="2000">
                <a:solidFill>
                  <a:schemeClr val="tx1"/>
                </a:solidFill>
                <a:latin typeface="ITC Officina Sans Book" pitchFamily="34" charset="0"/>
              </a:defRPr>
            </a:lvl3pPr>
            <a:lvl4pPr marL="1600200" indent="-228600" eaLnBrk="0" hangingPunct="0">
              <a:spcAft>
                <a:spcPct val="0"/>
              </a:spcAft>
              <a:buChar char="-"/>
              <a:defRPr sz="2000">
                <a:solidFill>
                  <a:schemeClr val="tx1"/>
                </a:solidFill>
                <a:latin typeface="ITC Officina Sans Book" pitchFamily="34" charset="0"/>
              </a:defRPr>
            </a:lvl4pPr>
            <a:lvl5pPr marL="2057400" indent="-228600" eaLnBrk="0" hangingPunct="0">
              <a:spcAft>
                <a:spcPct val="0"/>
              </a:spcAft>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eaLnBrk="1" hangingPunct="1">
              <a:spcAft>
                <a:spcPct val="25000"/>
              </a:spcAft>
              <a:buNone/>
            </a:pPr>
            <a:r>
              <a:rPr lang="en-US" altLang="de-DE" sz="1200" dirty="0" err="1" smtClean="0">
                <a:latin typeface="+mn-lt"/>
              </a:rPr>
              <a:t>Givaudan</a:t>
            </a:r>
            <a:endParaRPr lang="en-US" altLang="de-DE" sz="1200" dirty="0">
              <a:latin typeface="+mn-lt"/>
            </a:endParaRPr>
          </a:p>
        </p:txBody>
      </p:sp>
      <p:sp>
        <p:nvSpPr>
          <p:cNvPr id="32" name="Rectangle 11"/>
          <p:cNvSpPr>
            <a:spLocks noChangeArrowheads="1"/>
          </p:cNvSpPr>
          <p:nvPr/>
        </p:nvSpPr>
        <p:spPr bwMode="auto">
          <a:xfrm>
            <a:off x="5793400" y="2856462"/>
            <a:ext cx="4428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Aft>
                <a:spcPct val="0"/>
              </a:spcAft>
              <a:buChar char="§"/>
              <a:defRPr sz="2000">
                <a:solidFill>
                  <a:schemeClr val="tx1"/>
                </a:solidFill>
                <a:latin typeface="ITC Officina Sans Book" pitchFamily="34" charset="0"/>
              </a:defRPr>
            </a:lvl1pPr>
            <a:lvl2pPr marL="742950" indent="-285750" eaLnBrk="0" hangingPunct="0">
              <a:spcAft>
                <a:spcPct val="0"/>
              </a:spcAft>
              <a:buChar char="-"/>
              <a:defRPr sz="2000">
                <a:solidFill>
                  <a:schemeClr val="tx1"/>
                </a:solidFill>
                <a:latin typeface="ITC Officina Sans Book" pitchFamily="34" charset="0"/>
              </a:defRPr>
            </a:lvl2pPr>
            <a:lvl3pPr marL="1143000" indent="-228600" eaLnBrk="0" hangingPunct="0">
              <a:spcAft>
                <a:spcPct val="0"/>
              </a:spcAft>
              <a:buChar char="-"/>
              <a:defRPr sz="2000">
                <a:solidFill>
                  <a:schemeClr val="tx1"/>
                </a:solidFill>
                <a:latin typeface="ITC Officina Sans Book" pitchFamily="34" charset="0"/>
              </a:defRPr>
            </a:lvl3pPr>
            <a:lvl4pPr marL="1600200" indent="-228600" eaLnBrk="0" hangingPunct="0">
              <a:spcAft>
                <a:spcPct val="0"/>
              </a:spcAft>
              <a:buChar char="-"/>
              <a:defRPr sz="2000">
                <a:solidFill>
                  <a:schemeClr val="tx1"/>
                </a:solidFill>
                <a:latin typeface="ITC Officina Sans Book" pitchFamily="34" charset="0"/>
              </a:defRPr>
            </a:lvl4pPr>
            <a:lvl5pPr marL="2057400" indent="-228600" eaLnBrk="0" hangingPunct="0">
              <a:spcAft>
                <a:spcPct val="0"/>
              </a:spcAft>
              <a:buChar char="-"/>
              <a:defRPr sz="2000">
                <a:solidFill>
                  <a:schemeClr val="tx1"/>
                </a:solidFill>
                <a:latin typeface="ITC Officina Sans Book" pitchFamily="34" charset="0"/>
              </a:defRPr>
            </a:lvl5pPr>
            <a:lvl6pPr marL="25146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6pPr>
            <a:lvl7pPr marL="29718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7pPr>
            <a:lvl8pPr marL="34290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8pPr>
            <a:lvl9pPr marL="3886200" indent="-228600" eaLnBrk="0" fontAlgn="base" hangingPunct="0">
              <a:spcBef>
                <a:spcPct val="0"/>
              </a:spcBef>
              <a:spcAft>
                <a:spcPct val="0"/>
              </a:spcAft>
              <a:buClr>
                <a:schemeClr val="accent1"/>
              </a:buClr>
              <a:buChar char="-"/>
              <a:defRPr sz="2000">
                <a:solidFill>
                  <a:schemeClr val="tx1"/>
                </a:solidFill>
                <a:latin typeface="ITC Officina Sans Book" pitchFamily="34" charset="0"/>
              </a:defRPr>
            </a:lvl9pPr>
          </a:lstStyle>
          <a:p>
            <a:pPr eaLnBrk="1" hangingPunct="1">
              <a:spcAft>
                <a:spcPts val="0"/>
              </a:spcAft>
              <a:buFont typeface="Wingdings" pitchFamily="2" charset="2"/>
              <a:buNone/>
            </a:pPr>
            <a:r>
              <a:rPr lang="en-US" altLang="de-DE" sz="1200" dirty="0" err="1">
                <a:latin typeface="+mn-lt"/>
              </a:rPr>
              <a:t>Geberit</a:t>
            </a:r>
            <a:r>
              <a:rPr lang="en-US" altLang="de-DE" sz="1200" dirty="0">
                <a:latin typeface="+mn-lt"/>
              </a:rPr>
              <a:t>, SGS</a:t>
            </a:r>
            <a:r>
              <a:rPr lang="en-US" altLang="de-DE" sz="1200" dirty="0" smtClean="0">
                <a:latin typeface="+mn-lt"/>
              </a:rPr>
              <a:t>, </a:t>
            </a:r>
            <a:r>
              <a:rPr lang="en-US" altLang="de-DE" sz="1200" dirty="0" err="1">
                <a:latin typeface="+mn-lt"/>
              </a:rPr>
              <a:t>Bossard</a:t>
            </a:r>
            <a:r>
              <a:rPr lang="en-US" altLang="de-DE" sz="1200" dirty="0">
                <a:latin typeface="+mn-lt"/>
              </a:rPr>
              <a:t>, Bucher, Burckhardt, </a:t>
            </a:r>
            <a:r>
              <a:rPr lang="en-US" altLang="de-DE" sz="1200" dirty="0" err="1">
                <a:latin typeface="+mn-lt"/>
              </a:rPr>
              <a:t>Dätwyler</a:t>
            </a:r>
            <a:r>
              <a:rPr lang="en-US" altLang="de-DE" sz="1200" dirty="0">
                <a:latin typeface="+mn-lt"/>
              </a:rPr>
              <a:t>, Fischer, </a:t>
            </a:r>
            <a:r>
              <a:rPr lang="en-US" altLang="de-DE" sz="1200" dirty="0" err="1" smtClean="0">
                <a:latin typeface="+mn-lt"/>
              </a:rPr>
              <a:t>Flughafen</a:t>
            </a:r>
            <a:r>
              <a:rPr lang="en-US" altLang="de-DE" sz="1200" dirty="0" smtClean="0">
                <a:latin typeface="+mn-lt"/>
              </a:rPr>
              <a:t> Zurich, </a:t>
            </a:r>
            <a:r>
              <a:rPr lang="en-US" altLang="de-DE" sz="1200" dirty="0" err="1">
                <a:latin typeface="+mn-lt"/>
              </a:rPr>
              <a:t>Interroll</a:t>
            </a:r>
            <a:r>
              <a:rPr lang="en-US" altLang="de-DE" sz="1200" dirty="0">
                <a:latin typeface="+mn-lt"/>
              </a:rPr>
              <a:t>, </a:t>
            </a:r>
            <a:r>
              <a:rPr lang="en-US" altLang="de-DE" sz="1200" dirty="0" err="1">
                <a:latin typeface="+mn-lt"/>
              </a:rPr>
              <a:t>Komax</a:t>
            </a:r>
            <a:r>
              <a:rPr lang="en-US" altLang="de-DE" sz="1200" dirty="0">
                <a:latin typeface="+mn-lt"/>
              </a:rPr>
              <a:t>, </a:t>
            </a:r>
            <a:r>
              <a:rPr lang="en-US" altLang="de-DE" sz="1200" dirty="0" err="1">
                <a:latin typeface="+mn-lt"/>
              </a:rPr>
              <a:t>Kühne</a:t>
            </a:r>
            <a:r>
              <a:rPr lang="en-US" altLang="de-DE" sz="1200" dirty="0">
                <a:latin typeface="+mn-lt"/>
              </a:rPr>
              <a:t> + Nagel, </a:t>
            </a:r>
            <a:r>
              <a:rPr lang="en-US" altLang="de-DE" sz="1200" dirty="0" err="1">
                <a:latin typeface="+mn-lt"/>
              </a:rPr>
              <a:t>Oerlikon</a:t>
            </a:r>
            <a:r>
              <a:rPr lang="en-US" altLang="de-DE" sz="1200" dirty="0">
                <a:latin typeface="+mn-lt"/>
              </a:rPr>
              <a:t>, </a:t>
            </a:r>
            <a:r>
              <a:rPr lang="en-US" altLang="de-DE" sz="1200" dirty="0" err="1">
                <a:latin typeface="+mn-lt"/>
              </a:rPr>
              <a:t>Schweiter</a:t>
            </a:r>
            <a:r>
              <a:rPr lang="en-US" altLang="de-DE" sz="1200" dirty="0">
                <a:latin typeface="+mn-lt"/>
              </a:rPr>
              <a:t>, </a:t>
            </a:r>
            <a:r>
              <a:rPr lang="en-US" altLang="de-DE" sz="1200" dirty="0" smtClean="0">
                <a:latin typeface="+mn-lt"/>
              </a:rPr>
              <a:t>VAT, </a:t>
            </a:r>
            <a:r>
              <a:rPr lang="en-US" altLang="de-DE" sz="1200" dirty="0" err="1" smtClean="0">
                <a:latin typeface="+mn-lt"/>
              </a:rPr>
              <a:t>Sulzer</a:t>
            </a:r>
            <a:r>
              <a:rPr lang="en-US" altLang="de-DE" sz="1200" dirty="0" smtClean="0">
                <a:latin typeface="+mn-lt"/>
              </a:rPr>
              <a:t>, </a:t>
            </a:r>
            <a:r>
              <a:rPr lang="en-US" altLang="de-DE" sz="1200" dirty="0" err="1" smtClean="0">
                <a:latin typeface="+mn-lt"/>
              </a:rPr>
              <a:t>Bobst</a:t>
            </a:r>
            <a:endParaRPr lang="en-US" altLang="de-DE" sz="1200" dirty="0">
              <a:latin typeface="+mn-lt"/>
            </a:endParaRPr>
          </a:p>
        </p:txBody>
      </p:sp>
    </p:spTree>
    <p:extLst>
      <p:ext uri="{BB962C8B-B14F-4D97-AF65-F5344CB8AC3E}">
        <p14:creationId xmlns:p14="http://schemas.microsoft.com/office/powerpoint/2010/main" val="1631784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Comparison of title weightings </a:t>
            </a:r>
            <a:endParaRPr lang="en-US" dirty="0"/>
          </a:p>
        </p:txBody>
      </p:sp>
      <p:sp>
        <p:nvSpPr>
          <p:cNvPr id="3" name="TextBox 2"/>
          <p:cNvSpPr txBox="1"/>
          <p:nvPr>
            <p:custDataLst>
              <p:tags r:id="rId2"/>
            </p:custDataLst>
          </p:nvPr>
        </p:nvSpPr>
        <p:spPr bwMode="gray">
          <a:xfrm>
            <a:off x="449263" y="7186309"/>
            <a:ext cx="7272905" cy="1219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400">
              <a:tabLst>
                <a:tab pos="2852937" algn="l"/>
              </a:tabLst>
            </a:pPr>
            <a:r>
              <a:rPr lang="en-US" sz="800" dirty="0" smtClean="0">
                <a:solidFill>
                  <a:srgbClr val="000000"/>
                </a:solidFill>
                <a:latin typeface="Arial"/>
              </a:rPr>
              <a:t>as of 28.02.2019</a:t>
            </a:r>
            <a:endParaRPr lang="en-US" sz="800" dirty="0">
              <a:solidFill>
                <a:srgbClr val="000000"/>
              </a:solidFill>
              <a:latin typeface="Arial"/>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674620471"/>
              </p:ext>
            </p:extLst>
          </p:nvPr>
        </p:nvGraphicFramePr>
        <p:xfrm>
          <a:off x="456127" y="1478861"/>
          <a:ext cx="8739188" cy="4867275"/>
        </p:xfrm>
        <a:graphic>
          <a:graphicData uri="http://schemas.openxmlformats.org/presentationml/2006/ole">
            <mc:AlternateContent xmlns:mc="http://schemas.openxmlformats.org/markup-compatibility/2006">
              <mc:Choice xmlns:v="urn:schemas-microsoft-com:vml" Requires="v">
                <p:oleObj spid="_x0000_s27716" name="Worksheet" r:id="rId4" imgW="8277149" imgH="4609977" progId="Excel.Sheet.12">
                  <p:link updateAutomatic="1"/>
                </p:oleObj>
              </mc:Choice>
              <mc:Fallback>
                <p:oleObj name="Worksheet" r:id="rId4" imgW="8277149" imgH="4609977" progId="Excel.Sheet.12">
                  <p:link updateAutomatic="1"/>
                  <p:pic>
                    <p:nvPicPr>
                      <p:cNvPr id="0" name=""/>
                      <p:cNvPicPr/>
                      <p:nvPr/>
                    </p:nvPicPr>
                    <p:blipFill>
                      <a:blip r:embed="rId5"/>
                      <a:stretch>
                        <a:fillRect/>
                      </a:stretch>
                    </p:blipFill>
                    <p:spPr>
                      <a:xfrm>
                        <a:off x="456127" y="1478861"/>
                        <a:ext cx="8739188" cy="4867275"/>
                      </a:xfrm>
                      <a:prstGeom prst="rect">
                        <a:avLst/>
                      </a:prstGeom>
                    </p:spPr>
                  </p:pic>
                </p:oleObj>
              </mc:Fallback>
            </mc:AlternateContent>
          </a:graphicData>
        </a:graphic>
      </p:graphicFrame>
    </p:spTree>
    <p:extLst>
      <p:ext uri="{BB962C8B-B14F-4D97-AF65-F5344CB8AC3E}">
        <p14:creationId xmlns:p14="http://schemas.microsoft.com/office/powerpoint/2010/main" val="289933503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49363" y="440929"/>
            <a:ext cx="7930963" cy="674612"/>
          </a:xfrm>
        </p:spPr>
        <p:txBody>
          <a:bodyPr/>
          <a:lstStyle/>
          <a:p>
            <a:r>
              <a:rPr lang="en-US" dirty="0"/>
              <a:t/>
            </a:r>
            <a:br>
              <a:rPr lang="en-US" dirty="0"/>
            </a:br>
            <a:r>
              <a:rPr lang="en-US" dirty="0"/>
              <a:t>Dividend yield</a:t>
            </a:r>
            <a:endParaRPr lang="de-CH" dirty="0"/>
          </a:p>
        </p:txBody>
      </p:sp>
      <p:sp>
        <p:nvSpPr>
          <p:cNvPr id="10" name="TextBox 9"/>
          <p:cNvSpPr txBox="1"/>
          <p:nvPr>
            <p:custDataLst>
              <p:tags r:id="rId2"/>
            </p:custDataLst>
          </p:nvPr>
        </p:nvSpPr>
        <p:spPr bwMode="gray">
          <a:xfrm>
            <a:off x="449264" y="7185117"/>
            <a:ext cx="7272904" cy="1231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r>
              <a:rPr lang="en-US" sz="800" dirty="0">
                <a:solidFill>
                  <a:srgbClr val="000000"/>
                </a:solidFill>
              </a:rPr>
              <a:t>as of </a:t>
            </a:r>
            <a:r>
              <a:rPr lang="en-US" sz="800" dirty="0" smtClean="0">
                <a:solidFill>
                  <a:srgbClr val="000000"/>
                </a:solidFill>
              </a:rPr>
              <a:t>28.02.2019</a:t>
            </a:r>
            <a:endParaRPr lang="en-US" sz="800" dirty="0">
              <a:solidFill>
                <a:srgbClr val="000000"/>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004945279"/>
              </p:ext>
            </p:extLst>
          </p:nvPr>
        </p:nvGraphicFramePr>
        <p:xfrm>
          <a:off x="449262" y="1476375"/>
          <a:ext cx="9793287" cy="3940432"/>
        </p:xfrm>
        <a:graphic>
          <a:graphicData uri="http://schemas.openxmlformats.org/presentationml/2006/ole">
            <mc:AlternateContent xmlns:mc="http://schemas.openxmlformats.org/markup-compatibility/2006">
              <mc:Choice xmlns:v="urn:schemas-microsoft-com:vml" Requires="v">
                <p:oleObj spid="_x0000_s37913" name="Worksheet" r:id="rId4" imgW="8877361" imgH="3572059" progId="Excel.Sheet.12">
                  <p:link updateAutomatic="1"/>
                </p:oleObj>
              </mc:Choice>
              <mc:Fallback>
                <p:oleObj name="Worksheet" r:id="rId4" imgW="8877361" imgH="3572059" progId="Excel.Sheet.12">
                  <p:link updateAutomatic="1"/>
                  <p:pic>
                    <p:nvPicPr>
                      <p:cNvPr id="0" name=""/>
                      <p:cNvPicPr/>
                      <p:nvPr/>
                    </p:nvPicPr>
                    <p:blipFill>
                      <a:blip r:embed="rId5"/>
                      <a:stretch>
                        <a:fillRect/>
                      </a:stretch>
                    </p:blipFill>
                    <p:spPr>
                      <a:xfrm>
                        <a:off x="449262" y="1476375"/>
                        <a:ext cx="9793287" cy="3940432"/>
                      </a:xfrm>
                      <a:prstGeom prst="rect">
                        <a:avLst/>
                      </a:prstGeom>
                    </p:spPr>
                  </p:pic>
                </p:oleObj>
              </mc:Fallback>
            </mc:AlternateContent>
          </a:graphicData>
        </a:graphic>
      </p:graphicFrame>
    </p:spTree>
    <p:extLst>
      <p:ext uri="{BB962C8B-B14F-4D97-AF65-F5344CB8AC3E}">
        <p14:creationId xmlns:p14="http://schemas.microsoft.com/office/powerpoint/2010/main" val="13992206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Model portfolio “Large”</a:t>
            </a:r>
            <a:endParaRPr lang="en-US" dirty="0"/>
          </a:p>
        </p:txBody>
      </p:sp>
      <p:sp>
        <p:nvSpPr>
          <p:cNvPr id="3" name="Text Placeholder 2"/>
          <p:cNvSpPr>
            <a:spLocks noGrp="1"/>
          </p:cNvSpPr>
          <p:nvPr>
            <p:ph type="body" sz="quarter" idx="16"/>
          </p:nvPr>
        </p:nvSpPr>
        <p:spPr>
          <a:xfrm>
            <a:off x="449362" y="1476374"/>
            <a:ext cx="6408000" cy="258533"/>
          </a:xfrm>
        </p:spPr>
        <p:txBody>
          <a:bodyPr/>
          <a:lstStyle/>
          <a:p>
            <a:r>
              <a:rPr lang="en-US" dirty="0" smtClean="0">
                <a:solidFill>
                  <a:srgbClr val="000000"/>
                </a:solidFill>
              </a:rPr>
              <a:t>Positions</a:t>
            </a:r>
            <a:endParaRPr lang="en-US" dirty="0"/>
          </a:p>
        </p:txBody>
      </p:sp>
      <p:sp>
        <p:nvSpPr>
          <p:cNvPr id="4" name="Text Placeholder 3"/>
          <p:cNvSpPr>
            <a:spLocks noGrp="1"/>
          </p:cNvSpPr>
          <p:nvPr>
            <p:ph type="body" sz="quarter" idx="14"/>
          </p:nvPr>
        </p:nvSpPr>
        <p:spPr>
          <a:xfrm>
            <a:off x="7146550" y="1476374"/>
            <a:ext cx="3096000" cy="258533"/>
          </a:xfrm>
        </p:spPr>
        <p:txBody>
          <a:bodyPr/>
          <a:lstStyle/>
          <a:p>
            <a:r>
              <a:rPr lang="en-US" smtClean="0">
                <a:solidFill>
                  <a:srgbClr val="000000"/>
                </a:solidFill>
              </a:rPr>
              <a:t>Sectors</a:t>
            </a:r>
            <a:endParaRPr lang="en-US" dirty="0"/>
          </a:p>
        </p:txBody>
      </p:sp>
      <p:sp>
        <p:nvSpPr>
          <p:cNvPr id="10" name="TextBox 9"/>
          <p:cNvSpPr txBox="1"/>
          <p:nvPr>
            <p:custDataLst>
              <p:tags r:id="rId2"/>
            </p:custDataLst>
          </p:nvPr>
        </p:nvSpPr>
        <p:spPr bwMode="gray">
          <a:xfrm>
            <a:off x="449264" y="7185117"/>
            <a:ext cx="7272904" cy="1231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r>
              <a:rPr lang="en-US" sz="800" dirty="0" smtClean="0">
                <a:solidFill>
                  <a:srgbClr val="000000"/>
                </a:solidFill>
              </a:rPr>
              <a:t>as of 28.02.2019</a:t>
            </a:r>
            <a:endParaRPr lang="en-US" sz="800" dirty="0">
              <a:solidFill>
                <a:srgbClr val="000000"/>
              </a:solidFill>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2117864826"/>
              </p:ext>
            </p:extLst>
          </p:nvPr>
        </p:nvGraphicFramePr>
        <p:xfrm>
          <a:off x="7003750" y="1482725"/>
          <a:ext cx="2762250" cy="4419600"/>
        </p:xfrm>
        <a:graphic>
          <a:graphicData uri="http://schemas.openxmlformats.org/presentationml/2006/ole">
            <mc:AlternateContent xmlns:mc="http://schemas.openxmlformats.org/markup-compatibility/2006">
              <mc:Choice xmlns:v="urn:schemas-microsoft-com:vml" Requires="v">
                <p:oleObj spid="_x0000_s24696" name="Worksheet" r:id="rId4" imgW="2762220" imgH="4419723" progId="Excel.Sheet.12">
                  <p:link updateAutomatic="1"/>
                </p:oleObj>
              </mc:Choice>
              <mc:Fallback>
                <p:oleObj name="Worksheet" r:id="rId4" imgW="2762220" imgH="4419723" progId="Excel.Sheet.12">
                  <p:link updateAutomatic="1"/>
                  <p:pic>
                    <p:nvPicPr>
                      <p:cNvPr id="0" name=""/>
                      <p:cNvPicPr/>
                      <p:nvPr/>
                    </p:nvPicPr>
                    <p:blipFill>
                      <a:blip r:embed="rId5"/>
                      <a:stretch>
                        <a:fillRect/>
                      </a:stretch>
                    </p:blipFill>
                    <p:spPr>
                      <a:xfrm>
                        <a:off x="7003750" y="1482725"/>
                        <a:ext cx="2762250" cy="441960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4282792307"/>
              </p:ext>
            </p:extLst>
          </p:nvPr>
        </p:nvGraphicFramePr>
        <p:xfrm>
          <a:off x="449725" y="1844203"/>
          <a:ext cx="5788113" cy="3792213"/>
        </p:xfrm>
        <a:graphic>
          <a:graphicData uri="http://schemas.openxmlformats.org/presentationml/2006/ole">
            <mc:AlternateContent xmlns:mc="http://schemas.openxmlformats.org/markup-compatibility/2006">
              <mc:Choice xmlns:v="urn:schemas-microsoft-com:vml" Requires="v">
                <p:oleObj spid="_x0000_s24697" name="Worksheet" r:id="rId6" imgW="5248290" imgH="3438586" progId="Excel.Sheet.12">
                  <p:link updateAutomatic="1"/>
                </p:oleObj>
              </mc:Choice>
              <mc:Fallback>
                <p:oleObj name="Worksheet" r:id="rId6" imgW="5248290" imgH="3438586" progId="Excel.Sheet.12">
                  <p:link updateAutomatic="1"/>
                  <p:pic>
                    <p:nvPicPr>
                      <p:cNvPr id="0" name=""/>
                      <p:cNvPicPr/>
                      <p:nvPr/>
                    </p:nvPicPr>
                    <p:blipFill>
                      <a:blip r:embed="rId7"/>
                      <a:stretch>
                        <a:fillRect/>
                      </a:stretch>
                    </p:blipFill>
                    <p:spPr>
                      <a:xfrm>
                        <a:off x="449725" y="1844203"/>
                        <a:ext cx="5788113" cy="3792213"/>
                      </a:xfrm>
                      <a:prstGeom prst="rect">
                        <a:avLst/>
                      </a:prstGeom>
                    </p:spPr>
                  </p:pic>
                </p:oleObj>
              </mc:Fallback>
            </mc:AlternateContent>
          </a:graphicData>
        </a:graphic>
      </p:graphicFrame>
    </p:spTree>
    <p:extLst>
      <p:ext uri="{BB962C8B-B14F-4D97-AF65-F5344CB8AC3E}">
        <p14:creationId xmlns:p14="http://schemas.microsoft.com/office/powerpoint/2010/main" val="145350021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Transactions 2018</a:t>
            </a:r>
            <a:endParaRPr lang="en-US" dirty="0"/>
          </a:p>
        </p:txBody>
      </p:sp>
      <p:sp>
        <p:nvSpPr>
          <p:cNvPr id="4" name="Text Placeholder 3"/>
          <p:cNvSpPr>
            <a:spLocks noGrp="1"/>
          </p:cNvSpPr>
          <p:nvPr>
            <p:ph type="body" sz="quarter" idx="14"/>
          </p:nvPr>
        </p:nvSpPr>
        <p:spPr/>
        <p:txBody>
          <a:bodyPr/>
          <a:lstStyle/>
          <a:p>
            <a:endParaRPr lang="de-CH"/>
          </a:p>
        </p:txBody>
      </p:sp>
      <p:sp>
        <p:nvSpPr>
          <p:cNvPr id="5" name="TextBox 4"/>
          <p:cNvSpPr txBox="1"/>
          <p:nvPr>
            <p:custDataLst>
              <p:tags r:id="rId1"/>
            </p:custDataLst>
          </p:nvPr>
        </p:nvSpPr>
        <p:spPr bwMode="gray">
          <a:xfrm>
            <a:off x="449263" y="7186309"/>
            <a:ext cx="7272905" cy="1219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pPr defTabSz="914400">
              <a:tabLst>
                <a:tab pos="2852937" algn="l"/>
              </a:tabLst>
            </a:pPr>
            <a:r>
              <a:rPr lang="en-US" sz="800" dirty="0" smtClean="0">
                <a:solidFill>
                  <a:srgbClr val="000000"/>
                </a:solidFill>
                <a:latin typeface="Arial"/>
              </a:rPr>
              <a:t>as of 28.02.2019</a:t>
            </a:r>
            <a:endParaRPr lang="en-US" sz="800" dirty="0">
              <a:solidFill>
                <a:srgbClr val="000000"/>
              </a:solidFill>
              <a:latin typeface="Arial"/>
            </a:endParaRPr>
          </a:p>
        </p:txBody>
      </p:sp>
      <p:graphicFrame>
        <p:nvGraphicFramePr>
          <p:cNvPr id="6" name="Content Placeholder 7"/>
          <p:cNvGraphicFramePr>
            <a:graphicFrameLocks/>
          </p:cNvGraphicFramePr>
          <p:nvPr>
            <p:extLst>
              <p:ext uri="{D42A27DB-BD31-4B8C-83A1-F6EECF244321}">
                <p14:modId xmlns:p14="http://schemas.microsoft.com/office/powerpoint/2010/main" val="2757782796"/>
              </p:ext>
            </p:extLst>
          </p:nvPr>
        </p:nvGraphicFramePr>
        <p:xfrm>
          <a:off x="449263" y="1482725"/>
          <a:ext cx="9792000" cy="5184000"/>
        </p:xfrm>
        <a:graphic>
          <a:graphicData uri="http://schemas.openxmlformats.org/drawingml/2006/table">
            <a:tbl>
              <a:tblPr firstRow="1" bandRow="1">
                <a:tableStyleId>{2D5ABB26-0587-4C30-8999-92F81FD0307C}</a:tableStyleId>
              </a:tblPr>
              <a:tblGrid>
                <a:gridCol w="1005932">
                  <a:extLst>
                    <a:ext uri="{9D8B030D-6E8A-4147-A177-3AD203B41FA5}">
                      <a16:colId xmlns:a16="http://schemas.microsoft.com/office/drawing/2014/main" val="20000"/>
                    </a:ext>
                  </a:extLst>
                </a:gridCol>
                <a:gridCol w="1472972">
                  <a:extLst>
                    <a:ext uri="{9D8B030D-6E8A-4147-A177-3AD203B41FA5}">
                      <a16:colId xmlns:a16="http://schemas.microsoft.com/office/drawing/2014/main" val="20001"/>
                    </a:ext>
                  </a:extLst>
                </a:gridCol>
                <a:gridCol w="2155569">
                  <a:extLst>
                    <a:ext uri="{9D8B030D-6E8A-4147-A177-3AD203B41FA5}">
                      <a16:colId xmlns:a16="http://schemas.microsoft.com/office/drawing/2014/main" val="20002"/>
                    </a:ext>
                  </a:extLst>
                </a:gridCol>
                <a:gridCol w="5157527">
                  <a:extLst>
                    <a:ext uri="{9D8B030D-6E8A-4147-A177-3AD203B41FA5}">
                      <a16:colId xmlns:a16="http://schemas.microsoft.com/office/drawing/2014/main" val="20003"/>
                    </a:ext>
                  </a:extLst>
                </a:gridCol>
              </a:tblGrid>
              <a:tr h="324000">
                <a:tc>
                  <a:txBody>
                    <a:bodyPr/>
                    <a:lstStyle/>
                    <a:p>
                      <a:pPr algn="l" fontAlgn="t"/>
                      <a:r>
                        <a:rPr lang="en-US" sz="1200" b="1" i="0" u="none" strike="noStrike" dirty="0" smtClean="0">
                          <a:solidFill>
                            <a:srgbClr val="000000"/>
                          </a:solidFill>
                          <a:effectLst/>
                          <a:latin typeface="+mn-lt"/>
                        </a:rPr>
                        <a:t>DATUM</a:t>
                      </a:r>
                      <a:endParaRPr lang="en-US" sz="1200" b="1" i="0" u="none" strike="noStrike" dirty="0">
                        <a:solidFill>
                          <a:srgbClr val="000000"/>
                        </a:solidFill>
                        <a:effectLst/>
                        <a:latin typeface="+mn-lt"/>
                      </a:endParaRPr>
                    </a:p>
                  </a:txBody>
                  <a:tcPr marL="36000" marR="36000" marT="36000" marB="36000" anchor="ctr">
                    <a:lnL>
                      <a:noFill/>
                    </a:lnL>
                    <a:lnR>
                      <a:noFill/>
                    </a:lnR>
                    <a:lnT>
                      <a:noFill/>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r>
                        <a:rPr lang="en-US" sz="1200" b="1" i="0" u="none" strike="noStrike" dirty="0" smtClean="0">
                          <a:solidFill>
                            <a:srgbClr val="000000"/>
                          </a:solidFill>
                          <a:effectLst/>
                          <a:latin typeface="+mn-lt"/>
                        </a:rPr>
                        <a:t>TRANSACTION</a:t>
                      </a:r>
                      <a:endParaRPr lang="en-US" sz="1200" b="1" i="0" u="none" strike="noStrike" dirty="0">
                        <a:solidFill>
                          <a:srgbClr val="000000"/>
                        </a:solidFill>
                        <a:effectLst/>
                        <a:latin typeface="+mn-lt"/>
                      </a:endParaRPr>
                    </a:p>
                  </a:txBody>
                  <a:tcPr marL="36000" marR="36000" marT="36000" marB="36000" anchor="ctr">
                    <a:lnL>
                      <a:noFill/>
                    </a:lnL>
                    <a:lnR>
                      <a:noFill/>
                    </a:lnR>
                    <a:lnT>
                      <a:noFill/>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r>
                        <a:rPr lang="en-US" sz="1200" b="1" i="0" u="none" strike="noStrike" dirty="0" smtClean="0">
                          <a:solidFill>
                            <a:srgbClr val="000000"/>
                          </a:solidFill>
                          <a:effectLst/>
                          <a:latin typeface="+mn-lt"/>
                        </a:rPr>
                        <a:t>NAME</a:t>
                      </a:r>
                      <a:endParaRPr lang="en-US" sz="1200" b="1" i="0" u="none" strike="noStrike" dirty="0">
                        <a:solidFill>
                          <a:srgbClr val="000000"/>
                        </a:solidFill>
                        <a:effectLst/>
                        <a:latin typeface="+mn-lt"/>
                      </a:endParaRPr>
                    </a:p>
                  </a:txBody>
                  <a:tcPr marL="36000" marR="36000" marT="36000" marB="36000" anchor="ctr">
                    <a:lnL>
                      <a:noFill/>
                    </a:lnL>
                    <a:lnR>
                      <a:noFill/>
                    </a:lnR>
                    <a:lnT>
                      <a:noFill/>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r>
                        <a:rPr lang="en-US" sz="1200" b="1" i="0" u="none" strike="noStrike" dirty="0" smtClean="0">
                          <a:solidFill>
                            <a:srgbClr val="000000"/>
                          </a:solidFill>
                          <a:effectLst/>
                          <a:latin typeface="+mn-lt"/>
                        </a:rPr>
                        <a:t>REASON</a:t>
                      </a:r>
                      <a:endParaRPr lang="en-US" sz="1200" b="1" i="0" u="none" strike="noStrike" dirty="0">
                        <a:solidFill>
                          <a:srgbClr val="000000"/>
                        </a:solidFill>
                        <a:effectLst/>
                        <a:latin typeface="+mn-lt"/>
                      </a:endParaRPr>
                    </a:p>
                  </a:txBody>
                  <a:tcPr marL="36000" marR="36000" marT="36000" marB="36000" anchor="ctr">
                    <a:lnL>
                      <a:noFill/>
                    </a:lnL>
                    <a:lnR>
                      <a:noFill/>
                    </a:lnR>
                    <a:lnT>
                      <a:noFill/>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24000">
                <a:tc>
                  <a:txBody>
                    <a:bodyPr/>
                    <a:lstStyle/>
                    <a:p>
                      <a:pPr algn="l" fontAlgn="t"/>
                      <a:r>
                        <a:rPr lang="de-CH" sz="1200" b="0" i="0" u="none" strike="noStrike" dirty="0">
                          <a:solidFill>
                            <a:srgbClr val="000000"/>
                          </a:solidFill>
                          <a:effectLst/>
                          <a:latin typeface="Arial (Body)"/>
                        </a:rPr>
                        <a:t>Feb 09</a:t>
                      </a:r>
                    </a:p>
                  </a:txBody>
                  <a:tcPr marL="0" marR="0" marT="0" marB="0" anchor="ctr">
                    <a:lnL>
                      <a:noFill/>
                    </a:lnL>
                    <a:lnR>
                      <a:noFill/>
                    </a:lnR>
                    <a:lnT w="5080" cmpd="sng">
                      <a:solidFill>
                        <a:srgbClr val="000000"/>
                      </a:solidFill>
                      <a:prstDash val="soli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err="1">
                          <a:solidFill>
                            <a:srgbClr val="000000"/>
                          </a:solidFill>
                          <a:effectLst/>
                          <a:latin typeface="Arial (Body)"/>
                        </a:rPr>
                        <a:t>Purchase</a:t>
                      </a:r>
                      <a:endParaRPr lang="de-CH" sz="1200" b="0" i="0" u="none" strike="noStrike" dirty="0">
                        <a:solidFill>
                          <a:srgbClr val="000000"/>
                        </a:solidFill>
                        <a:effectLst/>
                        <a:latin typeface="Arial (Body)"/>
                      </a:endParaRPr>
                    </a:p>
                  </a:txBody>
                  <a:tcPr marL="0" marR="0" marT="0" marB="0" anchor="ctr">
                    <a:lnL>
                      <a:noFill/>
                    </a:lnL>
                    <a:lnR>
                      <a:noFill/>
                    </a:lnR>
                    <a:lnT w="5080" cmpd="sng">
                      <a:solidFill>
                        <a:srgbClr val="000000"/>
                      </a:solidFill>
                      <a:prstDash val="soli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a:solidFill>
                            <a:srgbClr val="000000"/>
                          </a:solidFill>
                          <a:effectLst/>
                          <a:latin typeface="Arial (Body)"/>
                        </a:rPr>
                        <a:t>KTM Industries N</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err="1">
                          <a:solidFill>
                            <a:srgbClr val="000000"/>
                          </a:solidFill>
                          <a:effectLst/>
                          <a:latin typeface="Arial (Body)"/>
                        </a:rPr>
                        <a:t>Attractive</a:t>
                      </a:r>
                      <a:r>
                        <a:rPr lang="de-CH" sz="1200" b="0" i="0" u="none" strike="noStrike" dirty="0">
                          <a:solidFill>
                            <a:srgbClr val="000000"/>
                          </a:solidFill>
                          <a:effectLst/>
                          <a:latin typeface="Arial (Body)"/>
                        </a:rPr>
                        <a:t> </a:t>
                      </a:r>
                      <a:r>
                        <a:rPr lang="de-CH" sz="1200" b="0" i="0" u="none" strike="noStrike" dirty="0" err="1">
                          <a:solidFill>
                            <a:srgbClr val="000000"/>
                          </a:solidFill>
                          <a:effectLst/>
                          <a:latin typeface="Arial (Body)"/>
                        </a:rPr>
                        <a:t>valuation</a:t>
                      </a:r>
                      <a:endParaRPr lang="de-CH"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24000">
                <a:tc>
                  <a:txBody>
                    <a:bodyPr/>
                    <a:lstStyle/>
                    <a:p>
                      <a:pPr algn="l" fontAlgn="t"/>
                      <a:r>
                        <a:rPr lang="de-CH" sz="1200" b="0" i="0" u="none" strike="noStrike" dirty="0">
                          <a:solidFill>
                            <a:srgbClr val="000000"/>
                          </a:solidFill>
                          <a:effectLst/>
                          <a:latin typeface="Arial (Body)"/>
                        </a:rPr>
                        <a:t>Feb 09</a:t>
                      </a: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err="1">
                          <a:solidFill>
                            <a:srgbClr val="000000"/>
                          </a:solidFill>
                          <a:effectLst/>
                          <a:latin typeface="Arial (Body)"/>
                        </a:rPr>
                        <a:t>Reduction</a:t>
                      </a:r>
                      <a:endParaRPr lang="de-CH"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a:solidFill>
                            <a:srgbClr val="000000"/>
                          </a:solidFill>
                          <a:effectLst/>
                          <a:latin typeface="Arial (Body)"/>
                        </a:rPr>
                        <a:t>Ascom N</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a:solidFill>
                            <a:srgbClr val="000000"/>
                          </a:solidFill>
                          <a:effectLst/>
                          <a:latin typeface="Arial (Body)"/>
                        </a:rPr>
                        <a:t>Profit-</a:t>
                      </a:r>
                      <a:r>
                        <a:rPr lang="de-CH" sz="1200" b="0" i="0" u="none" strike="noStrike" dirty="0" err="1">
                          <a:solidFill>
                            <a:srgbClr val="000000"/>
                          </a:solidFill>
                          <a:effectLst/>
                          <a:latin typeface="Arial (Body)"/>
                        </a:rPr>
                        <a:t>taking</a:t>
                      </a:r>
                      <a:endParaRPr lang="de-CH"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24000">
                <a:tc>
                  <a:txBody>
                    <a:bodyPr/>
                    <a:lstStyle/>
                    <a:p>
                      <a:pPr algn="l" fontAlgn="t"/>
                      <a:r>
                        <a:rPr lang="de-CH" sz="1200" b="0" i="0" u="none" strike="noStrike" dirty="0" smtClean="0">
                          <a:solidFill>
                            <a:srgbClr val="000000"/>
                          </a:solidFill>
                          <a:effectLst/>
                          <a:latin typeface="Arial (Body)"/>
                        </a:rPr>
                        <a:t>Mar </a:t>
                      </a:r>
                      <a:r>
                        <a:rPr lang="de-CH" sz="1200" b="0" i="0" u="none" strike="noStrike" dirty="0">
                          <a:solidFill>
                            <a:srgbClr val="000000"/>
                          </a:solidFill>
                          <a:effectLst/>
                          <a:latin typeface="Arial (Body)"/>
                        </a:rPr>
                        <a:t>27</a:t>
                      </a: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a:solidFill>
                            <a:srgbClr val="000000"/>
                          </a:solidFill>
                          <a:effectLst/>
                          <a:latin typeface="Arial (Body)"/>
                        </a:rPr>
                        <a:t>Capital </a:t>
                      </a:r>
                      <a:r>
                        <a:rPr lang="de-CH" sz="1200" b="0" i="0" u="none" strike="noStrike" dirty="0" err="1">
                          <a:solidFill>
                            <a:srgbClr val="000000"/>
                          </a:solidFill>
                          <a:effectLst/>
                          <a:latin typeface="Arial (Body)"/>
                        </a:rPr>
                        <a:t>Increase</a:t>
                      </a:r>
                      <a:endParaRPr lang="de-CH"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a:solidFill>
                            <a:srgbClr val="000000"/>
                          </a:solidFill>
                          <a:effectLst/>
                          <a:latin typeface="Arial (Body)"/>
                        </a:rPr>
                        <a:t>Mobilzone N</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en-US" sz="1200" b="0" i="0" u="none" strike="noStrike" dirty="0" err="1" smtClean="0">
                          <a:solidFill>
                            <a:srgbClr val="000000"/>
                          </a:solidFill>
                          <a:effectLst/>
                          <a:latin typeface="Arial (Body)"/>
                        </a:rPr>
                        <a:t>Favourable</a:t>
                      </a:r>
                      <a:r>
                        <a:rPr lang="en-US" sz="1200" b="0" i="0" u="none" strike="noStrike" baseline="0" dirty="0" smtClean="0">
                          <a:solidFill>
                            <a:srgbClr val="000000"/>
                          </a:solidFill>
                          <a:effectLst/>
                          <a:latin typeface="Arial (Body)"/>
                        </a:rPr>
                        <a:t> </a:t>
                      </a:r>
                      <a:r>
                        <a:rPr lang="en-US" sz="1200" b="0" i="0" u="none" strike="noStrike" dirty="0" smtClean="0">
                          <a:solidFill>
                            <a:srgbClr val="000000"/>
                          </a:solidFill>
                          <a:effectLst/>
                          <a:latin typeface="Arial (Body)"/>
                        </a:rPr>
                        <a:t>conditions </a:t>
                      </a:r>
                      <a:r>
                        <a:rPr lang="en-US" sz="1200" b="0" i="0" u="none" strike="noStrike" dirty="0">
                          <a:solidFill>
                            <a:srgbClr val="000000"/>
                          </a:solidFill>
                          <a:effectLst/>
                          <a:latin typeface="Arial (Body)"/>
                        </a:rPr>
                        <a:t>(CHF 9.50) of the capital increase</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24000">
                <a:tc>
                  <a:txBody>
                    <a:bodyPr/>
                    <a:lstStyle/>
                    <a:p>
                      <a:pPr algn="l" fontAlgn="t"/>
                      <a:r>
                        <a:rPr lang="de-CH" sz="1200" b="0" i="0" u="none" strike="noStrike">
                          <a:solidFill>
                            <a:srgbClr val="000000"/>
                          </a:solidFill>
                          <a:effectLst/>
                          <a:latin typeface="Arial (Body)"/>
                        </a:rPr>
                        <a:t>Apr 09</a:t>
                      </a:r>
                    </a:p>
                  </a:txBody>
                  <a:tcPr marL="0" marR="0" marT="0"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err="1">
                          <a:solidFill>
                            <a:srgbClr val="000000"/>
                          </a:solidFill>
                          <a:effectLst/>
                          <a:latin typeface="Arial (Body)"/>
                        </a:rPr>
                        <a:t>Reduction</a:t>
                      </a:r>
                      <a:endParaRPr lang="de-CH" sz="1200" b="0" i="0" u="none" strike="noStrike" dirty="0">
                        <a:solidFill>
                          <a:srgbClr val="000000"/>
                        </a:solidFill>
                        <a:effectLst/>
                        <a:latin typeface="Arial (Body)"/>
                      </a:endParaRPr>
                    </a:p>
                  </a:txBody>
                  <a:tcPr marL="0" marR="0" marT="0"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a:solidFill>
                            <a:srgbClr val="000000"/>
                          </a:solidFill>
                          <a:effectLst/>
                          <a:latin typeface="Arial (Body)"/>
                        </a:rPr>
                        <a:t>Mobilzone N</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en-US" sz="1200" b="0" i="0" u="none" strike="noStrike" dirty="0">
                          <a:solidFill>
                            <a:srgbClr val="000000"/>
                          </a:solidFill>
                          <a:effectLst/>
                          <a:latin typeface="Arial (Body)"/>
                        </a:rPr>
                        <a:t>Re-Sale of the purchased shares of the capital increase</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24000">
                <a:tc>
                  <a:txBody>
                    <a:bodyPr/>
                    <a:lstStyle/>
                    <a:p>
                      <a:pPr algn="l" fontAlgn="t"/>
                      <a:r>
                        <a:rPr lang="de-CH" sz="1200" b="0" i="0" u="none" strike="noStrike">
                          <a:solidFill>
                            <a:srgbClr val="000000"/>
                          </a:solidFill>
                          <a:effectLst/>
                          <a:latin typeface="Arial (Body)"/>
                        </a:rPr>
                        <a:t>Apr 30</a:t>
                      </a:r>
                    </a:p>
                  </a:txBody>
                  <a:tcPr marL="0" marR="0" marT="0"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a:solidFill>
                            <a:srgbClr val="000000"/>
                          </a:solidFill>
                          <a:effectLst/>
                          <a:latin typeface="Arial (Body)"/>
                        </a:rPr>
                        <a:t>Reduction</a:t>
                      </a:r>
                    </a:p>
                  </a:txBody>
                  <a:tcPr marL="0" marR="0" marT="0"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a:solidFill>
                            <a:srgbClr val="000000"/>
                          </a:solidFill>
                          <a:effectLst/>
                          <a:latin typeface="Arial (Body)"/>
                        </a:rPr>
                        <a:t>Interroll N</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a:solidFill>
                            <a:srgbClr val="000000"/>
                          </a:solidFill>
                          <a:effectLst/>
                          <a:latin typeface="Arial (Body)"/>
                        </a:rPr>
                        <a:t>Profit-</a:t>
                      </a:r>
                      <a:r>
                        <a:rPr lang="de-CH" sz="1200" b="0" i="0" u="none" strike="noStrike" dirty="0" err="1">
                          <a:solidFill>
                            <a:srgbClr val="000000"/>
                          </a:solidFill>
                          <a:effectLst/>
                          <a:latin typeface="Arial (Body)"/>
                        </a:rPr>
                        <a:t>taking</a:t>
                      </a:r>
                      <a:endParaRPr lang="de-CH"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324000">
                <a:tc>
                  <a:txBody>
                    <a:bodyPr/>
                    <a:lstStyle/>
                    <a:p>
                      <a:pPr algn="l" fontAlgn="t"/>
                      <a:r>
                        <a:rPr lang="de-CH" sz="1200" b="0" i="0" u="none" strike="noStrike">
                          <a:solidFill>
                            <a:srgbClr val="000000"/>
                          </a:solidFill>
                          <a:effectLst/>
                          <a:latin typeface="Arial (Body)"/>
                        </a:rPr>
                        <a:t>Jun 11</a:t>
                      </a:r>
                    </a:p>
                  </a:txBody>
                  <a:tcPr marL="0" marR="0" marT="0" marB="0" anchor="ctr">
                    <a:lnL>
                      <a:noFill/>
                    </a:lnL>
                    <a:lnR>
                      <a:noFill/>
                    </a:lnR>
                    <a:lnT w="5080" cmpd="sng">
                      <a:solidFill>
                        <a:srgbClr val="000000"/>
                      </a:solidFill>
                      <a:prstDash val="soli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a:solidFill>
                            <a:srgbClr val="000000"/>
                          </a:solidFill>
                          <a:effectLst/>
                          <a:latin typeface="Arial (Body)"/>
                        </a:rPr>
                        <a:t>Sale</a:t>
                      </a:r>
                    </a:p>
                  </a:txBody>
                  <a:tcPr marL="0" marR="0" marT="0" marB="0" anchor="ctr">
                    <a:lnL>
                      <a:noFill/>
                    </a:lnL>
                    <a:lnR>
                      <a:noFill/>
                    </a:lnR>
                    <a:lnT w="5080" cmpd="sng">
                      <a:solidFill>
                        <a:srgbClr val="000000"/>
                      </a:solidFill>
                      <a:prstDash val="soli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err="1">
                          <a:solidFill>
                            <a:srgbClr val="000000"/>
                          </a:solidFill>
                          <a:effectLst/>
                          <a:latin typeface="Arial (Body)"/>
                        </a:rPr>
                        <a:t>Sonova</a:t>
                      </a:r>
                      <a:r>
                        <a:rPr lang="de-CH" sz="1200" b="0" i="0" u="none" strike="noStrike" dirty="0">
                          <a:solidFill>
                            <a:srgbClr val="000000"/>
                          </a:solidFill>
                          <a:effectLst/>
                          <a:latin typeface="Arial (Body)"/>
                        </a:rPr>
                        <a:t> N</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a:solidFill>
                            <a:srgbClr val="000000"/>
                          </a:solidFill>
                          <a:effectLst/>
                          <a:latin typeface="Arial (Body)"/>
                        </a:rPr>
                        <a:t>Profit-</a:t>
                      </a:r>
                      <a:r>
                        <a:rPr lang="de-CH" sz="1200" b="0" i="0" u="none" strike="noStrike" dirty="0" err="1">
                          <a:solidFill>
                            <a:srgbClr val="000000"/>
                          </a:solidFill>
                          <a:effectLst/>
                          <a:latin typeface="Arial (Body)"/>
                        </a:rPr>
                        <a:t>taking</a:t>
                      </a:r>
                      <a:endParaRPr lang="de-CH"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24000">
                <a:tc>
                  <a:txBody>
                    <a:bodyPr/>
                    <a:lstStyle/>
                    <a:p>
                      <a:pPr algn="l" fontAlgn="t"/>
                      <a:r>
                        <a:rPr lang="de-CH" sz="1200" b="0" i="0" u="none" strike="noStrike" dirty="0">
                          <a:solidFill>
                            <a:srgbClr val="000000"/>
                          </a:solidFill>
                          <a:effectLst/>
                          <a:latin typeface="Arial (Body)"/>
                        </a:rPr>
                        <a:t>Jun 20</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err="1" smtClean="0">
                          <a:solidFill>
                            <a:srgbClr val="000000"/>
                          </a:solidFill>
                          <a:effectLst/>
                          <a:latin typeface="Arial (Body)"/>
                        </a:rPr>
                        <a:t>Subscription</a:t>
                      </a:r>
                      <a:endParaRPr lang="de-CH"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err="1">
                          <a:solidFill>
                            <a:srgbClr val="000000"/>
                          </a:solidFill>
                          <a:effectLst/>
                          <a:latin typeface="Arial (Body)"/>
                        </a:rPr>
                        <a:t>Klingelnberg</a:t>
                      </a:r>
                      <a:r>
                        <a:rPr lang="de-CH" sz="1200" b="0" i="0" u="none" strike="noStrike" dirty="0">
                          <a:solidFill>
                            <a:srgbClr val="000000"/>
                          </a:solidFill>
                          <a:effectLst/>
                          <a:latin typeface="Arial (Body)"/>
                        </a:rPr>
                        <a:t> N</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err="1" smtClean="0">
                          <a:solidFill>
                            <a:srgbClr val="000000"/>
                          </a:solidFill>
                          <a:effectLst/>
                          <a:latin typeface="Arial (Body)"/>
                        </a:rPr>
                        <a:t>Allocation</a:t>
                      </a:r>
                      <a:r>
                        <a:rPr lang="de-CH" sz="1200" b="0" i="0" u="none" strike="noStrike" dirty="0" smtClean="0">
                          <a:solidFill>
                            <a:srgbClr val="000000"/>
                          </a:solidFill>
                          <a:effectLst/>
                          <a:latin typeface="Arial (Body)"/>
                        </a:rPr>
                        <a:t> </a:t>
                      </a:r>
                      <a:r>
                        <a:rPr lang="de-CH" sz="1200" b="0" i="0" u="none" strike="noStrike" dirty="0" err="1">
                          <a:solidFill>
                            <a:srgbClr val="000000"/>
                          </a:solidFill>
                          <a:effectLst/>
                          <a:latin typeface="Arial (Body)"/>
                        </a:rPr>
                        <a:t>from</a:t>
                      </a:r>
                      <a:r>
                        <a:rPr lang="de-CH" sz="1200" b="0" i="0" u="none" strike="noStrike" dirty="0">
                          <a:solidFill>
                            <a:srgbClr val="000000"/>
                          </a:solidFill>
                          <a:effectLst/>
                          <a:latin typeface="Arial (Body)"/>
                        </a:rPr>
                        <a:t> IPO</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24000">
                <a:tc>
                  <a:txBody>
                    <a:bodyPr/>
                    <a:lstStyle/>
                    <a:p>
                      <a:pPr marL="0" algn="l" defTabSz="986855" rtl="0" eaLnBrk="1" fontAlgn="t" latinLnBrk="0" hangingPunct="1"/>
                      <a:r>
                        <a:rPr lang="de-CH" sz="1200" b="0" i="0" u="none" strike="noStrike" kern="1200" dirty="0" smtClean="0">
                          <a:solidFill>
                            <a:srgbClr val="000000"/>
                          </a:solidFill>
                          <a:effectLst/>
                          <a:latin typeface="Arial (Body)"/>
                          <a:ea typeface="+mn-ea"/>
                          <a:cs typeface="+mn-cs"/>
                        </a:rPr>
                        <a:t>Sep 12</a:t>
                      </a:r>
                      <a:endParaRPr lang="de-CH"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86855" rtl="0" eaLnBrk="1" fontAlgn="t" latinLnBrk="0" hangingPunct="1"/>
                      <a:r>
                        <a:rPr lang="de-CH" sz="1200" b="0" i="0" u="none" strike="noStrike" kern="1200" dirty="0" err="1" smtClean="0">
                          <a:solidFill>
                            <a:srgbClr val="000000"/>
                          </a:solidFill>
                          <a:effectLst/>
                          <a:latin typeface="Arial (Body)"/>
                          <a:ea typeface="+mn-ea"/>
                          <a:cs typeface="+mn-cs"/>
                        </a:rPr>
                        <a:t>Reduction</a:t>
                      </a:r>
                      <a:endParaRPr lang="de-CH"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86855" rtl="0" eaLnBrk="1" fontAlgn="t" latinLnBrk="0" hangingPunct="1"/>
                      <a:r>
                        <a:rPr lang="de-CH" sz="1200" b="0" i="0" u="none" strike="noStrike" kern="1200" dirty="0" smtClean="0">
                          <a:solidFill>
                            <a:srgbClr val="000000"/>
                          </a:solidFill>
                          <a:effectLst/>
                          <a:latin typeface="Arial (Body)"/>
                          <a:ea typeface="+mn-ea"/>
                          <a:cs typeface="+mn-cs"/>
                        </a:rPr>
                        <a:t>Logitech N</a:t>
                      </a:r>
                      <a:endParaRPr lang="de-CH"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86855" rtl="0" eaLnBrk="1" fontAlgn="t" latinLnBrk="0" hangingPunct="1">
                        <a:lnSpc>
                          <a:spcPct val="100000"/>
                        </a:lnSpc>
                        <a:spcBef>
                          <a:spcPts val="0"/>
                        </a:spcBef>
                        <a:spcAft>
                          <a:spcPts val="0"/>
                        </a:spcAft>
                        <a:buClrTx/>
                        <a:buSzTx/>
                        <a:buFontTx/>
                        <a:buNone/>
                        <a:tabLst/>
                        <a:defRPr/>
                      </a:pPr>
                      <a:r>
                        <a:rPr lang="de-CH" sz="1200" b="0" i="0" u="none" strike="noStrike" dirty="0" smtClean="0">
                          <a:solidFill>
                            <a:srgbClr val="000000"/>
                          </a:solidFill>
                          <a:effectLst/>
                          <a:latin typeface="Arial (Body)"/>
                        </a:rPr>
                        <a:t>Profit-</a:t>
                      </a:r>
                      <a:r>
                        <a:rPr lang="de-CH" sz="1200" b="0" i="0" u="none" strike="noStrike" dirty="0" err="1" smtClean="0">
                          <a:solidFill>
                            <a:srgbClr val="000000"/>
                          </a:solidFill>
                          <a:effectLst/>
                          <a:latin typeface="Arial (Body)"/>
                        </a:rPr>
                        <a:t>taking</a:t>
                      </a:r>
                      <a:endParaRPr lang="de-CH" sz="1200" b="0" i="0" u="none" strike="noStrike" dirty="0" smtClean="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05303933"/>
                  </a:ext>
                </a:extLst>
              </a:tr>
              <a:tr h="324000">
                <a:tc>
                  <a:txBody>
                    <a:bodyPr/>
                    <a:lstStyle/>
                    <a:p>
                      <a:pPr marL="0" algn="l" defTabSz="986855" rtl="0" eaLnBrk="1" fontAlgn="t" latinLnBrk="0" hangingPunct="1"/>
                      <a:r>
                        <a:rPr lang="de-CH" sz="1200" b="0" i="0" u="none" strike="noStrike" kern="1200" dirty="0" smtClean="0">
                          <a:solidFill>
                            <a:srgbClr val="000000"/>
                          </a:solidFill>
                          <a:effectLst/>
                          <a:latin typeface="Arial (Body)"/>
                          <a:ea typeface="+mn-ea"/>
                          <a:cs typeface="+mn-cs"/>
                        </a:rPr>
                        <a:t>Sep 26</a:t>
                      </a:r>
                      <a:endParaRPr lang="de-CH"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86855" rtl="0" eaLnBrk="1" fontAlgn="t" latinLnBrk="0" hangingPunct="1"/>
                      <a:r>
                        <a:rPr lang="de-CH" sz="1200" b="0" i="0" u="none" strike="noStrike" kern="1200" dirty="0" err="1">
                          <a:solidFill>
                            <a:srgbClr val="000000"/>
                          </a:solidFill>
                          <a:effectLst/>
                          <a:latin typeface="Arial (Body)"/>
                          <a:ea typeface="+mn-ea"/>
                          <a:cs typeface="+mn-cs"/>
                        </a:rPr>
                        <a:t>Sale</a:t>
                      </a:r>
                      <a:endParaRPr lang="de-CH"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86855" rtl="0" eaLnBrk="1" fontAlgn="t" latinLnBrk="0" hangingPunct="1"/>
                      <a:r>
                        <a:rPr lang="de-CH" sz="1200" b="0" i="0" u="none" strike="noStrike" kern="1200" dirty="0">
                          <a:solidFill>
                            <a:srgbClr val="000000"/>
                          </a:solidFill>
                          <a:effectLst/>
                          <a:latin typeface="Arial (Body)"/>
                          <a:ea typeface="+mn-ea"/>
                          <a:cs typeface="+mn-cs"/>
                        </a:rPr>
                        <a:t>Mobilzone N</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86855" rtl="0" eaLnBrk="1" fontAlgn="t" latinLnBrk="0" hangingPunct="1"/>
                      <a:r>
                        <a:rPr lang="en-US" sz="1200" b="0" i="0" u="none" strike="noStrike" kern="1200" dirty="0" err="1">
                          <a:solidFill>
                            <a:srgbClr val="000000"/>
                          </a:solidFill>
                          <a:effectLst/>
                          <a:latin typeface="Arial (Body)"/>
                          <a:ea typeface="+mn-ea"/>
                          <a:cs typeface="+mn-cs"/>
                        </a:rPr>
                        <a:t>Realisation</a:t>
                      </a:r>
                      <a:r>
                        <a:rPr lang="en-US" sz="1200" b="0" i="0" u="none" strike="noStrike" kern="1200" dirty="0">
                          <a:solidFill>
                            <a:srgbClr val="000000"/>
                          </a:solidFill>
                          <a:effectLst/>
                          <a:latin typeface="Arial (Body)"/>
                          <a:ea typeface="+mn-ea"/>
                          <a:cs typeface="+mn-cs"/>
                        </a:rPr>
                        <a:t> after strong H1 figures</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324000">
                <a:tc>
                  <a:txBody>
                    <a:bodyPr/>
                    <a:lstStyle/>
                    <a:p>
                      <a:pPr algn="l" rtl="0" fontAlgn="t"/>
                      <a:r>
                        <a:rPr lang="en-US" sz="1200" b="0" i="0" u="none" strike="noStrike" dirty="0" smtClean="0">
                          <a:solidFill>
                            <a:srgbClr val="000000"/>
                          </a:solidFill>
                          <a:effectLst/>
                          <a:latin typeface="Arial (Body)"/>
                        </a:rPr>
                        <a:t>Oct 16</a:t>
                      </a:r>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a:solidFill>
                            <a:srgbClr val="000000"/>
                          </a:solidFill>
                          <a:effectLst/>
                          <a:latin typeface="Arial (Body)"/>
                        </a:rPr>
                        <a:t>Increase</a:t>
                      </a: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a:solidFill>
                            <a:srgbClr val="000000"/>
                          </a:solidFill>
                          <a:effectLst/>
                          <a:latin typeface="Arial (Body)"/>
                        </a:rPr>
                        <a:t>VAT</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smtClean="0">
                          <a:solidFill>
                            <a:srgbClr val="000000"/>
                          </a:solidFill>
                          <a:effectLst/>
                          <a:latin typeface="Arial (Body)"/>
                        </a:rPr>
                        <a:t>Additional purchases after price correction</a:t>
                      </a:r>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2"/>
                  </a:ext>
                </a:extLst>
              </a:tr>
              <a:tr h="324000">
                <a:tc>
                  <a:txBody>
                    <a:bodyPr/>
                    <a:lstStyle/>
                    <a:p>
                      <a:pPr algn="l" rtl="0" fontAlgn="t"/>
                      <a:r>
                        <a:rPr lang="en-US" sz="1200" b="0" i="0" u="none" strike="noStrike" dirty="0" smtClean="0">
                          <a:solidFill>
                            <a:srgbClr val="000000"/>
                          </a:solidFill>
                          <a:effectLst/>
                          <a:latin typeface="Arial (Body)"/>
                        </a:rPr>
                        <a:t>Oct 24</a:t>
                      </a:r>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a:solidFill>
                            <a:srgbClr val="000000"/>
                          </a:solidFill>
                          <a:effectLst/>
                          <a:latin typeface="Arial (Body)"/>
                        </a:rPr>
                        <a:t>Increase</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err="1">
                          <a:solidFill>
                            <a:srgbClr val="000000"/>
                          </a:solidFill>
                          <a:effectLst/>
                          <a:latin typeface="Arial (Body)"/>
                        </a:rPr>
                        <a:t>Bossard</a:t>
                      </a:r>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smtClean="0">
                          <a:solidFill>
                            <a:srgbClr val="000000"/>
                          </a:solidFill>
                          <a:effectLst/>
                          <a:latin typeface="Arial (Body)"/>
                        </a:rPr>
                        <a:t>Additional purchases after price correction</a:t>
                      </a:r>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3"/>
                  </a:ext>
                </a:extLst>
              </a:tr>
              <a:tr h="324000">
                <a:tc>
                  <a:txBody>
                    <a:bodyPr/>
                    <a:lstStyle/>
                    <a:p>
                      <a:pPr algn="l" rtl="0" fontAlgn="t"/>
                      <a:r>
                        <a:rPr lang="en-US" sz="1200" b="0" i="0" u="none" strike="noStrike" dirty="0" smtClean="0">
                          <a:solidFill>
                            <a:srgbClr val="000000"/>
                          </a:solidFill>
                          <a:effectLst/>
                          <a:latin typeface="Arial (Body)"/>
                        </a:rPr>
                        <a:t>Oct 25</a:t>
                      </a:r>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a:solidFill>
                            <a:srgbClr val="000000"/>
                          </a:solidFill>
                          <a:effectLst/>
                          <a:latin typeface="Arial (Body)"/>
                        </a:rPr>
                        <a:t>Sale</a:t>
                      </a: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err="1">
                          <a:solidFill>
                            <a:srgbClr val="000000"/>
                          </a:solidFill>
                          <a:effectLst/>
                          <a:latin typeface="Arial (Body)"/>
                        </a:rPr>
                        <a:t>Clariant</a:t>
                      </a:r>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smtClean="0">
                          <a:solidFill>
                            <a:srgbClr val="000000"/>
                          </a:solidFill>
                          <a:effectLst/>
                          <a:latin typeface="Arial (Body)"/>
                        </a:rPr>
                        <a:t>Reclassification to Reduce by VT Research</a:t>
                      </a:r>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4"/>
                  </a:ext>
                </a:extLst>
              </a:tr>
              <a:tr h="324000">
                <a:tc>
                  <a:txBody>
                    <a:bodyPr/>
                    <a:lstStyle/>
                    <a:p>
                      <a:pPr algn="l" rtl="0" fontAlgn="t"/>
                      <a:r>
                        <a:rPr lang="en-US" sz="1200" b="0" i="0" u="none" strike="noStrike" dirty="0" smtClean="0">
                          <a:solidFill>
                            <a:srgbClr val="000000"/>
                          </a:solidFill>
                          <a:effectLst/>
                          <a:latin typeface="Arial (Body)"/>
                        </a:rPr>
                        <a:t>Oct 31</a:t>
                      </a:r>
                      <a:endParaRPr lang="en-US" sz="1200" b="0" i="0" u="none" strike="noStrike" dirty="0">
                        <a:solidFill>
                          <a:srgbClr val="000000"/>
                        </a:solidFill>
                        <a:effectLst/>
                        <a:latin typeface="Arial (Body)"/>
                      </a:endParaRPr>
                    </a:p>
                  </a:txBody>
                  <a:tcPr marL="0" marR="0" marT="0" marB="0" anchor="ctr">
                    <a:lnL>
                      <a:noFill/>
                    </a:lnL>
                    <a:lnR>
                      <a:noFill/>
                    </a:lnR>
                    <a:lnT w="5080" cmpd="sng">
                      <a:solidFill>
                        <a:srgbClr val="000000"/>
                      </a:solidFill>
                      <a:prstDash val="soli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a:solidFill>
                            <a:srgbClr val="000000"/>
                          </a:solidFill>
                          <a:effectLst/>
                          <a:latin typeface="Arial (Body)"/>
                        </a:rPr>
                        <a:t>Sale</a:t>
                      </a:r>
                    </a:p>
                  </a:txBody>
                  <a:tcPr marL="0" marR="0" marT="0" marB="0" anchor="ctr">
                    <a:lnL>
                      <a:noFill/>
                    </a:lnL>
                    <a:lnR>
                      <a:noFill/>
                    </a:lnR>
                    <a:lnT w="5080" cmpd="sng">
                      <a:solidFill>
                        <a:srgbClr val="000000"/>
                      </a:solidFill>
                      <a:prstDash val="soli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err="1">
                          <a:solidFill>
                            <a:srgbClr val="000000"/>
                          </a:solidFill>
                          <a:effectLst/>
                          <a:latin typeface="Arial (Body)"/>
                        </a:rPr>
                        <a:t>Arbonia</a:t>
                      </a:r>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smtClean="0">
                          <a:solidFill>
                            <a:srgbClr val="000000"/>
                          </a:solidFill>
                          <a:effectLst/>
                          <a:latin typeface="Arial (Body)"/>
                        </a:rPr>
                        <a:t>Reclassification to Reduce by VT Research</a:t>
                      </a:r>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324000">
                <a:tc>
                  <a:txBody>
                    <a:bodyPr/>
                    <a:lstStyle/>
                    <a:p>
                      <a:pPr algn="l" rtl="0" fontAlgn="t"/>
                      <a:r>
                        <a:rPr lang="en-US" sz="1200" b="0" i="0" u="none" strike="noStrike" dirty="0" smtClean="0">
                          <a:solidFill>
                            <a:srgbClr val="000000"/>
                          </a:solidFill>
                          <a:effectLst/>
                          <a:latin typeface="Arial (Body)"/>
                        </a:rPr>
                        <a:t>Dec</a:t>
                      </a:r>
                      <a:r>
                        <a:rPr lang="en-US" sz="1200" b="0" i="0" u="none" strike="noStrike" baseline="0" dirty="0" smtClean="0">
                          <a:solidFill>
                            <a:srgbClr val="000000"/>
                          </a:solidFill>
                          <a:effectLst/>
                          <a:latin typeface="Arial (Body)"/>
                        </a:rPr>
                        <a:t> 14</a:t>
                      </a:r>
                      <a:endParaRPr lang="en-US" sz="1200" b="0" i="0" u="none" strike="noStrike" dirty="0">
                        <a:solidFill>
                          <a:srgbClr val="000000"/>
                        </a:solidFill>
                        <a:effectLst/>
                        <a:latin typeface="Arial (Body)"/>
                      </a:endParaRPr>
                    </a:p>
                  </a:txBody>
                  <a:tcPr marL="0" marR="0" marT="0" marB="0" anchor="ctr">
                    <a:lnL>
                      <a:noFill/>
                    </a:lnL>
                    <a:lnR>
                      <a:noFill/>
                    </a:lnR>
                    <a:lnT w="5080" cmpd="sng">
                      <a:solidFill>
                        <a:srgbClr val="000000"/>
                      </a:solidFill>
                      <a:prstDash val="soli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smtClean="0">
                          <a:solidFill>
                            <a:srgbClr val="000000"/>
                          </a:solidFill>
                          <a:effectLst/>
                          <a:latin typeface="Arial (Body)"/>
                        </a:rPr>
                        <a:t>Increase</a:t>
                      </a:r>
                      <a:endParaRPr lang="en-US" sz="1200" b="0" i="0" u="none" strike="noStrike" dirty="0">
                        <a:solidFill>
                          <a:srgbClr val="000000"/>
                        </a:solidFill>
                        <a:effectLst/>
                        <a:latin typeface="Arial (Body)"/>
                      </a:endParaRPr>
                    </a:p>
                  </a:txBody>
                  <a:tcPr marL="0" marR="0" marT="0" marB="0" anchor="ctr">
                    <a:lnL>
                      <a:noFill/>
                    </a:lnL>
                    <a:lnR>
                      <a:noFill/>
                    </a:lnR>
                    <a:lnT w="5080" cmpd="sng">
                      <a:solidFill>
                        <a:srgbClr val="000000"/>
                      </a:solidFill>
                      <a:prstDash val="soli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r>
                        <a:rPr lang="en-US" sz="1200" b="0" i="0" u="none" strike="noStrike" dirty="0" smtClean="0">
                          <a:solidFill>
                            <a:srgbClr val="000000"/>
                          </a:solidFill>
                          <a:effectLst/>
                          <a:latin typeface="Arial (Body)"/>
                        </a:rPr>
                        <a:t>Georg Fischer</a:t>
                      </a:r>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86855" rtl="0" eaLnBrk="1" fontAlgn="t" latinLnBrk="0" hangingPunct="1">
                        <a:lnSpc>
                          <a:spcPct val="100000"/>
                        </a:lnSpc>
                        <a:spcBef>
                          <a:spcPts val="0"/>
                        </a:spcBef>
                        <a:spcAft>
                          <a:spcPts val="0"/>
                        </a:spcAft>
                        <a:buClrTx/>
                        <a:buSzTx/>
                        <a:buFontTx/>
                        <a:buNone/>
                        <a:tabLst/>
                        <a:defRPr/>
                      </a:pPr>
                      <a:r>
                        <a:rPr lang="de-CH" sz="1200" b="0" i="0" u="none" strike="noStrike" dirty="0" err="1" smtClean="0">
                          <a:solidFill>
                            <a:srgbClr val="000000"/>
                          </a:solidFill>
                          <a:effectLst/>
                          <a:latin typeface="Arial (Body)"/>
                        </a:rPr>
                        <a:t>Attractive</a:t>
                      </a:r>
                      <a:r>
                        <a:rPr lang="de-CH" sz="1200" b="0" i="0" u="none" strike="noStrike" dirty="0" smtClean="0">
                          <a:solidFill>
                            <a:srgbClr val="000000"/>
                          </a:solidFill>
                          <a:effectLst/>
                          <a:latin typeface="Arial (Body)"/>
                        </a:rPr>
                        <a:t> </a:t>
                      </a:r>
                      <a:r>
                        <a:rPr lang="de-CH" sz="1200" b="0" i="0" u="none" strike="noStrike" dirty="0" err="1" smtClean="0">
                          <a:solidFill>
                            <a:srgbClr val="000000"/>
                          </a:solidFill>
                          <a:effectLst/>
                          <a:latin typeface="Arial (Body)"/>
                        </a:rPr>
                        <a:t>valuation</a:t>
                      </a:r>
                      <a:r>
                        <a:rPr lang="en-US" sz="1200" b="0" i="0" u="none" strike="noStrike" dirty="0" smtClean="0">
                          <a:solidFill>
                            <a:srgbClr val="000000"/>
                          </a:solidFill>
                          <a:effectLst/>
                          <a:latin typeface="Arial (Body)"/>
                        </a:rPr>
                        <a:t>, Additional purchases after price correction</a:t>
                      </a: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22105843"/>
                  </a:ext>
                </a:extLst>
              </a:tr>
              <a:tr h="324000">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86855" rtl="0" eaLnBrk="1" fontAlgn="t" latinLnBrk="0" hangingPunct="1">
                        <a:lnSpc>
                          <a:spcPct val="100000"/>
                        </a:lnSpc>
                        <a:spcBef>
                          <a:spcPts val="0"/>
                        </a:spcBef>
                        <a:spcAft>
                          <a:spcPts val="0"/>
                        </a:spcAft>
                        <a:buClrTx/>
                        <a:buSzTx/>
                        <a:buFontTx/>
                        <a:buNone/>
                        <a:tabLst/>
                        <a:defRPr/>
                      </a:pPr>
                      <a:endParaRPr lang="en-US" sz="1200" b="0" i="0" u="none" strike="noStrike" dirty="0" smtClean="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21313136"/>
                  </a:ext>
                </a:extLst>
              </a:tr>
            </a:tbl>
          </a:graphicData>
        </a:graphic>
      </p:graphicFrame>
    </p:spTree>
    <p:extLst>
      <p:ext uri="{BB962C8B-B14F-4D97-AF65-F5344CB8AC3E}">
        <p14:creationId xmlns:p14="http://schemas.microsoft.com/office/powerpoint/2010/main" val="15566439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Transactions </a:t>
            </a:r>
            <a:r>
              <a:rPr lang="en-US" smtClean="0"/>
              <a:t>2019</a:t>
            </a:r>
            <a:endParaRPr lang="en-US" dirty="0"/>
          </a:p>
        </p:txBody>
      </p:sp>
      <p:sp>
        <p:nvSpPr>
          <p:cNvPr id="3" name="Text Placeholder 2"/>
          <p:cNvSpPr>
            <a:spLocks noGrp="1"/>
          </p:cNvSpPr>
          <p:nvPr>
            <p:ph type="body" sz="quarter" idx="14"/>
          </p:nvPr>
        </p:nvSpPr>
        <p:spPr/>
        <p:txBody>
          <a:bodyPr/>
          <a:lstStyle/>
          <a:p>
            <a:endParaRPr lang="en-US"/>
          </a:p>
        </p:txBody>
      </p:sp>
      <p:graphicFrame>
        <p:nvGraphicFramePr>
          <p:cNvPr id="4" name="Content Placeholder 7"/>
          <p:cNvGraphicFramePr>
            <a:graphicFrameLocks/>
          </p:cNvGraphicFramePr>
          <p:nvPr>
            <p:extLst>
              <p:ext uri="{D42A27DB-BD31-4B8C-83A1-F6EECF244321}">
                <p14:modId xmlns:p14="http://schemas.microsoft.com/office/powerpoint/2010/main" val="119079200"/>
              </p:ext>
            </p:extLst>
          </p:nvPr>
        </p:nvGraphicFramePr>
        <p:xfrm>
          <a:off x="449263" y="1482725"/>
          <a:ext cx="9792000" cy="5832000"/>
        </p:xfrm>
        <a:graphic>
          <a:graphicData uri="http://schemas.openxmlformats.org/drawingml/2006/table">
            <a:tbl>
              <a:tblPr firstRow="1" bandRow="1">
                <a:tableStyleId>{2D5ABB26-0587-4C30-8999-92F81FD0307C}</a:tableStyleId>
              </a:tblPr>
              <a:tblGrid>
                <a:gridCol w="1005932">
                  <a:extLst>
                    <a:ext uri="{9D8B030D-6E8A-4147-A177-3AD203B41FA5}">
                      <a16:colId xmlns:a16="http://schemas.microsoft.com/office/drawing/2014/main" val="20000"/>
                    </a:ext>
                  </a:extLst>
                </a:gridCol>
                <a:gridCol w="1472972">
                  <a:extLst>
                    <a:ext uri="{9D8B030D-6E8A-4147-A177-3AD203B41FA5}">
                      <a16:colId xmlns:a16="http://schemas.microsoft.com/office/drawing/2014/main" val="20001"/>
                    </a:ext>
                  </a:extLst>
                </a:gridCol>
                <a:gridCol w="2155569">
                  <a:extLst>
                    <a:ext uri="{9D8B030D-6E8A-4147-A177-3AD203B41FA5}">
                      <a16:colId xmlns:a16="http://schemas.microsoft.com/office/drawing/2014/main" val="20002"/>
                    </a:ext>
                  </a:extLst>
                </a:gridCol>
                <a:gridCol w="5157527">
                  <a:extLst>
                    <a:ext uri="{9D8B030D-6E8A-4147-A177-3AD203B41FA5}">
                      <a16:colId xmlns:a16="http://schemas.microsoft.com/office/drawing/2014/main" val="20003"/>
                    </a:ext>
                  </a:extLst>
                </a:gridCol>
              </a:tblGrid>
              <a:tr h="324000">
                <a:tc>
                  <a:txBody>
                    <a:bodyPr/>
                    <a:lstStyle/>
                    <a:p>
                      <a:pPr algn="l" fontAlgn="t"/>
                      <a:r>
                        <a:rPr lang="en-US" sz="1200" b="1" i="0" u="none" strike="noStrike" dirty="0" smtClean="0">
                          <a:solidFill>
                            <a:srgbClr val="000000"/>
                          </a:solidFill>
                          <a:effectLst/>
                          <a:latin typeface="+mn-lt"/>
                        </a:rPr>
                        <a:t>DATUM</a:t>
                      </a:r>
                      <a:endParaRPr lang="en-US" sz="1200" b="1" i="0" u="none" strike="noStrike" dirty="0">
                        <a:solidFill>
                          <a:srgbClr val="000000"/>
                        </a:solidFill>
                        <a:effectLst/>
                        <a:latin typeface="+mn-lt"/>
                      </a:endParaRPr>
                    </a:p>
                  </a:txBody>
                  <a:tcPr marL="36000" marR="36000" marT="36000" marB="36000" anchor="ctr">
                    <a:lnL>
                      <a:noFill/>
                    </a:lnL>
                    <a:lnR>
                      <a:noFill/>
                    </a:lnR>
                    <a:lnT>
                      <a:noFill/>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r>
                        <a:rPr lang="en-US" sz="1200" b="1" i="0" u="none" strike="noStrike" dirty="0" smtClean="0">
                          <a:solidFill>
                            <a:srgbClr val="000000"/>
                          </a:solidFill>
                          <a:effectLst/>
                          <a:latin typeface="+mn-lt"/>
                        </a:rPr>
                        <a:t>TRANSACTION</a:t>
                      </a:r>
                      <a:endParaRPr lang="en-US" sz="1200" b="1" i="0" u="none" strike="noStrike" dirty="0">
                        <a:solidFill>
                          <a:srgbClr val="000000"/>
                        </a:solidFill>
                        <a:effectLst/>
                        <a:latin typeface="+mn-lt"/>
                      </a:endParaRPr>
                    </a:p>
                  </a:txBody>
                  <a:tcPr marL="36000" marR="36000" marT="36000" marB="36000" anchor="ctr">
                    <a:lnL>
                      <a:noFill/>
                    </a:lnL>
                    <a:lnR>
                      <a:noFill/>
                    </a:lnR>
                    <a:lnT>
                      <a:noFill/>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r>
                        <a:rPr lang="en-US" sz="1200" b="1" i="0" u="none" strike="noStrike" dirty="0" smtClean="0">
                          <a:solidFill>
                            <a:srgbClr val="000000"/>
                          </a:solidFill>
                          <a:effectLst/>
                          <a:latin typeface="+mn-lt"/>
                        </a:rPr>
                        <a:t>NAME</a:t>
                      </a:r>
                      <a:endParaRPr lang="en-US" sz="1200" b="1" i="0" u="none" strike="noStrike" dirty="0">
                        <a:solidFill>
                          <a:srgbClr val="000000"/>
                        </a:solidFill>
                        <a:effectLst/>
                        <a:latin typeface="+mn-lt"/>
                      </a:endParaRPr>
                    </a:p>
                  </a:txBody>
                  <a:tcPr marL="36000" marR="36000" marT="36000" marB="36000" anchor="ctr">
                    <a:lnL>
                      <a:noFill/>
                    </a:lnL>
                    <a:lnR>
                      <a:noFill/>
                    </a:lnR>
                    <a:lnT>
                      <a:noFill/>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fontAlgn="t"/>
                      <a:r>
                        <a:rPr lang="en-US" sz="1200" b="1" i="0" u="none" strike="noStrike" dirty="0" smtClean="0">
                          <a:solidFill>
                            <a:srgbClr val="000000"/>
                          </a:solidFill>
                          <a:effectLst/>
                          <a:latin typeface="+mn-lt"/>
                        </a:rPr>
                        <a:t>REASON</a:t>
                      </a:r>
                      <a:endParaRPr lang="en-US" sz="1200" b="1" i="0" u="none" strike="noStrike" dirty="0">
                        <a:solidFill>
                          <a:srgbClr val="000000"/>
                        </a:solidFill>
                        <a:effectLst/>
                        <a:latin typeface="+mn-lt"/>
                      </a:endParaRPr>
                    </a:p>
                  </a:txBody>
                  <a:tcPr marL="36000" marR="36000" marT="36000" marB="36000" anchor="ctr">
                    <a:lnL>
                      <a:noFill/>
                    </a:lnL>
                    <a:lnR>
                      <a:noFill/>
                    </a:lnR>
                    <a:lnT>
                      <a:noFill/>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24000">
                <a:tc>
                  <a:txBody>
                    <a:bodyPr/>
                    <a:lstStyle/>
                    <a:p>
                      <a:pPr algn="l" fontAlgn="t"/>
                      <a:r>
                        <a:rPr lang="en-US" sz="1200" kern="1200" dirty="0" smtClean="0">
                          <a:solidFill>
                            <a:schemeClr val="tx1"/>
                          </a:solidFill>
                          <a:effectLst/>
                          <a:latin typeface="+mn-lt"/>
                          <a:ea typeface="+mn-ea"/>
                          <a:cs typeface="+mn-cs"/>
                        </a:rPr>
                        <a:t>05.02</a:t>
                      </a:r>
                      <a:endParaRPr lang="de-DE" sz="1200" b="0" i="0" u="none" strike="noStrike" dirty="0">
                        <a:solidFill>
                          <a:srgbClr val="000000"/>
                        </a:solidFill>
                        <a:effectLst/>
                        <a:latin typeface="+mn-lt"/>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kern="1200" dirty="0" err="1" smtClean="0">
                          <a:solidFill>
                            <a:schemeClr val="tx1"/>
                          </a:solidFill>
                          <a:effectLst/>
                          <a:latin typeface="+mn-lt"/>
                          <a:ea typeface="+mn-ea"/>
                          <a:cs typeface="+mn-cs"/>
                        </a:rPr>
                        <a:t>Reduction</a:t>
                      </a:r>
                      <a:r>
                        <a:rPr lang="de-CH" sz="1200" kern="1200" dirty="0" smtClean="0">
                          <a:solidFill>
                            <a:schemeClr val="tx1"/>
                          </a:solidFill>
                          <a:effectLst/>
                          <a:latin typeface="+mn-lt"/>
                          <a:ea typeface="+mn-ea"/>
                          <a:cs typeface="+mn-cs"/>
                        </a:rPr>
                        <a:t>    </a:t>
                      </a:r>
                      <a:endParaRPr lang="de-DE" sz="1200" b="0" i="0" u="none" strike="noStrike" dirty="0">
                        <a:solidFill>
                          <a:srgbClr val="000000"/>
                        </a:solidFill>
                        <a:effectLst/>
                        <a:latin typeface="+mn-lt"/>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DE" sz="1200" b="0" i="0" u="none" strike="noStrike" dirty="0" smtClean="0">
                          <a:solidFill>
                            <a:srgbClr val="000000"/>
                          </a:solidFill>
                          <a:effectLst/>
                          <a:latin typeface="+mn-lt"/>
                        </a:rPr>
                        <a:t>Swiss Life N</a:t>
                      </a:r>
                      <a:endParaRPr lang="de-DE" sz="1200" b="0" i="0" u="none" strike="noStrike" dirty="0">
                        <a:solidFill>
                          <a:srgbClr val="000000"/>
                        </a:solidFill>
                        <a:effectLst/>
                        <a:latin typeface="+mn-lt"/>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smtClean="0">
                          <a:solidFill>
                            <a:srgbClr val="000000"/>
                          </a:solidFill>
                          <a:effectLst/>
                          <a:latin typeface="Arial (Body)"/>
                        </a:rPr>
                        <a:t>Profit-</a:t>
                      </a:r>
                      <a:r>
                        <a:rPr lang="de-CH" sz="1200" b="0" i="0" u="none" strike="noStrike" dirty="0" err="1" smtClean="0">
                          <a:solidFill>
                            <a:srgbClr val="000000"/>
                          </a:solidFill>
                          <a:effectLst/>
                          <a:latin typeface="Arial (Body)"/>
                        </a:rPr>
                        <a:t>taking</a:t>
                      </a:r>
                      <a:endParaRPr lang="de-DE" sz="1200" b="0" i="0" u="none" strike="noStrike" dirty="0">
                        <a:solidFill>
                          <a:srgbClr val="000000"/>
                        </a:solidFill>
                        <a:effectLst/>
                        <a:latin typeface="+mn-lt"/>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24000">
                <a:tc>
                  <a:txBody>
                    <a:bodyPr/>
                    <a:lstStyle/>
                    <a:p>
                      <a:pPr algn="l" fontAlgn="t"/>
                      <a:r>
                        <a:rPr lang="de-DE" sz="1200" b="0" i="0" u="none" strike="noStrike" dirty="0" smtClean="0">
                          <a:solidFill>
                            <a:srgbClr val="000000"/>
                          </a:solidFill>
                          <a:effectLst/>
                          <a:latin typeface="+mn-lt"/>
                        </a:rPr>
                        <a:t>05.02</a:t>
                      </a:r>
                    </a:p>
                  </a:txBody>
                  <a:tcPr marL="9525" marR="9525" marT="9525"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en-US" sz="1200" b="0" i="0" u="none" strike="noStrike" dirty="0" smtClean="0">
                          <a:solidFill>
                            <a:srgbClr val="000000"/>
                          </a:solidFill>
                          <a:effectLst/>
                          <a:latin typeface="Arial (Body)"/>
                        </a:rPr>
                        <a:t>Increase</a:t>
                      </a:r>
                      <a:r>
                        <a:rPr lang="de-CH" sz="1200" kern="1200" dirty="0" smtClean="0">
                          <a:solidFill>
                            <a:schemeClr val="tx1"/>
                          </a:solidFill>
                          <a:effectLst/>
                          <a:latin typeface="+mn-lt"/>
                          <a:ea typeface="+mn-ea"/>
                          <a:cs typeface="+mn-cs"/>
                        </a:rPr>
                        <a:t>     </a:t>
                      </a:r>
                      <a:endParaRPr lang="de-DE" sz="1200" b="0" i="0" u="none" strike="noStrike" dirty="0">
                        <a:solidFill>
                          <a:srgbClr val="000000"/>
                        </a:solidFill>
                        <a:effectLst/>
                        <a:latin typeface="+mn-lt"/>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de-DE" sz="1200" b="0" i="0" u="none" strike="noStrike" dirty="0" smtClean="0">
                          <a:solidFill>
                            <a:srgbClr val="000000"/>
                          </a:solidFill>
                          <a:effectLst/>
                          <a:latin typeface="+mn-lt"/>
                        </a:rPr>
                        <a:t>Zürich</a:t>
                      </a:r>
                      <a:r>
                        <a:rPr lang="de-DE" sz="1200" b="0" i="0" u="none" strike="noStrike" baseline="0" dirty="0" smtClean="0">
                          <a:solidFill>
                            <a:srgbClr val="000000"/>
                          </a:solidFill>
                          <a:effectLst/>
                          <a:latin typeface="+mn-lt"/>
                        </a:rPr>
                        <a:t> Insurance Group N</a:t>
                      </a:r>
                      <a:endParaRPr lang="de-DE" sz="1200" b="0" i="0" u="none" strike="noStrike" dirty="0">
                        <a:solidFill>
                          <a:srgbClr val="000000"/>
                        </a:solidFill>
                        <a:effectLst/>
                        <a:latin typeface="+mn-lt"/>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en-US" sz="1200" kern="1200" dirty="0" smtClean="0">
                          <a:solidFill>
                            <a:schemeClr val="tx1"/>
                          </a:solidFill>
                          <a:effectLst/>
                          <a:latin typeface="+mn-lt"/>
                          <a:ea typeface="+mn-ea"/>
                          <a:cs typeface="+mn-cs"/>
                        </a:rPr>
                        <a:t>Solid figures for 2018, attractive dividend yield</a:t>
                      </a:r>
                      <a:endParaRPr lang="de-DE" sz="1200" b="0" i="0" u="none" strike="noStrike" dirty="0">
                        <a:solidFill>
                          <a:srgbClr val="000000"/>
                        </a:solidFill>
                        <a:effectLst/>
                        <a:latin typeface="+mn-lt"/>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24000">
                <a:tc>
                  <a:txBody>
                    <a:bodyPr/>
                    <a:lstStyle/>
                    <a:p>
                      <a:pPr algn="l" fontAlgn="t"/>
                      <a:r>
                        <a:rPr lang="de-DE" sz="1200" b="0" i="0" u="none" strike="noStrike" dirty="0" smtClean="0">
                          <a:solidFill>
                            <a:srgbClr val="000000"/>
                          </a:solidFill>
                          <a:effectLst/>
                          <a:latin typeface="+mn-lt"/>
                        </a:rPr>
                        <a:t>28.02</a:t>
                      </a:r>
                      <a:endParaRPr lang="de-DE" sz="1200" b="0" i="0" u="none" strike="noStrike" dirty="0">
                        <a:solidFill>
                          <a:srgbClr val="000000"/>
                        </a:solidFill>
                        <a:effectLst/>
                        <a:latin typeface="+mn-lt"/>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err="1" smtClean="0">
                          <a:solidFill>
                            <a:srgbClr val="000000"/>
                          </a:solidFill>
                          <a:effectLst/>
                          <a:latin typeface="Arial (Body)"/>
                        </a:rPr>
                        <a:t>Purchase</a:t>
                      </a:r>
                      <a:r>
                        <a:rPr lang="de-CH" sz="1200" kern="1200" dirty="0" smtClean="0">
                          <a:solidFill>
                            <a:schemeClr val="tx1"/>
                          </a:solidFill>
                          <a:effectLst/>
                          <a:latin typeface="+mn-lt"/>
                          <a:ea typeface="+mn-ea"/>
                          <a:cs typeface="+mn-cs"/>
                        </a:rPr>
                        <a:t>             </a:t>
                      </a:r>
                      <a:endParaRPr lang="de-DE" sz="1200" b="0" i="0" u="none" strike="noStrike" dirty="0">
                        <a:solidFill>
                          <a:srgbClr val="000000"/>
                        </a:solidFill>
                        <a:effectLst/>
                        <a:latin typeface="+mn-lt"/>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r>
                        <a:rPr lang="de-DE" sz="1200" b="0" i="0" u="none" strike="noStrike" dirty="0" err="1" smtClean="0">
                          <a:solidFill>
                            <a:srgbClr val="000000"/>
                          </a:solidFill>
                          <a:effectLst/>
                          <a:latin typeface="+mn-lt"/>
                        </a:rPr>
                        <a:t>Bobst</a:t>
                      </a:r>
                      <a:r>
                        <a:rPr lang="de-DE" sz="1200" b="0" i="0" u="none" strike="noStrike" dirty="0" smtClean="0">
                          <a:solidFill>
                            <a:srgbClr val="000000"/>
                          </a:solidFill>
                          <a:effectLst/>
                          <a:latin typeface="+mn-lt"/>
                        </a:rPr>
                        <a:t> N</a:t>
                      </a:r>
                      <a:endParaRPr lang="de-DE" sz="1200" b="0" i="0" u="none" strike="noStrike" dirty="0">
                        <a:solidFill>
                          <a:srgbClr val="000000"/>
                        </a:solidFill>
                        <a:effectLst/>
                        <a:latin typeface="+mn-lt"/>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r>
                        <a:rPr lang="de-CH" sz="1200" b="0" i="0" u="none" strike="noStrike" dirty="0" err="1" smtClean="0">
                          <a:solidFill>
                            <a:srgbClr val="000000"/>
                          </a:solidFill>
                          <a:effectLst/>
                          <a:latin typeface="Arial (Body)"/>
                        </a:rPr>
                        <a:t>Attractive</a:t>
                      </a:r>
                      <a:r>
                        <a:rPr lang="de-CH" sz="1200" b="0" i="0" u="none" strike="noStrike" dirty="0" smtClean="0">
                          <a:solidFill>
                            <a:srgbClr val="000000"/>
                          </a:solidFill>
                          <a:effectLst/>
                          <a:latin typeface="Arial (Body)"/>
                        </a:rPr>
                        <a:t> </a:t>
                      </a:r>
                      <a:r>
                        <a:rPr lang="de-CH" sz="1200" b="0" i="0" u="none" strike="noStrike" dirty="0" err="1" smtClean="0">
                          <a:solidFill>
                            <a:srgbClr val="000000"/>
                          </a:solidFill>
                          <a:effectLst/>
                          <a:latin typeface="Arial (Body)"/>
                        </a:rPr>
                        <a:t>valuation</a:t>
                      </a:r>
                      <a:r>
                        <a:rPr lang="de-CH" sz="1200" kern="1200" dirty="0" smtClean="0">
                          <a:solidFill>
                            <a:schemeClr val="tx1"/>
                          </a:solidFill>
                          <a:effectLst/>
                          <a:latin typeface="+mn-lt"/>
                          <a:ea typeface="+mn-ea"/>
                          <a:cs typeface="+mn-cs"/>
                        </a:rPr>
                        <a:t>, Turn-</a:t>
                      </a:r>
                      <a:r>
                        <a:rPr lang="de-CH" sz="1200" kern="1200" dirty="0" err="1" smtClean="0">
                          <a:solidFill>
                            <a:schemeClr val="tx1"/>
                          </a:solidFill>
                          <a:effectLst/>
                          <a:latin typeface="+mn-lt"/>
                          <a:ea typeface="+mn-ea"/>
                          <a:cs typeface="+mn-cs"/>
                        </a:rPr>
                        <a:t>around</a:t>
                      </a:r>
                      <a:r>
                        <a:rPr lang="de-CH" sz="1200" kern="1200" dirty="0" smtClean="0">
                          <a:solidFill>
                            <a:schemeClr val="tx1"/>
                          </a:solidFill>
                          <a:effectLst/>
                          <a:latin typeface="+mn-lt"/>
                          <a:ea typeface="+mn-ea"/>
                          <a:cs typeface="+mn-cs"/>
                        </a:rPr>
                        <a:t>-Story </a:t>
                      </a:r>
                      <a:endParaRPr lang="de-CH" sz="1200" b="0" i="0" u="none" strike="noStrike" dirty="0">
                        <a:solidFill>
                          <a:srgbClr val="000000"/>
                        </a:solidFill>
                        <a:effectLst/>
                        <a:latin typeface="+mn-lt"/>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24000">
                <a:tc>
                  <a:txBody>
                    <a:bodyPr/>
                    <a:lstStyle/>
                    <a:p>
                      <a:pPr algn="l" fontAlgn="t"/>
                      <a:endParaRPr lang="de-DE" sz="1200" b="0" i="0" u="none" strike="noStrike">
                        <a:solidFill>
                          <a:srgbClr val="000000"/>
                        </a:solidFill>
                        <a:effectLst/>
                        <a:latin typeface="Arial (Body)"/>
                      </a:endParaRPr>
                    </a:p>
                  </a:txBody>
                  <a:tcPr marL="9525" marR="9525" marT="9525"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dirty="0">
                        <a:solidFill>
                          <a:srgbClr val="000000"/>
                        </a:solidFill>
                        <a:effectLst/>
                        <a:latin typeface="Arial (Body)"/>
                      </a:endParaRPr>
                    </a:p>
                  </a:txBody>
                  <a:tcPr marL="9525" marR="9525" marT="9525"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dirty="0">
                        <a:solidFill>
                          <a:srgbClr val="000000"/>
                        </a:solidFill>
                        <a:effectLst/>
                        <a:latin typeface="Arial (Body)"/>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endParaRPr lang="de-CH" sz="1200" b="0" i="0" u="none" strike="noStrike" dirty="0">
                        <a:solidFill>
                          <a:srgbClr val="000000"/>
                        </a:solidFill>
                        <a:effectLst/>
                        <a:latin typeface="Arial (Body)"/>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24000">
                <a:tc>
                  <a:txBody>
                    <a:bodyPr/>
                    <a:lstStyle/>
                    <a:p>
                      <a:pPr algn="l" fontAlgn="t"/>
                      <a:endParaRPr lang="de-DE" sz="1200" b="0" i="0" u="none" strike="noStrike">
                        <a:solidFill>
                          <a:srgbClr val="000000"/>
                        </a:solidFill>
                        <a:effectLst/>
                        <a:latin typeface="Arial (Body)"/>
                      </a:endParaRPr>
                    </a:p>
                  </a:txBody>
                  <a:tcPr marL="9525" marR="9525" marT="9525"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dirty="0">
                        <a:solidFill>
                          <a:srgbClr val="000000"/>
                        </a:solidFill>
                        <a:effectLst/>
                        <a:latin typeface="Arial (Body)"/>
                      </a:endParaRPr>
                    </a:p>
                  </a:txBody>
                  <a:tcPr marL="9525" marR="9525" marT="9525"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dirty="0">
                        <a:solidFill>
                          <a:srgbClr val="000000"/>
                        </a:solidFill>
                        <a:effectLst/>
                        <a:latin typeface="Arial (Body)"/>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dirty="0">
                        <a:solidFill>
                          <a:srgbClr val="000000"/>
                        </a:solidFill>
                        <a:effectLst/>
                        <a:latin typeface="Arial (Body)"/>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324000">
                <a:tc>
                  <a:txBody>
                    <a:bodyPr/>
                    <a:lstStyle/>
                    <a:p>
                      <a:pPr algn="l" fontAlgn="t"/>
                      <a:endParaRPr lang="de-DE" sz="1200" b="0" i="0" u="none" strike="noStrike">
                        <a:solidFill>
                          <a:srgbClr val="000000"/>
                        </a:solidFill>
                        <a:effectLst/>
                        <a:latin typeface="Arial (Body)"/>
                      </a:endParaRPr>
                    </a:p>
                  </a:txBody>
                  <a:tcPr marL="9525" marR="9525" marT="9525"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a:solidFill>
                          <a:srgbClr val="000000"/>
                        </a:solidFill>
                        <a:effectLst/>
                        <a:latin typeface="Arial (Body)"/>
                      </a:endParaRPr>
                    </a:p>
                  </a:txBody>
                  <a:tcPr marL="9525" marR="9525" marT="9525"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dirty="0">
                        <a:solidFill>
                          <a:srgbClr val="000000"/>
                        </a:solidFill>
                        <a:effectLst/>
                        <a:latin typeface="Arial (Body)"/>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dirty="0">
                        <a:solidFill>
                          <a:srgbClr val="000000"/>
                        </a:solidFill>
                        <a:effectLst/>
                        <a:latin typeface="Arial (Body)"/>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24000">
                <a:tc>
                  <a:txBody>
                    <a:bodyPr/>
                    <a:lstStyle/>
                    <a:p>
                      <a:pPr algn="l" fontAlgn="t"/>
                      <a:endParaRPr lang="de-DE" sz="1200" b="0" i="0" u="none" strike="noStrike">
                        <a:solidFill>
                          <a:srgbClr val="000000"/>
                        </a:solidFill>
                        <a:effectLst/>
                        <a:latin typeface="Arial (Body)"/>
                      </a:endParaRPr>
                    </a:p>
                  </a:txBody>
                  <a:tcPr marL="9525" marR="9525" marT="9525"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a:solidFill>
                          <a:srgbClr val="000000"/>
                        </a:solidFill>
                        <a:effectLst/>
                        <a:latin typeface="Arial (Body)"/>
                      </a:endParaRPr>
                    </a:p>
                  </a:txBody>
                  <a:tcPr marL="9525" marR="9525" marT="9525" marB="0" anchor="ctr">
                    <a:lnL>
                      <a:noFill/>
                    </a:lnL>
                    <a:lnR>
                      <a:noFill/>
                    </a:lnR>
                    <a:lnT w="5080" cmpd="sng">
                      <a:solidFill>
                        <a:srgbClr val="000000"/>
                      </a:solidFill>
                      <a:prstDash val="soli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dirty="0">
                        <a:solidFill>
                          <a:srgbClr val="000000"/>
                        </a:solidFill>
                        <a:effectLst/>
                        <a:latin typeface="Arial (Body)"/>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dirty="0">
                        <a:solidFill>
                          <a:srgbClr val="000000"/>
                        </a:solidFill>
                        <a:effectLst/>
                        <a:latin typeface="Arial (Body)"/>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24000">
                <a:tc>
                  <a:txBody>
                    <a:bodyPr/>
                    <a:lstStyle/>
                    <a:p>
                      <a:pPr algn="l" fontAlgn="t"/>
                      <a:endParaRPr lang="de-DE" sz="1200" b="0" i="0" u="none" strike="noStrike">
                        <a:solidFill>
                          <a:srgbClr val="000000"/>
                        </a:solidFill>
                        <a:effectLst/>
                        <a:latin typeface="Arial (Body)"/>
                      </a:endParaRPr>
                    </a:p>
                  </a:txBody>
                  <a:tcPr marL="9525" marR="9525" marT="9525" marB="0" anchor="ctr">
                    <a:lnL>
                      <a:noFill/>
                    </a:lnL>
                    <a:lnR>
                      <a:noFill/>
                    </a:lnR>
                    <a:lnT w="5080" cmpd="sng">
                      <a:solidFill>
                        <a:srgbClr val="000000"/>
                      </a:solidFill>
                      <a:prstDash val="soli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a:solidFill>
                          <a:srgbClr val="000000"/>
                        </a:solidFill>
                        <a:effectLst/>
                        <a:latin typeface="Arial (Body)"/>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dirty="0">
                        <a:solidFill>
                          <a:srgbClr val="000000"/>
                        </a:solidFill>
                        <a:effectLst/>
                        <a:latin typeface="Arial (Body)"/>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endParaRPr lang="de-DE" sz="1200" b="0" i="0" u="none" strike="noStrike" dirty="0">
                        <a:solidFill>
                          <a:srgbClr val="000000"/>
                        </a:solidFill>
                        <a:effectLst/>
                        <a:latin typeface="Arial (Body)"/>
                      </a:endParaRPr>
                    </a:p>
                  </a:txBody>
                  <a:tcPr marL="9525" marR="9525" marT="9525"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324000">
                <a:tc>
                  <a:txBody>
                    <a:bodyPr/>
                    <a:lstStyle/>
                    <a:p>
                      <a:pPr marL="0" algn="l" defTabSz="986855" rtl="0" eaLnBrk="1" fontAlgn="t" latinLnBrk="0" hangingPunct="1"/>
                      <a:endParaRPr lang="de-CH"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86855" rtl="0" eaLnBrk="1" fontAlgn="t" latinLnBrk="0" hangingPunct="1"/>
                      <a:endParaRPr lang="de-CH"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86855" rtl="0" eaLnBrk="1" fontAlgn="t" latinLnBrk="0" hangingPunct="1"/>
                      <a:endParaRPr lang="de-CH"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86855" rtl="0" eaLnBrk="1" fontAlgn="t" latinLnBrk="0" hangingPunct="1"/>
                      <a:endParaRPr lang="en-US"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39704434"/>
                  </a:ext>
                </a:extLst>
              </a:tr>
              <a:tr h="324000">
                <a:tc>
                  <a:txBody>
                    <a:bodyPr/>
                    <a:lstStyle/>
                    <a:p>
                      <a:pPr marL="0" algn="l" defTabSz="986855" rtl="0" eaLnBrk="1" fontAlgn="t" latinLnBrk="0" hangingPunct="1"/>
                      <a:endParaRPr lang="de-CH"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86855" rtl="0" eaLnBrk="1" fontAlgn="t" latinLnBrk="0" hangingPunct="1"/>
                      <a:endParaRPr lang="de-CH"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86855" rtl="0" eaLnBrk="1" fontAlgn="t" latinLnBrk="0" hangingPunct="1"/>
                      <a:endParaRPr lang="de-CH" sz="1200" b="0" i="0" u="none" strike="noStrike" kern="120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86855" rtl="0" eaLnBrk="1" fontAlgn="t" latinLnBrk="0" hangingPunct="1"/>
                      <a:endParaRPr lang="en-US" sz="1200" b="0" i="0" u="none" strike="noStrike" kern="1200" dirty="0">
                        <a:solidFill>
                          <a:srgbClr val="000000"/>
                        </a:solidFill>
                        <a:effectLst/>
                        <a:latin typeface="Arial (Body)"/>
                        <a:ea typeface="+mn-ea"/>
                        <a:cs typeface="+mn-cs"/>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r h="324000">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1"/>
                  </a:ext>
                </a:extLst>
              </a:tr>
              <a:tr h="324000">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2"/>
                  </a:ext>
                </a:extLst>
              </a:tr>
              <a:tr h="324000">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3"/>
                  </a:ext>
                </a:extLst>
              </a:tr>
              <a:tr h="324000">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4"/>
                  </a:ext>
                </a:extLst>
              </a:tr>
              <a:tr h="324000">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486232423"/>
                  </a:ext>
                </a:extLst>
              </a:tr>
              <a:tr h="324000">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rtl="0" fontAlgn="t"/>
                      <a:endParaRPr lang="en-US" sz="1200" b="0" i="0" u="none" strike="noStrike" dirty="0">
                        <a:solidFill>
                          <a:srgbClr val="000000"/>
                        </a:solidFill>
                        <a:effectLst/>
                        <a:latin typeface="Arial (Body)"/>
                      </a:endParaRPr>
                    </a:p>
                  </a:txBody>
                  <a:tcPr marL="0" marR="0" marT="0" marB="0" anchor="ctr">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465843"/>
                  </a:ext>
                </a:extLst>
              </a:tr>
              <a:tr h="324000">
                <a:tc>
                  <a:txBody>
                    <a:bodyPr/>
                    <a:lstStyle/>
                    <a:p>
                      <a:pPr algn="l" fontAlgn="t"/>
                      <a:endParaRPr lang="de-CH" sz="1100" b="0" i="0" u="none" strike="noStrike">
                        <a:solidFill>
                          <a:srgbClr val="000000"/>
                        </a:solidFill>
                        <a:effectLst/>
                        <a:latin typeface="ITC Officina Sans Book"/>
                      </a:endParaRPr>
                    </a:p>
                  </a:txBody>
                  <a:tcPr marL="0" marR="0" marT="0" marB="0">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endParaRPr lang="de-CH" sz="1100" b="0" i="0" u="none" strike="noStrike">
                        <a:solidFill>
                          <a:srgbClr val="000000"/>
                        </a:solidFill>
                        <a:effectLst/>
                        <a:latin typeface="ITC Officina Sans Book"/>
                      </a:endParaRPr>
                    </a:p>
                  </a:txBody>
                  <a:tcPr marL="0" marR="0" marT="0" marB="0">
                    <a:lnL>
                      <a:noFill/>
                    </a:lnL>
                    <a:lnR>
                      <a:noFill/>
                    </a:lnR>
                    <a:lnT w="5080" cap="flat" cmpd="sng" algn="ctr">
                      <a:solidFill>
                        <a:srgbClr val="000000"/>
                      </a:solidFill>
                      <a:prstDash val="solid"/>
                      <a:round/>
                      <a:headEnd type="none" w="med" len="med"/>
                      <a:tailEnd type="none" w="med" len="med"/>
                    </a:lnT>
                    <a:lnB w="5080" cmpd="sng">
                      <a:solidFill>
                        <a:srgbClr val="000000"/>
                      </a:solidFill>
                      <a:prstDash val="solid"/>
                    </a:lnB>
                    <a:lnTlToBr w="12700" cmpd="sng">
                      <a:noFill/>
                      <a:prstDash val="solid"/>
                    </a:lnTlToBr>
                    <a:lnBlToTr w="12700" cmpd="sng">
                      <a:noFill/>
                      <a:prstDash val="solid"/>
                    </a:lnBlToTr>
                    <a:solidFill>
                      <a:srgbClr val="FFFFFF"/>
                    </a:solidFill>
                  </a:tcPr>
                </a:tc>
                <a:tc>
                  <a:txBody>
                    <a:bodyPr/>
                    <a:lstStyle/>
                    <a:p>
                      <a:pPr algn="l" fontAlgn="t"/>
                      <a:endParaRPr lang="de-CH" sz="1100" b="0" i="0" u="none" strike="noStrike" dirty="0">
                        <a:solidFill>
                          <a:srgbClr val="000000"/>
                        </a:solidFill>
                        <a:effectLst/>
                        <a:latin typeface="ITC Officina Sans Book"/>
                      </a:endParaRPr>
                    </a:p>
                  </a:txBody>
                  <a:tcPr marL="0" marR="0" marT="0" marB="0">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endParaRPr lang="de-CH" sz="1100" b="0" i="0" u="none" strike="noStrike" dirty="0">
                        <a:solidFill>
                          <a:srgbClr val="000000"/>
                        </a:solidFill>
                        <a:effectLst/>
                        <a:latin typeface="ITC Officina Sans Book"/>
                      </a:endParaRPr>
                    </a:p>
                  </a:txBody>
                  <a:tcPr marL="0" marR="0" marT="0" marB="0">
                    <a:lnL>
                      <a:noFill/>
                    </a:lnL>
                    <a:lnR>
                      <a:noFill/>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305719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Table of contents</a:t>
            </a:r>
            <a:endParaRPr lang="en-US" dirty="0"/>
          </a:p>
        </p:txBody>
      </p:sp>
      <p:sp>
        <p:nvSpPr>
          <p:cNvPr id="4" name="TocEntry1">
            <a:hlinkClick r:id="" action="ppaction://noaction"/>
          </p:cNvPr>
          <p:cNvSpPr txBox="1"/>
          <p:nvPr>
            <p:custDataLst>
              <p:tags r:id="rId1"/>
            </p:custDataLst>
          </p:nvPr>
        </p:nvSpPr>
        <p:spPr>
          <a:xfrm>
            <a:off x="952500" y="2051050"/>
            <a:ext cx="9289131" cy="415498"/>
          </a:xfrm>
          <a:prstGeom prst="rect">
            <a:avLst/>
          </a:prstGeom>
          <a:noFill/>
        </p:spPr>
        <p:txBody>
          <a:bodyPr vert="horz" wrap="square" lIns="0" tIns="0" rIns="0" bIns="0" rtlCol="0">
            <a:spAutoFit/>
          </a:bodyPr>
          <a:lstStyle/>
          <a:p>
            <a:pPr>
              <a:lnSpc>
                <a:spcPct val="90000"/>
              </a:lnSpc>
            </a:pPr>
            <a:r>
              <a:rPr lang="de-CH" sz="3000" dirty="0" smtClean="0">
                <a:latin typeface="Arial"/>
              </a:rPr>
              <a:t>Summary</a:t>
            </a:r>
            <a:endParaRPr lang="de-CH" sz="3000" dirty="0">
              <a:latin typeface="Arial"/>
            </a:endParaRPr>
          </a:p>
        </p:txBody>
      </p:sp>
      <p:sp>
        <p:nvSpPr>
          <p:cNvPr id="5" name="TocEntry2">
            <a:hlinkClick r:id="" action="ppaction://noaction"/>
          </p:cNvPr>
          <p:cNvSpPr txBox="1"/>
          <p:nvPr>
            <p:custDataLst>
              <p:tags r:id="rId2"/>
            </p:custDataLst>
          </p:nvPr>
        </p:nvSpPr>
        <p:spPr>
          <a:xfrm>
            <a:off x="952500" y="2542748"/>
            <a:ext cx="9289131" cy="415498"/>
          </a:xfrm>
          <a:prstGeom prst="rect">
            <a:avLst/>
          </a:prstGeom>
          <a:noFill/>
        </p:spPr>
        <p:txBody>
          <a:bodyPr vert="horz" wrap="square" lIns="0" tIns="0" rIns="0" bIns="0" rtlCol="0">
            <a:spAutoFit/>
          </a:bodyPr>
          <a:lstStyle/>
          <a:p>
            <a:pPr>
              <a:lnSpc>
                <a:spcPct val="90000"/>
              </a:lnSpc>
            </a:pPr>
            <a:r>
              <a:rPr lang="de-CH" sz="3000" dirty="0" smtClean="0">
                <a:solidFill>
                  <a:srgbClr val="000000"/>
                </a:solidFill>
                <a:latin typeface="Arial"/>
              </a:rPr>
              <a:t>Swiss </a:t>
            </a:r>
            <a:r>
              <a:rPr lang="de-CH" sz="3000" dirty="0" err="1" smtClean="0">
                <a:solidFill>
                  <a:srgbClr val="000000"/>
                </a:solidFill>
                <a:latin typeface="Arial"/>
              </a:rPr>
              <a:t>equities</a:t>
            </a:r>
            <a:endParaRPr lang="de-CH" sz="3000" dirty="0">
              <a:solidFill>
                <a:srgbClr val="000000"/>
              </a:solidFill>
              <a:latin typeface="Arial"/>
            </a:endParaRPr>
          </a:p>
        </p:txBody>
      </p:sp>
      <p:sp>
        <p:nvSpPr>
          <p:cNvPr id="6" name="TocEntry3">
            <a:hlinkClick r:id="" action="ppaction://noaction"/>
          </p:cNvPr>
          <p:cNvSpPr txBox="1"/>
          <p:nvPr>
            <p:custDataLst>
              <p:tags r:id="rId3"/>
            </p:custDataLst>
          </p:nvPr>
        </p:nvSpPr>
        <p:spPr>
          <a:xfrm>
            <a:off x="952500" y="3034446"/>
            <a:ext cx="9289131" cy="415498"/>
          </a:xfrm>
          <a:prstGeom prst="rect">
            <a:avLst/>
          </a:prstGeom>
          <a:noFill/>
        </p:spPr>
        <p:txBody>
          <a:bodyPr vert="horz" wrap="square" lIns="0" tIns="0" rIns="0" bIns="0" rtlCol="0">
            <a:spAutoFit/>
          </a:bodyPr>
          <a:lstStyle/>
          <a:p>
            <a:pPr>
              <a:lnSpc>
                <a:spcPct val="90000"/>
              </a:lnSpc>
            </a:pPr>
            <a:r>
              <a:rPr lang="de-CH" sz="3000" dirty="0" err="1" smtClean="0">
                <a:solidFill>
                  <a:srgbClr val="000000"/>
                </a:solidFill>
                <a:latin typeface="Arial"/>
              </a:rPr>
              <a:t>Our</a:t>
            </a:r>
            <a:r>
              <a:rPr lang="de-CH" sz="3000" dirty="0" smtClean="0">
                <a:solidFill>
                  <a:srgbClr val="000000"/>
                </a:solidFill>
                <a:latin typeface="Arial"/>
              </a:rPr>
              <a:t> </a:t>
            </a:r>
            <a:r>
              <a:rPr lang="de-CH" sz="3000" dirty="0" err="1" smtClean="0">
                <a:solidFill>
                  <a:srgbClr val="000000"/>
                </a:solidFill>
                <a:latin typeface="Arial"/>
              </a:rPr>
              <a:t>investment</a:t>
            </a:r>
            <a:r>
              <a:rPr lang="de-CH" sz="3000" dirty="0" smtClean="0">
                <a:solidFill>
                  <a:srgbClr val="000000"/>
                </a:solidFill>
                <a:latin typeface="Arial"/>
              </a:rPr>
              <a:t> </a:t>
            </a:r>
            <a:r>
              <a:rPr lang="de-CH" sz="3000" dirty="0" err="1" smtClean="0">
                <a:solidFill>
                  <a:srgbClr val="000000"/>
                </a:solidFill>
                <a:latin typeface="Arial"/>
              </a:rPr>
              <a:t>approach</a:t>
            </a:r>
            <a:endParaRPr lang="de-CH" sz="3000" dirty="0">
              <a:solidFill>
                <a:srgbClr val="000000"/>
              </a:solidFill>
              <a:latin typeface="Arial"/>
            </a:endParaRPr>
          </a:p>
        </p:txBody>
      </p:sp>
      <p:sp>
        <p:nvSpPr>
          <p:cNvPr id="7" name="TocEntry4">
            <a:hlinkClick r:id="" action="ppaction://noaction"/>
          </p:cNvPr>
          <p:cNvSpPr txBox="1"/>
          <p:nvPr>
            <p:custDataLst>
              <p:tags r:id="rId4"/>
            </p:custDataLst>
          </p:nvPr>
        </p:nvSpPr>
        <p:spPr>
          <a:xfrm>
            <a:off x="952500" y="3526144"/>
            <a:ext cx="9289131" cy="415498"/>
          </a:xfrm>
          <a:prstGeom prst="rect">
            <a:avLst/>
          </a:prstGeom>
          <a:noFill/>
        </p:spPr>
        <p:txBody>
          <a:bodyPr vert="horz" wrap="square" lIns="0" tIns="0" rIns="0" bIns="0" rtlCol="0">
            <a:spAutoFit/>
          </a:bodyPr>
          <a:lstStyle/>
          <a:p>
            <a:pPr>
              <a:lnSpc>
                <a:spcPct val="90000"/>
              </a:lnSpc>
            </a:pPr>
            <a:r>
              <a:rPr lang="de-CH" sz="3000" dirty="0" smtClean="0">
                <a:solidFill>
                  <a:srgbClr val="000000"/>
                </a:solidFill>
                <a:latin typeface="Arial"/>
              </a:rPr>
              <a:t>Vontobel Specials Swiss </a:t>
            </a:r>
            <a:r>
              <a:rPr lang="de-CH" sz="3000" dirty="0" err="1" smtClean="0">
                <a:solidFill>
                  <a:srgbClr val="000000"/>
                </a:solidFill>
                <a:latin typeface="Arial"/>
              </a:rPr>
              <a:t>Equities</a:t>
            </a:r>
            <a:endParaRPr lang="de-CH" sz="3000" dirty="0">
              <a:solidFill>
                <a:srgbClr val="000000"/>
              </a:solidFill>
              <a:latin typeface="Arial"/>
            </a:endParaRPr>
          </a:p>
        </p:txBody>
      </p:sp>
      <p:sp>
        <p:nvSpPr>
          <p:cNvPr id="8" name="TocEntry5">
            <a:hlinkClick r:id="" action="ppaction://noaction"/>
          </p:cNvPr>
          <p:cNvSpPr txBox="1"/>
          <p:nvPr>
            <p:custDataLst>
              <p:tags r:id="rId5"/>
            </p:custDataLst>
          </p:nvPr>
        </p:nvSpPr>
        <p:spPr>
          <a:xfrm>
            <a:off x="952500" y="4017842"/>
            <a:ext cx="9289131" cy="415498"/>
          </a:xfrm>
          <a:prstGeom prst="rect">
            <a:avLst/>
          </a:prstGeom>
          <a:noFill/>
        </p:spPr>
        <p:txBody>
          <a:bodyPr vert="horz" wrap="square" lIns="0" tIns="0" rIns="0" bIns="0" rtlCol="0">
            <a:spAutoFit/>
          </a:bodyPr>
          <a:lstStyle/>
          <a:p>
            <a:pPr>
              <a:lnSpc>
                <a:spcPct val="90000"/>
              </a:lnSpc>
            </a:pPr>
            <a:r>
              <a:rPr lang="de-CH" sz="3000" b="1" dirty="0" smtClean="0">
                <a:solidFill>
                  <a:srgbClr val="000000"/>
                </a:solidFill>
                <a:latin typeface="Arial"/>
              </a:rPr>
              <a:t>Appendix</a:t>
            </a:r>
            <a:endParaRPr lang="de-CH" sz="3000" b="1" dirty="0">
              <a:solidFill>
                <a:srgbClr val="000000"/>
              </a:solidFill>
              <a:latin typeface="Arial"/>
            </a:endParaRPr>
          </a:p>
        </p:txBody>
      </p:sp>
    </p:spTree>
    <p:extLst>
      <p:ext uri="{BB962C8B-B14F-4D97-AF65-F5344CB8AC3E}">
        <p14:creationId xmlns:p14="http://schemas.microsoft.com/office/powerpoint/2010/main" val="30470689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custDataLst>
              <p:tags r:id="rId1"/>
            </p:custDataLst>
          </p:nvPr>
        </p:nvSpPr>
        <p:spPr>
          <a:xfrm>
            <a:off x="449362" y="1476375"/>
            <a:ext cx="4680520" cy="5183188"/>
          </a:xfrm>
        </p:spPr>
        <p:txBody>
          <a:bodyPr/>
          <a:lstStyle/>
          <a:p>
            <a:r>
              <a:rPr lang="en-US" b="1" dirty="0" smtClean="0">
                <a:solidFill>
                  <a:srgbClr val="000000"/>
                </a:solidFill>
              </a:rPr>
              <a:t>Roland Bart</a:t>
            </a:r>
          </a:p>
          <a:p>
            <a:r>
              <a:rPr lang="en-US" dirty="0" smtClean="0">
                <a:solidFill>
                  <a:srgbClr val="000000"/>
                </a:solidFill>
              </a:rPr>
              <a:t>Senior Portfolio Manager, Executive Director</a:t>
            </a:r>
          </a:p>
          <a:p>
            <a:r>
              <a:rPr lang="en-US" dirty="0" smtClean="0">
                <a:solidFill>
                  <a:srgbClr val="000000"/>
                </a:solidFill>
              </a:rPr>
              <a:t>Wealth Management Investment Management</a:t>
            </a:r>
          </a:p>
          <a:p>
            <a:r>
              <a:rPr lang="en-US" dirty="0" smtClean="0"/>
              <a:t>T +41 58 283 68 90 </a:t>
            </a:r>
            <a:endParaRPr lang="en-US" dirty="0" smtClean="0">
              <a:solidFill>
                <a:srgbClr val="000000"/>
              </a:solidFill>
            </a:endParaRPr>
          </a:p>
          <a:p>
            <a:r>
              <a:rPr lang="en-US" dirty="0" smtClean="0"/>
              <a:t>roland.bart@vontobel.com</a:t>
            </a:r>
            <a:endParaRPr lang="en-US" dirty="0" smtClean="0">
              <a:solidFill>
                <a:srgbClr val="000000"/>
              </a:solidFill>
            </a:endParaRPr>
          </a:p>
          <a:p>
            <a:endParaRPr lang="en-US" sz="1200" dirty="0" smtClean="0">
              <a:solidFill>
                <a:srgbClr val="000000"/>
              </a:solidFill>
            </a:endParaRPr>
          </a:p>
          <a:p>
            <a:pPr fontAlgn="t">
              <a:spcAft>
                <a:spcPts val="1200"/>
              </a:spcAft>
            </a:pPr>
            <a:r>
              <a:rPr lang="en-US" sz="1200" dirty="0" smtClean="0"/>
              <a:t>Roland Bart is responsible for the management of the “Vontobel Specials Swiss Equities”. Since 2010, Roland Bart is Senior Portfolio Manager at </a:t>
            </a:r>
            <a:r>
              <a:rPr lang="en-US" sz="1200" dirty="0" err="1" smtClean="0"/>
              <a:t>Vontobel</a:t>
            </a:r>
            <a:r>
              <a:rPr lang="en-US" sz="1200" dirty="0" smtClean="0"/>
              <a:t> and has over 20 years of experience in portfolio management. He held different executive positions at Swiss asset managers. </a:t>
            </a:r>
          </a:p>
          <a:p>
            <a:endParaRPr lang="en-US" sz="1200" dirty="0" smtClean="0">
              <a:solidFill>
                <a:srgbClr val="000000"/>
              </a:solidFill>
            </a:endParaRPr>
          </a:p>
          <a:p>
            <a:pPr fontAlgn="t"/>
            <a:r>
              <a:rPr lang="en-US" sz="1200" b="1" dirty="0" smtClean="0"/>
              <a:t>Professional Background</a:t>
            </a:r>
          </a:p>
          <a:p>
            <a:pPr marL="182563" indent="-182563">
              <a:buFont typeface="Symbol" panose="05050102010706020507" pitchFamily="18" charset="2"/>
              <a:buChar char="-"/>
              <a:tabLst>
                <a:tab pos="1346200" algn="l"/>
              </a:tabLst>
            </a:pPr>
            <a:r>
              <a:rPr lang="en-US" sz="1200" dirty="0" smtClean="0">
                <a:solidFill>
                  <a:srgbClr val="000000"/>
                </a:solidFill>
              </a:rPr>
              <a:t>Since 2010  	</a:t>
            </a:r>
            <a:r>
              <a:rPr lang="en-US" sz="1200" dirty="0" smtClean="0"/>
              <a:t>Senior Portfolio Manager and responsible for 	Swiss equity investments in Wealth 	Management, Bank </a:t>
            </a:r>
            <a:r>
              <a:rPr lang="en-US" sz="1200" dirty="0" err="1" smtClean="0"/>
              <a:t>Vontobel</a:t>
            </a:r>
            <a:r>
              <a:rPr lang="en-US" sz="1200" dirty="0" smtClean="0"/>
              <a:t> AG</a:t>
            </a:r>
          </a:p>
          <a:p>
            <a:pPr marL="182563" indent="-182563">
              <a:buFont typeface="Symbol" panose="05050102010706020507" pitchFamily="18" charset="2"/>
              <a:buChar char="-"/>
              <a:tabLst>
                <a:tab pos="1346200" algn="l"/>
              </a:tabLst>
            </a:pPr>
            <a:r>
              <a:rPr lang="en-US" sz="1200" dirty="0" smtClean="0">
                <a:solidFill>
                  <a:srgbClr val="000000"/>
                </a:solidFill>
              </a:rPr>
              <a:t>1998 – 2010 	</a:t>
            </a:r>
            <a:r>
              <a:rPr lang="en-US" sz="1200" dirty="0" smtClean="0"/>
              <a:t>Head Portfolio Management Private Clients, AAM 	</a:t>
            </a:r>
            <a:r>
              <a:rPr lang="en-US" sz="1200" dirty="0" err="1" smtClean="0"/>
              <a:t>Privatbank</a:t>
            </a:r>
            <a:r>
              <a:rPr lang="en-US" sz="1200" dirty="0" smtClean="0"/>
              <a:t> AG, Zurich</a:t>
            </a:r>
          </a:p>
          <a:p>
            <a:pPr marL="182563" indent="-182563">
              <a:buFont typeface="Symbol" panose="05050102010706020507" pitchFamily="18" charset="2"/>
              <a:buChar char="-"/>
              <a:tabLst>
                <a:tab pos="1346200" algn="l"/>
              </a:tabLst>
            </a:pPr>
            <a:r>
              <a:rPr lang="en-US" sz="1200" dirty="0" smtClean="0">
                <a:solidFill>
                  <a:srgbClr val="000000"/>
                </a:solidFill>
              </a:rPr>
              <a:t>1990 – 1998 	</a:t>
            </a:r>
            <a:r>
              <a:rPr lang="en-US" sz="1200" dirty="0" smtClean="0"/>
              <a:t>Deputy Head Portfolio Management, </a:t>
            </a:r>
            <a:r>
              <a:rPr lang="en-US" sz="1200" dirty="0" err="1" smtClean="0"/>
              <a:t>Schweiz</a:t>
            </a:r>
            <a:r>
              <a:rPr lang="en-US" sz="1200" dirty="0" smtClean="0"/>
              <a:t>. 	</a:t>
            </a:r>
            <a:r>
              <a:rPr lang="en-US" sz="1200" dirty="0" err="1" smtClean="0"/>
              <a:t>Bankverein</a:t>
            </a:r>
            <a:r>
              <a:rPr lang="en-US" sz="1200" dirty="0" smtClean="0"/>
              <a:t> AG, Bern</a:t>
            </a:r>
            <a:endParaRPr lang="en-US" sz="1200" dirty="0" smtClean="0">
              <a:solidFill>
                <a:srgbClr val="000000"/>
              </a:solidFill>
            </a:endParaRPr>
          </a:p>
          <a:p>
            <a:pPr marL="182563" indent="-182563">
              <a:buFont typeface="Symbol" panose="05050102010706020507" pitchFamily="18" charset="2"/>
              <a:buChar char="-"/>
              <a:tabLst>
                <a:tab pos="1346200" algn="l"/>
              </a:tabLst>
            </a:pPr>
            <a:endParaRPr lang="en-US" sz="1200" dirty="0" smtClean="0">
              <a:solidFill>
                <a:srgbClr val="000000"/>
              </a:solidFill>
            </a:endParaRPr>
          </a:p>
          <a:p>
            <a:r>
              <a:rPr lang="en-US" sz="1200" b="1" dirty="0" smtClean="0"/>
              <a:t>Educational Background</a:t>
            </a:r>
          </a:p>
          <a:p>
            <a:pPr marL="182563" indent="-182563">
              <a:buFont typeface="Symbol" panose="05050102010706020507" pitchFamily="18" charset="2"/>
              <a:buChar char="-"/>
            </a:pPr>
            <a:r>
              <a:rPr lang="en-US" sz="1200" dirty="0" smtClean="0">
                <a:solidFill>
                  <a:srgbClr val="000000"/>
                </a:solidFill>
              </a:rPr>
              <a:t>Advanced studies in Management / Leadership skills, IFZ, Zug</a:t>
            </a:r>
          </a:p>
          <a:p>
            <a:pPr marL="182563" indent="-182563">
              <a:buFont typeface="Symbol" panose="05050102010706020507" pitchFamily="18" charset="2"/>
              <a:buChar char="-"/>
            </a:pPr>
            <a:r>
              <a:rPr lang="en-US" sz="1200" dirty="0" smtClean="0">
                <a:solidFill>
                  <a:srgbClr val="000000"/>
                </a:solidFill>
              </a:rPr>
              <a:t>Swiss certified Financial Analyst and Portfolio Manager, CEFA, Zürich</a:t>
            </a:r>
            <a:endParaRPr lang="en-US" sz="1200" dirty="0">
              <a:solidFill>
                <a:srgbClr val="000000"/>
              </a:solidFill>
            </a:endParaRPr>
          </a:p>
        </p:txBody>
      </p:sp>
      <p:sp>
        <p:nvSpPr>
          <p:cNvPr id="4" name="Title 3"/>
          <p:cNvSpPr>
            <a:spLocks noGrp="1"/>
          </p:cNvSpPr>
          <p:nvPr>
            <p:ph type="title"/>
          </p:nvPr>
        </p:nvSpPr>
        <p:spPr/>
        <p:txBody>
          <a:bodyPr/>
          <a:lstStyle/>
          <a:p>
            <a:r>
              <a:rPr lang="en-US" dirty="0"/>
              <a:t>Portfolio manager responsible for performance</a:t>
            </a:r>
          </a:p>
        </p:txBody>
      </p:sp>
      <p:pic>
        <p:nvPicPr>
          <p:cNvPr id="5" name="Picture Placeholder 4"/>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4858" r="24858"/>
          <a:stretch>
            <a:fillRect/>
          </a:stretch>
        </p:blipFill>
        <p:spPr/>
      </p:pic>
    </p:spTree>
    <p:extLst>
      <p:ext uri="{BB962C8B-B14F-4D97-AF65-F5344CB8AC3E}">
        <p14:creationId xmlns:p14="http://schemas.microsoft.com/office/powerpoint/2010/main" val="137213766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Reliability: Compelling long-term performance over 30 years</a:t>
            </a:r>
            <a:endParaRPr lang="en-US" dirty="0"/>
          </a:p>
        </p:txBody>
      </p:sp>
      <p:sp>
        <p:nvSpPr>
          <p:cNvPr id="3" name="Text Placeholder 2"/>
          <p:cNvSpPr>
            <a:spLocks noGrp="1"/>
          </p:cNvSpPr>
          <p:nvPr>
            <p:ph type="body" sz="quarter" idx="14"/>
          </p:nvPr>
        </p:nvSpPr>
        <p:spPr>
          <a:xfrm>
            <a:off x="449362" y="1476376"/>
            <a:ext cx="9793188" cy="240579"/>
          </a:xfrm>
        </p:spPr>
        <p:txBody>
          <a:bodyPr/>
          <a:lstStyle/>
          <a:p>
            <a:r>
              <a:rPr lang="de-CH" dirty="0"/>
              <a:t>SPI</a:t>
            </a:r>
            <a:r>
              <a:rPr lang="de-CH" baseline="30000" dirty="0"/>
              <a:t>®</a:t>
            </a:r>
            <a:r>
              <a:rPr lang="de-CH" dirty="0"/>
              <a:t> </a:t>
            </a:r>
            <a:r>
              <a:rPr lang="en-US" dirty="0" smtClean="0"/>
              <a:t>compared to international indices denominated in </a:t>
            </a:r>
            <a:r>
              <a:rPr lang="en-GB" dirty="0"/>
              <a:t>local </a:t>
            </a:r>
            <a:r>
              <a:rPr lang="en-GB" dirty="0" smtClean="0"/>
              <a:t>currencies</a:t>
            </a:r>
            <a:endParaRPr lang="en-GB" dirty="0"/>
          </a:p>
        </p:txBody>
      </p:sp>
      <p:sp>
        <p:nvSpPr>
          <p:cNvPr id="4" name="TextBox 3"/>
          <p:cNvSpPr txBox="1"/>
          <p:nvPr>
            <p:custDataLst>
              <p:tags r:id="rId2"/>
            </p:custDataLst>
          </p:nvPr>
        </p:nvSpPr>
        <p:spPr bwMode="gray">
          <a:xfrm>
            <a:off x="449264" y="6921249"/>
            <a:ext cx="7272904" cy="4924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p>
            <a:r>
              <a:rPr lang="de-CH" sz="800" dirty="0">
                <a:solidFill>
                  <a:srgbClr val="000000"/>
                </a:solidFill>
              </a:rPr>
              <a:t>SPI</a:t>
            </a:r>
            <a:r>
              <a:rPr lang="de-CH" sz="800" baseline="30000" dirty="0">
                <a:solidFill>
                  <a:srgbClr val="000000"/>
                </a:solidFill>
              </a:rPr>
              <a:t>®</a:t>
            </a:r>
            <a:r>
              <a:rPr lang="de-CH" sz="800" dirty="0">
                <a:solidFill>
                  <a:srgbClr val="000000"/>
                </a:solidFill>
              </a:rPr>
              <a:t>: </a:t>
            </a:r>
            <a:r>
              <a:rPr lang="en-US" sz="800" dirty="0" smtClean="0">
                <a:solidFill>
                  <a:srgbClr val="000000"/>
                </a:solidFill>
              </a:rPr>
              <a:t>Swiss Performance Index. The </a:t>
            </a:r>
            <a:r>
              <a:rPr lang="de-CH" sz="800" dirty="0">
                <a:solidFill>
                  <a:srgbClr val="000000"/>
                </a:solidFill>
              </a:rPr>
              <a:t>SPI</a:t>
            </a:r>
            <a:r>
              <a:rPr lang="de-CH" sz="800" baseline="30000" dirty="0" smtClean="0">
                <a:solidFill>
                  <a:srgbClr val="000000"/>
                </a:solidFill>
              </a:rPr>
              <a:t>®</a:t>
            </a:r>
            <a:r>
              <a:rPr lang="en-US" sz="800" dirty="0" smtClean="0">
                <a:solidFill>
                  <a:srgbClr val="000000"/>
                </a:solidFill>
              </a:rPr>
              <a:t> contains more than 200 companies</a:t>
            </a:r>
          </a:p>
          <a:p>
            <a:r>
              <a:rPr lang="en-US" sz="800" dirty="0" smtClean="0">
                <a:solidFill>
                  <a:srgbClr val="000000"/>
                </a:solidFill>
              </a:rPr>
              <a:t>Actual performance may deviate from this significantly. Past performance is no guarantee of future results and in no way constitutes an assurance on the part of Bank Vontobel AG with regard to returns or risks in the future. In local currency, as of 28.02.2019.</a:t>
            </a:r>
          </a:p>
          <a:p>
            <a:r>
              <a:rPr lang="en-US" sz="800" dirty="0" smtClean="0">
                <a:solidFill>
                  <a:srgbClr val="000000"/>
                </a:solidFill>
              </a:rPr>
              <a:t>Source: Bloomberg</a:t>
            </a:r>
            <a:endParaRPr lang="en-US" sz="800" dirty="0">
              <a:solidFill>
                <a:srgbClr val="000000"/>
              </a:solidFill>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874478060"/>
              </p:ext>
            </p:extLst>
          </p:nvPr>
        </p:nvGraphicFramePr>
        <p:xfrm>
          <a:off x="272664" y="1835150"/>
          <a:ext cx="8991600" cy="4314825"/>
        </p:xfrm>
        <a:graphic>
          <a:graphicData uri="http://schemas.openxmlformats.org/presentationml/2006/ole">
            <mc:AlternateContent xmlns:mc="http://schemas.openxmlformats.org/markup-compatibility/2006">
              <mc:Choice xmlns:v="urn:schemas-microsoft-com:vml" Requires="v">
                <p:oleObj spid="_x0000_s29762" name="Worksheet" r:id="rId4" imgW="8991478" imgH="4314641" progId="Excel.Sheet.12">
                  <p:link updateAutomatic="1"/>
                </p:oleObj>
              </mc:Choice>
              <mc:Fallback>
                <p:oleObj name="Worksheet" r:id="rId4" imgW="8991478" imgH="4314641" progId="Excel.Sheet.12">
                  <p:link updateAutomatic="1"/>
                  <p:pic>
                    <p:nvPicPr>
                      <p:cNvPr id="0" name=""/>
                      <p:cNvPicPr/>
                      <p:nvPr/>
                    </p:nvPicPr>
                    <p:blipFill>
                      <a:blip r:embed="rId5"/>
                      <a:stretch>
                        <a:fillRect/>
                      </a:stretch>
                    </p:blipFill>
                    <p:spPr>
                      <a:xfrm>
                        <a:off x="272664" y="1835150"/>
                        <a:ext cx="8991600" cy="4314825"/>
                      </a:xfrm>
                      <a:prstGeom prst="rect">
                        <a:avLst/>
                      </a:prstGeom>
                    </p:spPr>
                  </p:pic>
                </p:oleObj>
              </mc:Fallback>
            </mc:AlternateContent>
          </a:graphicData>
        </a:graphic>
      </p:graphicFrame>
    </p:spTree>
    <p:extLst>
      <p:ext uri="{BB962C8B-B14F-4D97-AF65-F5344CB8AC3E}">
        <p14:creationId xmlns:p14="http://schemas.microsoft.com/office/powerpoint/2010/main" val="104401998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de-DE" dirty="0" smtClean="0"/>
              <a:t>Legal information</a:t>
            </a:r>
            <a:endParaRPr lang="en-US" dirty="0"/>
          </a:p>
        </p:txBody>
      </p:sp>
      <p:sp>
        <p:nvSpPr>
          <p:cNvPr id="3" name="TextBox 2"/>
          <p:cNvSpPr txBox="1"/>
          <p:nvPr/>
        </p:nvSpPr>
        <p:spPr>
          <a:xfrm>
            <a:off x="449362" y="1476375"/>
            <a:ext cx="9793188" cy="5183188"/>
          </a:xfrm>
          <a:prstGeom prst="rect">
            <a:avLst/>
          </a:prstGeom>
          <a:noFill/>
        </p:spPr>
        <p:txBody>
          <a:bodyPr wrap="square" lIns="0" tIns="0" rIns="0" bIns="0" rtlCol="0">
            <a:noAutofit/>
          </a:bodyPr>
          <a:lstStyle/>
          <a:p>
            <a:r>
              <a:rPr lang="en-US" altLang="de-DE" sz="800" dirty="0" smtClean="0">
                <a:solidFill>
                  <a:srgbClr val="000000"/>
                </a:solidFill>
              </a:rPr>
              <a:t>This brochure should not be construed as a solicitation or offer, or recommendation to acquire or dispose of any investment or to engage in any other transaction. The services described in this brochure are supplied exclusively under the agreement signed with the service recipient. The facts presented and views expressed herein are for information purposes only and do not take account of any individual investment targets, financial circumstances or requirements. Moreover, the nature, scope and prices of services and products may vary from one investor to another and/or due to legal restrictions and are subject to change without notice. Before making an investment decision, investors are advised to consult a professional advisor regarding their individual situation. Prospective investors should be aware that past performance is not necessarily indicative of future results. In no event we will be liable for any loss or damage of any kind arising out of the use of the information contained herein. </a:t>
            </a:r>
            <a:r>
              <a:rPr lang="en-US" sz="800" dirty="0">
                <a:solidFill>
                  <a:srgbClr val="000000"/>
                </a:solidFill>
              </a:rPr>
              <a:t>Details on how we handle your data can be found in our current data protection policy (vontobel.com/privacy-policy) and on our data protection website (vontobel.com/</a:t>
            </a:r>
            <a:r>
              <a:rPr lang="en-US" sz="800" dirty="0" err="1">
                <a:solidFill>
                  <a:srgbClr val="000000"/>
                </a:solidFill>
              </a:rPr>
              <a:t>gdpr</a:t>
            </a:r>
            <a:r>
              <a:rPr lang="en-US" sz="800" dirty="0">
                <a:solidFill>
                  <a:srgbClr val="000000"/>
                </a:solidFill>
              </a:rPr>
              <a:t>). If you would like to receive a hard copy of our Privacy Policy, please contact us at the following e-mail address: </a:t>
            </a:r>
            <a:r>
              <a:rPr lang="en-US" sz="800" dirty="0">
                <a:solidFill>
                  <a:srgbClr val="000000"/>
                </a:solidFill>
                <a:hlinkClick r:id="rId2"/>
              </a:rPr>
              <a:t>wealthmanagement@vontobel.com</a:t>
            </a:r>
            <a:r>
              <a:rPr lang="en-US" sz="800" dirty="0">
                <a:solidFill>
                  <a:srgbClr val="000000"/>
                </a:solidFill>
              </a:rPr>
              <a:t>.</a:t>
            </a:r>
            <a:endParaRPr lang="de-CH" sz="800" dirty="0">
              <a:solidFill>
                <a:srgbClr val="000000"/>
              </a:solidFill>
            </a:endParaRPr>
          </a:p>
          <a:p>
            <a:endParaRPr lang="en-US" altLang="de-DE" sz="800" dirty="0">
              <a:solidFill>
                <a:srgbClr val="000000"/>
              </a:solidFill>
            </a:endParaRPr>
          </a:p>
        </p:txBody>
      </p:sp>
    </p:spTree>
    <p:extLst>
      <p:ext uri="{BB962C8B-B14F-4D97-AF65-F5344CB8AC3E}">
        <p14:creationId xmlns:p14="http://schemas.microsoft.com/office/powerpoint/2010/main" val="20061409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VERSINFO" val="VT2001"/>
  <p:tag name="LANGUAGE" val="2055"/>
  <p:tag name="REPEATINGAGENDA" val="-1"/>
  <p:tag name="THINKCELLUNDODONOTDELETE" val="0"/>
  <p:tag name="BUSINESSDESCRIPTOR" val="1"/>
  <p:tag name="DIVISION" val="0"/>
  <p:tag name="CLASSIFICATION" val="0"/>
  <p:tag name="STATUS" val="Fals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HAPETYPE" val="FooterSeparator"/>
</p:tagLst>
</file>

<file path=ppt/tags/tag4.xml><?xml version="1.0" encoding="utf-8"?>
<p:tagLst xmlns:a="http://schemas.openxmlformats.org/drawingml/2006/main" xmlns:r="http://schemas.openxmlformats.org/officeDocument/2006/relationships" xmlns:p="http://schemas.openxmlformats.org/presentationml/2006/main">
  <p:tag name="SHAPETYPE" val="HeaderSeparator"/>
</p:tagLst>
</file>

<file path=ppt/tags/tag5.xml><?xml version="1.0" encoding="utf-8"?>
<p:tagLst xmlns:a="http://schemas.openxmlformats.org/drawingml/2006/main" xmlns:r="http://schemas.openxmlformats.org/officeDocument/2006/relationships" xmlns:p="http://schemas.openxmlformats.org/presentationml/2006/main">
  <p:tag name="SHAPETYPE" val="SlideNumber"/>
</p:tagLst>
</file>

<file path=ppt/tags/tag6.xml><?xml version="1.0" encoding="utf-8"?>
<p:tagLst xmlns:a="http://schemas.openxmlformats.org/drawingml/2006/main" xmlns:r="http://schemas.openxmlformats.org/officeDocument/2006/relationships" xmlns:p="http://schemas.openxmlformats.org/presentationml/2006/main">
  <p:tag name="SHAPETYPE" val="DateAndTime"/>
</p:tagLst>
</file>

<file path=ppt/tags/tag7.xml><?xml version="1.0" encoding="utf-8"?>
<p:tagLst xmlns:a="http://schemas.openxmlformats.org/drawingml/2006/main" xmlns:r="http://schemas.openxmlformats.org/officeDocument/2006/relationships" xmlns:p="http://schemas.openxmlformats.org/presentationml/2006/main">
  <p:tag name="SHAPETYPE" val="Remark"/>
</p:tagLst>
</file>

<file path=ppt/tags/tag8.xml><?xml version="1.0" encoding="utf-8"?>
<p:tagLst xmlns:a="http://schemas.openxmlformats.org/drawingml/2006/main" xmlns:r="http://schemas.openxmlformats.org/officeDocument/2006/relationships" xmlns:p="http://schemas.openxmlformats.org/presentationml/2006/main">
  <p:tag name="SHAPETYPE" val="Logo"/>
</p:tagLst>
</file>

<file path=ppt/tags/tag9.xml><?xml version="1.0" encoding="utf-8"?>
<p:tagLst xmlns:a="http://schemas.openxmlformats.org/drawingml/2006/main" xmlns:r="http://schemas.openxmlformats.org/officeDocument/2006/relationships" xmlns:p="http://schemas.openxmlformats.org/presentationml/2006/main">
  <p:tag name="SHAPETYPE" val="Remark"/>
</p:tagLst>
</file>

<file path=ppt/tags/tag10.xml><?xml version="1.0" encoding="utf-8"?>
<p:tagLst xmlns:a="http://schemas.openxmlformats.org/drawingml/2006/main" xmlns:r="http://schemas.openxmlformats.org/officeDocument/2006/relationships" xmlns:p="http://schemas.openxmlformats.org/presentationml/2006/main">
  <p:tag name="SHAPETYPE" val="BusinessDescriptor"/>
</p:tagLst>
</file>

<file path=ppt/tags/tag11.xml><?xml version="1.0" encoding="utf-8"?>
<p:tagLst xmlns:a="http://schemas.openxmlformats.org/drawingml/2006/main" xmlns:r="http://schemas.openxmlformats.org/officeDocument/2006/relationships" xmlns:p="http://schemas.openxmlformats.org/presentationml/2006/main">
  <p:tag name="SHAPETYPE" val="DateAndTime"/>
</p:tagLst>
</file>

<file path=ppt/tags/tag12.xml><?xml version="1.0" encoding="utf-8"?>
<p:tagLst xmlns:a="http://schemas.openxmlformats.org/drawingml/2006/main" xmlns:r="http://schemas.openxmlformats.org/officeDocument/2006/relationships" xmlns:p="http://schemas.openxmlformats.org/presentationml/2006/main">
  <p:tag name="SHAPETYPE" val="Logo"/>
</p:tagLst>
</file>

<file path=ppt/tags/tag13.xml><?xml version="1.0" encoding="utf-8"?>
<p:tagLst xmlns:a="http://schemas.openxmlformats.org/drawingml/2006/main" xmlns:r="http://schemas.openxmlformats.org/officeDocument/2006/relationships" xmlns:p="http://schemas.openxmlformats.org/presentationml/2006/main">
  <p:tag name="SHAPETYPE" val="Remark"/>
</p:tagLst>
</file>

<file path=ppt/tags/tag14.xml><?xml version="1.0" encoding="utf-8"?>
<p:tagLst xmlns:a="http://schemas.openxmlformats.org/drawingml/2006/main" xmlns:r="http://schemas.openxmlformats.org/officeDocument/2006/relationships" xmlns:p="http://schemas.openxmlformats.org/presentationml/2006/main">
  <p:tag name="SHAPETYPE" val="DateAndTime"/>
</p:tagLst>
</file>

<file path=ppt/tags/tag15.xml><?xml version="1.0" encoding="utf-8"?>
<p:tagLst xmlns:a="http://schemas.openxmlformats.org/drawingml/2006/main" xmlns:r="http://schemas.openxmlformats.org/officeDocument/2006/relationships" xmlns:p="http://schemas.openxmlformats.org/presentationml/2006/main">
  <p:tag name="SHAPETYPE" val="Logo"/>
</p:tagLst>
</file>

<file path=ppt/tags/tag16.xml><?xml version="1.0" encoding="utf-8"?>
<p:tagLst xmlns:a="http://schemas.openxmlformats.org/drawingml/2006/main" xmlns:r="http://schemas.openxmlformats.org/officeDocument/2006/relationships" xmlns:p="http://schemas.openxmlformats.org/presentationml/2006/main">
  <p:tag name="SHAPETYPE" val="BusinessDescriptor"/>
</p:tagLst>
</file>

<file path=ppt/tags/tag17.xml><?xml version="1.0" encoding="utf-8"?>
<p:tagLst xmlns:a="http://schemas.openxmlformats.org/drawingml/2006/main" xmlns:r="http://schemas.openxmlformats.org/officeDocument/2006/relationships" xmlns:p="http://schemas.openxmlformats.org/presentationml/2006/main">
  <p:tag name="SHAPETYPE" val="Remark"/>
</p:tagLst>
</file>

<file path=ppt/tags/tag18.xml><?xml version="1.0" encoding="utf-8"?>
<p:tagLst xmlns:a="http://schemas.openxmlformats.org/drawingml/2006/main" xmlns:r="http://schemas.openxmlformats.org/officeDocument/2006/relationships" xmlns:p="http://schemas.openxmlformats.org/presentationml/2006/main">
  <p:tag name="SHAPETYPE" val="SlideNumber"/>
</p:tagLst>
</file>

<file path=ppt/tags/tag19.xml><?xml version="1.0" encoding="utf-8"?>
<p:tagLst xmlns:a="http://schemas.openxmlformats.org/drawingml/2006/main" xmlns:r="http://schemas.openxmlformats.org/officeDocument/2006/relationships" xmlns:p="http://schemas.openxmlformats.org/presentationml/2006/main">
  <p:tag name="SHAPETYPE" val="Remark"/>
</p:tagLst>
</file>

<file path=ppt/tags/tag20.xml><?xml version="1.0" encoding="utf-8"?>
<p:tagLst xmlns:a="http://schemas.openxmlformats.org/drawingml/2006/main" xmlns:r="http://schemas.openxmlformats.org/officeDocument/2006/relationships" xmlns:p="http://schemas.openxmlformats.org/presentationml/2006/main">
  <p:tag name="SHAPETYPE" val="SlideNumber"/>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SHAPETYPE" val="Remark"/>
</p:tagLst>
</file>

<file path=ppt/tags/tag25.xml><?xml version="1.0" encoding="utf-8"?>
<p:tagLst xmlns:a="http://schemas.openxmlformats.org/drawingml/2006/main" xmlns:r="http://schemas.openxmlformats.org/officeDocument/2006/relationships" xmlns:p="http://schemas.openxmlformats.org/presentationml/2006/main">
  <p:tag name="SHAPETYPE" val="SlideNumber"/>
</p:tagLst>
</file>

<file path=ppt/tags/tag26.xml><?xml version="1.0" encoding="utf-8"?>
<p:tagLst xmlns:a="http://schemas.openxmlformats.org/drawingml/2006/main" xmlns:r="http://schemas.openxmlformats.org/officeDocument/2006/relationships" xmlns:p="http://schemas.openxmlformats.org/presentationml/2006/main">
  <p:tag name="SHAPETYPE" val="DateAndTime"/>
</p:tagLst>
</file>

<file path=ppt/tags/tag27.xml><?xml version="1.0" encoding="utf-8"?>
<p:tagLst xmlns:a="http://schemas.openxmlformats.org/drawingml/2006/main" xmlns:r="http://schemas.openxmlformats.org/officeDocument/2006/relationships" xmlns:p="http://schemas.openxmlformats.org/presentationml/2006/main">
  <p:tag name="SHAPETYPE" val="Remark"/>
</p:tagLst>
</file>

<file path=ppt/tags/tag28.xml><?xml version="1.0" encoding="utf-8"?>
<p:tagLst xmlns:a="http://schemas.openxmlformats.org/drawingml/2006/main" xmlns:r="http://schemas.openxmlformats.org/officeDocument/2006/relationships" xmlns:p="http://schemas.openxmlformats.org/presentationml/2006/main">
  <p:tag name="SHAPETYPE" val="Logo"/>
</p:tagLst>
</file>

<file path=ppt/tags/tag29.xml><?xml version="1.0" encoding="utf-8"?>
<p:tagLst xmlns:a="http://schemas.openxmlformats.org/drawingml/2006/main" xmlns:r="http://schemas.openxmlformats.org/officeDocument/2006/relationships" xmlns:p="http://schemas.openxmlformats.org/presentationml/2006/main">
  <p:tag name="SLIDEID" val="0"/>
</p:tagLst>
</file>

<file path=ppt/tags/tag30.xml><?xml version="1.0" encoding="utf-8"?>
<p:tagLst xmlns:a="http://schemas.openxmlformats.org/drawingml/2006/main" xmlns:r="http://schemas.openxmlformats.org/officeDocument/2006/relationships" xmlns:p="http://schemas.openxmlformats.org/presentationml/2006/main">
  <p:tag name="SLIDEID" val="0"/>
</p:tagLst>
</file>

<file path=ppt/tags/tag31.xml><?xml version="1.0" encoding="utf-8"?>
<p:tagLst xmlns:a="http://schemas.openxmlformats.org/drawingml/2006/main" xmlns:r="http://schemas.openxmlformats.org/officeDocument/2006/relationships" xmlns:p="http://schemas.openxmlformats.org/presentationml/2006/main">
  <p:tag name="SLIDEID" val="0"/>
</p:tagLst>
</file>

<file path=ppt/tags/tag32.xml><?xml version="1.0" encoding="utf-8"?>
<p:tagLst xmlns:a="http://schemas.openxmlformats.org/drawingml/2006/main" xmlns:r="http://schemas.openxmlformats.org/officeDocument/2006/relationships" xmlns:p="http://schemas.openxmlformats.org/presentationml/2006/main">
  <p:tag name="SLIDEID" val="0"/>
</p:tagLst>
</file>

<file path=ppt/tags/tag33.xml><?xml version="1.0" encoding="utf-8"?>
<p:tagLst xmlns:a="http://schemas.openxmlformats.org/drawingml/2006/main" xmlns:r="http://schemas.openxmlformats.org/officeDocument/2006/relationships" xmlns:p="http://schemas.openxmlformats.org/presentationml/2006/main">
  <p:tag name="SLIDEID" val="0"/>
</p:tagLst>
</file>

<file path=ppt/tags/tag34.xml><?xml version="1.0" encoding="utf-8"?>
<p:tagLst xmlns:a="http://schemas.openxmlformats.org/drawingml/2006/main" xmlns:r="http://schemas.openxmlformats.org/officeDocument/2006/relationships" xmlns:p="http://schemas.openxmlformats.org/presentationml/2006/main">
  <p:tag name="SHAPETYPE" val="Footnote"/>
</p:tagLst>
</file>

<file path=ppt/tags/tag35.xml><?xml version="1.0" encoding="utf-8"?>
<p:tagLst xmlns:a="http://schemas.openxmlformats.org/drawingml/2006/main" xmlns:r="http://schemas.openxmlformats.org/officeDocument/2006/relationships" xmlns:p="http://schemas.openxmlformats.org/presentationml/2006/main">
  <p:tag name="SHAPETYPE" val="ManualFooterHider"/>
</p:tagLst>
</file>

<file path=ppt/tags/tag36.xml><?xml version="1.0" encoding="utf-8"?>
<p:tagLst xmlns:a="http://schemas.openxmlformats.org/drawingml/2006/main" xmlns:r="http://schemas.openxmlformats.org/officeDocument/2006/relationships" xmlns:p="http://schemas.openxmlformats.org/presentationml/2006/main">
  <p:tag name="SHAPETYPE" val="Footnote"/>
</p:tagLst>
</file>

<file path=ppt/tags/tag37.xml><?xml version="1.0" encoding="utf-8"?>
<p:tagLst xmlns:a="http://schemas.openxmlformats.org/drawingml/2006/main" xmlns:r="http://schemas.openxmlformats.org/officeDocument/2006/relationships" xmlns:p="http://schemas.openxmlformats.org/presentationml/2006/main">
  <p:tag name="SHAPETYPE" val="ManualFooterSeparator"/>
</p:tagLst>
</file>

<file path=ppt/tags/tag38.xml><?xml version="1.0" encoding="utf-8"?>
<p:tagLst xmlns:a="http://schemas.openxmlformats.org/drawingml/2006/main" xmlns:r="http://schemas.openxmlformats.org/officeDocument/2006/relationships" xmlns:p="http://schemas.openxmlformats.org/presentationml/2006/main">
  <p:tag name="SLIDEID" val="0"/>
</p:tagLst>
</file>

<file path=ppt/tags/tag39.xml><?xml version="1.0" encoding="utf-8"?>
<p:tagLst xmlns:a="http://schemas.openxmlformats.org/drawingml/2006/main" xmlns:r="http://schemas.openxmlformats.org/officeDocument/2006/relationships" xmlns:p="http://schemas.openxmlformats.org/presentationml/2006/main">
  <p:tag name="SLIDEID" val="0"/>
</p:tagLst>
</file>

<file path=ppt/tags/tag40.xml><?xml version="1.0" encoding="utf-8"?>
<p:tagLst xmlns:a="http://schemas.openxmlformats.org/drawingml/2006/main" xmlns:r="http://schemas.openxmlformats.org/officeDocument/2006/relationships" xmlns:p="http://schemas.openxmlformats.org/presentationml/2006/main">
  <p:tag name="SLIDEID" val="0"/>
</p:tagLst>
</file>

<file path=ppt/tags/tag41.xml><?xml version="1.0" encoding="utf-8"?>
<p:tagLst xmlns:a="http://schemas.openxmlformats.org/drawingml/2006/main" xmlns:r="http://schemas.openxmlformats.org/officeDocument/2006/relationships" xmlns:p="http://schemas.openxmlformats.org/presentationml/2006/main">
  <p:tag name="SLIDEID" val="0"/>
</p:tagLst>
</file>

<file path=ppt/tags/tag42.xml><?xml version="1.0" encoding="utf-8"?>
<p:tagLst xmlns:a="http://schemas.openxmlformats.org/drawingml/2006/main" xmlns:r="http://schemas.openxmlformats.org/officeDocument/2006/relationships" xmlns:p="http://schemas.openxmlformats.org/presentationml/2006/main">
  <p:tag name="SLIDEID" val="0"/>
</p:tagLst>
</file>

<file path=ppt/tags/tag43.xml><?xml version="1.0" encoding="utf-8"?>
<p:tagLst xmlns:a="http://schemas.openxmlformats.org/drawingml/2006/main" xmlns:r="http://schemas.openxmlformats.org/officeDocument/2006/relationships" xmlns:p="http://schemas.openxmlformats.org/presentationml/2006/main">
  <p:tag name="SHAPETYPE" val="Footnote"/>
</p:tagLst>
</file>

<file path=ppt/tags/tag44.xml><?xml version="1.0" encoding="utf-8"?>
<p:tagLst xmlns:a="http://schemas.openxmlformats.org/drawingml/2006/main" xmlns:r="http://schemas.openxmlformats.org/officeDocument/2006/relationships" xmlns:p="http://schemas.openxmlformats.org/presentationml/2006/main">
  <p:tag name="SHAPETYPE" val="Footnote"/>
</p:tagLst>
</file>

<file path=ppt/tags/tag45.xml><?xml version="1.0" encoding="utf-8"?>
<p:tagLst xmlns:a="http://schemas.openxmlformats.org/drawingml/2006/main" xmlns:r="http://schemas.openxmlformats.org/officeDocument/2006/relationships" xmlns:p="http://schemas.openxmlformats.org/presentationml/2006/main">
  <p:tag name="SHAPETYPE" val="ManualFooterHider"/>
</p:tagLst>
</file>

<file path=ppt/tags/tag46.xml><?xml version="1.0" encoding="utf-8"?>
<p:tagLst xmlns:a="http://schemas.openxmlformats.org/drawingml/2006/main" xmlns:r="http://schemas.openxmlformats.org/officeDocument/2006/relationships" xmlns:p="http://schemas.openxmlformats.org/presentationml/2006/main">
  <p:tag name="SHAPETYPE" val="Footnote"/>
</p:tagLst>
</file>

<file path=ppt/tags/tag47.xml><?xml version="1.0" encoding="utf-8"?>
<p:tagLst xmlns:a="http://schemas.openxmlformats.org/drawingml/2006/main" xmlns:r="http://schemas.openxmlformats.org/officeDocument/2006/relationships" xmlns:p="http://schemas.openxmlformats.org/presentationml/2006/main">
  <p:tag name="SHAPETYPE" val="ManualFooterSeparator"/>
</p:tagLst>
</file>

<file path=ppt/tags/tag48.xml><?xml version="1.0" encoding="utf-8"?>
<p:tagLst xmlns:a="http://schemas.openxmlformats.org/drawingml/2006/main" xmlns:r="http://schemas.openxmlformats.org/officeDocument/2006/relationships" xmlns:p="http://schemas.openxmlformats.org/presentationml/2006/main">
  <p:tag name="SHAPETYPE" val="Footnote"/>
</p:tagLst>
</file>

<file path=ppt/tags/tag49.xml><?xml version="1.0" encoding="utf-8"?>
<p:tagLst xmlns:a="http://schemas.openxmlformats.org/drawingml/2006/main" xmlns:r="http://schemas.openxmlformats.org/officeDocument/2006/relationships" xmlns:p="http://schemas.openxmlformats.org/presentationml/2006/main">
  <p:tag name="RELVAL" val="1"/>
</p:tagLst>
</file>

<file path=ppt/tags/tag50.xml><?xml version="1.0" encoding="utf-8"?>
<p:tagLst xmlns:a="http://schemas.openxmlformats.org/drawingml/2006/main" xmlns:r="http://schemas.openxmlformats.org/officeDocument/2006/relationships" xmlns:p="http://schemas.openxmlformats.org/presentationml/2006/main">
  <p:tag name="RELVAL" val="2"/>
</p:tagLst>
</file>

<file path=ppt/tags/tag51.xml><?xml version="1.0" encoding="utf-8"?>
<p:tagLst xmlns:a="http://schemas.openxmlformats.org/drawingml/2006/main" xmlns:r="http://schemas.openxmlformats.org/officeDocument/2006/relationships" xmlns:p="http://schemas.openxmlformats.org/presentationml/2006/main">
  <p:tag name="RELVAL" val="3"/>
</p:tagLst>
</file>

<file path=ppt/tags/tag52.xml><?xml version="1.0" encoding="utf-8"?>
<p:tagLst xmlns:a="http://schemas.openxmlformats.org/drawingml/2006/main" xmlns:r="http://schemas.openxmlformats.org/officeDocument/2006/relationships" xmlns:p="http://schemas.openxmlformats.org/presentationml/2006/main">
  <p:tag name="SHAPETYPE" val="Footnote"/>
</p:tagLst>
</file>

<file path=ppt/tags/tag53.xml><?xml version="1.0" encoding="utf-8"?>
<p:tagLst xmlns:a="http://schemas.openxmlformats.org/drawingml/2006/main" xmlns:r="http://schemas.openxmlformats.org/officeDocument/2006/relationships" xmlns:p="http://schemas.openxmlformats.org/presentationml/2006/main">
  <p:tag name="SHAPETYPE" val="ManualFooterHider"/>
</p:tagLst>
</file>

<file path=ppt/tags/tag54.xml><?xml version="1.0" encoding="utf-8"?>
<p:tagLst xmlns:a="http://schemas.openxmlformats.org/drawingml/2006/main" xmlns:r="http://schemas.openxmlformats.org/officeDocument/2006/relationships" xmlns:p="http://schemas.openxmlformats.org/presentationml/2006/main">
  <p:tag name="SHAPETYPE" val="Footnote"/>
</p:tagLst>
</file>

<file path=ppt/tags/tag55.xml><?xml version="1.0" encoding="utf-8"?>
<p:tagLst xmlns:a="http://schemas.openxmlformats.org/drawingml/2006/main" xmlns:r="http://schemas.openxmlformats.org/officeDocument/2006/relationships" xmlns:p="http://schemas.openxmlformats.org/presentationml/2006/main">
  <p:tag name="SHAPETYPE" val="ManualFooterSeparator"/>
</p:tagLst>
</file>

<file path=ppt/tags/tag56.xml><?xml version="1.0" encoding="utf-8"?>
<p:tagLst xmlns:a="http://schemas.openxmlformats.org/drawingml/2006/main" xmlns:r="http://schemas.openxmlformats.org/officeDocument/2006/relationships" xmlns:p="http://schemas.openxmlformats.org/presentationml/2006/main">
  <p:tag name="SLIDEID" val="0"/>
</p:tagLst>
</file>

<file path=ppt/tags/tag57.xml><?xml version="1.0" encoding="utf-8"?>
<p:tagLst xmlns:a="http://schemas.openxmlformats.org/drawingml/2006/main" xmlns:r="http://schemas.openxmlformats.org/officeDocument/2006/relationships" xmlns:p="http://schemas.openxmlformats.org/presentationml/2006/main">
  <p:tag name="SLIDEID" val="0"/>
</p:tagLst>
</file>

<file path=ppt/tags/tag58.xml><?xml version="1.0" encoding="utf-8"?>
<p:tagLst xmlns:a="http://schemas.openxmlformats.org/drawingml/2006/main" xmlns:r="http://schemas.openxmlformats.org/officeDocument/2006/relationships" xmlns:p="http://schemas.openxmlformats.org/presentationml/2006/main">
  <p:tag name="SLIDEID" val="0"/>
</p:tagLst>
</file>

<file path=ppt/tags/tag59.xml><?xml version="1.0" encoding="utf-8"?>
<p:tagLst xmlns:a="http://schemas.openxmlformats.org/drawingml/2006/main" xmlns:r="http://schemas.openxmlformats.org/officeDocument/2006/relationships" xmlns:p="http://schemas.openxmlformats.org/presentationml/2006/main">
  <p:tag name="SLIDEID" val="0"/>
</p:tagLst>
</file>

<file path=ppt/tags/tag60.xml><?xml version="1.0" encoding="utf-8"?>
<p:tagLst xmlns:a="http://schemas.openxmlformats.org/drawingml/2006/main" xmlns:r="http://schemas.openxmlformats.org/officeDocument/2006/relationships" xmlns:p="http://schemas.openxmlformats.org/presentationml/2006/main">
  <p:tag name="SLIDEID" val="0"/>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SHAPETYPE" val="Footno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FILENAME" val="\\ZIGSTATION\ZigData\Vontobel\Brandic\PowerPoint\Libraries\PowerPoint\PictogramGallery\General\\Picture26.emf"/>
</p:tagLst>
</file>

<file path=ppt/tags/tag65.xml><?xml version="1.0" encoding="utf-8"?>
<p:tagLst xmlns:a="http://schemas.openxmlformats.org/drawingml/2006/main" xmlns:r="http://schemas.openxmlformats.org/officeDocument/2006/relationships" xmlns:p="http://schemas.openxmlformats.org/presentationml/2006/main">
  <p:tag name="FILENAME" val="\\ZIGSTATION\ZigData\Vontobel\Brandic\PowerPoint\Libraries\PowerPoint\PictogramGallery\General\\Picture37.emf"/>
</p:tagLst>
</file>

<file path=ppt/tags/tag66.xml><?xml version="1.0" encoding="utf-8"?>
<p:tagLst xmlns:a="http://schemas.openxmlformats.org/drawingml/2006/main" xmlns:r="http://schemas.openxmlformats.org/officeDocument/2006/relationships" xmlns:p="http://schemas.openxmlformats.org/presentationml/2006/main">
  <p:tag name="FILENAME" val="\\ZIGSTATION\ZigData\Vontobel\Brandic\PowerPoint\Libraries\PowerPoint\PictogramGallery\General\\Picture19.emf"/>
</p:tagLst>
</file>

<file path=ppt/tags/tag67.xml><?xml version="1.0" encoding="utf-8"?>
<p:tagLst xmlns:a="http://schemas.openxmlformats.org/drawingml/2006/main" xmlns:r="http://schemas.openxmlformats.org/officeDocument/2006/relationships" xmlns:p="http://schemas.openxmlformats.org/presentationml/2006/main">
  <p:tag name="FILENAME" val="\\ZIGSTATION\ZigData\Vontobel\Brandic\PowerPoint\Libraries\PowerPoint\PictogramGallery\General\\Picture26.emf"/>
</p:tagLst>
</file>

<file path=ppt/tags/tag68.xml><?xml version="1.0" encoding="utf-8"?>
<p:tagLst xmlns:a="http://schemas.openxmlformats.org/drawingml/2006/main" xmlns:r="http://schemas.openxmlformats.org/officeDocument/2006/relationships" xmlns:p="http://schemas.openxmlformats.org/presentationml/2006/main">
  <p:tag name="FILENAME" val="\\ZIGSTATION\ZigData\Vontobel\Brandic\PowerPoint\Libraries\PowerPoint\PictogramGallery\General\\Picture37.emf"/>
</p:tagLst>
</file>

<file path=ppt/tags/tag69.xml><?xml version="1.0" encoding="utf-8"?>
<p:tagLst xmlns:a="http://schemas.openxmlformats.org/drawingml/2006/main" xmlns:r="http://schemas.openxmlformats.org/officeDocument/2006/relationships" xmlns:p="http://schemas.openxmlformats.org/presentationml/2006/main">
  <p:tag name="FILENAME" val="\\ZIGSTATION\ZigData\Vontobel\Brandic\PowerPoint\Libraries\PowerPoint\PictogramGallery\General\\Picture19.emf"/>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FILENAME" val="\\ZIGSTATION\ZigData\Vontobel\Brandic\PowerPoint\Libraries\PowerPoint\PictogramGallery\General\\Picture26.emf"/>
</p:tagLst>
</file>

<file path=ppt/tags/tag72.xml><?xml version="1.0" encoding="utf-8"?>
<p:tagLst xmlns:a="http://schemas.openxmlformats.org/drawingml/2006/main" xmlns:r="http://schemas.openxmlformats.org/officeDocument/2006/relationships" xmlns:p="http://schemas.openxmlformats.org/presentationml/2006/main">
  <p:tag name="FILENAME" val="\\ZIGSTATION\ZigData\Vontobel\Brandic\PowerPoint\Libraries\PowerPoint\PictogramGallery\General\\Picture37.emf"/>
</p:tagLst>
</file>

<file path=ppt/tags/tag73.xml><?xml version="1.0" encoding="utf-8"?>
<p:tagLst xmlns:a="http://schemas.openxmlformats.org/drawingml/2006/main" xmlns:r="http://schemas.openxmlformats.org/officeDocument/2006/relationships" xmlns:p="http://schemas.openxmlformats.org/presentationml/2006/main">
  <p:tag name="FILENAME" val="\\ZIGSTATION\ZigData\Vontobel\Brandic\PowerPoint\Libraries\PowerPoint\PictogramGallery\General\\Picture19.emf"/>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SHAPETYPE" val="Footnote"/>
</p:tagLst>
</file>

<file path=ppt/tags/tag76.xml><?xml version="1.0" encoding="utf-8"?>
<p:tagLst xmlns:a="http://schemas.openxmlformats.org/drawingml/2006/main" xmlns:r="http://schemas.openxmlformats.org/officeDocument/2006/relationships" xmlns:p="http://schemas.openxmlformats.org/presentationml/2006/main">
  <p:tag name="FILENAME" val="C:\Program Files (x86)\Brandic\Libraries\PowerPoint\PictogramGallery\01_Bank and Markets\\Cash-SEK_black.emf"/>
</p:tagLst>
</file>

<file path=ppt/tags/tag77.xml><?xml version="1.0" encoding="utf-8"?>
<p:tagLst xmlns:a="http://schemas.openxmlformats.org/drawingml/2006/main" xmlns:r="http://schemas.openxmlformats.org/officeDocument/2006/relationships" xmlns:p="http://schemas.openxmlformats.org/presentationml/2006/main">
  <p:tag name="FILENAME" val="C:\Program Files (x86)\Brandic\Libraries\PowerPoint\PictogramGallery\05_HR\\Worldwide-Global-Leader_black.emf"/>
</p:tagLst>
</file>

<file path=ppt/tags/tag78.xml><?xml version="1.0" encoding="utf-8"?>
<p:tagLst xmlns:a="http://schemas.openxmlformats.org/drawingml/2006/main" xmlns:r="http://schemas.openxmlformats.org/officeDocument/2006/relationships" xmlns:p="http://schemas.openxmlformats.org/presentationml/2006/main">
  <p:tag name="FILENAME" val="C:\Program Files (x86)\Brandic\Libraries\PowerPoint\PictogramGallery\04_Business in General\\Several-Persons_black.emf"/>
</p:tagLst>
</file>

<file path=ppt/tags/tag79.xml><?xml version="1.0" encoding="utf-8"?>
<p:tagLst xmlns:a="http://schemas.openxmlformats.org/drawingml/2006/main" xmlns:r="http://schemas.openxmlformats.org/officeDocument/2006/relationships" xmlns:p="http://schemas.openxmlformats.org/presentationml/2006/main">
  <p:tag name="FILENAME" val="C:\Program Files (x86)\Brandic\Libraries\PowerPoint\PictogramGallery\10_Evaluation\\Rating-1_black.emf"/>
</p:tagLst>
</file>

<file path=ppt/tags/tag80.xml><?xml version="1.0" encoding="utf-8"?>
<p:tagLst xmlns:a="http://schemas.openxmlformats.org/drawingml/2006/main" xmlns:r="http://schemas.openxmlformats.org/officeDocument/2006/relationships" xmlns:p="http://schemas.openxmlformats.org/presentationml/2006/main">
  <p:tag name="FILENAME" val="C:\Program Files (x86)\Brandic\Libraries\PowerPoint\PictogramGallery\10_Evaluation\\Certificate_black.emf"/>
</p:tagLst>
</file>

<file path=ppt/tags/tag81.xml><?xml version="1.0" encoding="utf-8"?>
<p:tagLst xmlns:a="http://schemas.openxmlformats.org/drawingml/2006/main" xmlns:r="http://schemas.openxmlformats.org/officeDocument/2006/relationships" xmlns:p="http://schemas.openxmlformats.org/presentationml/2006/main">
  <p:tag name="SLIDEID" val="0"/>
</p:tagLst>
</file>

<file path=ppt/tags/tag82.xml><?xml version="1.0" encoding="utf-8"?>
<p:tagLst xmlns:a="http://schemas.openxmlformats.org/drawingml/2006/main" xmlns:r="http://schemas.openxmlformats.org/officeDocument/2006/relationships" xmlns:p="http://schemas.openxmlformats.org/presentationml/2006/main">
  <p:tag name="SLIDEID" val="0"/>
</p:tagLst>
</file>

<file path=ppt/tags/tag83.xml><?xml version="1.0" encoding="utf-8"?>
<p:tagLst xmlns:a="http://schemas.openxmlformats.org/drawingml/2006/main" xmlns:r="http://schemas.openxmlformats.org/officeDocument/2006/relationships" xmlns:p="http://schemas.openxmlformats.org/presentationml/2006/main">
  <p:tag name="SLIDEID" val="0"/>
</p:tagLst>
</file>

<file path=ppt/tags/tag84.xml><?xml version="1.0" encoding="utf-8"?>
<p:tagLst xmlns:a="http://schemas.openxmlformats.org/drawingml/2006/main" xmlns:r="http://schemas.openxmlformats.org/officeDocument/2006/relationships" xmlns:p="http://schemas.openxmlformats.org/presentationml/2006/main">
  <p:tag name="SLIDEID" val="0"/>
</p:tagLst>
</file>

<file path=ppt/tags/tag85.xml><?xml version="1.0" encoding="utf-8"?>
<p:tagLst xmlns:a="http://schemas.openxmlformats.org/drawingml/2006/main" xmlns:r="http://schemas.openxmlformats.org/officeDocument/2006/relationships" xmlns:p="http://schemas.openxmlformats.org/presentationml/2006/main">
  <p:tag name="SLIDEID" val="0"/>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SHAPETYPE" val="ManualFooterHider"/>
</p:tagLst>
</file>

<file path=ppt/tags/tag88.xml><?xml version="1.0" encoding="utf-8"?>
<p:tagLst xmlns:a="http://schemas.openxmlformats.org/drawingml/2006/main" xmlns:r="http://schemas.openxmlformats.org/officeDocument/2006/relationships" xmlns:p="http://schemas.openxmlformats.org/presentationml/2006/main">
  <p:tag name="RELVAL" val="1"/>
</p:tagLst>
</file>

<file path=ppt/tags/tag89.xml><?xml version="1.0" encoding="utf-8"?>
<p:tagLst xmlns:a="http://schemas.openxmlformats.org/drawingml/2006/main" xmlns:r="http://schemas.openxmlformats.org/officeDocument/2006/relationships" xmlns:p="http://schemas.openxmlformats.org/presentationml/2006/main">
  <p:tag name="SHAPETYPE" val="Footnote"/>
</p:tagLst>
</file>

<file path=ppt/tags/tag90.xml><?xml version="1.0" encoding="utf-8"?>
<p:tagLst xmlns:a="http://schemas.openxmlformats.org/drawingml/2006/main" xmlns:r="http://schemas.openxmlformats.org/officeDocument/2006/relationships" xmlns:p="http://schemas.openxmlformats.org/presentationml/2006/main">
  <p:tag name="SHAPETYPE" val="ManualFooterSeparator"/>
</p:tagLst>
</file>

<file path=ppt/tags/tag91.xml><?xml version="1.0" encoding="utf-8"?>
<p:tagLst xmlns:a="http://schemas.openxmlformats.org/drawingml/2006/main" xmlns:r="http://schemas.openxmlformats.org/officeDocument/2006/relationships" xmlns:p="http://schemas.openxmlformats.org/presentationml/2006/main">
  <p:tag name="SHAPETYPE" val="ManualFooterHider"/>
</p:tagLst>
</file>

<file path=ppt/tags/tag92.xml><?xml version="1.0" encoding="utf-8"?>
<p:tagLst xmlns:a="http://schemas.openxmlformats.org/drawingml/2006/main" xmlns:r="http://schemas.openxmlformats.org/officeDocument/2006/relationships" xmlns:p="http://schemas.openxmlformats.org/presentationml/2006/main">
  <p:tag name="SHAPETYPE" val="Footnote"/>
</p:tagLst>
</file>

<file path=ppt/tags/tag93.xml><?xml version="1.0" encoding="utf-8"?>
<p:tagLst xmlns:a="http://schemas.openxmlformats.org/drawingml/2006/main" xmlns:r="http://schemas.openxmlformats.org/officeDocument/2006/relationships" xmlns:p="http://schemas.openxmlformats.org/presentationml/2006/main">
  <p:tag name="SHAPETYPE" val="ManualFooterSeparator"/>
</p:tagLst>
</file>

<file path=ppt/tags/tag94.xml><?xml version="1.0" encoding="utf-8"?>
<p:tagLst xmlns:a="http://schemas.openxmlformats.org/drawingml/2006/main" xmlns:r="http://schemas.openxmlformats.org/officeDocument/2006/relationships" xmlns:p="http://schemas.openxmlformats.org/presentationml/2006/main">
  <p:tag name="SHAPETYPE" val="ManualFooterHider"/>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SHAPETYPE" val="Footnote"/>
</p:tagLst>
</file>

<file path=ppt/tags/tag97.xml><?xml version="1.0" encoding="utf-8"?>
<p:tagLst xmlns:a="http://schemas.openxmlformats.org/drawingml/2006/main" xmlns:r="http://schemas.openxmlformats.org/officeDocument/2006/relationships" xmlns:p="http://schemas.openxmlformats.org/presentationml/2006/main">
  <p:tag name="SHAPETYPE" val="ManualFooterSeparator"/>
</p:tagLst>
</file>

<file path=ppt/tags/tag98.xml><?xml version="1.0" encoding="utf-8"?>
<p:tagLst xmlns:a="http://schemas.openxmlformats.org/drawingml/2006/main" xmlns:r="http://schemas.openxmlformats.org/officeDocument/2006/relationships" xmlns:p="http://schemas.openxmlformats.org/presentationml/2006/main">
  <p:tag name="SHAPETYPE" val="Footnote"/>
</p:tagLst>
</file>

<file path=ppt/tags/tag99.xml><?xml version="1.0" encoding="utf-8"?>
<p:tagLst xmlns:a="http://schemas.openxmlformats.org/drawingml/2006/main" xmlns:r="http://schemas.openxmlformats.org/officeDocument/2006/relationships" xmlns:p="http://schemas.openxmlformats.org/presentationml/2006/main">
  <p:tag name="SHAPETYPE" val="Footnote"/>
</p:tagLst>
</file>

<file path=ppt/tags/tag100.xml><?xml version="1.0" encoding="utf-8"?>
<p:tagLst xmlns:a="http://schemas.openxmlformats.org/drawingml/2006/main" xmlns:r="http://schemas.openxmlformats.org/officeDocument/2006/relationships" xmlns:p="http://schemas.openxmlformats.org/presentationml/2006/main">
  <p:tag name="SHAPETYPE" val="Footnote"/>
</p:tagLst>
</file>

<file path=ppt/tags/tag101.xml><?xml version="1.0" encoding="utf-8"?>
<p:tagLst xmlns:a="http://schemas.openxmlformats.org/drawingml/2006/main" xmlns:r="http://schemas.openxmlformats.org/officeDocument/2006/relationships" xmlns:p="http://schemas.openxmlformats.org/presentationml/2006/main">
  <p:tag name="SHAPETYPE" val="Footnote"/>
</p:tagLst>
</file>

<file path=ppt/tags/tag102.xml><?xml version="1.0" encoding="utf-8"?>
<p:tagLst xmlns:a="http://schemas.openxmlformats.org/drawingml/2006/main" xmlns:r="http://schemas.openxmlformats.org/officeDocument/2006/relationships" xmlns:p="http://schemas.openxmlformats.org/presentationml/2006/main">
  <p:tag name="SLIDEID" val="0"/>
</p:tagLst>
</file>

<file path=ppt/tags/tag103.xml><?xml version="1.0" encoding="utf-8"?>
<p:tagLst xmlns:a="http://schemas.openxmlformats.org/drawingml/2006/main" xmlns:r="http://schemas.openxmlformats.org/officeDocument/2006/relationships" xmlns:p="http://schemas.openxmlformats.org/presentationml/2006/main">
  <p:tag name="SLIDEID" val="0"/>
</p:tagLst>
</file>

<file path=ppt/tags/tag104.xml><?xml version="1.0" encoding="utf-8"?>
<p:tagLst xmlns:a="http://schemas.openxmlformats.org/drawingml/2006/main" xmlns:r="http://schemas.openxmlformats.org/officeDocument/2006/relationships" xmlns:p="http://schemas.openxmlformats.org/presentationml/2006/main">
  <p:tag name="SLIDEID" val="0"/>
</p:tagLst>
</file>

<file path=ppt/tags/tag105.xml><?xml version="1.0" encoding="utf-8"?>
<p:tagLst xmlns:a="http://schemas.openxmlformats.org/drawingml/2006/main" xmlns:r="http://schemas.openxmlformats.org/officeDocument/2006/relationships" xmlns:p="http://schemas.openxmlformats.org/presentationml/2006/main">
  <p:tag name="SLIDEID" val="0"/>
</p:tagLst>
</file>

<file path=ppt/tags/tag106.xml><?xml version="1.0" encoding="utf-8"?>
<p:tagLst xmlns:a="http://schemas.openxmlformats.org/drawingml/2006/main" xmlns:r="http://schemas.openxmlformats.org/officeDocument/2006/relationships" xmlns:p="http://schemas.openxmlformats.org/presentationml/2006/main">
  <p:tag name="SLIDEID" val="0"/>
</p:tagLst>
</file>

<file path=ppt/tags/tag107.xml><?xml version="1.0" encoding="utf-8"?>
<p:tagLst xmlns:a="http://schemas.openxmlformats.org/drawingml/2006/main" xmlns:r="http://schemas.openxmlformats.org/officeDocument/2006/relationships" xmlns:p="http://schemas.openxmlformats.org/presentationml/2006/main">
  <p:tag name="RELVAL" val="1"/>
</p:tagLst>
</file>

<file path=ppt/tags/tag108.xml><?xml version="1.0" encoding="utf-8"?>
<p:tagLst xmlns:a="http://schemas.openxmlformats.org/drawingml/2006/main" xmlns:r="http://schemas.openxmlformats.org/officeDocument/2006/relationships" xmlns:p="http://schemas.openxmlformats.org/presentationml/2006/main">
  <p:tag name="SHAPETYPE" val="Footnote"/>
</p:tagLst>
</file>

<file path=ppt/theme/theme1.xml><?xml version="1.0" encoding="utf-8"?>
<a:theme xmlns:a="http://schemas.openxmlformats.org/drawingml/2006/main" name="VT_Template_20150616(1)">
  <a:themeElements>
    <a:clrScheme name="Vontobel">
      <a:dk1>
        <a:srgbClr val="000000"/>
      </a:dk1>
      <a:lt1>
        <a:srgbClr val="FFFFFF"/>
      </a:lt1>
      <a:dk2>
        <a:srgbClr val="D0D1D1"/>
      </a:dk2>
      <a:lt2>
        <a:srgbClr val="E1DCCA"/>
      </a:lt2>
      <a:accent1>
        <a:srgbClr val="373A36"/>
      </a:accent1>
      <a:accent2>
        <a:srgbClr val="77C5D5"/>
      </a:accent2>
      <a:accent3>
        <a:srgbClr val="FFD400"/>
      </a:accent3>
      <a:accent4>
        <a:srgbClr val="F1567B"/>
      </a:accent4>
      <a:accent5>
        <a:srgbClr val="00A499"/>
      </a:accent5>
      <a:accent6>
        <a:srgbClr val="702082"/>
      </a:accent6>
      <a:hlink>
        <a:srgbClr val="006298"/>
      </a:hlink>
      <a:folHlink>
        <a:srgbClr val="A93C56"/>
      </a:folHlink>
    </a:clrScheme>
    <a:fontScheme name="Vontobe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E0DBC9"/>
        </a:solidFill>
        <a:ln w="3175" algn="ctr">
          <a:noFill/>
          <a:miter lim="800000"/>
          <a:headEnd type="none" w="sm" len="sm"/>
          <a:tailEnd type="none" w="sm" len="sm"/>
        </a:ln>
        <a:effectLst/>
        <a:extLst/>
      </a:spPr>
      <a:bodyPr wrap="square" lIns="36000" tIns="36000" rIns="36000" bIns="36000" rtlCol="0" anchor="t" anchorCtr="0"/>
      <a:lstStyle>
        <a:defPPr eaLnBrk="1" fontAlgn="auto" hangingPunct="1">
          <a:spcBef>
            <a:spcPts val="0"/>
          </a:spcBef>
          <a:spcAft>
            <a:spcPts val="0"/>
          </a:spcAft>
          <a:buClr>
            <a:srgbClr val="2D4B84"/>
          </a:buClr>
          <a:defRPr sz="1400" dirty="0" err="1" smtClean="0">
            <a:solidFill>
              <a:srgbClr val="000000"/>
            </a:solidFill>
            <a:latin typeface="Arial"/>
          </a:defRPr>
        </a:defPPr>
      </a:lstStyle>
    </a:spDef>
    <a:lnDef>
      <a:spPr>
        <a:ln w="6350">
          <a:solidFill>
            <a:srgbClr val="000000"/>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400" dirty="0">
            <a:latin typeface="Arial" panose="020B0506040000020003" pitchFamily="34" charset="0"/>
          </a:defRPr>
        </a:defPPr>
      </a:lstStyle>
    </a:txDef>
  </a:objectDefaults>
  <a:extraClrSchemeLst/>
  <a:extLst>
    <a:ext uri="{05A4C25C-085E-4340-85A3-A5531E510DB2}">
      <thm15:themeFamily xmlns:thm15="http://schemas.microsoft.com/office/thememl/2012/main" name="Vontobel_A4_20170629(1).potx" id="{9E0E4735-C120-47E4-9A66-31018ABC0B74}" vid="{379769F5-D03C-493A-AC08-7F831E4523A8}"/>
    </a:ext>
  </a:extLst>
</a:theme>
</file>

<file path=ppt/theme/theme2.xml><?xml version="1.0" encoding="utf-8"?>
<a:theme xmlns:a="http://schemas.openxmlformats.org/drawingml/2006/main" name="Office Theme">
  <a:themeElements>
    <a:clrScheme name="Vontobel">
      <a:dk1>
        <a:srgbClr val="000000"/>
      </a:dk1>
      <a:lt1>
        <a:srgbClr val="FFFFFF"/>
      </a:lt1>
      <a:dk2>
        <a:srgbClr val="D0D1D1"/>
      </a:dk2>
      <a:lt2>
        <a:srgbClr val="E1DCCA"/>
      </a:lt2>
      <a:accent1>
        <a:srgbClr val="373A36"/>
      </a:accent1>
      <a:accent2>
        <a:srgbClr val="77C5D5"/>
      </a:accent2>
      <a:accent3>
        <a:srgbClr val="FFD400"/>
      </a:accent3>
      <a:accent4>
        <a:srgbClr val="F1567B"/>
      </a:accent4>
      <a:accent5>
        <a:srgbClr val="00A499"/>
      </a:accent5>
      <a:accent6>
        <a:srgbClr val="702082"/>
      </a:accent6>
      <a:hlink>
        <a:srgbClr val="006298"/>
      </a:hlink>
      <a:folHlink>
        <a:srgbClr val="A93C56"/>
      </a:folHlink>
    </a:clrScheme>
    <a:fontScheme name="Vontobe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ontobel">
      <a:dk1>
        <a:srgbClr val="000000"/>
      </a:dk1>
      <a:lt1>
        <a:srgbClr val="FFFFFF"/>
      </a:lt1>
      <a:dk2>
        <a:srgbClr val="D0D1D1"/>
      </a:dk2>
      <a:lt2>
        <a:srgbClr val="E1DCCA"/>
      </a:lt2>
      <a:accent1>
        <a:srgbClr val="373A36"/>
      </a:accent1>
      <a:accent2>
        <a:srgbClr val="77C5D5"/>
      </a:accent2>
      <a:accent3>
        <a:srgbClr val="FFD400"/>
      </a:accent3>
      <a:accent4>
        <a:srgbClr val="F1567B"/>
      </a:accent4>
      <a:accent5>
        <a:srgbClr val="00A499"/>
      </a:accent5>
      <a:accent6>
        <a:srgbClr val="702082"/>
      </a:accent6>
      <a:hlink>
        <a:srgbClr val="006298"/>
      </a:hlink>
      <a:folHlink>
        <a:srgbClr val="A93C56"/>
      </a:folHlink>
    </a:clrScheme>
    <a:fontScheme name="Vontobe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Vontobel">
    <a:dk1>
      <a:srgbClr val="000000"/>
    </a:dk1>
    <a:lt1>
      <a:srgbClr val="FFFFFF"/>
    </a:lt1>
    <a:dk2>
      <a:srgbClr val="D0D1D1"/>
    </a:dk2>
    <a:lt2>
      <a:srgbClr val="E1DCCA"/>
    </a:lt2>
    <a:accent1>
      <a:srgbClr val="373A36"/>
    </a:accent1>
    <a:accent2>
      <a:srgbClr val="F1567B"/>
    </a:accent2>
    <a:accent3>
      <a:srgbClr val="77C5D5"/>
    </a:accent3>
    <a:accent4>
      <a:srgbClr val="F1567B"/>
    </a:accent4>
    <a:accent5>
      <a:srgbClr val="00A499"/>
    </a:accent5>
    <a:accent6>
      <a:srgbClr val="702082"/>
    </a:accent6>
    <a:hlink>
      <a:srgbClr val="006298"/>
    </a:hlink>
    <a:folHlink>
      <a:srgbClr val="A93C56"/>
    </a:folHlink>
  </a:clrScheme>
</a:themeOverride>
</file>

<file path=ppt/theme/themeOverride2.xml><?xml version="1.0" encoding="utf-8"?>
<a:themeOverride xmlns:a="http://schemas.openxmlformats.org/drawingml/2006/main">
  <a:clrScheme name="VT">
    <a:dk1>
      <a:srgbClr val="000000"/>
    </a:dk1>
    <a:lt1>
      <a:srgbClr val="FFFFFF"/>
    </a:lt1>
    <a:dk2>
      <a:srgbClr val="843835"/>
    </a:dk2>
    <a:lt2>
      <a:srgbClr val="9B8D6F"/>
    </a:lt2>
    <a:accent1>
      <a:srgbClr val="445E96"/>
    </a:accent1>
    <a:accent2>
      <a:srgbClr val="FFAA00"/>
    </a:accent2>
    <a:accent3>
      <a:srgbClr val="FF0000"/>
    </a:accent3>
    <a:accent4>
      <a:srgbClr val="969696"/>
    </a:accent4>
    <a:accent5>
      <a:srgbClr val="AA5000"/>
    </a:accent5>
    <a:accent6>
      <a:srgbClr val="00B400"/>
    </a:accent6>
    <a:hlink>
      <a:srgbClr val="0000FF"/>
    </a:hlink>
    <a:folHlink>
      <a:srgbClr val="800080"/>
    </a:folHlink>
  </a:clrScheme>
  <a:fontScheme name="VT">
    <a:majorFont>
      <a:latin typeface="ITC Officina Sans Book"/>
      <a:ea typeface=""/>
      <a:cs typeface=""/>
    </a:majorFont>
    <a:minorFont>
      <a:latin typeface="ITC Officina Sans Boo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0</TotalTime>
  <Words>3157</Words>
  <Application>Microsoft Office PowerPoint</Application>
  <PresentationFormat>Custom</PresentationFormat>
  <Paragraphs>576</Paragraphs>
  <Slides>36</Slides>
  <Notes>0</Notes>
  <HiddenSlides>0</HiddenSlides>
  <MMClips>0</MMClips>
  <ScaleCrop>false</ScaleCrop>
  <HeadingPairs>
    <vt:vector size="10" baseType="variant">
      <vt:variant>
        <vt:lpstr>Fonts Used</vt:lpstr>
      </vt:variant>
      <vt:variant>
        <vt:i4>9</vt:i4>
      </vt:variant>
      <vt:variant>
        <vt:lpstr>Theme</vt:lpstr>
      </vt:variant>
      <vt:variant>
        <vt:i4>1</vt:i4>
      </vt:variant>
      <vt:variant>
        <vt:lpstr>Links</vt:lpstr>
      </vt:variant>
      <vt:variant>
        <vt:i4>17</vt:i4>
      </vt:variant>
      <vt:variant>
        <vt:lpstr>Embedded OLE Servers</vt:lpstr>
      </vt:variant>
      <vt:variant>
        <vt:i4>1</vt:i4>
      </vt:variant>
      <vt:variant>
        <vt:lpstr>Slide Titles</vt:lpstr>
      </vt:variant>
      <vt:variant>
        <vt:i4>36</vt:i4>
      </vt:variant>
    </vt:vector>
  </HeadingPairs>
  <TitlesOfParts>
    <vt:vector size="64" baseType="lpstr">
      <vt:lpstr>ＭＳ Ｐゴシック</vt:lpstr>
      <vt:lpstr>Arial</vt:lpstr>
      <vt:lpstr>Arial (body)</vt:lpstr>
      <vt:lpstr>Arial (body)</vt:lpstr>
      <vt:lpstr>Arial Unicode MS</vt:lpstr>
      <vt:lpstr>Georgia</vt:lpstr>
      <vt:lpstr>ITC Officina Sans Book</vt:lpstr>
      <vt:lpstr>Symbol</vt:lpstr>
      <vt:lpstr>Wingdings</vt:lpstr>
      <vt:lpstr>VT_Template_20150616(1)</vt:lpstr>
      <vt:lpstr>file:///\\zrh-s103a\groupsb3\80_PB_SI\10_PBSI_1\10_PBSI_11\01_Team\03%20Marketing%20&amp;%20Presentations\02%20PB\Aktien%20Schweiz\Präsentationen\Masterfolien%20Neu\Grafiken%20Vontobel%20Fokus%20Mandat%20Aktien%20Schweiz.xlsx!Track%20Record!%5bGrafiken%20Vontobel%20Fokus%20Mandat%20Aktien%20Schweiz.xlsx%5dTrack%20Record%20Chart%201</vt:lpstr>
      <vt:lpstr>file:///\\zrh-s103a\groupsb3\80_PB_SI\10_PBSI_1\10_PBSI_11\01_Team\03%20Marketing%20&amp;%20Presentations\02%20PB\Aktien%20Schweiz\Präsentationen\Masterfolien%20Neu\Grafiken%20Vontobel%20Fokus%20Mandat%20Aktien%20Schweiz.xlsx!Intelligence!%5bGrafiken%20Vontobel%20Fokus%20Mandat%20Aktien%20Schweiz.xlsx%5dIntelligence%20Chart%202</vt:lpstr>
      <vt:lpstr>file:///\\zrh-s103a\groupsb3\80_PB_SI\10_PBSI_1\10_PBSI_11\01_Team\03%20Marketing%20&amp;%20Presentations\02%20PB\Aktien%20Schweiz\Präsentationen\Masterfolien%20Neu\Grafiken%20Vontobel%20Fokus%20Mandat%20Aktien%20Schweiz.xlsx!Quality!%5bGrafiken%20Vontobel%20Fokus%20Mandat%20Aktien%20Schweiz.xlsx%5dQuality%20Diagramm%204</vt:lpstr>
      <vt:lpstr>file:///\\zrh-s103a\groupsb3\80_PB_SI\10_PBSI_1\10_PBSI_11\01_Team\03%20Marketing%20&amp;%20Presentations\02%20PB\Aktien%20Schweiz\Präsentationen\Masterfolien%20Neu\Grafiken%20Vontobel%20Fokus%20Mandat%20Aktien%20Schweiz.xlsx!Quality!%5bGrafiken%20Vontobel%20Fokus%20Mandat%20Aktien%20Schweiz.xlsx%5dQuality%20Diagramm%202</vt:lpstr>
      <vt:lpstr>file:///\\zrh-s103a\groupsb3\0110_WM_ID\00_Public\PUBLIC%20Distribution%20&amp;%20Business%20Mgmt\Performance%20Track%20Records\06_Special%20Aktien%20Schweiz\Grafiken%20Vontobel%20Fokus%20Mandat%20Aktien%20Schweiz.xlsx!Quality!%5bGrafiken%20Vontobel%20Fokus%20Mandat%20Aktien%20Schweiz.xlsx%5dQuality%20Diagramm%202-1</vt:lpstr>
      <vt:lpstr>file:///\\zrh-s103a\groupsb3\80_PB_SI\10_PBSI_1\10_PBSI_11\01_Team\03%20Marketing%20&amp;%20Presentations\02%20PB\Aktien%20Schweiz\Präsentationen\Masterfolien%20Neu\Grafiken%20Vontobel%20Fokus%20Mandat%20Aktien%20Schweiz.xlsx!Reliability%20CHF%20(Values)!%5bGrafiken%20Vontobel%20Fokus%20Mandat%20Aktien%20Schweiz.xlsx%5dReliability%20CHF%20(Values)%20Chart%201</vt:lpstr>
      <vt:lpstr>file:///\\zrh-s103a\groupsb3\80_PB_SI\10_PBSI_1\10_PBSI_11\01_Team\03%20Marketing%20&amp;%20Presentations\02%20PB\Aktien%20Schweiz\Präsentationen\Masterfolien%20Neu\Grafiken%20Vontobel%20Fokus%20Mandat%20Aktien%20Schweiz.xlsx!Ex.%20Geberit!%5bGrafiken%20Vontobel%20Fokus%20Mandat%20Aktien%20Schweiz.xlsx%5dEx.%20Geberit%20Diagramm%203</vt:lpstr>
      <vt:lpstr>file:///\\zrh-s103a\groupsb3\80_PB_SI\10_PBSI_1\10_PBSI_11\01_Team\03%20Marketing%20&amp;%20Presentations\02%20PB\Aktien%20Schweiz\Präsentationen\Masterfolien%20Neu\Grafiken%20Vontobel%20Fokus%20Mandat%20Aktien%20Schweiz.xlsx!Ex.%20Geberit!%5bGrafiken%20Vontobel%20Fokus%20Mandat%20Aktien%20Schweiz.xlsx%5dEx.%20Geberit%20Diagramm%201</vt:lpstr>
      <vt:lpstr>file:///\\zrh-s103a\groupsb3\80_PB_SI\20_PBSI_2\10_PBSI_21\01_Team\09_Performance\Monthly_Performance_Review\Performance%20Track%20Record_Special_Equities\Neue%20Version%20verlinkt\Performance%20Track%20Record_Fokus%20Mandat%20Schweiz_de_en.xlsx!Aktien%20Schweiz%20!%5bPerformance%20Track%20Record_Fokus%20Mandat%20Schweiz_de_en.xlsx%5dAktien%20Schweiz%20%20Chart%203</vt:lpstr>
      <vt:lpstr>file:///\\zrh-s103a\groupsb3\80_PB_SI\20_PBSI_2\10_PBSI_21\01_Team\09_Performance\Monthly_Performance_Review\Performance%20Track%20Record_Special_Equities\Neue%20Version%20Specials%20verlinkt\Performance%20Track%20Record_Fokus%20Mandat%20Schweiz_de_en.xlsx!Aktien%20Schweiz%20!R60C17:R67C17</vt:lpstr>
      <vt:lpstr>file:///\\zrh-s103a\groupsb3\80_PB_SI\20_PBSI_2\10_PBSI_21\01_Team\09_Performance\Monthly_Performance_Review\Performance%20Track%20Record_Special_Equities\Neue%20Version%20Specials%20verlinkt\Performance%20Track%20Record_Fokus%20Mandat%20Schweiz_de_en.xlsx!Aktien%20Schweiz%20!R59C11:R73C14</vt:lpstr>
      <vt:lpstr>file:///\\zrh-s103a\groupsb3\80_PB_SI\10_PBSI_1\10_PBSI_11\01_Team\03%20Marketing%20&amp;%20Presentations\02%20PB\Aktien%20Schweiz\Präsentationen\Masterfolien%20Neu\Grafiken%20Vontobel%20Fokus%20Mandat%20Aktien%20Schweiz.xlsx!Sector%20Weightings!%5bGrafiken%20Vontobel%20Fokus%20Mandat%20Aktien%20Schweiz.xlsx%5dSector%20Weightings%20Diagramm%201</vt:lpstr>
      <vt:lpstr>file:///\\zrh-s103a\groupsb3\80_PB_SI\10_PBSI_1\10_PBSI_11\01_Team\03%20Marketing%20&amp;%20Presentations\02%20PB\Aktien%20Schweiz\Präsentationen\Masterfolien%20Neu\Grafiken%20Vontobel%20Fokus%20Mandat%20Aktien%20Schweiz.xlsx!Stock%20Weightings!R30C2:R52C5</vt:lpstr>
      <vt:lpstr>file:///\\zrh-s103a\groupsb3\0110_WM_ID\00_Public\PUBLIC%20Distribution%20&amp;%20Business%20Mgmt\Performance%20Track%20Records\06_Special%20Aktien%20Schweiz\Grafiken%20Vontobel%20Fokus%20Mandat%20Aktien%20Schweiz.xlsx!Dividend%20Yield!R25C9:R42C15</vt:lpstr>
      <vt:lpstr>file:///\\zrh-s103a\groupsb3\80_PB_SI\10_PBSI_1\10_PBSI_11\01_Team\03%20Marketing%20&amp;%20Presentations\02%20PB\Aktien%20Schweiz\Präsentationen\Masterfolien%20Neu\Grafiken%20Vontobel%20Fokus%20Mandat%20Aktien%20Schweiz.xlsx!Model%20Portfolio!%5bGrafiken%20Vontobel%20Fokus%20Mandat%20Aktien%20Schweiz.xlsx%5dModel%20Portfolio%20Diagramm%202</vt:lpstr>
      <vt:lpstr>file:///\\zrh-s103a\groupsb3\0110_WM_ID\00_Public\PUBLIC%20Distribution%20&amp;%20Business%20Mgmt\Performance%20Track%20Records\06_Special%20Aktien%20Schweiz\Grafiken%20Vontobel%20Fokus%20Mandat%20Aktien%20Schweiz.xlsx!Model%20Portfolio!R4C21:R21C25</vt:lpstr>
      <vt:lpstr>file:///\\zrh-s103a\groupsb3\0110_WM_ID\00_Public\PUBLIC%20Distribution%20&amp;%20Business%20Mgmt\Performance%20Track%20Records\06_Special%20Aktien%20Schweiz\Grafiken%20Vontobel%20Fokus%20Mandat%20Aktien%20Schweiz.xlsx!Reliability%20LOC%20(2)!%5bGrafiken%20Vontobel%20Fokus%20Mandat%20Aktien%20Schweiz.xlsx%5dReliability%20LOC%20(2)%20Chart%201</vt:lpstr>
      <vt:lpstr>think-cell Slide</vt:lpstr>
      <vt:lpstr>Vontobel Specials Swiss Equities</vt:lpstr>
      <vt:lpstr>Table of contents</vt:lpstr>
      <vt:lpstr>Our mode of operation – your benefits</vt:lpstr>
      <vt:lpstr>Swiss equities are attractive – Vontobel offers you the needed competence</vt:lpstr>
      <vt:lpstr>Table of contents</vt:lpstr>
      <vt:lpstr>Swiss equities: Identification with Switzerland and its values</vt:lpstr>
      <vt:lpstr>Swiss equities: The way to success with Swiss values</vt:lpstr>
      <vt:lpstr>Corporate Governance: Swiss companies have a strong corporate governance</vt:lpstr>
      <vt:lpstr>Diversity: Swiss companies are globally diversified</vt:lpstr>
      <vt:lpstr>Intelligence: The strong franc forces companies to be innovative</vt:lpstr>
      <vt:lpstr>Quality: High-quality industries, premium names</vt:lpstr>
      <vt:lpstr>Reliability: Compelling long-term performance over 30 years</vt:lpstr>
      <vt:lpstr>Table of contents</vt:lpstr>
      <vt:lpstr>Nervous capital markets vs stable real economy offers opportunities</vt:lpstr>
      <vt:lpstr>Commercial risk view, not mere financial theory</vt:lpstr>
      <vt:lpstr> Which companies do we want regarding business model?</vt:lpstr>
      <vt:lpstr>Which companies do we want regarding management?</vt:lpstr>
      <vt:lpstr>Vontobel Specials Swiss Equities Structured three-stage investment process</vt:lpstr>
      <vt:lpstr>Vontobel Specials Swiss Equities Structured three-stage investment process</vt:lpstr>
      <vt:lpstr>Vontobel Specials Swiss Equities Structured three-stage investment process</vt:lpstr>
      <vt:lpstr> Our experienced team: Comprehensive competences and broad experience</vt:lpstr>
      <vt:lpstr>Vontobel Equity Brokerage Leading Broker for Swiss equities for over 10 years </vt:lpstr>
      <vt:lpstr>Table of contents</vt:lpstr>
      <vt:lpstr> Product information </vt:lpstr>
      <vt:lpstr>Achieved added value</vt:lpstr>
      <vt:lpstr>Performance and risk measures</vt:lpstr>
      <vt:lpstr>Vontobel Specials Swiss Equities Comparison of sector weightings</vt:lpstr>
      <vt:lpstr>Comparison of title weightings </vt:lpstr>
      <vt:lpstr> Dividend yield</vt:lpstr>
      <vt:lpstr>Model portfolio “Large”</vt:lpstr>
      <vt:lpstr>Transactions 2018</vt:lpstr>
      <vt:lpstr>Transactions 2019</vt:lpstr>
      <vt:lpstr>Table of contents</vt:lpstr>
      <vt:lpstr>Portfolio manager responsible for performance</vt:lpstr>
      <vt:lpstr>Reliability: Compelling long-term performance over 30 years</vt:lpstr>
      <vt:lpstr>Legal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user019</dc:creator>
  <cp:lastModifiedBy>Mettler Manuela</cp:lastModifiedBy>
  <cp:revision>563</cp:revision>
  <cp:lastPrinted>2018-08-08T09:37:13Z</cp:lastPrinted>
  <dcterms:created xsi:type="dcterms:W3CDTF">2017-05-01T10:02:13Z</dcterms:created>
  <dcterms:modified xsi:type="dcterms:W3CDTF">2019-04-08T11:11:00Z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PageLayout">
    <vt:lpwstr>Message</vt:lpwstr>
  </property>
  <property fmtid="{D5CDD505-2E9C-101B-9397-08002B2CF9AE}" pid="3" name="Title">
    <vt:lpwstr>PowerPoint Presentation</vt:lpwstr>
  </property>
  <property fmtid="{D5CDD505-2E9C-101B-9397-08002B2CF9AE}" pid="4" name="Final">
    <vt:bool>true</vt:bool>
  </property>
  <property fmtid="{D5CDD505-2E9C-101B-9397-08002B2CF9AE}" pid="5" name="Event">
    <vt:lpwstr/>
  </property>
  <property fmtid="{D5CDD505-2E9C-101B-9397-08002B2CF9AE}" pid="6" name="Delivery Date">
    <vt:lpwstr/>
  </property>
  <property fmtid="{D5CDD505-2E9C-101B-9397-08002B2CF9AE}" pid="7" name="docid">
    <vt:lpwstr/>
  </property>
  <property fmtid="{D5CDD505-2E9C-101B-9397-08002B2CF9AE}" pid="8" name="MSIP_Label_af1e82fb-f254-47ad-9a22-3c4ee129732b_Enabled">
    <vt:lpwstr>False</vt:lpwstr>
  </property>
  <property fmtid="{D5CDD505-2E9C-101B-9397-08002B2CF9AE}" pid="9" name="MSIP_Label_af1e82fb-f254-47ad-9a22-3c4ee129732b_SiteId">
    <vt:lpwstr>5d5267ef-dbc2-41a4-bad0-d89d3cfafb28</vt:lpwstr>
  </property>
  <property fmtid="{D5CDD505-2E9C-101B-9397-08002B2CF9AE}" pid="10" name="MSIP_Label_af1e82fb-f254-47ad-9a22-3c4ee129732b_SetBy">
    <vt:lpwstr>VBBBT@vontobel.com</vt:lpwstr>
  </property>
  <property fmtid="{D5CDD505-2E9C-101B-9397-08002B2CF9AE}" pid="11" name="MSIP_Label_af1e82fb-f254-47ad-9a22-3c4ee129732b_SetDate">
    <vt:lpwstr>2017-09-11T16:17:47.3324308+02:00</vt:lpwstr>
  </property>
  <property fmtid="{D5CDD505-2E9C-101B-9397-08002B2CF9AE}" pid="12" name="MSIP_Label_af1e82fb-f254-47ad-9a22-3c4ee129732b_Name">
    <vt:lpwstr>Internal</vt:lpwstr>
  </property>
  <property fmtid="{D5CDD505-2E9C-101B-9397-08002B2CF9AE}" pid="13" name="MSIP_Label_af1e82fb-f254-47ad-9a22-3c4ee129732b_Application">
    <vt:lpwstr>Microsoft Azure Information Protection</vt:lpwstr>
  </property>
  <property fmtid="{D5CDD505-2E9C-101B-9397-08002B2CF9AE}" pid="14" name="MSIP_Label_af1e82fb-f254-47ad-9a22-3c4ee129732b_Extended_MSFT_Method">
    <vt:lpwstr>Automatic</vt:lpwstr>
  </property>
  <property fmtid="{D5CDD505-2E9C-101B-9397-08002B2CF9AE}" pid="15" name="Sensitivity">
    <vt:lpwstr/>
  </property>
</Properties>
</file>