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7" r:id="rId3"/>
    <p:sldId id="258" r:id="rId4"/>
    <p:sldId id="264" r:id="rId5"/>
    <p:sldId id="268" r:id="rId6"/>
    <p:sldId id="269" r:id="rId7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waxman@THESERVICE.local" initials="s" lastIdx="0" clrIdx="0">
    <p:extLst>
      <p:ext uri="{19B8F6BF-5375-455C-9EA6-DF929625EA0E}">
        <p15:presenceInfo xmlns:p15="http://schemas.microsoft.com/office/powerpoint/2012/main" userId="S-1-5-21-3915913713-4016366997-3603384427-1280" providerId="AD"/>
      </p:ext>
    </p:extLst>
  </p:cmAuthor>
  <p:cmAuthor id="2" name="ella hai" initials="eh" lastIdx="1" clrIdx="1">
    <p:extLst>
      <p:ext uri="{19B8F6BF-5375-455C-9EA6-DF929625EA0E}">
        <p15:presenceInfo xmlns:p15="http://schemas.microsoft.com/office/powerpoint/2012/main" userId="S-1-5-21-3915913713-4016366997-3603384427-138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B780"/>
    <a:srgbClr val="090C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372"/>
    <p:restoredTop sz="94652"/>
  </p:normalViewPr>
  <p:slideViewPr>
    <p:cSldViewPr snapToGrid="0" snapToObjects="1">
      <p:cViewPr varScale="1">
        <p:scale>
          <a:sx n="81" d="100"/>
          <a:sy n="8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e-IL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גיליון1!$B$1</c:f>
              <c:strCache>
                <c:ptCount val="1"/>
                <c:pt idx="0">
                  <c:v>   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C8F2-4420-A6C7-4CE949F3D1A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C8F2-4420-A6C7-4CE949F3D1A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C8F2-4420-A6C7-4CE949F3D1A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C8F2-4420-A6C7-4CE949F3D1A0}"/>
              </c:ext>
            </c:extLst>
          </c:dPt>
          <c:dLbls>
            <c:dLbl>
              <c:idx val="0"/>
              <c:layout>
                <c:manualLayout>
                  <c:x val="3.0462800234329231E-2"/>
                  <c:y val="-4.9014889265852762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8F2-4420-A6C7-4CE949F3D1A0}"/>
                </c:ext>
              </c:extLst>
            </c:dLbl>
            <c:dLbl>
              <c:idx val="1"/>
              <c:layout>
                <c:manualLayout>
                  <c:x val="2.343292325717642E-2"/>
                  <c:y val="-3.4598745364131364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8F2-4420-A6C7-4CE949F3D1A0}"/>
                </c:ext>
              </c:extLst>
            </c:dLbl>
            <c:dLbl>
              <c:idx val="2"/>
              <c:layout>
                <c:manualLayout>
                  <c:x val="-8.3519735779951934E-2"/>
                  <c:y val="-4.1452656929375074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3864411939720189"/>
                      <c:h val="0.1292206382878252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C8F2-4420-A6C7-4CE949F3D1A0}"/>
                </c:ext>
              </c:extLst>
            </c:dLbl>
            <c:dLbl>
              <c:idx val="3"/>
              <c:layout>
                <c:manualLayout>
                  <c:x val="-2.8119507908611684E-2"/>
                  <c:y val="-3.4598745364131364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8F2-4420-A6C7-4CE949F3D1A0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גיליון1!$A$2:$A$5</c:f>
              <c:strCache>
                <c:ptCount val="4"/>
                <c:pt idx="0">
                  <c:v>שוק ההון</c:v>
                </c:pt>
                <c:pt idx="1">
                  <c:v>נדל"ן ללא מגורים</c:v>
                </c:pt>
                <c:pt idx="2">
                  <c:v>מזומן</c:v>
                </c:pt>
                <c:pt idx="3">
                  <c:v>עסקאות משלימות</c:v>
                </c:pt>
              </c:strCache>
            </c:strRef>
          </c:cat>
          <c:val>
            <c:numRef>
              <c:f>גיליון1!$B$2:$B$5</c:f>
              <c:numCache>
                <c:formatCode>0%</c:formatCode>
                <c:ptCount val="4"/>
                <c:pt idx="0">
                  <c:v>0.05</c:v>
                </c:pt>
                <c:pt idx="1">
                  <c:v>0.11</c:v>
                </c:pt>
                <c:pt idx="2">
                  <c:v>0.84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8F2-4420-A6C7-4CE949F3D1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e-I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e-IL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גיליון1!$B$1</c:f>
              <c:strCache>
                <c:ptCount val="1"/>
                <c:pt idx="0">
                  <c:v>   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19CA-43F5-A00F-E3149CA1EE9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19CA-43F5-A00F-E3149CA1EE9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19CA-43F5-A00F-E3149CA1EE9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19CA-43F5-A00F-E3149CA1EE9A}"/>
              </c:ext>
            </c:extLst>
          </c:dPt>
          <c:dLbls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גיליון1!$A$2:$A$5</c:f>
              <c:strCache>
                <c:ptCount val="4"/>
                <c:pt idx="0">
                  <c:v>שוק ההון</c:v>
                </c:pt>
                <c:pt idx="1">
                  <c:v>נדל"ן ללא מגורים</c:v>
                </c:pt>
                <c:pt idx="2">
                  <c:v>מזומן</c:v>
                </c:pt>
                <c:pt idx="3">
                  <c:v>עסקאות משלימות</c:v>
                </c:pt>
              </c:strCache>
            </c:strRef>
          </c:cat>
          <c:val>
            <c:numRef>
              <c:f>גיליון1!$B$2:$B$5</c:f>
              <c:numCache>
                <c:formatCode>0%</c:formatCode>
                <c:ptCount val="4"/>
                <c:pt idx="0">
                  <c:v>0.45</c:v>
                </c:pt>
                <c:pt idx="1">
                  <c:v>0.31</c:v>
                </c:pt>
                <c:pt idx="2">
                  <c:v>0.13</c:v>
                </c:pt>
                <c:pt idx="3">
                  <c:v>0.11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5F-4AE7-BDB0-8D31F7A9DE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e-I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e-IL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גיליון1!$B$1</c:f>
              <c:strCache>
                <c:ptCount val="1"/>
                <c:pt idx="0">
                  <c:v>   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108B-429E-AD22-76DDAACC90D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108B-429E-AD22-76DDAACC90D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108B-429E-AD22-76DDAACC90D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108B-429E-AD22-76DDAACC90D7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D39B-4EB7-9866-DA81CCC5A951}"/>
              </c:ext>
            </c:extLst>
          </c:dPt>
          <c:dLbls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גיליון1!$A$2:$A$6</c:f>
              <c:strCache>
                <c:ptCount val="5"/>
                <c:pt idx="0">
                  <c:v>שוק ההון</c:v>
                </c:pt>
                <c:pt idx="1">
                  <c:v>נדל"ן ישיר (ללא מגורים) </c:v>
                </c:pt>
                <c:pt idx="2">
                  <c:v>מזומן</c:v>
                </c:pt>
                <c:pt idx="3">
                  <c:v>עסקאות משלימות</c:v>
                </c:pt>
                <c:pt idx="4">
                  <c:v>עסקאות נדל"ן</c:v>
                </c:pt>
              </c:strCache>
            </c:strRef>
          </c:cat>
          <c:val>
            <c:numRef>
              <c:f>גיליון1!$B$2:$B$6</c:f>
              <c:numCache>
                <c:formatCode>0%</c:formatCode>
                <c:ptCount val="5"/>
                <c:pt idx="0">
                  <c:v>0.34</c:v>
                </c:pt>
                <c:pt idx="1">
                  <c:v>0.12</c:v>
                </c:pt>
                <c:pt idx="2">
                  <c:v>0.15</c:v>
                </c:pt>
                <c:pt idx="3">
                  <c:v>0.17</c:v>
                </c:pt>
                <c:pt idx="4">
                  <c:v>0.22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08B-429E-AD22-76DDAACC90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e-I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גיליון1!$B$1</c:f>
              <c:strCache>
                <c:ptCount val="1"/>
                <c:pt idx="0">
                  <c:v>מכירות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D0D6-4456-8219-3300C20226C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05C1-4588-BF2E-0AE1596116F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D0D6-4456-8219-3300C20226C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D0D6-4456-8219-3300C20226C7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18DD-4551-938A-153D76BE415C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B-18DD-4551-938A-153D76BE415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גיליון1!$A$2:$A$7</c:f>
              <c:strCache>
                <c:ptCount val="6"/>
                <c:pt idx="0">
                  <c:v>שוק ההון</c:v>
                </c:pt>
                <c:pt idx="1">
                  <c:v>נדל"ן (ישיר )ללא מגורים</c:v>
                </c:pt>
                <c:pt idx="2">
                  <c:v>מזומן</c:v>
                </c:pt>
                <c:pt idx="3">
                  <c:v>עסקאות משלימות</c:v>
                </c:pt>
                <c:pt idx="4">
                  <c:v>דירה לרכישה</c:v>
                </c:pt>
                <c:pt idx="5">
                  <c:v>עסקאות נדל"ן</c:v>
                </c:pt>
              </c:strCache>
            </c:strRef>
          </c:cat>
          <c:val>
            <c:numRef>
              <c:f>גיליון1!$B$2:$B$7</c:f>
              <c:numCache>
                <c:formatCode>0%</c:formatCode>
                <c:ptCount val="6"/>
                <c:pt idx="0">
                  <c:v>0.3</c:v>
                </c:pt>
                <c:pt idx="1">
                  <c:v>0.12</c:v>
                </c:pt>
                <c:pt idx="2">
                  <c:v>0.03</c:v>
                </c:pt>
                <c:pt idx="3">
                  <c:v>0.22</c:v>
                </c:pt>
                <c:pt idx="4">
                  <c:v>0.1</c:v>
                </c:pt>
                <c:pt idx="5">
                  <c:v>0.23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C1-4588-BF2E-0AE1596116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0.20311</cdr:x>
      <cdr:y>0.07829</cdr:y>
    </cdr:from>
    <cdr:to>
      <cdr:x>0.44458</cdr:x>
      <cdr:y>0.17475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1582616" y="385366"/>
          <a:ext cx="1881554" cy="47478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1"/>
        <a:lstStyle xmlns:a="http://schemas.openxmlformats.org/drawingml/2006/main"/>
        <a:p xmlns:a="http://schemas.openxmlformats.org/drawingml/2006/main">
          <a:endParaRPr lang="he-IL" sz="1100" dirty="0"/>
        </a:p>
      </cdr:txBody>
    </cdr:sp>
  </cdr:relSizeAnchor>
  <cdr:relSizeAnchor xmlns:cdr="http://schemas.openxmlformats.org/drawingml/2006/chartDrawing">
    <cdr:from>
      <cdr:x>0</cdr:x>
      <cdr:y>0.31944</cdr:y>
    </cdr:from>
    <cdr:to>
      <cdr:x>0.41072</cdr:x>
      <cdr:y>0.35516</cdr:y>
    </cdr:to>
    <cdr:sp macro="" textlink="">
      <cdr:nvSpPr>
        <cdr:cNvPr id="5" name="TextBox 4"/>
        <cdr:cNvSpPr txBox="1"/>
      </cdr:nvSpPr>
      <cdr:spPr>
        <a:xfrm xmlns:a="http://schemas.openxmlformats.org/drawingml/2006/main">
          <a:off x="-1186960" y="1572328"/>
          <a:ext cx="3200400" cy="17584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1"/>
        <a:lstStyle xmlns:a="http://schemas.openxmlformats.org/drawingml/2006/main"/>
        <a:p xmlns:a="http://schemas.openxmlformats.org/drawingml/2006/main">
          <a:endParaRPr lang="he-IL" sz="1100" dirty="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52016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74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D6C72845-873F-4006-A81A-B57443598AFD}" type="datetimeFigureOut">
              <a:rPr lang="he-IL" smtClean="0"/>
              <a:t>י"ג/שבט/תשפ"ד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52016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74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35D10258-B029-4225-8C41-7F909A2D65D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83023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80BF-EC05-B849-A1D1-EEB23EEADFE0}" type="datetimeFigureOut">
              <a:rPr lang="en-US" smtClean="0"/>
              <a:t>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6DC3-C409-DD47-A0DF-22CA7CC28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946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80BF-EC05-B849-A1D1-EEB23EEADFE0}" type="datetimeFigureOut">
              <a:rPr lang="en-US" smtClean="0"/>
              <a:t>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6DC3-C409-DD47-A0DF-22CA7CC28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829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80BF-EC05-B849-A1D1-EEB23EEADFE0}" type="datetimeFigureOut">
              <a:rPr lang="en-US" smtClean="0"/>
              <a:t>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6DC3-C409-DD47-A0DF-22CA7CC28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315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80BF-EC05-B849-A1D1-EEB23EEADFE0}" type="datetimeFigureOut">
              <a:rPr lang="en-US" smtClean="0"/>
              <a:t>1/23/2024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6DC3-C409-DD47-A0DF-22CA7CC28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75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80BF-EC05-B849-A1D1-EEB23EEADFE0}" type="datetimeFigureOut">
              <a:rPr lang="en-US" smtClean="0"/>
              <a:t>1/23/2024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6DC3-C409-DD47-A0DF-22CA7CC28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809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80BF-EC05-B849-A1D1-EEB23EEADFE0}" type="datetimeFigureOut">
              <a:rPr lang="en-US" smtClean="0"/>
              <a:t>1/23/2024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6DC3-C409-DD47-A0DF-22CA7CC28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76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80BF-EC05-B849-A1D1-EEB23EEADFE0}" type="datetimeFigureOut">
              <a:rPr lang="en-US" smtClean="0"/>
              <a:t>1/23/2024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6DC3-C409-DD47-A0DF-22CA7CC28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88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80BF-EC05-B849-A1D1-EEB23EEADFE0}" type="datetimeFigureOut">
              <a:rPr lang="en-US" smtClean="0"/>
              <a:t>1/23/2024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6DC3-C409-DD47-A0DF-22CA7CC28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846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80BF-EC05-B849-A1D1-EEB23EEADFE0}" type="datetimeFigureOut">
              <a:rPr lang="en-US" smtClean="0"/>
              <a:t>1/23/2024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6DC3-C409-DD47-A0DF-22CA7CC28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108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80BF-EC05-B849-A1D1-EEB23EEADFE0}" type="datetimeFigureOut">
              <a:rPr lang="en-US" smtClean="0"/>
              <a:t>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6DC3-C409-DD47-A0DF-22CA7CC28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497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80BF-EC05-B849-A1D1-EEB23EEADFE0}" type="datetimeFigureOut">
              <a:rPr lang="en-US" smtClean="0"/>
              <a:t>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6DC3-C409-DD47-A0DF-22CA7CC28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495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B080BF-EC05-B849-A1D1-EEB23EEADFE0}" type="datetimeFigureOut">
              <a:rPr lang="en-US" smtClean="0"/>
              <a:t>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036DC3-C409-DD47-A0DF-22CA7CC28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846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3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5300" y="1438268"/>
            <a:ext cx="3581400" cy="3581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31222" y="5836226"/>
            <a:ext cx="4929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914400" rtl="1" eaLnBrk="1" latinLnBrk="0" hangingPunct="1"/>
            <a:r>
              <a:rPr lang="he-IL" sz="2400" b="1" dirty="0">
                <a:solidFill>
                  <a:srgbClr val="CFB780"/>
                </a:solidFill>
                <a:latin typeface="OE August Pro" charset="0"/>
                <a:ea typeface="OE August Pro" charset="0"/>
                <a:cs typeface="OE August Pro" charset="0"/>
              </a:rPr>
              <a:t>משפחת מרש </a:t>
            </a:r>
            <a:r>
              <a:rPr lang="he-IL" sz="2400" dirty="0">
                <a:solidFill>
                  <a:srgbClr val="CFB780"/>
                </a:solidFill>
                <a:latin typeface="OE August Pro" charset="0"/>
                <a:ea typeface="OE August Pro" charset="0"/>
                <a:cs typeface="OE August Pro" charset="0"/>
              </a:rPr>
              <a:t>|הקצאת נכסים 01/2024 </a:t>
            </a:r>
            <a:endParaRPr lang="en-US" sz="2400" dirty="0">
              <a:solidFill>
                <a:srgbClr val="CFB780"/>
              </a:solidFill>
              <a:latin typeface="OE August Pro" charset="0"/>
              <a:ea typeface="OE August Pro" charset="0"/>
              <a:cs typeface="OE August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0852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94" y="3340210"/>
            <a:ext cx="2470380" cy="3532908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860" y="4886325"/>
            <a:ext cx="1971675" cy="197167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047687" y="515636"/>
            <a:ext cx="557784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sz="2400" b="1" u="sng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אלוקצית</a:t>
            </a:r>
            <a:r>
              <a:rPr lang="he-IL" sz="2400" b="1" u="sng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נכסים התחלתית (1/2019) </a:t>
            </a:r>
            <a:endParaRPr lang="he-IL" dirty="0"/>
          </a:p>
        </p:txBody>
      </p:sp>
      <p:graphicFrame>
        <p:nvGraphicFramePr>
          <p:cNvPr id="7" name="תרשים 6"/>
          <p:cNvGraphicFramePr/>
          <p:nvPr>
            <p:extLst>
              <p:ext uri="{D42A27DB-BD31-4B8C-83A1-F6EECF244321}">
                <p14:modId xmlns:p14="http://schemas.microsoft.com/office/powerpoint/2010/main" val="3577066842"/>
              </p:ext>
            </p:extLst>
          </p:nvPr>
        </p:nvGraphicFramePr>
        <p:xfrm>
          <a:off x="3118485" y="1412471"/>
          <a:ext cx="5419725" cy="4404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511319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72199" y="748538"/>
            <a:ext cx="5657851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400" b="1" u="sng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אלוקציית</a:t>
            </a:r>
            <a:r>
              <a:rPr lang="he-IL" sz="2400" b="1" u="sng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נכסים שתוכננה (2019-2020)  </a:t>
            </a:r>
          </a:p>
        </p:txBody>
      </p:sp>
      <p:graphicFrame>
        <p:nvGraphicFramePr>
          <p:cNvPr id="6" name="תרשים 5"/>
          <p:cNvGraphicFramePr/>
          <p:nvPr>
            <p:extLst>
              <p:ext uri="{D42A27DB-BD31-4B8C-83A1-F6EECF244321}">
                <p14:modId xmlns:p14="http://schemas.microsoft.com/office/powerpoint/2010/main" val="3178985322"/>
              </p:ext>
            </p:extLst>
          </p:nvPr>
        </p:nvGraphicFramePr>
        <p:xfrm>
          <a:off x="6410325" y="1243541"/>
          <a:ext cx="5419725" cy="4404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7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94" y="3340210"/>
            <a:ext cx="2470380" cy="3532908"/>
          </a:xfrm>
          <a:prstGeom prst="rect">
            <a:avLst/>
          </a:prstGeom>
        </p:spPr>
      </p:pic>
      <p:pic>
        <p:nvPicPr>
          <p:cNvPr id="8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860" y="4886325"/>
            <a:ext cx="1971675" cy="1971675"/>
          </a:xfrm>
          <a:prstGeom prst="rect">
            <a:avLst/>
          </a:prstGeom>
        </p:spPr>
      </p:pic>
      <p:graphicFrame>
        <p:nvGraphicFramePr>
          <p:cNvPr id="9" name="תרשים 8"/>
          <p:cNvGraphicFramePr/>
          <p:nvPr>
            <p:extLst>
              <p:ext uri="{D42A27DB-BD31-4B8C-83A1-F6EECF244321}">
                <p14:modId xmlns:p14="http://schemas.microsoft.com/office/powerpoint/2010/main" val="3846287528"/>
              </p:ext>
            </p:extLst>
          </p:nvPr>
        </p:nvGraphicFramePr>
        <p:xfrm>
          <a:off x="800100" y="1310217"/>
          <a:ext cx="5309979" cy="42714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09549" y="715201"/>
            <a:ext cx="6200776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400" b="1" u="sng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אלוקציית</a:t>
            </a:r>
            <a:r>
              <a:rPr lang="he-IL" sz="2400" b="1" u="sng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נכסים קיימת (2024)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0C9ACA-32AC-4188-A01C-8288E6C57881}"/>
              </a:ext>
            </a:extLst>
          </p:cNvPr>
          <p:cNvSpPr txBox="1"/>
          <p:nvPr/>
        </p:nvSpPr>
        <p:spPr>
          <a:xfrm>
            <a:off x="279124" y="1243541"/>
            <a:ext cx="3299381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200" dirty="0" err="1"/>
              <a:t>פרוטפוליו</a:t>
            </a:r>
            <a:r>
              <a:rPr lang="he-IL" sz="1200" dirty="0"/>
              <a:t> סופרמרקטים, </a:t>
            </a:r>
            <a:r>
              <a:rPr lang="he-IL" sz="1200" dirty="0" err="1"/>
              <a:t>בוליגו</a:t>
            </a:r>
            <a:r>
              <a:rPr lang="he-IL" sz="1200" dirty="0"/>
              <a:t> 2, וינה, </a:t>
            </a:r>
            <a:r>
              <a:rPr lang="he-IL" sz="1200" dirty="0" err="1"/>
              <a:t>הרטפורד</a:t>
            </a:r>
            <a:r>
              <a:rPr lang="he-IL" sz="1200" dirty="0"/>
              <a:t> ,קונטיקט, מרילנד, אלקטרה2, פילדלפיה, </a:t>
            </a:r>
            <a:r>
              <a:rPr lang="en-US" sz="1200" dirty="0"/>
              <a:t>FRGX, Electra BTR, Caliber</a:t>
            </a:r>
            <a:r>
              <a:rPr lang="he-IL" sz="1200" dirty="0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A8F9BA-D81E-420B-A504-A7067B71C163}"/>
              </a:ext>
            </a:extLst>
          </p:cNvPr>
          <p:cNvSpPr txBox="1"/>
          <p:nvPr/>
        </p:nvSpPr>
        <p:spPr>
          <a:xfrm>
            <a:off x="3868605" y="3215100"/>
            <a:ext cx="1311454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200" dirty="0"/>
              <a:t>דירות בתל אביב, אנגליה, קפריסין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A9F794-F8F6-4BEB-814A-B2FFD189D17F}"/>
              </a:ext>
            </a:extLst>
          </p:cNvPr>
          <p:cNvSpPr txBox="1"/>
          <p:nvPr/>
        </p:nvSpPr>
        <p:spPr>
          <a:xfrm>
            <a:off x="1446394" y="2693879"/>
            <a:ext cx="165808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200" dirty="0"/>
              <a:t>אימפקט </a:t>
            </a:r>
            <a:r>
              <a:rPr lang="he-IL" sz="1200" dirty="0" err="1"/>
              <a:t>חוב,כרמל</a:t>
            </a:r>
            <a:r>
              <a:rPr lang="he-IL" sz="1200" dirty="0"/>
              <a:t>,</a:t>
            </a:r>
            <a:r>
              <a:rPr lang="en-US" sz="1200" dirty="0"/>
              <a:t> </a:t>
            </a:r>
            <a:r>
              <a:rPr lang="en-US" sz="1200" dirty="0" err="1"/>
              <a:t>Coller</a:t>
            </a:r>
            <a:r>
              <a:rPr lang="en-US" sz="1200" dirty="0"/>
              <a:t>, Liquidity, KDC, Pollen, ISF III </a:t>
            </a:r>
            <a:r>
              <a:rPr lang="he-IL" sz="1200" dirty="0"/>
              <a:t>המגן$,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73A392-6A54-42DE-AE0C-9F2D323249CC}"/>
              </a:ext>
            </a:extLst>
          </p:cNvPr>
          <p:cNvSpPr txBox="1"/>
          <p:nvPr/>
        </p:nvSpPr>
        <p:spPr>
          <a:xfrm>
            <a:off x="3920468" y="2362646"/>
            <a:ext cx="1311454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200" dirty="0"/>
              <a:t>תיקים מנוהלים בארץ ובשוויץ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BB2C76-C5EF-4E85-97CF-F40F31C78347}"/>
              </a:ext>
            </a:extLst>
          </p:cNvPr>
          <p:cNvSpPr txBox="1"/>
          <p:nvPr/>
        </p:nvSpPr>
        <p:spPr>
          <a:xfrm>
            <a:off x="2640095" y="3230409"/>
            <a:ext cx="1311454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200" dirty="0"/>
              <a:t>מזומן בחו"ל כולל פיקדון </a:t>
            </a:r>
            <a:r>
              <a:rPr lang="en-US" sz="1200" dirty="0"/>
              <a:t> 1M</a:t>
            </a:r>
            <a:r>
              <a:rPr lang="he-IL" sz="1200" dirty="0"/>
              <a:t>$</a:t>
            </a:r>
            <a:r>
              <a:rPr lang="en-US" sz="1200" dirty="0"/>
              <a:t> </a:t>
            </a:r>
            <a:r>
              <a:rPr lang="he-IL" sz="1200" dirty="0"/>
              <a:t>בלאומי </a:t>
            </a:r>
          </a:p>
        </p:txBody>
      </p:sp>
    </p:spTree>
    <p:extLst>
      <p:ext uri="{BB962C8B-B14F-4D97-AF65-F5344CB8AC3E}">
        <p14:creationId xmlns:p14="http://schemas.microsoft.com/office/powerpoint/2010/main" val="1501247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02937" y="370713"/>
            <a:ext cx="9486772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 u="sng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תכנית עבודה – </a:t>
            </a:r>
            <a:r>
              <a:rPr lang="he-IL" sz="2800" b="1" u="sng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אלוקציית</a:t>
            </a:r>
            <a:r>
              <a:rPr lang="he-IL" sz="2800" b="1" u="sng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נכסים מתוכננת להמשך 2024-2025 </a:t>
            </a:r>
          </a:p>
          <a:p>
            <a:pPr algn="ctr"/>
            <a:r>
              <a:rPr lang="he-IL" sz="2800" b="1" u="sng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(לרבות 10 מיליון ₪  - דירה שמתוכננת להירכש</a:t>
            </a:r>
          </a:p>
        </p:txBody>
      </p:sp>
      <p:pic>
        <p:nvPicPr>
          <p:cNvPr id="7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94" y="3340210"/>
            <a:ext cx="2470380" cy="3532908"/>
          </a:xfrm>
          <a:prstGeom prst="rect">
            <a:avLst/>
          </a:prstGeom>
        </p:spPr>
      </p:pic>
      <p:pic>
        <p:nvPicPr>
          <p:cNvPr id="8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860" y="4886325"/>
            <a:ext cx="1971675" cy="1971675"/>
          </a:xfrm>
          <a:prstGeom prst="rect">
            <a:avLst/>
          </a:prstGeom>
        </p:spPr>
      </p:pic>
      <p:graphicFrame>
        <p:nvGraphicFramePr>
          <p:cNvPr id="13" name="תרשים 12"/>
          <p:cNvGraphicFramePr/>
          <p:nvPr>
            <p:extLst>
              <p:ext uri="{D42A27DB-BD31-4B8C-83A1-F6EECF244321}">
                <p14:modId xmlns:p14="http://schemas.microsoft.com/office/powerpoint/2010/main" val="1108542834"/>
              </p:ext>
            </p:extLst>
          </p:nvPr>
        </p:nvGraphicFramePr>
        <p:xfrm>
          <a:off x="2709916" y="1214834"/>
          <a:ext cx="7588182" cy="45290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2186CD9-D8E4-4C1A-AA7D-02C1B1F13138}"/>
              </a:ext>
            </a:extLst>
          </p:cNvPr>
          <p:cNvSpPr txBox="1"/>
          <p:nvPr/>
        </p:nvSpPr>
        <p:spPr>
          <a:xfrm>
            <a:off x="3563332" y="5844619"/>
            <a:ext cx="7466029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נקודה למחשבה: הכסף בג'רזי, האם מתחילים להשקיע? אם לא, </a:t>
            </a:r>
            <a:r>
              <a:rPr lang="he-IL" dirty="0" err="1"/>
              <a:t>האלוקצייה</a:t>
            </a:r>
            <a:r>
              <a:rPr lang="he-IL" dirty="0"/>
              <a:t> תשתנה</a:t>
            </a:r>
          </a:p>
        </p:txBody>
      </p:sp>
    </p:spTree>
    <p:extLst>
      <p:ext uri="{BB962C8B-B14F-4D97-AF65-F5344CB8AC3E}">
        <p14:creationId xmlns:p14="http://schemas.microsoft.com/office/powerpoint/2010/main" val="3959130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36207" y="370712"/>
            <a:ext cx="8953501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 u="sng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תכנית עבודה לשנת 2024 והלאה </a:t>
            </a:r>
          </a:p>
        </p:txBody>
      </p:sp>
      <p:pic>
        <p:nvPicPr>
          <p:cNvPr id="7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94" y="3359064"/>
            <a:ext cx="2470380" cy="3532908"/>
          </a:xfrm>
          <a:prstGeom prst="rect">
            <a:avLst/>
          </a:prstGeom>
        </p:spPr>
      </p:pic>
      <p:pic>
        <p:nvPicPr>
          <p:cNvPr id="8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860" y="4886325"/>
            <a:ext cx="1971675" cy="19716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86AD1F-B199-45DE-986F-B96DCBC617DE}"/>
              </a:ext>
            </a:extLst>
          </p:cNvPr>
          <p:cNvSpPr txBox="1"/>
          <p:nvPr/>
        </p:nvSpPr>
        <p:spPr>
          <a:xfrm>
            <a:off x="2309567" y="1295631"/>
            <a:ext cx="8280141" cy="501675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dirty="0"/>
              <a:t>הגדלת הרכיב האלטרנטיבי (לסוגיו) בתיק הנכסים הכולל ע"ח מזומן ו/או שוק ההון.</a:t>
            </a:r>
          </a:p>
          <a:p>
            <a:pPr marL="285750" indent="-285750" algn="r" rtl="1">
              <a:buFont typeface="Wingdings" panose="05000000000000000000" pitchFamily="2" charset="2"/>
              <a:buChar char="q"/>
            </a:pPr>
            <a:r>
              <a:rPr lang="he-IL" dirty="0"/>
              <a:t>מצאנו כי ברמת סיכון נמוכה (או זהה) לשוק ההון ניתן להשיג תשואה גבוהה יותר באלטרנטיבי. ועל כן נמשיך לצמצם את החשיפה לשוק ההון.</a:t>
            </a:r>
          </a:p>
          <a:p>
            <a:pPr marL="285750" indent="-285750" algn="r" rtl="1">
              <a:buFont typeface="Wingdings" panose="05000000000000000000" pitchFamily="2" charset="2"/>
              <a:buChar char="q"/>
            </a:pPr>
            <a:r>
              <a:rPr lang="he-IL" dirty="0"/>
              <a:t>החשיפה להשקעות אלטרנטיביות מקטינות, לטעמנו, את הסיכון הגלום בשוק ההון, ובעלות פוטנציאל להגדלת תשואה.</a:t>
            </a:r>
          </a:p>
          <a:p>
            <a:pPr marL="285750" indent="-285750" algn="r" rtl="1">
              <a:buFont typeface="Wingdings" panose="05000000000000000000" pitchFamily="2" charset="2"/>
              <a:buChar char="q"/>
            </a:pPr>
            <a:endParaRPr lang="he-IL" dirty="0"/>
          </a:p>
          <a:p>
            <a:pPr marL="285750" indent="-285750" algn="r" rtl="1">
              <a:buFont typeface="Wingdings" panose="05000000000000000000" pitchFamily="2" charset="2"/>
              <a:buChar char="q"/>
            </a:pPr>
            <a:endParaRPr lang="he-IL" dirty="0"/>
          </a:p>
          <a:p>
            <a:pPr marL="285750" indent="-285750" algn="r" rtl="1">
              <a:buFont typeface="Wingdings" panose="05000000000000000000" pitchFamily="2" charset="2"/>
              <a:buChar char="q"/>
            </a:pPr>
            <a:endParaRPr lang="he-IL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u="sng" dirty="0"/>
              <a:t>הגדלת השקעה בעסקאות/ קרנות נדל"ן:</a:t>
            </a:r>
            <a:endParaRPr lang="he-IL" dirty="0"/>
          </a:p>
          <a:p>
            <a:pPr marL="285750" indent="-285750" algn="r" rtl="1">
              <a:buFont typeface="Wingdings" panose="05000000000000000000" pitchFamily="2" charset="2"/>
              <a:buChar char="q"/>
            </a:pPr>
            <a:r>
              <a:rPr lang="he-IL" dirty="0"/>
              <a:t> הגדלת הפיזור הסקטוריאלי – נדל"ן לסוגיו: חוות שרתים, מרכזים לוגיסטיים, מולטי </a:t>
            </a:r>
            <a:r>
              <a:rPr lang="he-IL" dirty="0" err="1"/>
              <a:t>פמילי</a:t>
            </a:r>
            <a:r>
              <a:rPr lang="he-IL" dirty="0"/>
              <a:t> ועוד.</a:t>
            </a:r>
          </a:p>
          <a:p>
            <a:pPr marL="285750" indent="-285750" algn="r" rtl="1">
              <a:buFont typeface="Wingdings" panose="05000000000000000000" pitchFamily="2" charset="2"/>
              <a:buChar char="q"/>
            </a:pPr>
            <a:r>
              <a:rPr lang="he-IL" dirty="0"/>
              <a:t>הגדלת הפיזור הגאוגרפי – חשיפה לארה"ב, אירופה וישראל.</a:t>
            </a:r>
          </a:p>
          <a:p>
            <a:pPr marL="285750" indent="-285750" algn="r" rtl="1">
              <a:buFont typeface="Wingdings" panose="05000000000000000000" pitchFamily="2" charset="2"/>
              <a:buChar char="q"/>
            </a:pPr>
            <a:r>
              <a:rPr lang="he-IL" dirty="0"/>
              <a:t>הורדות הריבית הצפויות (במהלך שנת 2024 וקדימה) עשויות לתת רוח גבית לסקטור הנדל"ן (וכן לשוק ההון).</a:t>
            </a:r>
          </a:p>
          <a:p>
            <a:pPr algn="r" rtl="1"/>
            <a:endParaRPr lang="he-IL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dirty="0"/>
              <a:t>החשיפה להשקעות אלטרנטיביות מקטינות, לטעמנו, את הסיכון הגלום בשוק ההון, ובעלות פוטנציאל להגדלת תשואה.</a:t>
            </a:r>
          </a:p>
          <a:p>
            <a:pPr algn="r"/>
            <a:endParaRPr lang="he-IL" sz="1400" dirty="0"/>
          </a:p>
        </p:txBody>
      </p:sp>
    </p:spTree>
    <p:extLst>
      <p:ext uri="{BB962C8B-B14F-4D97-AF65-F5344CB8AC3E}">
        <p14:creationId xmlns:p14="http://schemas.microsoft.com/office/powerpoint/2010/main" val="4212424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36207" y="370712"/>
            <a:ext cx="8953501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 u="sng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הצעות והערות על </a:t>
            </a:r>
            <a:r>
              <a:rPr lang="he-IL" sz="2800" b="1" u="sng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האלוקצייה</a:t>
            </a:r>
            <a:r>
              <a:rPr lang="he-IL" sz="2800" b="1" u="sng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המעודכנת</a:t>
            </a:r>
            <a:endParaRPr lang="he-IL" b="1" u="sng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7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94" y="3359064"/>
            <a:ext cx="2470380" cy="3532908"/>
          </a:xfrm>
          <a:prstGeom prst="rect">
            <a:avLst/>
          </a:prstGeom>
        </p:spPr>
      </p:pic>
      <p:pic>
        <p:nvPicPr>
          <p:cNvPr id="8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860" y="4886325"/>
            <a:ext cx="1971675" cy="19716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D04A5F-5583-49D2-92DA-3EA29B0F7987}"/>
              </a:ext>
            </a:extLst>
          </p:cNvPr>
          <p:cNvSpPr txBox="1"/>
          <p:nvPr/>
        </p:nvSpPr>
        <p:spPr>
          <a:xfrm>
            <a:off x="1844207" y="1375756"/>
            <a:ext cx="9763125" cy="307654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r" rtl="1">
              <a:lnSpc>
                <a:spcPct val="150000"/>
              </a:lnSpc>
              <a:buBlip>
                <a:blip r:embed="rId4"/>
              </a:buBlip>
            </a:pPr>
            <a:r>
              <a:rPr lang="he-IL" sz="2200" dirty="0"/>
              <a:t>ההשקעות האלטרנטיביות תהיינה בעיקרן עסקאות חוב (חליף אג"ח).</a:t>
            </a:r>
          </a:p>
          <a:p>
            <a:pPr marL="285750" indent="-285750" algn="r" rtl="1">
              <a:lnSpc>
                <a:spcPct val="150000"/>
              </a:lnSpc>
              <a:buBlip>
                <a:blip r:embed="rId4"/>
              </a:buBlip>
            </a:pPr>
            <a:r>
              <a:rPr lang="he-IL" sz="2200" dirty="0"/>
              <a:t>יש לזכור שלגבי חלק מהעסקאות הקטגוריה נדל"ן ו/או אלטרנטיבי תהיינה חופפות ולא מובהקות.</a:t>
            </a:r>
          </a:p>
          <a:p>
            <a:pPr marL="285750" indent="-285750" algn="r" rtl="1">
              <a:lnSpc>
                <a:spcPct val="150000"/>
              </a:lnSpc>
              <a:buBlip>
                <a:blip r:embed="rId4"/>
              </a:buBlip>
            </a:pPr>
            <a:r>
              <a:rPr lang="he-IL" sz="2200" dirty="0"/>
              <a:t>בתקופה הנוכחית אנחנו מזהים הזדמנות בשוק הישראלי, וחושבים שנכון לשקול להגדיל חשיפה עפ"י תכנית מגירה מסודרת.</a:t>
            </a:r>
          </a:p>
          <a:p>
            <a:pPr marL="285750" indent="-285750" algn="r" rtl="1">
              <a:lnSpc>
                <a:spcPct val="150000"/>
              </a:lnSpc>
              <a:buBlip>
                <a:blip r:embed="rId4"/>
              </a:buBlip>
            </a:pPr>
            <a:r>
              <a:rPr lang="he-IL" sz="2200" dirty="0"/>
              <a:t>יש לשמור כסף להזדמנויות שתגענה (למשל, מניות במקום </a:t>
            </a:r>
            <a:r>
              <a:rPr lang="he-IL" sz="2200" dirty="0" err="1"/>
              <a:t>אג"חים</a:t>
            </a:r>
            <a:r>
              <a:rPr lang="he-IL" sz="2200" dirty="0"/>
              <a:t> בזמנים רלוונטיים).</a:t>
            </a:r>
          </a:p>
        </p:txBody>
      </p:sp>
    </p:spTree>
    <p:extLst>
      <p:ext uri="{BB962C8B-B14F-4D97-AF65-F5344CB8AC3E}">
        <p14:creationId xmlns:p14="http://schemas.microsoft.com/office/powerpoint/2010/main" val="3396136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2572</TotalTime>
  <Words>333</Words>
  <Application>Microsoft Office PowerPoint</Application>
  <PresentationFormat>מסך רחב</PresentationFormat>
  <Paragraphs>37</Paragraphs>
  <Slides>6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OE August Pro</vt:lpstr>
      <vt:lpstr>Wingdings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ella hai</cp:lastModifiedBy>
  <cp:revision>68</cp:revision>
  <cp:lastPrinted>2024-01-22T14:12:18Z</cp:lastPrinted>
  <dcterms:created xsi:type="dcterms:W3CDTF">2020-07-20T12:29:52Z</dcterms:created>
  <dcterms:modified xsi:type="dcterms:W3CDTF">2024-01-23T15:41:21Z</dcterms:modified>
</cp:coreProperties>
</file>