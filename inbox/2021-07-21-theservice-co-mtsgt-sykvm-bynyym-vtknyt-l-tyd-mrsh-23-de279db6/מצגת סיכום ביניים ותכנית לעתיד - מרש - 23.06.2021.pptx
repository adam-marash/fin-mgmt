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2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58" r:id="rId5"/>
    <p:sldId id="262" r:id="rId6"/>
    <p:sldId id="264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waxman@THESERVICE.local" initials="s" lastIdx="0" clrIdx="0">
    <p:extLst>
      <p:ext uri="{19B8F6BF-5375-455C-9EA6-DF929625EA0E}">
        <p15:presenceInfo xmlns:p15="http://schemas.microsoft.com/office/powerpoint/2012/main" userId="S-1-5-21-3915913713-4016366997-3603384427-128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B780"/>
    <a:srgbClr val="090C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72"/>
    <p:restoredTop sz="94652"/>
  </p:normalViewPr>
  <p:slideViewPr>
    <p:cSldViewPr snapToGrid="0" snapToObjects="1">
      <p:cViewPr varScale="1">
        <p:scale>
          <a:sx n="109" d="100"/>
          <a:sy n="109" d="100"/>
        </p:scale>
        <p:origin x="1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_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______Microsoft_Excel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______Microsoft_Excel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  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9CA-43F5-A00F-E3149CA1EE9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9CA-43F5-A00F-E3149CA1EE9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9CA-43F5-A00F-E3149CA1EE9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19CA-43F5-A00F-E3149CA1EE9A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layout/>
              </c:ext>
            </c:extLst>
          </c:dLbls>
          <c:cat>
            <c:strRef>
              <c:f>גיליון1!$A$2:$A$5</c:f>
              <c:strCache>
                <c:ptCount val="4"/>
                <c:pt idx="0">
                  <c:v>שוק ההון</c:v>
                </c:pt>
                <c:pt idx="1">
                  <c:v>נדל"ן ללא מגורים</c:v>
                </c:pt>
                <c:pt idx="2">
                  <c:v>מזומן</c:v>
                </c:pt>
                <c:pt idx="3">
                  <c:v>עסקאות משלימות</c:v>
                </c:pt>
              </c:strCache>
            </c:strRef>
          </c:cat>
          <c:val>
            <c:numRef>
              <c:f>גיליון1!$B$2:$B$5</c:f>
              <c:numCache>
                <c:formatCode>0%</c:formatCode>
                <c:ptCount val="4"/>
                <c:pt idx="0">
                  <c:v>0.45</c:v>
                </c:pt>
                <c:pt idx="1">
                  <c:v>0.31</c:v>
                </c:pt>
                <c:pt idx="2">
                  <c:v>0.13</c:v>
                </c:pt>
                <c:pt idx="3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5F-4AE7-BDB0-8D31F7A9DE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  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08B-429E-AD22-76DDAACC90D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08B-429E-AD22-76DDAACC90D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08B-429E-AD22-76DDAACC90D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108B-429E-AD22-76DDAACC90D7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layout/>
              </c:ext>
            </c:extLst>
          </c:dLbls>
          <c:cat>
            <c:strRef>
              <c:f>גיליון1!$A$2:$A$5</c:f>
              <c:strCache>
                <c:ptCount val="4"/>
                <c:pt idx="0">
                  <c:v>שוק ההון</c:v>
                </c:pt>
                <c:pt idx="1">
                  <c:v>נדל"ן ללא מגורים</c:v>
                </c:pt>
                <c:pt idx="2">
                  <c:v>מזומן</c:v>
                </c:pt>
                <c:pt idx="3">
                  <c:v>עסקאות משלימות</c:v>
                </c:pt>
              </c:strCache>
            </c:strRef>
          </c:cat>
          <c:val>
            <c:numRef>
              <c:f>גיליון1!$B$2:$B$5</c:f>
              <c:numCache>
                <c:formatCode>0%</c:formatCode>
                <c:ptCount val="4"/>
                <c:pt idx="0">
                  <c:v>0.42</c:v>
                </c:pt>
                <c:pt idx="1">
                  <c:v>0.27</c:v>
                </c:pt>
                <c:pt idx="2">
                  <c:v>0.2</c:v>
                </c:pt>
                <c:pt idx="3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08B-429E-AD22-76DDAACC90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מכירות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0D6-4456-8219-3300C20226C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05C1-4588-BF2E-0AE1596116F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D0D6-4456-8219-3300C20226C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D0D6-4456-8219-3300C20226C7}"/>
              </c:ext>
            </c:extLst>
          </c:dPt>
          <c:cat>
            <c:strRef>
              <c:f>גיליון1!$A$2:$A$5</c:f>
              <c:strCache>
                <c:ptCount val="4"/>
                <c:pt idx="0">
                  <c:v>שוק ההון</c:v>
                </c:pt>
                <c:pt idx="1">
                  <c:v>נדל"ן ללא מגורים</c:v>
                </c:pt>
                <c:pt idx="2">
                  <c:v>מזומן</c:v>
                </c:pt>
                <c:pt idx="3">
                  <c:v>עסקאות משלימות</c:v>
                </c:pt>
              </c:strCache>
            </c:strRef>
          </c:cat>
          <c:val>
            <c:numRef>
              <c:f>גיליון1!$B$2:$B$5</c:f>
              <c:numCache>
                <c:formatCode>0.00%</c:formatCode>
                <c:ptCount val="4"/>
                <c:pt idx="0">
                  <c:v>0.35</c:v>
                </c:pt>
                <c:pt idx="1">
                  <c:v>0.35</c:v>
                </c:pt>
                <c:pt idx="2">
                  <c:v>7.4999999999999997E-2</c:v>
                </c:pt>
                <c:pt idx="3">
                  <c:v>0.22500000000000001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C1-4588-BF2E-0AE1596116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0.31156</cdr:x>
      <cdr:y>0.21606</cdr:y>
    </cdr:from>
    <cdr:to>
      <cdr:x>0.55974</cdr:x>
      <cdr:y>0.35667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1654386" y="922877"/>
          <a:ext cx="1317812" cy="60063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1"/>
        <a:lstStyle xmlns:a="http://schemas.openxmlformats.org/drawingml/2006/main"/>
        <a:p xmlns:a="http://schemas.openxmlformats.org/drawingml/2006/main">
          <a:pPr algn="ctr" rtl="1"/>
          <a:r>
            <a:rPr lang="en-US" sz="1100" dirty="0" err="1" smtClean="0"/>
            <a:t>Coller</a:t>
          </a:r>
          <a:r>
            <a:rPr lang="he-IL" dirty="0" smtClean="0"/>
            <a:t>, המגן, אימפקט, </a:t>
          </a:r>
          <a:r>
            <a:rPr lang="en-US" dirty="0" smtClean="0"/>
            <a:t>liquidity</a:t>
          </a:r>
          <a:r>
            <a:rPr lang="he-IL" dirty="0" smtClean="0"/>
            <a:t> – 2.8 מיליון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0.55613</cdr:x>
      <cdr:y>0.19751</cdr:y>
    </cdr:from>
    <cdr:to>
      <cdr:x>0.87164</cdr:x>
      <cdr:y>0.30961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333392" y="972177"/>
          <a:ext cx="2458479" cy="55179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1"/>
        <a:lstStyle xmlns:a="http://schemas.openxmlformats.org/drawingml/2006/main"/>
        <a:p xmlns:a="http://schemas.openxmlformats.org/drawingml/2006/main">
          <a:pPr rtl="1"/>
          <a:r>
            <a:rPr lang="he-IL" sz="1600" dirty="0" smtClean="0"/>
            <a:t>שוק ההון, בין 35% - 40</a:t>
          </a:r>
          <a:r>
            <a:rPr lang="he-IL" sz="1600" dirty="0" smtClean="0"/>
            <a:t>%,</a:t>
          </a:r>
        </a:p>
        <a:p xmlns:a="http://schemas.openxmlformats.org/drawingml/2006/main">
          <a:pPr algn="ctr" rtl="1"/>
          <a:r>
            <a:rPr lang="he-IL" sz="1600" dirty="0" smtClean="0"/>
            <a:t>סה"כ כ- </a:t>
          </a:r>
          <a:r>
            <a:rPr lang="he-IL" sz="1600" smtClean="0"/>
            <a:t>9.5 מיליון</a:t>
          </a:r>
          <a:endParaRPr lang="he-IL" sz="1600" dirty="0"/>
        </a:p>
      </cdr:txBody>
    </cdr:sp>
  </cdr:relSizeAnchor>
  <cdr:relSizeAnchor xmlns:cdr="http://schemas.openxmlformats.org/drawingml/2006/chartDrawing">
    <cdr:from>
      <cdr:x>0.20311</cdr:x>
      <cdr:y>0.07829</cdr:y>
    </cdr:from>
    <cdr:to>
      <cdr:x>0.44458</cdr:x>
      <cdr:y>0.17475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582616" y="385366"/>
          <a:ext cx="1881554" cy="47478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1"/>
        <a:lstStyle xmlns:a="http://schemas.openxmlformats.org/drawingml/2006/main"/>
        <a:p xmlns:a="http://schemas.openxmlformats.org/drawingml/2006/main">
          <a:endParaRPr lang="he-IL" sz="1100" dirty="0"/>
        </a:p>
      </cdr:txBody>
    </cdr:sp>
  </cdr:relSizeAnchor>
  <cdr:relSizeAnchor xmlns:cdr="http://schemas.openxmlformats.org/drawingml/2006/chartDrawing">
    <cdr:from>
      <cdr:x>0.04188</cdr:x>
      <cdr:y>0.04738</cdr:y>
    </cdr:from>
    <cdr:to>
      <cdr:x>0.43606</cdr:x>
      <cdr:y>0.10454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326360" y="233234"/>
          <a:ext cx="3071447" cy="28135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1"/>
        <a:lstStyle xmlns:a="http://schemas.openxmlformats.org/drawingml/2006/main"/>
        <a:p xmlns:a="http://schemas.openxmlformats.org/drawingml/2006/main">
          <a:pPr rtl="1"/>
          <a:r>
            <a:rPr lang="he-IL" sz="1600" dirty="0" smtClean="0"/>
            <a:t>עסקאות משלימות, בין 20% - 25%</a:t>
          </a:r>
          <a:endParaRPr lang="he-IL" sz="1600" dirty="0"/>
        </a:p>
      </cdr:txBody>
    </cdr:sp>
  </cdr:relSizeAnchor>
  <cdr:relSizeAnchor xmlns:cdr="http://schemas.openxmlformats.org/drawingml/2006/chartDrawing">
    <cdr:from>
      <cdr:x>0</cdr:x>
      <cdr:y>0.31944</cdr:y>
    </cdr:from>
    <cdr:to>
      <cdr:x>0.41072</cdr:x>
      <cdr:y>0.35516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-1186960" y="1572328"/>
          <a:ext cx="3200400" cy="17584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1"/>
        <a:lstStyle xmlns:a="http://schemas.openxmlformats.org/drawingml/2006/main"/>
        <a:p xmlns:a="http://schemas.openxmlformats.org/drawingml/2006/main">
          <a:endParaRPr lang="he-IL" sz="1100" dirty="0"/>
        </a:p>
      </cdr:txBody>
    </cdr:sp>
  </cdr:relSizeAnchor>
  <cdr:relSizeAnchor xmlns:cdr="http://schemas.openxmlformats.org/drawingml/2006/chartDrawing">
    <cdr:from>
      <cdr:x>0.00903</cdr:x>
      <cdr:y>0.32538</cdr:y>
    </cdr:from>
    <cdr:to>
      <cdr:x>0.27419</cdr:x>
      <cdr:y>0.44805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70362" y="1601585"/>
          <a:ext cx="2066148" cy="60379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1"/>
        <a:lstStyle xmlns:a="http://schemas.openxmlformats.org/drawingml/2006/main"/>
        <a:p xmlns:a="http://schemas.openxmlformats.org/drawingml/2006/main">
          <a:pPr rtl="1"/>
          <a:r>
            <a:rPr lang="he-IL" sz="1600" dirty="0" smtClean="0"/>
            <a:t>מזומן, בין 7% - </a:t>
          </a:r>
          <a:r>
            <a:rPr lang="he-IL" sz="1600" dirty="0" smtClean="0"/>
            <a:t>10%, </a:t>
          </a:r>
        </a:p>
        <a:p xmlns:a="http://schemas.openxmlformats.org/drawingml/2006/main">
          <a:pPr algn="ctr" rtl="1"/>
          <a:r>
            <a:rPr lang="he-IL" sz="1600" dirty="0" smtClean="0"/>
            <a:t>כ- </a:t>
          </a:r>
          <a:r>
            <a:rPr lang="en-US" sz="1600" dirty="0" smtClean="0"/>
            <a:t>1.8</a:t>
          </a:r>
          <a:r>
            <a:rPr lang="he-IL" sz="1600" dirty="0" smtClean="0"/>
            <a:t> מיליון</a:t>
          </a:r>
          <a:endParaRPr lang="he-IL" sz="1600" dirty="0"/>
        </a:p>
      </cdr:txBody>
    </cdr:sp>
  </cdr:relSizeAnchor>
  <cdr:relSizeAnchor xmlns:cdr="http://schemas.openxmlformats.org/drawingml/2006/chartDrawing">
    <cdr:from>
      <cdr:x>0.24692</cdr:x>
      <cdr:y>0.44145</cdr:y>
    </cdr:from>
    <cdr:to>
      <cdr:x>0.66216</cdr:x>
      <cdr:y>0.51763</cdr:y>
    </cdr:to>
    <cdr:sp macro="" textlink="">
      <cdr:nvSpPr>
        <cdr:cNvPr id="7" name="TextBox 6"/>
        <cdr:cNvSpPr txBox="1"/>
      </cdr:nvSpPr>
      <cdr:spPr>
        <a:xfrm xmlns:a="http://schemas.openxmlformats.org/drawingml/2006/main">
          <a:off x="1924051" y="2172908"/>
          <a:ext cx="3235569" cy="37497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1"/>
        <a:lstStyle xmlns:a="http://schemas.openxmlformats.org/drawingml/2006/main"/>
        <a:p xmlns:a="http://schemas.openxmlformats.org/drawingml/2006/main">
          <a:pPr rtl="1"/>
          <a:r>
            <a:rPr lang="he-IL" sz="1600" dirty="0" smtClean="0"/>
            <a:t>נדל"ן ללא מגורים, בין 35% - 40%</a:t>
          </a:r>
          <a:endParaRPr lang="he-IL" sz="1600" dirty="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46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29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15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75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0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6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8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4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0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97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9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080BF-EC05-B849-A1D1-EEB23EEADFE0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46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0" y="1438268"/>
            <a:ext cx="3581400" cy="3581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00851" y="5836226"/>
            <a:ext cx="31902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he-IL" sz="2400" b="1" dirty="0" smtClean="0">
                <a:solidFill>
                  <a:srgbClr val="CFB780"/>
                </a:solidFill>
                <a:latin typeface="OE August Pro" charset="0"/>
                <a:ea typeface="OE August Pro" charset="0"/>
                <a:cs typeface="OE August Pro" charset="0"/>
              </a:rPr>
              <a:t>משפחת מרש </a:t>
            </a:r>
            <a:r>
              <a:rPr lang="he-IL" sz="2400" dirty="0" smtClean="0">
                <a:solidFill>
                  <a:srgbClr val="CFB780"/>
                </a:solidFill>
                <a:latin typeface="OE August Pro" charset="0"/>
                <a:ea typeface="OE August Pro" charset="0"/>
                <a:cs typeface="OE August Pro" charset="0"/>
              </a:rPr>
              <a:t>| יוני 2021</a:t>
            </a:r>
            <a:endParaRPr lang="en-US" sz="2400" dirty="0">
              <a:solidFill>
                <a:srgbClr val="CFB780"/>
              </a:solidFill>
              <a:latin typeface="OE August Pro" charset="0"/>
              <a:ea typeface="OE August Pro" charset="0"/>
              <a:cs typeface="OE August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85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טבלה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553078"/>
              </p:ext>
            </p:extLst>
          </p:nvPr>
        </p:nvGraphicFramePr>
        <p:xfrm>
          <a:off x="1219296" y="984739"/>
          <a:ext cx="10726619" cy="4156236"/>
        </p:xfrm>
        <a:graphic>
          <a:graphicData uri="http://schemas.openxmlformats.org/drawingml/2006/table">
            <a:tbl>
              <a:tblPr rtl="1"/>
              <a:tblGrid>
                <a:gridCol w="2944115">
                  <a:extLst>
                    <a:ext uri="{9D8B030D-6E8A-4147-A177-3AD203B41FA5}">
                      <a16:colId xmlns:a16="http://schemas.microsoft.com/office/drawing/2014/main" val="885189223"/>
                    </a:ext>
                  </a:extLst>
                </a:gridCol>
                <a:gridCol w="924315">
                  <a:extLst>
                    <a:ext uri="{9D8B030D-6E8A-4147-A177-3AD203B41FA5}">
                      <a16:colId xmlns:a16="http://schemas.microsoft.com/office/drawing/2014/main" val="2513721899"/>
                    </a:ext>
                  </a:extLst>
                </a:gridCol>
                <a:gridCol w="2944115">
                  <a:extLst>
                    <a:ext uri="{9D8B030D-6E8A-4147-A177-3AD203B41FA5}">
                      <a16:colId xmlns:a16="http://schemas.microsoft.com/office/drawing/2014/main" val="204229151"/>
                    </a:ext>
                  </a:extLst>
                </a:gridCol>
                <a:gridCol w="2944115">
                  <a:extLst>
                    <a:ext uri="{9D8B030D-6E8A-4147-A177-3AD203B41FA5}">
                      <a16:colId xmlns:a16="http://schemas.microsoft.com/office/drawing/2014/main" val="1520434998"/>
                    </a:ext>
                  </a:extLst>
                </a:gridCol>
                <a:gridCol w="969959">
                  <a:extLst>
                    <a:ext uri="{9D8B030D-6E8A-4147-A177-3AD203B41FA5}">
                      <a16:colId xmlns:a16="http://schemas.microsoft.com/office/drawing/2014/main" val="458337706"/>
                    </a:ext>
                  </a:extLst>
                </a:gridCol>
              </a:tblGrid>
              <a:tr h="476367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מוצר קיים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3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סכום $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3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המלצה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3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ביצוע בפועל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3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סכום בפועל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106348"/>
                  </a:ext>
                </a:extLst>
              </a:tr>
              <a:tr h="196898">
                <a:tc>
                  <a:txBody>
                    <a:bodyPr/>
                    <a:lstStyle/>
                    <a:p>
                      <a:pPr algn="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חשבון עו"ש ₪ בנק לאומי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15,175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להשאיר ללא שינוי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לפי ההמלצה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בוצע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962320"/>
                  </a:ext>
                </a:extLst>
              </a:tr>
              <a:tr h="382556">
                <a:tc>
                  <a:txBody>
                    <a:bodyPr/>
                    <a:lstStyle/>
                    <a:p>
                      <a:pPr algn="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חשבון עו"ש מט"ח $ בנק לאומי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524,000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עסקאות נדל״ן עתידיות/עסקאות אלטרנטיביות עתידיות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לפי ההמלצה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עדיין בחשבון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3292727"/>
                  </a:ext>
                </a:extLst>
              </a:tr>
              <a:tr h="196898">
                <a:tc>
                  <a:txBody>
                    <a:bodyPr/>
                    <a:lstStyle/>
                    <a:p>
                      <a:pPr algn="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תיק מנוהל </a:t>
                      </a: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IBI- </a:t>
                      </a:r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כספים מהחשבון בגרנזי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5,000,000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ללא שינוי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לפי ההמלצה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ללא שינוי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0317327"/>
                  </a:ext>
                </a:extLst>
              </a:tr>
              <a:tr h="196898">
                <a:tc>
                  <a:txBody>
                    <a:bodyPr/>
                    <a:lstStyle/>
                    <a:p>
                      <a:pPr algn="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תיק מנוהל ילין לפידות - כספים מהחשבון בגרנזי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5,000,000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ללא שינוי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לפי ההמלצה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ללא שינוי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16754"/>
                  </a:ext>
                </a:extLst>
              </a:tr>
              <a:tr h="393796">
                <a:tc rowSpan="8">
                  <a:txBody>
                    <a:bodyPr/>
                    <a:lstStyle/>
                    <a:p>
                      <a:pPr algn="r" rtl="1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חשבון עו"ש מט"ח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HSBC </a:t>
                      </a:r>
                      <a:r>
                        <a:rPr lang="he-IL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גרנזי</a:t>
                      </a: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$ ( בתוספת $1.25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  <a:r>
                        <a:rPr lang="he-IL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2,962,839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עסקה שתכליתה רכישה של חלק מבניין מגורים מניב במטרופולין פילדלפיה ארה״ב עסקת גלפנד*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לפי </a:t>
                      </a:r>
                      <a:r>
                        <a:rPr lang="he-IL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ההמלצה (</a:t>
                      </a:r>
                      <a:r>
                        <a:rPr lang="en-US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he-IL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11/2019)</a:t>
                      </a:r>
                      <a:endParaRPr lang="he-IL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500,000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903670"/>
                  </a:ext>
                </a:extLst>
              </a:tr>
              <a:tr h="590694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עסקה שתכליתה רכישה והשבחה של נכסי נדל״ן למגורים בקונטיקט ניו הייבן ארה"ב (</a:t>
                      </a: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Multi Family) </a:t>
                      </a:r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עסקת נץ*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לפי </a:t>
                      </a:r>
                      <a:r>
                        <a:rPr lang="he-IL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ההמלצה (01/2020)</a:t>
                      </a:r>
                      <a:endParaRPr lang="he-IL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454,352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679423"/>
                  </a:ext>
                </a:extLst>
              </a:tr>
              <a:tr h="19689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עסקאות נדל״ן מניב עתידיות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השקעה </a:t>
                      </a:r>
                      <a:r>
                        <a:rPr lang="he-IL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בגלפנד</a:t>
                      </a:r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 - </a:t>
                      </a:r>
                      <a:r>
                        <a:rPr lang="en-US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Gatewater</a:t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Landing</a:t>
                      </a:r>
                      <a:r>
                        <a:rPr lang="he-IL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 (11/2020)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500,000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549946"/>
                  </a:ext>
                </a:extLst>
              </a:tr>
              <a:tr h="19689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עסקאות נדל״ן מניב עתידיות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השקעה בחוות השרתים בלוס אנג'לס - </a:t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Data </a:t>
                      </a:r>
                      <a:r>
                        <a:rPr lang="en-US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Centre</a:t>
                      </a:r>
                      <a:r>
                        <a:rPr lang="he-IL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 (03/2021)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600,000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493381"/>
                  </a:ext>
                </a:extLst>
              </a:tr>
              <a:tr h="393796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השקעה בקרן המשקיעה בקרנות ריט אמריקאיות </a:t>
                      </a: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Comrit Fund*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 err="1" smtClean="0">
                          <a:effectLst/>
                          <a:latin typeface="Arial" panose="020B0604020202020204" pitchFamily="34" charset="0"/>
                        </a:rPr>
                        <a:t>Coller</a:t>
                      </a:r>
                      <a:r>
                        <a:rPr lang="en-US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International </a:t>
                      </a:r>
                      <a:r>
                        <a:rPr lang="en-US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Partners</a:t>
                      </a:r>
                      <a:r>
                        <a:rPr lang="en-US" sz="1100" b="0" i="0" u="none" strike="noStrike" baseline="0" dirty="0" smtClean="0">
                          <a:effectLst/>
                          <a:latin typeface="Arial" panose="020B0604020202020204" pitchFamily="34" charset="0"/>
                        </a:rPr>
                        <a:t> (10/2020)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1,000,000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6709512"/>
                  </a:ext>
                </a:extLst>
              </a:tr>
              <a:tr h="19689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עסקאות נדל"ן עתידיות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השקעה ב- </a:t>
                      </a:r>
                      <a:r>
                        <a:rPr lang="en-US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Buligo</a:t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he-IL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 (09/2020)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120,000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970420"/>
                  </a:ext>
                </a:extLst>
              </a:tr>
              <a:tr h="19689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השלמת השקעה בקרן </a:t>
                      </a: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Liquidity***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לפי </a:t>
                      </a:r>
                      <a:r>
                        <a:rPr lang="he-IL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ההמלצה (02/2021)</a:t>
                      </a:r>
                      <a:endParaRPr lang="he-IL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111,139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818604"/>
                  </a:ext>
                </a:extLst>
              </a:tr>
              <a:tr h="19689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השלמת השקעה בעסקת ריאליטי***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לפי </a:t>
                      </a:r>
                      <a:r>
                        <a:rPr lang="he-IL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ההמלצה (10/2020</a:t>
                      </a:r>
                      <a:r>
                        <a:rPr lang="he-IL" sz="1100" b="0" i="0" u="none" strike="noStrike" baseline="0" dirty="0" smtClean="0">
                          <a:effectLst/>
                          <a:latin typeface="Arial" panose="020B0604020202020204" pitchFamily="34" charset="0"/>
                        </a:rPr>
                        <a:t> , 06/2021)</a:t>
                      </a:r>
                      <a:endParaRPr lang="he-IL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258,271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7324924"/>
                  </a:ext>
                </a:extLst>
              </a:tr>
              <a:tr h="196898">
                <a:tc>
                  <a:txBody>
                    <a:bodyPr/>
                    <a:lstStyle/>
                    <a:p>
                      <a:pPr algn="r" rtl="1" fontAlgn="ctr"/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חשבון עו"ש </a:t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HSBC </a:t>
                      </a:r>
                      <a:r>
                        <a:rPr lang="he-IL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he-IL" sz="1100" b="0" i="0" u="none" strike="noStrike" dirty="0" err="1" smtClean="0">
                          <a:effectLst/>
                          <a:latin typeface="Arial" panose="020B0604020202020204" pitchFamily="34" charset="0"/>
                        </a:rPr>
                        <a:t>גרנזי</a:t>
                      </a:r>
                      <a:r>
                        <a:rPr lang="he-IL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דולר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865,650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עסקאות עתידיות - אימפקט חוב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לפי </a:t>
                      </a:r>
                      <a:r>
                        <a:rPr lang="he-IL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ההמלצה (05/2021)</a:t>
                      </a:r>
                      <a:endParaRPr lang="he-IL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700,000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83419"/>
                  </a:ext>
                </a:extLst>
              </a:tr>
            </a:tbl>
          </a:graphicData>
        </a:graphic>
      </p:graphicFrame>
      <p:pic>
        <p:nvPicPr>
          <p:cNvPr id="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40210"/>
            <a:ext cx="2470380" cy="3532908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8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40210"/>
            <a:ext cx="2470380" cy="3532908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graphicFrame>
        <p:nvGraphicFramePr>
          <p:cNvPr id="3" name="טבלה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943348"/>
              </p:ext>
            </p:extLst>
          </p:nvPr>
        </p:nvGraphicFramePr>
        <p:xfrm>
          <a:off x="958362" y="1272483"/>
          <a:ext cx="11010899" cy="3281931"/>
        </p:xfrm>
        <a:graphic>
          <a:graphicData uri="http://schemas.openxmlformats.org/drawingml/2006/table">
            <a:tbl>
              <a:tblPr rtl="1"/>
              <a:tblGrid>
                <a:gridCol w="2859547">
                  <a:extLst>
                    <a:ext uri="{9D8B030D-6E8A-4147-A177-3AD203B41FA5}">
                      <a16:colId xmlns:a16="http://schemas.microsoft.com/office/drawing/2014/main" val="4279905334"/>
                    </a:ext>
                  </a:extLst>
                </a:gridCol>
                <a:gridCol w="968123">
                  <a:extLst>
                    <a:ext uri="{9D8B030D-6E8A-4147-A177-3AD203B41FA5}">
                      <a16:colId xmlns:a16="http://schemas.microsoft.com/office/drawing/2014/main" val="2107281567"/>
                    </a:ext>
                  </a:extLst>
                </a:gridCol>
                <a:gridCol w="3083649">
                  <a:extLst>
                    <a:ext uri="{9D8B030D-6E8A-4147-A177-3AD203B41FA5}">
                      <a16:colId xmlns:a16="http://schemas.microsoft.com/office/drawing/2014/main" val="997923495"/>
                    </a:ext>
                  </a:extLst>
                </a:gridCol>
                <a:gridCol w="3083649">
                  <a:extLst>
                    <a:ext uri="{9D8B030D-6E8A-4147-A177-3AD203B41FA5}">
                      <a16:colId xmlns:a16="http://schemas.microsoft.com/office/drawing/2014/main" val="624510346"/>
                    </a:ext>
                  </a:extLst>
                </a:gridCol>
                <a:gridCol w="1015931">
                  <a:extLst>
                    <a:ext uri="{9D8B030D-6E8A-4147-A177-3AD203B41FA5}">
                      <a16:colId xmlns:a16="http://schemas.microsoft.com/office/drawing/2014/main" val="2920962623"/>
                    </a:ext>
                  </a:extLst>
                </a:gridCol>
              </a:tblGrid>
              <a:tr h="514947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3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מוצר קיים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3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סכום $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3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המלצה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3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ביצוע בפועל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3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סכום בפועל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85685"/>
                  </a:ext>
                </a:extLst>
              </a:tr>
              <a:tr h="212845">
                <a:tc rowSpan="3">
                  <a:txBody>
                    <a:bodyPr/>
                    <a:lstStyle/>
                    <a:p>
                      <a:pPr algn="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חשבון עו"ש מט"ח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HSBC </a:t>
                      </a: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ג'רזי $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4,140,257 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יתרת מזומן / פקדונות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לפי המלצה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3,140,257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5431481"/>
                  </a:ext>
                </a:extLst>
              </a:tr>
              <a:tr h="425689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Arion Fund - </a:t>
                      </a:r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חוב מגובה נדל"ן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עסקאות נדל"ן מניב עתידיות - התחדשות עירונית </a:t>
                      </a:r>
                      <a:r>
                        <a:rPr lang="he-IL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בהארטפורד</a:t>
                      </a:r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he-IL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קונטיקט (07/2020)</a:t>
                      </a:r>
                      <a:endParaRPr lang="he-IL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475,000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168089"/>
                  </a:ext>
                </a:extLst>
              </a:tr>
              <a:tr h="212845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Fuse - </a:t>
                      </a:r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חוב מגובה נדל"ן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עסקאות חוב - קרן </a:t>
                      </a:r>
                      <a:r>
                        <a:rPr lang="he-IL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המגן (08/2020)</a:t>
                      </a:r>
                      <a:endParaRPr lang="he-IL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818,301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6155273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חשבון עו"ש </a:t>
                      </a:r>
                      <a:r>
                        <a:rPr lang="en-US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HSBC </a:t>
                      </a:r>
                      <a:r>
                        <a:rPr lang="he-IL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 ג'רזי </a:t>
                      </a:r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- יין יפני</a:t>
                      </a:r>
                    </a:p>
                  </a:txBody>
                  <a:tcPr marL="8563" marR="8563" marT="85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840,244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עסקאות משלימות - אשראי/מימון עתידיות**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טרם </a:t>
                      </a:r>
                      <a:r>
                        <a:rPr lang="he-IL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בוצע</a:t>
                      </a:r>
                      <a:endParaRPr lang="he-IL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368,740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698000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חשבון עו"ש </a:t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HSBC </a:t>
                      </a:r>
                      <a:r>
                        <a:rPr lang="he-IL" sz="11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 ג'רזי </a:t>
                      </a:r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- אירו</a:t>
                      </a:r>
                    </a:p>
                  </a:txBody>
                  <a:tcPr marL="8563" marR="8563" marT="85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292,243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עסקאות משלימות - אשראי/מימון עתידיות**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טרם בוצע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751,420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623515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algn="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תיק מנוהל שוויץ - </a:t>
                      </a: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Vontobel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1,183,109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ללא שינוי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לפי ההמלצה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1,501,089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3641930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algn="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עסקת דיור מוגן אטלנטה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502,429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ללא שינוי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לפי ההמלצה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502,429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509467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algn="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עסקת ריאלטי גרמניה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165,617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ללא שינוי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לפי ההמלצה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165,617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861553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Electra America Fund II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600,000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ללא שינוי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לפי ההמלצה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621,871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2950861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algn="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דירה בלונדון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1,124,383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ללא שינוי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לפי ההמלצה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1,124,383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2739552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algn="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דירה בתל אביב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1,200,000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ללא שינוי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לפי ההמלצה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1,200,000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9568852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 Liquidity Capital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210,000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Arial" panose="020B0604020202020204" pitchFamily="34" charset="0"/>
                        </a:rPr>
                        <a:t>ללא שינוי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לפי ההמלצה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 dirty="0">
                          <a:effectLst/>
                          <a:latin typeface="Arial" panose="020B0604020202020204" pitchFamily="34" charset="0"/>
                        </a:rPr>
                        <a:t>210,000</a:t>
                      </a:r>
                    </a:p>
                  </a:txBody>
                  <a:tcPr marL="8563" marR="8563" marT="85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042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319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10325" y="715200"/>
            <a:ext cx="565785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u="sng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תכנית עבודה – </a:t>
            </a:r>
            <a:r>
              <a:rPr lang="he-IL" sz="2400" b="1" u="sng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אלוקציית</a:t>
            </a:r>
            <a:r>
              <a:rPr lang="he-IL" sz="2400" b="1" u="sng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נכסים שתוכננה  </a:t>
            </a:r>
            <a:endParaRPr lang="he-IL" sz="2400" b="1" u="sng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6" name="תרשים 5"/>
          <p:cNvGraphicFramePr/>
          <p:nvPr>
            <p:extLst>
              <p:ext uri="{D42A27DB-BD31-4B8C-83A1-F6EECF244321}">
                <p14:modId xmlns:p14="http://schemas.microsoft.com/office/powerpoint/2010/main" val="3178985322"/>
              </p:ext>
            </p:extLst>
          </p:nvPr>
        </p:nvGraphicFramePr>
        <p:xfrm>
          <a:off x="6410325" y="1243541"/>
          <a:ext cx="5419725" cy="4404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40210"/>
            <a:ext cx="2470380" cy="3532908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graphicFrame>
        <p:nvGraphicFramePr>
          <p:cNvPr id="9" name="תרשים 8"/>
          <p:cNvGraphicFramePr/>
          <p:nvPr>
            <p:extLst>
              <p:ext uri="{D42A27DB-BD31-4B8C-83A1-F6EECF244321}">
                <p14:modId xmlns:p14="http://schemas.microsoft.com/office/powerpoint/2010/main" val="2186863229"/>
              </p:ext>
            </p:extLst>
          </p:nvPr>
        </p:nvGraphicFramePr>
        <p:xfrm>
          <a:off x="800100" y="1310217"/>
          <a:ext cx="5309979" cy="4271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09549" y="715201"/>
            <a:ext cx="620077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u="sng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תכנית עבודה – </a:t>
            </a:r>
            <a:r>
              <a:rPr lang="he-IL" sz="2400" b="1" u="sng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אלוקציית</a:t>
            </a:r>
            <a:r>
              <a:rPr lang="he-IL" sz="2400" b="1" u="sng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נכסים קיימת  </a:t>
            </a:r>
            <a:endParaRPr lang="he-IL" sz="2400" b="1" u="sng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35726" y="2900405"/>
            <a:ext cx="216333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1200" dirty="0" smtClean="0"/>
              <a:t>תיקים מנוהלים – 10.8 מיליון </a:t>
            </a:r>
          </a:p>
          <a:p>
            <a:pPr algn="ctr" rtl="1"/>
            <a:r>
              <a:rPr lang="he-IL" sz="1200" dirty="0" smtClean="0"/>
              <a:t>(</a:t>
            </a:r>
            <a:r>
              <a:rPr lang="en-US" sz="1200" dirty="0" smtClean="0"/>
              <a:t>IBI</a:t>
            </a:r>
            <a:r>
              <a:rPr lang="he-IL" sz="1200" dirty="0" smtClean="0"/>
              <a:t>, ילין, </a:t>
            </a:r>
            <a:r>
              <a:rPr lang="en-US" sz="1200" dirty="0" err="1" smtClean="0"/>
              <a:t>vontobel</a:t>
            </a:r>
            <a:r>
              <a:rPr lang="he-IL" sz="1200" dirty="0" smtClean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1036" y="3353913"/>
            <a:ext cx="239357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1200" dirty="0" smtClean="0"/>
              <a:t>דירות, </a:t>
            </a:r>
            <a:r>
              <a:rPr lang="en-US" sz="1200" dirty="0" smtClean="0"/>
              <a:t>Data Center</a:t>
            </a:r>
            <a:r>
              <a:rPr lang="he-IL" sz="1200" dirty="0" smtClean="0"/>
              <a:t>, ריאליטי, </a:t>
            </a:r>
            <a:r>
              <a:rPr lang="he-IL" sz="1200" dirty="0" err="1" smtClean="0"/>
              <a:t>בוליגו</a:t>
            </a:r>
            <a:r>
              <a:rPr lang="he-IL" sz="1200" dirty="0" smtClean="0"/>
              <a:t>, </a:t>
            </a:r>
            <a:r>
              <a:rPr lang="he-IL" sz="1200" dirty="0" err="1" smtClean="0"/>
              <a:t>גלפנד</a:t>
            </a:r>
            <a:r>
              <a:rPr lang="he-IL" sz="1200" dirty="0" smtClean="0"/>
              <a:t>, </a:t>
            </a:r>
            <a:r>
              <a:rPr lang="he-IL" sz="1200" dirty="0" err="1" smtClean="0"/>
              <a:t>הארטפורד</a:t>
            </a:r>
            <a:r>
              <a:rPr lang="he-IL" sz="1200" dirty="0" smtClean="0"/>
              <a:t>, נץ, אלקטרה – 6.9 מיליון</a:t>
            </a:r>
            <a:endParaRPr lang="he-IL" sz="1200" dirty="0"/>
          </a:p>
        </p:txBody>
      </p:sp>
    </p:spTree>
    <p:extLst>
      <p:ext uri="{BB962C8B-B14F-4D97-AF65-F5344CB8AC3E}">
        <p14:creationId xmlns:p14="http://schemas.microsoft.com/office/powerpoint/2010/main" val="1501247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4849" y="514349"/>
            <a:ext cx="2571751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000" b="1" u="sng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מסקנות</a:t>
            </a:r>
            <a:endParaRPr lang="he-IL" sz="2800" b="1" u="sng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40210"/>
            <a:ext cx="2470380" cy="3532908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33475" y="1695450"/>
            <a:ext cx="9763125" cy="489364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Blip>
                <a:blip r:embed="rId4"/>
              </a:buBlip>
            </a:pPr>
            <a:r>
              <a:rPr lang="he-IL" sz="2400" dirty="0" smtClean="0"/>
              <a:t>תיק הנכסים הנוכחי קרוב למשקלות שתכוננו במקור, למעט תוספת המזומן (בעיקר הכסף שיושב </a:t>
            </a:r>
            <a:r>
              <a:rPr lang="he-IL" sz="2400" dirty="0" err="1" smtClean="0"/>
              <a:t>בג'רסי</a:t>
            </a:r>
            <a:r>
              <a:rPr lang="he-IL" sz="2400" dirty="0" smtClean="0"/>
              <a:t>)</a:t>
            </a:r>
          </a:p>
          <a:p>
            <a:pPr marL="285750" indent="-285750" algn="r" rtl="1">
              <a:buBlip>
                <a:blip r:embed="rId4"/>
              </a:buBlip>
            </a:pPr>
            <a:endParaRPr lang="he-IL" sz="2400" dirty="0" smtClean="0"/>
          </a:p>
          <a:p>
            <a:pPr marL="285750" indent="-285750" algn="r" rtl="1">
              <a:buBlip>
                <a:blip r:embed="rId4"/>
              </a:buBlip>
            </a:pPr>
            <a:r>
              <a:rPr lang="he-IL" sz="2400" dirty="0" smtClean="0"/>
              <a:t>יש צורך "להתניע" גם כספים </a:t>
            </a:r>
            <a:r>
              <a:rPr lang="he-IL" sz="2400" dirty="0" err="1" smtClean="0"/>
              <a:t>מג'רסי</a:t>
            </a:r>
            <a:r>
              <a:rPr lang="he-IL" sz="2400" dirty="0" smtClean="0"/>
              <a:t> על אף האפשרות לתשלום מס.</a:t>
            </a:r>
          </a:p>
          <a:p>
            <a:pPr marL="285750" indent="-285750" algn="r" rtl="1">
              <a:buBlip>
                <a:blip r:embed="rId4"/>
              </a:buBlip>
            </a:pPr>
            <a:endParaRPr lang="he-IL" sz="2400" dirty="0"/>
          </a:p>
          <a:p>
            <a:pPr marL="285750" indent="-285750" algn="r" rtl="1">
              <a:buBlip>
                <a:blip r:embed="rId4"/>
              </a:buBlip>
            </a:pPr>
            <a:r>
              <a:rPr lang="he-IL" sz="2400" u="sng" dirty="0" smtClean="0"/>
              <a:t>כסף ב- </a:t>
            </a:r>
            <a:r>
              <a:rPr lang="en-US" sz="2400" u="sng" dirty="0" smtClean="0"/>
              <a:t>HSBC</a:t>
            </a:r>
            <a:r>
              <a:rPr lang="he-IL" sz="2400" u="sng" dirty="0" smtClean="0"/>
              <a:t> </a:t>
            </a:r>
            <a:r>
              <a:rPr lang="he-IL" sz="2400" u="sng" dirty="0" err="1" smtClean="0"/>
              <a:t>ג'רסי</a:t>
            </a:r>
            <a:r>
              <a:rPr lang="he-IL" sz="2400" dirty="0" smtClean="0"/>
              <a:t>: הכסף, כאמור, לא פעיל משיקולי מס – אם כך יישאר אזי מומלץ לקחת הלוואה על חשבון הון זה ולהשקיע אותו, בוודאי אם מדובר בריבית של כ- 1.5% ואף פחות.</a:t>
            </a:r>
          </a:p>
          <a:p>
            <a:pPr marL="742950" lvl="1" indent="-285750" algn="r" rtl="1">
              <a:buBlip>
                <a:blip r:embed="rId4"/>
              </a:buBlip>
            </a:pPr>
            <a:endParaRPr lang="he-IL" sz="2400" dirty="0"/>
          </a:p>
          <a:p>
            <a:pPr marL="285750" indent="-285750" algn="r" rtl="1">
              <a:buBlip>
                <a:blip r:embed="rId4"/>
              </a:buBlip>
            </a:pPr>
            <a:r>
              <a:rPr lang="he-IL" sz="2400" dirty="0" smtClean="0"/>
              <a:t>מוצעת בזאת תכנית עבודה חדשה עם משקלות חדשים לאור ההתפתחויות בשווקי ההון, ובעיקר בתחום </a:t>
            </a:r>
            <a:r>
              <a:rPr lang="he-IL" sz="2400" dirty="0" err="1" smtClean="0"/>
              <a:t>האג"ח</a:t>
            </a:r>
            <a:r>
              <a:rPr lang="he-IL" sz="2400" dirty="0" smtClean="0"/>
              <a:t> (רב הסיכון על הסיכוי)</a:t>
            </a:r>
          </a:p>
          <a:p>
            <a:pPr marL="285750" indent="-285750" algn="r" rtl="1">
              <a:buBlip>
                <a:blip r:embed="rId4"/>
              </a:buBlip>
            </a:pPr>
            <a:endParaRPr lang="he-IL" sz="2400" dirty="0"/>
          </a:p>
          <a:p>
            <a:pPr marL="285750" indent="-285750" algn="r" rtl="1">
              <a:buBlip>
                <a:blip r:embed="rId4"/>
              </a:buBlip>
            </a:pP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4164012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62250" y="352424"/>
            <a:ext cx="895350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u="sng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תכנית עבודה – </a:t>
            </a:r>
            <a:r>
              <a:rPr lang="he-IL" sz="2800" b="1" u="sng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אלוקציית</a:t>
            </a:r>
            <a:r>
              <a:rPr lang="he-IL" sz="2800" b="1" u="sng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נכסים מעודכנת 2021 - 2022  </a:t>
            </a:r>
            <a:endParaRPr lang="he-IL" sz="2800" b="1" u="sng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40210"/>
            <a:ext cx="2470380" cy="3532908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graphicFrame>
        <p:nvGraphicFramePr>
          <p:cNvPr id="13" name="תרשים 12"/>
          <p:cNvGraphicFramePr/>
          <p:nvPr>
            <p:extLst>
              <p:ext uri="{D42A27DB-BD31-4B8C-83A1-F6EECF244321}">
                <p14:modId xmlns:p14="http://schemas.microsoft.com/office/powerpoint/2010/main" val="3461321550"/>
              </p:ext>
            </p:extLst>
          </p:nvPr>
        </p:nvGraphicFramePr>
        <p:xfrm>
          <a:off x="2709915" y="1214834"/>
          <a:ext cx="7792077" cy="49221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360984" y="1899017"/>
            <a:ext cx="2092569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1600" dirty="0"/>
              <a:t>למימוש התכנית קיימים בין 2.5 ל- 3 מיליון </a:t>
            </a:r>
            <a:r>
              <a:rPr lang="he-IL" sz="1600" dirty="0" smtClean="0"/>
              <a:t>$, סה"כ כ- 5</a:t>
            </a:r>
            <a:r>
              <a:rPr lang="en-US" sz="1600" dirty="0" smtClean="0"/>
              <a:t>.</a:t>
            </a:r>
            <a:r>
              <a:rPr lang="he-IL" sz="1600" dirty="0" smtClean="0"/>
              <a:t>5 מיליון</a:t>
            </a:r>
            <a:endParaRPr lang="he-IL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5326673" y="3950992"/>
            <a:ext cx="2558562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1600" dirty="0"/>
              <a:t>למימוש התכנית קיימים בין 3 ל- 3.5 מיליון </a:t>
            </a:r>
            <a:r>
              <a:rPr lang="he-IL" sz="1600" dirty="0" smtClean="0"/>
              <a:t>$, סה"כ כ- 9 מיליון</a:t>
            </a:r>
            <a:endParaRPr lang="he-IL" sz="1600" dirty="0"/>
          </a:p>
        </p:txBody>
      </p:sp>
    </p:spTree>
    <p:extLst>
      <p:ext uri="{BB962C8B-B14F-4D97-AF65-F5344CB8AC3E}">
        <p14:creationId xmlns:p14="http://schemas.microsoft.com/office/powerpoint/2010/main" val="3959130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4682" y="514349"/>
            <a:ext cx="9291918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000" b="1" u="sng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הצעות והערות על </a:t>
            </a:r>
            <a:r>
              <a:rPr lang="he-IL" sz="4000" b="1" u="sng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האלוקצייה</a:t>
            </a:r>
            <a:r>
              <a:rPr lang="he-IL" sz="4000" b="1" u="sng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המעודכנת</a:t>
            </a:r>
            <a:endParaRPr lang="he-IL" sz="2800" b="1" u="sng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40210"/>
            <a:ext cx="2470380" cy="3532908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4207" y="1375756"/>
            <a:ext cx="9763125" cy="510787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sz="2200" dirty="0" smtClean="0"/>
              <a:t>במידה ונשתמש במנוף על בסיס הכספים שבג'רזי (או בכסף עצמו) השיעורים המומלצים בכל רכיב יישארו כפי שהם.</a:t>
            </a:r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sz="2200" dirty="0" smtClean="0"/>
              <a:t>שינוי הפרדיגמה נובע בעיקר מהעובדה שאגרות החוב נראות לנו פחות אטרקטיביות ממועד התכנון המקורי.</a:t>
            </a:r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sz="2200" dirty="0" smtClean="0"/>
              <a:t>ההשקעות האלטרנטיביות תהיינה בעיקרן עסקאות חוב (חליף אג"ח).</a:t>
            </a:r>
            <a:endParaRPr lang="he-IL" sz="2200" dirty="0"/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sz="2200" dirty="0" smtClean="0"/>
              <a:t>יש לזכור שלגבי חלק מהעסקאות הקטגוריה נדל"ן ו/או אלטרנטיבי תהיינה חופפות ולא מובהקות.</a:t>
            </a:r>
            <a:endParaRPr lang="he-IL" sz="2200" dirty="0"/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sz="2200" dirty="0" smtClean="0"/>
              <a:t>יש לשקול הגדלה קלה של רכיב המניות כשמדובר על שוק ההון.</a:t>
            </a:r>
            <a:endParaRPr lang="he-IL" sz="2200" dirty="0"/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sz="2200" dirty="0" smtClean="0"/>
              <a:t>נדגיש שבשנתיים האחרונות, אמנם השיעורים של התכנית המקורית נשארו בעינם, אך הסכומים גדלו במהלך התקופה בשיעור משמעותי (כ- 29% ,כ- 5 עד 6 מיליון דולר) </a:t>
            </a:r>
          </a:p>
        </p:txBody>
      </p:sp>
    </p:spTree>
    <p:extLst>
      <p:ext uri="{BB962C8B-B14F-4D97-AF65-F5344CB8AC3E}">
        <p14:creationId xmlns:p14="http://schemas.microsoft.com/office/powerpoint/2010/main" val="134184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1922</TotalTime>
  <Words>716</Words>
  <Application>Microsoft Office PowerPoint</Application>
  <PresentationFormat>מסך רחב</PresentationFormat>
  <Paragraphs>150</Paragraphs>
  <Slides>7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OE August Pro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eran</cp:lastModifiedBy>
  <cp:revision>36</cp:revision>
  <dcterms:created xsi:type="dcterms:W3CDTF">2020-07-20T12:29:52Z</dcterms:created>
  <dcterms:modified xsi:type="dcterms:W3CDTF">2021-06-23T06:35:41Z</dcterms:modified>
</cp:coreProperties>
</file>